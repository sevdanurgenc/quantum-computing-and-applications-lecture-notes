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A5F"/>
                </a:solidFill>
                <a:latin typeface="Arial"/>
              </a:defRPr>
            </a:pPr>
            <a:r>
              <a:rPr sz="1400" b="0" i="0" u="none" strike="noStrike">
                <a:solidFill>
                  <a:srgbClr val="1F3A5F"/>
                </a:solidFill>
                <a:latin typeface="Arial"/>
              </a:rPr>
              <a:t>Test doğruluğu (%30 test, stratify)</a:t>
            </a:r>
          </a:p>
        </c:rich>
      </c:tx>
      <c:layout/>
      <c:overlay val="0"/>
    </c:title>
    <c:autoTitleDeleted val="0"/>
    <c:plotArea>
      <c:layout/>
      <c:barChart>
        <c:barDir val="col"/>
        <c:grouping val="clustered"/>
        <c:varyColors val="0"/>
        <c:ser>
          <c:idx val="0"/>
          <c:order val="0"/>
          <c:tx>
            <c:strRef>
              <c:f>Sheet1!$B$1</c:f>
              <c:strCache>
                <c:ptCount val="1"/>
                <c:pt idx="0">
                  <c:v>0–1 (PCA 4)</c:v>
                </c:pt>
              </c:strCache>
            </c:strRef>
          </c:tx>
          <c:spPr>
            <a:solidFill>
              <a:srgbClr val="2E6DB4"/>
            </a:solidFill>
            <a:effectLst/>
          </c:spPr>
          <c:invertIfNegative val="0"/>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Lojistik R.</c:v>
                  </c:pt>
                  <c:pt idx="1">
                    <c:v>RBF-SVM</c:v>
                  </c:pt>
                  <c:pt idx="2">
                    <c:v>MLP (16)</c:v>
                  </c:pt>
                  <c:pt idx="3">
                    <c:v>QSVM</c:v>
                  </c:pt>
                  <c:pt idx="4">
                    <c:v>VQC</c:v>
                  </c:pt>
                </c:lvl>
              </c:multiLvlStrCache>
            </c:multiLvlStrRef>
          </c:cat>
          <c:val>
            <c:numRef>
              <c:f>Sheet1!$B$2:$B$6</c:f>
              <c:numCache>
                <c:formatCode>General</c:formatCode>
                <c:ptCount val="5"/>
                <c:pt idx="0">
                  <c:v>1</c:v>
                </c:pt>
                <c:pt idx="1">
                  <c:v>1</c:v>
                </c:pt>
                <c:pt idx="2">
                  <c:v>1</c:v>
                </c:pt>
                <c:pt idx="3">
                  <c:v>0.9907407407407407</c:v>
                </c:pt>
                <c:pt idx="4">
                  <c:v>1</c:v>
                </c:pt>
              </c:numCache>
            </c:numRef>
          </c:val>
        </c:ser>
        <c:ser>
          <c:idx val="1"/>
          <c:order val="1"/>
          <c:tx>
            <c:strRef>
              <c:f>Sheet1!$C$1</c:f>
              <c:strCache>
                <c:ptCount val="1"/>
                <c:pt idx="0">
                  <c:v>0–1 (PCA 8)</c:v>
                </c:pt>
              </c:strCache>
            </c:strRef>
          </c:tx>
          <c:spPr>
            <a:solidFill>
              <a:srgbClr val="9CA3AF"/>
            </a:solidFill>
            <a:effectLst/>
          </c:spPr>
          <c:invertIfNegative val="0"/>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Lojistik R.</c:v>
                  </c:pt>
                  <c:pt idx="1">
                    <c:v>RBF-SVM</c:v>
                  </c:pt>
                  <c:pt idx="2">
                    <c:v>MLP (16)</c:v>
                  </c:pt>
                  <c:pt idx="3">
                    <c:v>QSVM</c:v>
                  </c:pt>
                  <c:pt idx="4">
                    <c:v>VQC</c:v>
                  </c:pt>
                </c:lvl>
              </c:multiLvlStrCache>
            </c:multiLvlStrRef>
          </c:cat>
          <c:val>
            <c:numRef>
              <c:f>Sheet1!$C$2:$C$6</c:f>
              <c:numCache>
                <c:formatCode>General</c:formatCode>
                <c:ptCount val="5"/>
                <c:pt idx="0">
                  <c:v>1</c:v>
                </c:pt>
                <c:pt idx="1">
                  <c:v>1</c:v>
                </c:pt>
                <c:pt idx="2">
                  <c:v>0.9814814814814815</c:v>
                </c:pt>
                <c:pt idx="3">
                  <c:v>0.9907407407407407</c:v>
                </c:pt>
                <c:pt idx="4">
                  <c:v>0.9814814814814815</c:v>
                </c:pt>
              </c:numCache>
            </c:numRef>
          </c:val>
        </c:ser>
        <c:ser>
          <c:idx val="2"/>
          <c:order val="2"/>
          <c:tx>
            <c:strRef>
              <c:f>Sheet1!$D$1</c:f>
              <c:strCache>
                <c:ptCount val="1"/>
                <c:pt idx="0">
                  <c:v>3–8 (PCA 6)</c:v>
                </c:pt>
              </c:strCache>
            </c:strRef>
          </c:tx>
          <c:spPr>
            <a:solidFill>
              <a:srgbClr val="D9822B"/>
            </a:solidFill>
            <a:effectLst/>
          </c:spPr>
          <c:invertIfNegative val="0"/>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Lojistik R.</c:v>
                  </c:pt>
                  <c:pt idx="1">
                    <c:v>RBF-SVM</c:v>
                  </c:pt>
                  <c:pt idx="2">
                    <c:v>MLP (16)</c:v>
                  </c:pt>
                  <c:pt idx="3">
                    <c:v>QSVM</c:v>
                  </c:pt>
                  <c:pt idx="4">
                    <c:v>VQC</c:v>
                  </c:pt>
                </c:lvl>
              </c:multiLvlStrCache>
            </c:multiLvlStrRef>
          </c:cat>
          <c:val>
            <c:numRef>
              <c:f>Sheet1!$D$2:$D$6</c:f>
              <c:numCache>
                <c:formatCode>General</c:formatCode>
                <c:ptCount val="5"/>
                <c:pt idx="0">
                  <c:v>0.9814814814814815</c:v>
                </c:pt>
                <c:pt idx="1">
                  <c:v>0.9907407407407407</c:v>
                </c:pt>
                <c:pt idx="2">
                  <c:v>0.9814814814814815</c:v>
                </c:pt>
                <c:pt idx="3">
                  <c:v>0.9907407407407407</c:v>
                </c:pt>
                <c:pt idx="4">
                  <c:v>0.9444444444444444</c:v>
                </c:pt>
              </c:numCache>
            </c:numRef>
          </c:val>
        </c:ser>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74151"/>
                </a:solidFill>
                <a:latin typeface="Arial"/>
              </a:defRPr>
            </a:pPr>
            <a:endParaRPr lang="en-US"/>
          </a:p>
        </c:txPr>
        <c:crossAx val="2094734552"/>
        <c:crosses val="autoZero"/>
        <c:auto val="1"/>
        <c:lblAlgn val="ctr"/>
        <c:noMultiLvlLbl val="1"/>
      </c:catAx>
      <c:valAx>
        <c:axId val="2094734552"/>
        <c:scaling>
          <c:orientation val="minMax"/>
          <c:max val="1.02"/>
          <c:min val="0.9"/>
        </c:scaling>
        <c:delete val="0"/>
        <c:axPos val="l"/>
        <c:majorGridlines>
          <c:spPr>
            <a:ln w="6350" cap="flat">
              <a:solidFill>
                <a:srgbClr val="E5E7EB"/>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74151"/>
                </a:solidFill>
                <a:latin typeface="Arial"/>
              </a:defRPr>
            </a:pPr>
            <a:endParaRPr lang="en-US"/>
          </a:p>
        </c:txPr>
        <c:crossAx val="2094734554"/>
        <c:crosses val="autoZero"/>
        <c:crossBetween val="between"/>
        <c:majorUnit val="0.02"/>
      </c:valAx>
      <c:spPr>
        <a:noFill/>
        <a:ln>
          <a:noFill/>
        </a:ln>
        <a:effectLst/>
      </c:spPr>
    </c:plotArea>
    <c:legend>
      <c:legendPos val="b"/>
      <c:overlay val="0"/>
      <c:txPr>
        <a:bodyPr/>
        <a:lstStyle/>
        <a:p>
          <a:pPr>
            <a:defRPr sz="13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A5F"/>
                </a:solidFill>
                <a:latin typeface="Arial"/>
              </a:defRPr>
            </a:pPr>
            <a:r>
              <a:rPr sz="1400" b="0" i="0" u="none" strike="noStrike">
                <a:solidFill>
                  <a:srgbClr val="1F3A5F"/>
                </a:solidFill>
                <a:latin typeface="Arial"/>
              </a:rPr>
              <a:t>3–8: PCA bileşeni (= kübit) vs doğruluk</a:t>
            </a:r>
          </a:p>
        </c:rich>
      </c:tx>
      <c:layout/>
      <c:overlay val="0"/>
    </c:title>
    <c:autoTitleDeleted val="0"/>
    <c:plotArea>
      <c:layout/>
      <c:lineChart>
        <c:varyColors val="0"/>
        <c:ser>
          <c:idx val="0"/>
          <c:order val="0"/>
          <c:tx>
            <c:strRef>
              <c:f>Sheet1!$B$1</c:f>
              <c:strCache>
                <c:ptCount val="1"/>
                <c:pt idx="0">
                  <c:v>Lojistik R.</c:v>
                </c:pt>
              </c:strCache>
            </c:strRef>
          </c:tx>
          <c:spPr>
            <a:solidFill>
              <a:srgbClr val="6B7280"/>
            </a:solidFill>
            <a:ln w="25400" cap="flat">
              <a:solidFill>
                <a:srgbClr val="6B728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6B7280"/>
              </a:solidFill>
              <a:ln w="9525" cap="flat">
                <a:solidFill>
                  <a:srgbClr val="6B7280"/>
                </a:solidFill>
                <a:prstDash val="solid"/>
                <a:round/>
              </a:ln>
              <a:effectLst/>
            </c:spPr>
          </c:marker>
          <c:cat>
            <c:multiLvlStrRef>
              <c:f>Sheet1!$A$2:$A$5</c:f>
              <c:multiLvlStrCache>
                <c:ptCount val="4"/>
                <c:lvl>
                  <c:pt idx="0">
                    <c:v>2</c:v>
                  </c:pt>
                  <c:pt idx="1">
                    <c:v>4</c:v>
                  </c:pt>
                  <c:pt idx="2">
                    <c:v>6</c:v>
                  </c:pt>
                  <c:pt idx="3">
                    <c:v>8</c:v>
                  </c:pt>
                </c:lvl>
              </c:multiLvlStrCache>
            </c:multiLvlStrRef>
          </c:cat>
          <c:val>
            <c:numRef>
              <c:f>Sheet1!$B$2:$B$5</c:f>
              <c:numCache>
                <c:formatCode>General</c:formatCode>
                <c:ptCount val="4"/>
                <c:pt idx="0">
                  <c:v>0.9722222222222222</c:v>
                </c:pt>
                <c:pt idx="1">
                  <c:v>0.9629629629629629</c:v>
                </c:pt>
                <c:pt idx="2">
                  <c:v>0.9814814814814815</c:v>
                </c:pt>
                <c:pt idx="3">
                  <c:v>0.9814814814814815</c:v>
                </c:pt>
              </c:numCache>
            </c:numRef>
          </c:val>
          <c:smooth val="0"/>
        </c:ser>
        <c:ser>
          <c:idx val="1"/>
          <c:order val="1"/>
          <c:tx>
            <c:strRef>
              <c:f>Sheet1!$C$1</c:f>
              <c:strCache>
                <c:ptCount val="1"/>
                <c:pt idx="0">
                  <c:v>RBF-SVM</c:v>
                </c:pt>
              </c:strCache>
            </c:strRef>
          </c:tx>
          <c:spPr>
            <a:solidFill>
              <a:srgbClr val="9CA3AF"/>
            </a:solidFill>
            <a:ln w="25400" cap="flat">
              <a:solidFill>
                <a:srgbClr val="9CA3A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9CA3AF"/>
              </a:solidFill>
              <a:ln w="9525" cap="flat">
                <a:solidFill>
                  <a:srgbClr val="9CA3AF"/>
                </a:solidFill>
                <a:prstDash val="solid"/>
                <a:round/>
              </a:ln>
              <a:effectLst/>
            </c:spPr>
          </c:marker>
          <c:cat>
            <c:multiLvlStrRef>
              <c:f>Sheet1!$A$2:$A$5</c:f>
              <c:multiLvlStrCache>
                <c:ptCount val="4"/>
                <c:lvl>
                  <c:pt idx="0">
                    <c:v>2</c:v>
                  </c:pt>
                  <c:pt idx="1">
                    <c:v>4</c:v>
                  </c:pt>
                  <c:pt idx="2">
                    <c:v>6</c:v>
                  </c:pt>
                  <c:pt idx="3">
                    <c:v>8</c:v>
                  </c:pt>
                </c:lvl>
              </c:multiLvlStrCache>
            </c:multiLvlStrRef>
          </c:cat>
          <c:val>
            <c:numRef>
              <c:f>Sheet1!$C$2:$C$5</c:f>
              <c:numCache>
                <c:formatCode>General</c:formatCode>
                <c:ptCount val="4"/>
                <c:pt idx="0">
                  <c:v>0.9629629629629629</c:v>
                </c:pt>
                <c:pt idx="1">
                  <c:v>0.9722222222222222</c:v>
                </c:pt>
                <c:pt idx="2">
                  <c:v>0.9907407407407407</c:v>
                </c:pt>
                <c:pt idx="3">
                  <c:v>0.9907407407407407</c:v>
                </c:pt>
              </c:numCache>
            </c:numRef>
          </c:val>
          <c:smooth val="0"/>
        </c:ser>
        <c:ser>
          <c:idx val="2"/>
          <c:order val="2"/>
          <c:tx>
            <c:strRef>
              <c:f>Sheet1!$D$1</c:f>
              <c:strCache>
                <c:ptCount val="1"/>
                <c:pt idx="0">
                  <c:v>QSVM</c:v>
                </c:pt>
              </c:strCache>
            </c:strRef>
          </c:tx>
          <c:spPr>
            <a:solidFill>
              <a:srgbClr val="2E6DB4"/>
            </a:solidFill>
            <a:ln w="25400" cap="flat">
              <a:solidFill>
                <a:srgbClr val="2E6DB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E6DB4"/>
              </a:solidFill>
              <a:ln w="9525" cap="flat">
                <a:solidFill>
                  <a:srgbClr val="2E6DB4"/>
                </a:solidFill>
                <a:prstDash val="solid"/>
                <a:round/>
              </a:ln>
              <a:effectLst/>
            </c:spPr>
          </c:marker>
          <c:cat>
            <c:multiLvlStrRef>
              <c:f>Sheet1!$A$2:$A$5</c:f>
              <c:multiLvlStrCache>
                <c:ptCount val="4"/>
                <c:lvl>
                  <c:pt idx="0">
                    <c:v>2</c:v>
                  </c:pt>
                  <c:pt idx="1">
                    <c:v>4</c:v>
                  </c:pt>
                  <c:pt idx="2">
                    <c:v>6</c:v>
                  </c:pt>
                  <c:pt idx="3">
                    <c:v>8</c:v>
                  </c:pt>
                </c:lvl>
              </c:multiLvlStrCache>
            </c:multiLvlStrRef>
          </c:cat>
          <c:val>
            <c:numRef>
              <c:f>Sheet1!$D$2:$D$5</c:f>
              <c:numCache>
                <c:formatCode>General</c:formatCode>
                <c:ptCount val="4"/>
                <c:pt idx="0">
                  <c:v>0.9629629629629629</c:v>
                </c:pt>
                <c:pt idx="1">
                  <c:v>0.9814814814814815</c:v>
                </c:pt>
                <c:pt idx="2">
                  <c:v>0.9907407407407407</c:v>
                </c:pt>
                <c:pt idx="3">
                  <c:v>0.9629629629629629</c:v>
                </c:pt>
              </c:numCache>
            </c:numRef>
          </c:val>
          <c:smooth val="0"/>
        </c:ser>
        <c:ser>
          <c:idx val="3"/>
          <c:order val="3"/>
          <c:tx>
            <c:strRef>
              <c:f>Sheet1!$E$1</c:f>
              <c:strCache>
                <c:ptCount val="1"/>
                <c:pt idx="0">
                  <c:v>VQC</c:v>
                </c:pt>
              </c:strCache>
            </c:strRef>
          </c:tx>
          <c:spPr>
            <a:solidFill>
              <a:srgbClr val="1F3A5F"/>
            </a:solidFill>
            <a:ln w="25400" cap="flat">
              <a:solidFill>
                <a:srgbClr val="1F3A5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F3A5F"/>
              </a:solidFill>
              <a:ln w="9525" cap="flat">
                <a:solidFill>
                  <a:srgbClr val="1F3A5F"/>
                </a:solidFill>
                <a:prstDash val="solid"/>
                <a:round/>
              </a:ln>
              <a:effectLst/>
            </c:spPr>
          </c:marker>
          <c:cat>
            <c:multiLvlStrRef>
              <c:f>Sheet1!$A$2:$A$5</c:f>
              <c:multiLvlStrCache>
                <c:ptCount val="4"/>
                <c:lvl>
                  <c:pt idx="0">
                    <c:v>2</c:v>
                  </c:pt>
                  <c:pt idx="1">
                    <c:v>4</c:v>
                  </c:pt>
                  <c:pt idx="2">
                    <c:v>6</c:v>
                  </c:pt>
                  <c:pt idx="3">
                    <c:v>8</c:v>
                  </c:pt>
                </c:lvl>
              </c:multiLvlStrCache>
            </c:multiLvlStrRef>
          </c:cat>
          <c:val>
            <c:numRef>
              <c:f>Sheet1!$E$2:$E$5</c:f>
              <c:numCache>
                <c:formatCode>General</c:formatCode>
                <c:ptCount val="4"/>
                <c:pt idx="0">
                  <c:v>0.9537037037037037</c:v>
                </c:pt>
                <c:pt idx="1">
                  <c:v>0.9537037037037037</c:v>
                </c:pt>
                <c:pt idx="2">
                  <c:v>0.9444444444444444</c:v>
                </c:pt>
                <c:pt idx="3">
                  <c:v>0.9629629629629629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74151"/>
                </a:solidFill>
                <a:latin typeface="Arial"/>
              </a:defRPr>
            </a:pPr>
            <a:endParaRPr lang="en-US"/>
          </a:p>
        </c:txPr>
        <c:crossAx val="2094734552"/>
        <c:crosses val="autoZero"/>
        <c:auto val="1"/>
        <c:lblAlgn val="ctr"/>
        <c:noMultiLvlLbl val="1"/>
      </c:catAx>
      <c:valAx>
        <c:axId val="2094734552"/>
        <c:scaling>
          <c:orientation val="minMax"/>
          <c:max val="1"/>
          <c:min val="0.93"/>
        </c:scaling>
        <c:delete val="0"/>
        <c:axPos val="l"/>
        <c:majorGridlines>
          <c:spPr>
            <a:ln w="6350" cap="flat">
              <a:solidFill>
                <a:srgbClr val="E5E7EB"/>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74151"/>
                </a:solidFill>
                <a:latin typeface="Arial"/>
              </a:defRPr>
            </a:pPr>
            <a:endParaRPr lang="en-US"/>
          </a:p>
        </c:txPr>
        <c:crossAx val="2094734554"/>
        <c:crosses val="autoZero"/>
        <c:crossBetween val="between"/>
        <c:majorUnit val="0.01"/>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A5F"/>
                </a:solidFill>
                <a:latin typeface="Arial"/>
              </a:defRPr>
            </a:pPr>
            <a:r>
              <a:rPr sz="1400" b="0" i="0" u="none" strike="noStrike">
                <a:solidFill>
                  <a:srgbClr val="1F3A5F"/>
                </a:solidFill>
                <a:latin typeface="Arial"/>
              </a:rPr>
              <a:t>Öğrenme eğrisi (eğitim örneği sayısı)</a:t>
            </a:r>
          </a:p>
        </c:rich>
      </c:tx>
      <c:layout/>
      <c:overlay val="0"/>
    </c:title>
    <c:autoTitleDeleted val="0"/>
    <c:plotArea>
      <c:layout/>
      <c:lineChart>
        <c:varyColors val="0"/>
        <c:ser>
          <c:idx val="0"/>
          <c:order val="0"/>
          <c:tx>
            <c:strRef>
              <c:f>Sheet1!$B$1</c:f>
              <c:strCache>
                <c:ptCount val="1"/>
                <c:pt idx="0">
                  <c:v>Lojistik R.</c:v>
                </c:pt>
              </c:strCache>
            </c:strRef>
          </c:tx>
          <c:spPr>
            <a:solidFill>
              <a:srgbClr val="6B7280"/>
            </a:solidFill>
            <a:ln w="25400" cap="flat">
              <a:solidFill>
                <a:srgbClr val="6B728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6B7280"/>
              </a:solidFill>
              <a:ln w="9525" cap="flat">
                <a:solidFill>
                  <a:srgbClr val="6B7280"/>
                </a:solidFill>
                <a:prstDash val="solid"/>
                <a:round/>
              </a:ln>
              <a:effectLst/>
            </c:spPr>
          </c:marker>
          <c:cat>
            <c:multiLvlStrRef>
              <c:f>Sheet1!$A$2:$A$7</c:f>
              <c:multiLvlStrCache>
                <c:ptCount val="6"/>
                <c:lvl>
                  <c:pt idx="0">
                    <c:v>10</c:v>
                  </c:pt>
                  <c:pt idx="1">
                    <c:v>20</c:v>
                  </c:pt>
                  <c:pt idx="2">
                    <c:v>40</c:v>
                  </c:pt>
                  <c:pt idx="3">
                    <c:v>80</c:v>
                  </c:pt>
                  <c:pt idx="4">
                    <c:v>160</c:v>
                  </c:pt>
                  <c:pt idx="5">
                    <c:v>249</c:v>
                  </c:pt>
                </c:lvl>
              </c:multiLvlStrCache>
            </c:multiLvlStrRef>
          </c:cat>
          <c:val>
            <c:numRef>
              <c:f>Sheet1!$B$2:$B$7</c:f>
              <c:numCache>
                <c:formatCode>General</c:formatCode>
                <c:ptCount val="6"/>
                <c:pt idx="0">
                  <c:v>0.9111111111111111</c:v>
                </c:pt>
                <c:pt idx="1">
                  <c:v>0.962962962962963</c:v>
                </c:pt>
                <c:pt idx="2">
                  <c:v>0.9740740740740741</c:v>
                </c:pt>
                <c:pt idx="3">
                  <c:v>0.9703703703703704</c:v>
                </c:pt>
                <c:pt idx="4">
                  <c:v>0.9833333333333334</c:v>
                </c:pt>
                <c:pt idx="5">
                  <c:v>0.9814814814814815</c:v>
                </c:pt>
              </c:numCache>
            </c:numRef>
          </c:val>
          <c:smooth val="0"/>
        </c:ser>
        <c:ser>
          <c:idx val="1"/>
          <c:order val="1"/>
          <c:tx>
            <c:strRef>
              <c:f>Sheet1!$C$1</c:f>
              <c:strCache>
                <c:ptCount val="1"/>
                <c:pt idx="0">
                  <c:v>RBF-SVM</c:v>
                </c:pt>
              </c:strCache>
            </c:strRef>
          </c:tx>
          <c:spPr>
            <a:solidFill>
              <a:srgbClr val="9CA3AF"/>
            </a:solidFill>
            <a:ln w="25400" cap="flat">
              <a:solidFill>
                <a:srgbClr val="9CA3A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9CA3AF"/>
              </a:solidFill>
              <a:ln w="9525" cap="flat">
                <a:solidFill>
                  <a:srgbClr val="9CA3AF"/>
                </a:solidFill>
                <a:prstDash val="solid"/>
                <a:round/>
              </a:ln>
              <a:effectLst/>
            </c:spPr>
          </c:marker>
          <c:cat>
            <c:multiLvlStrRef>
              <c:f>Sheet1!$A$2:$A$7</c:f>
              <c:multiLvlStrCache>
                <c:ptCount val="6"/>
                <c:lvl>
                  <c:pt idx="0">
                    <c:v>10</c:v>
                  </c:pt>
                  <c:pt idx="1">
                    <c:v>20</c:v>
                  </c:pt>
                  <c:pt idx="2">
                    <c:v>40</c:v>
                  </c:pt>
                  <c:pt idx="3">
                    <c:v>80</c:v>
                  </c:pt>
                  <c:pt idx="4">
                    <c:v>160</c:v>
                  </c:pt>
                  <c:pt idx="5">
                    <c:v>249</c:v>
                  </c:pt>
                </c:lvl>
              </c:multiLvlStrCache>
            </c:multiLvlStrRef>
          </c:cat>
          <c:val>
            <c:numRef>
              <c:f>Sheet1!$C$2:$C$7</c:f>
              <c:numCache>
                <c:formatCode>General</c:formatCode>
                <c:ptCount val="6"/>
                <c:pt idx="0">
                  <c:v>0.9055555555555556</c:v>
                </c:pt>
                <c:pt idx="1">
                  <c:v>0.9574074074074075</c:v>
                </c:pt>
                <c:pt idx="2">
                  <c:v>0.9814814814814815</c:v>
                </c:pt>
                <c:pt idx="3">
                  <c:v>0.987037037037037</c:v>
                </c:pt>
                <c:pt idx="4">
                  <c:v>0.9925925925925926</c:v>
                </c:pt>
                <c:pt idx="5">
                  <c:v>0.9907407407407407</c:v>
                </c:pt>
              </c:numCache>
            </c:numRef>
          </c:val>
          <c:smooth val="0"/>
        </c:ser>
        <c:ser>
          <c:idx val="2"/>
          <c:order val="2"/>
          <c:tx>
            <c:strRef>
              <c:f>Sheet1!$D$1</c:f>
              <c:strCache>
                <c:ptCount val="1"/>
                <c:pt idx="0">
                  <c:v>QSVM</c:v>
                </c:pt>
              </c:strCache>
            </c:strRef>
          </c:tx>
          <c:spPr>
            <a:solidFill>
              <a:srgbClr val="2E6DB4"/>
            </a:solidFill>
            <a:ln w="25400" cap="flat">
              <a:solidFill>
                <a:srgbClr val="2E6DB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E6DB4"/>
              </a:solidFill>
              <a:ln w="9525" cap="flat">
                <a:solidFill>
                  <a:srgbClr val="2E6DB4"/>
                </a:solidFill>
                <a:prstDash val="solid"/>
                <a:round/>
              </a:ln>
              <a:effectLst/>
            </c:spPr>
          </c:marker>
          <c:cat>
            <c:multiLvlStrRef>
              <c:f>Sheet1!$A$2:$A$7</c:f>
              <c:multiLvlStrCache>
                <c:ptCount val="6"/>
                <c:lvl>
                  <c:pt idx="0">
                    <c:v>10</c:v>
                  </c:pt>
                  <c:pt idx="1">
                    <c:v>20</c:v>
                  </c:pt>
                  <c:pt idx="2">
                    <c:v>40</c:v>
                  </c:pt>
                  <c:pt idx="3">
                    <c:v>80</c:v>
                  </c:pt>
                  <c:pt idx="4">
                    <c:v>160</c:v>
                  </c:pt>
                  <c:pt idx="5">
                    <c:v>249</c:v>
                  </c:pt>
                </c:lvl>
              </c:multiLvlStrCache>
            </c:multiLvlStrRef>
          </c:cat>
          <c:val>
            <c:numRef>
              <c:f>Sheet1!$D$2:$D$7</c:f>
              <c:numCache>
                <c:formatCode>General</c:formatCode>
                <c:ptCount val="6"/>
                <c:pt idx="0">
                  <c:v>0.8703703703703705</c:v>
                </c:pt>
                <c:pt idx="1">
                  <c:v>0.9388888888888889</c:v>
                </c:pt>
                <c:pt idx="2">
                  <c:v>0.9574074074074075</c:v>
                </c:pt>
                <c:pt idx="3">
                  <c:v>0.9777777777777776</c:v>
                </c:pt>
                <c:pt idx="4">
                  <c:v>0.9851851851851852</c:v>
                </c:pt>
                <c:pt idx="5">
                  <c:v>0.9907407407407407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74151"/>
                </a:solidFill>
                <a:latin typeface="Arial"/>
              </a:defRPr>
            </a:pPr>
            <a:endParaRPr lang="en-US"/>
          </a:p>
        </c:txPr>
        <c:crossAx val="2094734552"/>
        <c:crosses val="autoZero"/>
        <c:auto val="1"/>
        <c:lblAlgn val="ctr"/>
        <c:noMultiLvlLbl val="1"/>
      </c:catAx>
      <c:valAx>
        <c:axId val="2094734552"/>
        <c:scaling>
          <c:orientation val="minMax"/>
          <c:max val="1"/>
          <c:min val="0.85"/>
        </c:scaling>
        <c:delete val="0"/>
        <c:axPos val="l"/>
        <c:majorGridlines>
          <c:spPr>
            <a:ln w="6350" cap="flat">
              <a:solidFill>
                <a:srgbClr val="E5E7EB"/>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74151"/>
                </a:solidFill>
                <a:latin typeface="Arial"/>
              </a:defRPr>
            </a:pPr>
            <a:endParaRPr lang="en-US"/>
          </a:p>
        </c:txPr>
        <c:crossAx val="2094734554"/>
        <c:crosses val="autoZero"/>
        <c:crossBetween val="between"/>
        <c:majorUnit val="0.05"/>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hafta. Yeni bir algoritma öğretmiyoruz; 12-14. haftalarda öğrendiklerimizi bir mühendis gibi birleştiriyoruz. Açılışta haftanın mesajını söyleyin: bir kuantum modelin değeri ancak iyi ayarlanmış klasik bir rakiple aynı protokolde karşılaştırıldığında anlaşılır. Ders sonunda dönem projesini ve 15 haftanın kapanışını yapacağız.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saatin akışı. Birinci saat boru hattı ve sonuçlar, ikinci saat çözümlü örnekler ve kuantum avantajı tartışması, üçüncü saat lab, dönem projesi ve kapanış. İkinci saatteki tartışmaya yeterli zaman ayırın; öğrencilerin en çok soru sorduğu kısım orası 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Hedefleri okuyun. Son maddeyi vurgulayın: kuantum avantajı iddialarını değerlendirebilmek bu dersin en kalıcı becerisi olacak.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12-14. haftaların parçalarını CI/CD boru hattı benzetmesiyle birleştiriyoruz.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Diyagramı soldan sağa, sonra alt satırda sağdan sola okuyun. Mavi kutu klasik temel modeller, turuncu kutu gürültü. Kesikli ok hiperparametre geri beslemesi: değerlendirme sonucu modele geri döner ama sadece eğitim kümesi üzerinden. Yazılım benzetmesi: her adımın girdisi, çıktısı ve testi olan bir CI/CD boru hattı.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Tabloyu haftanın haritası olarak kullanın; son sütun hangi haftada gördüğümüzü gösteriyor. Öğrencilere bunun dönem projesinin iskeleti olduğunu söyleyin.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 ve 1 çok farklı şekiller, bilerek kolay seçildi. 3 ve 8 birbirine benzer; ayırt edici bilgi daha çok bileşene dağılmış. Kolay vakayı hem 4 hem 8 kübitle çalıştırarak kübit sayısının etkisini görüyoruz. Veri sklearn içinde, internet gerekmiyor.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PCA'yı kayıplı sıkıştırma olarak anlatın.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PCA veriyi en çok değişim gösteren yönlere göre sıralar. Kümülatif oran sıkıştırmadan sonra kalan bilgiyi gösterir. 3 vs 8, 0 vs 1'in 4 bileşende yakaladığı varyansa ancak 8 bileşende ulaşıyor: zor problem daha fazla kübit istiyor.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 kodlamasında x' = (x−min)/(max−min)·π. Stratify sınıf oranını korur. Sızıntı uyarısını mutlaka verin: datasets.py ders kolaylığı için PCA'yı tüm veride yapıyor; projede PCA ve ölçekleyici sadece eğitim kümesinde fit edilmeli. Sağdaki grafik ilk iki bileşende iki vakanın ayrılabilirliğini gösteriyor.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2 dakika verin. Son satırı vurgulayın: atılan varyans hem klasik hem kuantum model için kayıptır.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Ölçekleyicinin test verisine yeniden fit edilmemesi gerektiğini tekrar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Hızlı bir hatırlatma; yeni olan kısım bant genişliği hiperparametresi.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Kuantum kısım sadece benzerlik hesaplıyor, sınıflandırmayı klasik SVM yapıyor. Donanımda U(x) sonra U(x')† uygulanıp tüm kübitlerin 0 okunma olasılığı ölçülür. Simülatörde her örnek için bir kez durum vektörü hesaplayıp çekirdeği tek matris çarpımıyla alıyoruz: n² devre yerine n simülasyon.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 bw·x. Büyük bw'de küçük farklar bile durumları dik yapar, çekirdek birim matrise yaklaşır ve model ezberler (yoğunlaşma, tartışma bölümünde). Isı haritasında bw=1'de sadece köşegen var, bw=0.25'te sınıf blokları görünüyor. bw klasik RBF'deki gamma'nın karşılığı ve yalnızca eğitim kümesinde CV ile seçiliyor.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örnek tartışma bölümündeki çekirdek yoğunlaşmasına köprü kuruyor.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 kodlaması, 2 katman StronglyEntanglingLayers, çıktı ilk kübitin Z beklenen değeri. Çıkışı 3 ile ölçekleyip bias ekleyerek logit olarak ikili çapraz entropiye veriyoruz. Adam, lr 0.1, 40 epoch. Soldaki çizim aynı yapının tek katmanlı Qiskit karşılığı.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QSVM konveks, tek global çözüm ama n² devre. VQC parametre sayısı küçük ama optimizasyon konveks değil ve barren plateau riski var. Donanımda maliyet tabloları birazdan.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Sonuçların dürüst okunmasına odaklanın.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sklearn düzeni: satır gerçek, sütun tahmin, pozitif sınıf 1 (Vaka 2'de rakam 8). Doğruluk tek başına dengesiz veride yanıltıcı olabilir. Görseldeki VQC'nin tüm hataları 3 → 8 yönünde: model 8'e yanlı.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grafik. Vaka 1'de her model yüzde 98-100: tavan etkisi, modelleri ayırt edemiyor. Vaka 2'de QSVM ve RBF-SVM aynı, LR ve MLP bir örnek geride, VQC 6 örnek geride. Klasik modeller varsayılan ayarlarda; QSVM'nin bw'si ayarlandı. Yani karşılaştırma kuantum lehine eğik, yine de avantaj yok.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 ayrımda 108 test örneği var; bir örnek doğruluğu 0.93 puan oynatıyor. CV beş ayrımın ortalamasını ve yayılımını veriyor. 3-8'de dört modelin aralıkları örtüşüyor: 'QSVM daha iyi' ya da 'daha kötü' diyemeyiz, 'karşılaştırılabilir' diyebiliriz.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 kübit sayısını artırmak her zaman iyileştirmiyor; QSVM 8 kübitte sabit bw ile düşüyor çünkü çekirdek daralıyor, bw yeniden ayarlanmalı. Sağ: 'kuantum modeller az veriyle daha iyi' iddiası burada doğrulanmıyor; küçük n'de QSVM geride, 160 örnekten sonra yetişiyor. Tek deney genel sonuç değil ama iddialar ölçülerek sınanmalı.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Simülatörde saniyeler, donanımda saatler. Formülleri verin, sayıları çözümlü örneklerde hesaplayacağız. Maliyet raporunda kesin fiyat yerine formül ve varsayım yazılmalı; donanım rakamları hızla değişiyor.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Depolarize hata tek kübit kapılarına p1, CX'e p2, okuma hatası pr. 4 kübit, 24/24 örnek, 256 shot. Gürültü çekirdek değerlerini sistematik olarak küçültüyor: K(x,x) 1 yerine 0.33. SVM bu küçük problemde dayanıklı çünkü ortak çarpan sıralamayı korur; ama büyük problemde küçük değerler shot gürültüsünün altına 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Tekrar üretilebilirlik: tablo kodla üretilir. Lab Bölüm H bunu yapıyor. Sağdaki kontrol listesi dönem projesi rubriğinin temeli.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İkinci saat. Her örnekte önce öğrencilere 2-3 dakika verin.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Alıştırma 1 bu hesabı fonksiyon olarak yazdırıyor. Hata türüne bakmanın doğruluktan daha çok bilgi verdiğini vurgulayın.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ddof=1 ve t dağılımı en sık yapılan iki hata. Normal dağılımın 1.96'sı küçük örneklemde aralığı fazla daraltır.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Alıştırma 3. Donanım sürelerinin varsayım olduğunu, gerçek süreye kuyruk ve derleme ekleneceğini söyleyin.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Parameter-shift 11. haftadan. Mini-batch ile epoch maliyeti değişmez, sadece adım sayısı artar.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Kaba model: hata olursa durum rastgeleye gider, 0000'ı 1/16 olasılıkla verir. Depolarize kanalın 3/4 ve 15/16 katsayıları Qiskit tanımından geliyor; ayrıntıya girmeyin.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Alıştırma 8 bu kararı fonksiyona döküyor: compare(qsvm, rbf) -&gt; 'fark yok'.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bölüm bir tartışma. Öğrencilerin görüşlerini alın; dengeli olun: 'QML işe yaramaz' değil, 'klasik veride kanıt yok'.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Soldan sağa: kanıtın güçlü olduğu alanlar, açık sorular, klasik veride ML. Kısa cevap: bazı iyi tanımlı problemlerde kanıtlanmış ya da güçlü kanıtlı avantaj var; klasik veride pratik ML için genel kabul görmüş bir avantaj gösterilmedi.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Avantajın net olduğu problemler ya özel matematiksel yapıya (Shor'da periyodiklik) sahip ya da oracle tabanlı. Örnekleme deneylerinde bazı iddialar sonradan klasik yöntemlerle tartışıldı; ayrıntıya girmeyin, genel ifade kullanın. ML problemleri genelde böyle temiz yapı taşımıyor.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2010'larda HHL, kuantum öneri sistemleri, kuantum PCA gibi algoritmalar üstel hızlanma vaat etti; ortak varsayım QRAM benzeri hızlı örnekleme erişimiydi. Aaronson 2015'te bu ince yazılara dikkat çekti. Ewin Tang 2018'de lisans öğrencisiyken klasik algoritmaya aynı erişimi verince öneri sistemindeki üstel farkın kalktığını gösterdi (STOC 2019). Tang'ın algoritması pratikte her zaman hızlı değil; iddia üstel ayrımın ortadan kalkması.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Klasik veri her örnek ve her shot için yeniden devreye yüklenmeli. Açı kodlaması ucuz ama sınırlı bilgi; genlik kodlaması 2^n sayıyı n kübite sığdırır ama genel vektör için O(2^n) kapı ister: kazanılan sıkışma yükleme maliyetiyle geri ödenir.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Kübit sayısı arttıkça köşegen dışı K değerleri aynı küçük sayıya yığılır; çekirdek birim matrise benzer, model sadece ezberler, ve küçük değerleri ayırmak için üstel shot gerekir. Thanasilp, Wang, Cerezo, Holmes Nature Communications 2024. bw küçültmek geciktirir ama çok küçük bw'de devre özdeşliğe yaklaşıp klasik olarak kolay hesaplanabilir hale gelir: gerilim.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Barren plateau 14. haftadan: rastgele başlatılmış derin devrede gradyan varyansı üstel küçülüyor (McClean 2018). Yoğunlaşma ile aynı madalyonun iki yüzü. Sağdaki tablo umut veren koşulları özetliyor; makaleleri genel düzeyde verin.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Tartışmayı bu beş soruyla bağlayın. Bowles, Ahmed, Schuld 2024 geniş benchmark çalışması küçük ölçekli problemlerde klasik modellerin genelde önde olduğunu raporladı. QML işe yaramaz demiyoruz; klasik veride bugün için kanıt yok diyoruz.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model ailesi kavramsal düzeyde; her biri bir dönem projesine dönüşebilir. Otokodlayıcı: çöp kübitin |0&gt; olmasını SWAP testiyle ölçer. QGAN: üretici devre dağılım öğrenir. Çekirdek hizalama: K'yı yy^T'ye hizalayan parametreleri öğrenir; grafikte tek parametre olarak bw.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Üçüncü saat. Lab'ı başlatın; çalışırken dönem projesini anlatın.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dönem projesi için başlangıç şablonu. Çözümlü sürüm CPU'da yaklaşık 1,5 dakikada çalışıyor. Torch Colab'da hazır, pip ile kurulmuyor. 8 alıştırma assert ile otomatik kontrol ediliyor.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Tüm veri setleri sklearn içinde ya da ders boyunca kodla ürettiklerimiz; internet gerekmez. Öğrenciler kendi önerilerini de getirebilir. Beklenen çıktılar ders notu Tablo 12.1'de.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Zor projeler (8, 9) gürültü ve eğitilebilir çekirdek içeriyor; iddialı öğrencilere önerin. Proje 10 QAOA'yı (11. hafta) klasik sezgisellerle karşılaştırıyor.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Toplam 8-12 sayfa öneriyoruz. Bölüm 6 ve 7 rubrikte en çok puan taşıyan kısımlar. Notebook bağlantısı ek olarak verilmeli ve baştan sona çalışmalı.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önemli kural: kuantum modelin klasik modeli geçip geçmemesi puanı etkilemez. Ayarlanmamış klasik rakiple elde edilmiş kuantum üstünlüğü iddiası puan kaybettirir.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Özeti birlikte tekrar edin, sonra teslim takvimine ve kapanışa geçin.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'gelecek hafta' yerine. Kesin tarihleri siz belirleyin; takvim genel bir öneri. Sunum önerilerini de burada verin: 10 dakika sunum, 5 dakika soru, tek mesaj.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Beceriler tablosunu hızlıca gözden geçirin; her satırın bir kod karşılığı var. İleri okuma: önce resmi eğitimler, sonra Schuld-Petruccione ve Nielsen-Chuang, sonra araştırma makaleleri.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slayt. Haritayı soldan sağa gezin: temeller, kapılar, algoritmalar, varyasyonel, QML. Son sözü okuyun ve öğrencilere teşekkür edin. Soru-cevap için zaman bırakın.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463040"/>
            <a:ext cx="10058400" cy="365760"/>
          </a:xfrm>
          <a:prstGeom prst="rect">
            <a:avLst/>
          </a:prstGeom>
          <a:noFill/>
          <a:ln/>
        </p:spPr>
        <p:txBody>
          <a:bodyPr wrap="square" lIns="0" tIns="0" rIns="0" bIns="0" rtlCol="0" anchor="ctr"/>
          <a:lstStyle/>
          <a:p>
            <a:pPr indent="0" marL="0">
              <a:buNone/>
            </a:pPr>
            <a:r>
              <a:rPr lang="en-US" sz="1600" b="1" spc="200" kern="0" dirty="0">
                <a:solidFill>
                  <a:srgbClr val="C7D2E3"/>
                </a:solidFill>
              </a:rPr>
              <a:t>KUANTUM HESAPLAMA VE UYGULAMALARI</a:t>
            </a:r>
            <a:endParaRPr lang="en-US" sz="1600" dirty="0"/>
          </a:p>
        </p:txBody>
      </p:sp>
      <p:sp>
        <p:nvSpPr>
          <p:cNvPr id="3" name="Text 1"/>
          <p:cNvSpPr txBox="1"/>
          <p:nvPr/>
        </p:nvSpPr>
        <p:spPr>
          <a:xfrm>
            <a:off x="731520" y="2011680"/>
            <a:ext cx="10058400" cy="457200"/>
          </a:xfrm>
          <a:prstGeom prst="rect">
            <a:avLst/>
          </a:prstGeom>
          <a:noFill/>
          <a:ln/>
        </p:spPr>
        <p:txBody>
          <a:bodyPr wrap="square" lIns="0" tIns="0" rIns="0" bIns="0" rtlCol="0" anchor="ctr"/>
          <a:lstStyle/>
          <a:p>
            <a:pPr indent="0" marL="0">
              <a:buNone/>
            </a:pPr>
            <a:r>
              <a:rPr lang="en-US" sz="2200" dirty="0">
                <a:solidFill>
                  <a:srgbClr val="FFFFFF"/>
                </a:solidFill>
              </a:rPr>
              <a:t>Hafta 15 · Son hafta</a:t>
            </a:r>
            <a:endParaRPr lang="en-US" sz="2200" dirty="0"/>
          </a:p>
        </p:txBody>
      </p:sp>
      <p:sp>
        <p:nvSpPr>
          <p:cNvPr id="4" name="Text 2"/>
          <p:cNvSpPr txBox="1"/>
          <p:nvPr/>
        </p:nvSpPr>
        <p:spPr>
          <a:xfrm>
            <a:off x="731520" y="2560320"/>
            <a:ext cx="10972800" cy="1554480"/>
          </a:xfrm>
          <a:prstGeom prst="rect">
            <a:avLst/>
          </a:prstGeom>
          <a:noFill/>
          <a:ln/>
        </p:spPr>
        <p:txBody>
          <a:bodyPr wrap="square" lIns="0" tIns="0" rIns="0" bIns="0" rtlCol="0" anchor="t"/>
          <a:lstStyle/>
          <a:p>
            <a:pPr indent="0" marL="0">
              <a:buNone/>
            </a:pPr>
            <a:r>
              <a:rPr lang="en-US" sz="4200" b="1" dirty="0">
                <a:solidFill>
                  <a:srgbClr val="FFFFFF"/>
                </a:solidFill>
              </a:rPr>
              <a:t>QML IV: Uçtan Uca Proje, Klasik–Kuantum Karşılaştırma ve Kuantum Avantajı</a:t>
            </a:r>
            <a:endParaRPr lang="en-US" sz="4200" dirty="0"/>
          </a:p>
        </p:txBody>
      </p:sp>
      <p:sp>
        <p:nvSpPr>
          <p:cNvPr id="5" name="Text 3"/>
          <p:cNvSpPr txBox="1"/>
          <p:nvPr/>
        </p:nvSpPr>
        <p:spPr>
          <a:xfrm>
            <a:off x="731520" y="4297680"/>
            <a:ext cx="10515600" cy="822960"/>
          </a:xfrm>
          <a:prstGeom prst="rect">
            <a:avLst/>
          </a:prstGeom>
          <a:noFill/>
          <a:ln/>
        </p:spPr>
        <p:txBody>
          <a:bodyPr wrap="square" lIns="0" tIns="0" rIns="0" bIns="0" rtlCol="0" anchor="t"/>
          <a:lstStyle/>
          <a:p>
            <a:pPr indent="0" marL="0">
              <a:buNone/>
            </a:pPr>
            <a:r>
              <a:rPr lang="en-US" sz="1800" dirty="0">
                <a:solidFill>
                  <a:srgbClr val="C7D2E3"/>
                </a:solidFill>
              </a:rPr>
              <a:t>Proje boru hattı · dürüst benchmark · maliyet ve gürültü · "kuantum avantajı gerçekte var mı?" · dönem projesi · dersin kapanışı</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Bu haftanın planı</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a:t>
            </a:r>
            <a:endParaRPr lang="en-US" sz="1000" dirty="0"/>
          </a:p>
        </p:txBody>
      </p:sp>
      <p:sp>
        <p:nvSpPr>
          <p:cNvPr id="6" name="Shape 3"/>
          <p:cNvSpPr/>
          <p:nvPr/>
        </p:nvSpPr>
        <p:spPr>
          <a:xfrm>
            <a:off x="548640" y="1280160"/>
            <a:ext cx="3423818" cy="3931920"/>
          </a:xfrm>
          <a:prstGeom prst="roundRect">
            <a:avLst>
              <a:gd name="adj" fmla="val 2671"/>
            </a:avLst>
          </a:prstGeom>
          <a:solidFill>
            <a:srgbClr val="F3F4F6"/>
          </a:solidFill>
          <a:ln w="12700">
            <a:solidFill>
              <a:srgbClr val="F3F4F6"/>
            </a:solidFill>
            <a:prstDash val="solid"/>
          </a:ln>
        </p:spPr>
      </p:sp>
      <p:sp>
        <p:nvSpPr>
          <p:cNvPr id="7" name="Text 4"/>
          <p:cNvSpPr txBox="1"/>
          <p:nvPr/>
        </p:nvSpPr>
        <p:spPr>
          <a:xfrm>
            <a:off x="822960" y="1508760"/>
            <a:ext cx="2875178" cy="365760"/>
          </a:xfrm>
          <a:prstGeom prst="rect">
            <a:avLst/>
          </a:prstGeom>
          <a:noFill/>
          <a:ln/>
        </p:spPr>
        <p:txBody>
          <a:bodyPr wrap="square" lIns="0" tIns="0" rIns="0" bIns="0" rtlCol="0" anchor="t"/>
          <a:lstStyle/>
          <a:p>
            <a:pPr algn="l" indent="0" marL="0">
              <a:spcAft>
                <a:spcPts val="600"/>
              </a:spcAft>
              <a:buNone/>
            </a:pPr>
            <a:r>
              <a:rPr lang="en-US" sz="1500" b="1" dirty="0">
                <a:solidFill>
                  <a:srgbClr val="6B7280"/>
                </a:solidFill>
                <a:latin typeface="Calibri" pitchFamily="34" charset="0"/>
                <a:ea typeface="Calibri" pitchFamily="34" charset="-122"/>
                <a:cs typeface="Calibri" pitchFamily="34" charset="-120"/>
              </a:rPr>
              <a:t>1. saat</a:t>
            </a:r>
            <a:endParaRPr lang="en-US" sz="1500" dirty="0"/>
          </a:p>
        </p:txBody>
      </p:sp>
      <p:sp>
        <p:nvSpPr>
          <p:cNvPr id="8" name="Text 5"/>
          <p:cNvSpPr txBox="1"/>
          <p:nvPr/>
        </p:nvSpPr>
        <p:spPr>
          <a:xfrm>
            <a:off x="822960" y="1874520"/>
            <a:ext cx="2875178" cy="548640"/>
          </a:xfrm>
          <a:prstGeom prst="rect">
            <a:avLst/>
          </a:prstGeom>
          <a:noFill/>
          <a:ln/>
        </p:spPr>
        <p:txBody>
          <a:bodyPr wrap="square" lIns="0" tIns="0" rIns="0" bIns="0" rtlCol="0" anchor="t"/>
          <a:lstStyle/>
          <a:p>
            <a:pPr algn="l" indent="0" marL="0">
              <a:spcAft>
                <a:spcPts val="600"/>
              </a:spcAft>
              <a:buNone/>
            </a:pPr>
            <a:r>
              <a:rPr lang="en-US" sz="2600" b="1" dirty="0">
                <a:solidFill>
                  <a:srgbClr val="1F3A5F"/>
                </a:solidFill>
                <a:latin typeface="Calibri" pitchFamily="34" charset="0"/>
                <a:ea typeface="Calibri" pitchFamily="34" charset="-122"/>
                <a:cs typeface="Calibri" pitchFamily="34" charset="-120"/>
              </a:rPr>
              <a:t>Teori</a:t>
            </a:r>
            <a:endParaRPr lang="en-US" sz="2600" dirty="0"/>
          </a:p>
        </p:txBody>
      </p:sp>
      <p:sp>
        <p:nvSpPr>
          <p:cNvPr id="9" name="Text 6"/>
          <p:cNvSpPr txBox="1"/>
          <p:nvPr/>
        </p:nvSpPr>
        <p:spPr>
          <a:xfrm>
            <a:off x="822960" y="2651760"/>
            <a:ext cx="2875178" cy="2468880"/>
          </a:xfrm>
          <a:prstGeom prst="rect">
            <a:avLst/>
          </a:prstGeom>
          <a:noFill/>
          <a:ln/>
        </p:spPr>
        <p:txBody>
          <a:bodyPr wrap="square" lIns="0" tIns="0" rIns="0" bIns="0" rtlCol="0" anchor="t"/>
          <a:lstStyle/>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Uçtan uca boru hattı</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Veri, PCA, ön işleme</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QSVM ve VQC hatırlatma</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Sonuçlar, maliyet, gürültü</a:t>
            </a:r>
            <a:endParaRPr lang="en-US" sz="1900" dirty="0"/>
          </a:p>
        </p:txBody>
      </p:sp>
      <p:sp>
        <p:nvSpPr>
          <p:cNvPr id="10" name="Shape 7"/>
          <p:cNvSpPr/>
          <p:nvPr/>
        </p:nvSpPr>
        <p:spPr>
          <a:xfrm>
            <a:off x="4246778" y="1280160"/>
            <a:ext cx="3423818" cy="3931920"/>
          </a:xfrm>
          <a:prstGeom prst="roundRect">
            <a:avLst>
              <a:gd name="adj" fmla="val 2671"/>
            </a:avLst>
          </a:prstGeom>
          <a:solidFill>
            <a:srgbClr val="F3F4F6"/>
          </a:solidFill>
          <a:ln w="12700">
            <a:solidFill>
              <a:srgbClr val="F3F4F6"/>
            </a:solidFill>
            <a:prstDash val="solid"/>
          </a:ln>
        </p:spPr>
      </p:sp>
      <p:sp>
        <p:nvSpPr>
          <p:cNvPr id="11" name="Text 8"/>
          <p:cNvSpPr txBox="1"/>
          <p:nvPr/>
        </p:nvSpPr>
        <p:spPr>
          <a:xfrm>
            <a:off x="4521098" y="1508760"/>
            <a:ext cx="2875178" cy="365760"/>
          </a:xfrm>
          <a:prstGeom prst="rect">
            <a:avLst/>
          </a:prstGeom>
          <a:noFill/>
          <a:ln/>
        </p:spPr>
        <p:txBody>
          <a:bodyPr wrap="square" lIns="0" tIns="0" rIns="0" bIns="0" rtlCol="0" anchor="t"/>
          <a:lstStyle/>
          <a:p>
            <a:pPr algn="l" indent="0" marL="0">
              <a:spcAft>
                <a:spcPts val="600"/>
              </a:spcAft>
              <a:buNone/>
            </a:pPr>
            <a:r>
              <a:rPr lang="en-US" sz="1500" b="1" dirty="0">
                <a:solidFill>
                  <a:srgbClr val="6B7280"/>
                </a:solidFill>
                <a:latin typeface="Calibri" pitchFamily="34" charset="0"/>
                <a:ea typeface="Calibri" pitchFamily="34" charset="-122"/>
                <a:cs typeface="Calibri" pitchFamily="34" charset="-120"/>
              </a:rPr>
              <a:t>2. saat</a:t>
            </a:r>
            <a:endParaRPr lang="en-US" sz="1500" dirty="0"/>
          </a:p>
        </p:txBody>
      </p:sp>
      <p:sp>
        <p:nvSpPr>
          <p:cNvPr id="12" name="Text 9"/>
          <p:cNvSpPr txBox="1"/>
          <p:nvPr/>
        </p:nvSpPr>
        <p:spPr>
          <a:xfrm>
            <a:off x="4521098" y="1874520"/>
            <a:ext cx="2875178" cy="548640"/>
          </a:xfrm>
          <a:prstGeom prst="rect">
            <a:avLst/>
          </a:prstGeom>
          <a:noFill/>
          <a:ln/>
        </p:spPr>
        <p:txBody>
          <a:bodyPr wrap="square" lIns="0" tIns="0" rIns="0" bIns="0" rtlCol="0" anchor="t"/>
          <a:lstStyle/>
          <a:p>
            <a:pPr algn="l" indent="0" marL="0">
              <a:spcAft>
                <a:spcPts val="600"/>
              </a:spcAft>
              <a:buNone/>
            </a:pPr>
            <a:r>
              <a:rPr lang="en-US" sz="2600" b="1" dirty="0">
                <a:solidFill>
                  <a:srgbClr val="1F3A5F"/>
                </a:solidFill>
                <a:latin typeface="Calibri" pitchFamily="34" charset="0"/>
                <a:ea typeface="Calibri" pitchFamily="34" charset="-122"/>
                <a:cs typeface="Calibri" pitchFamily="34" charset="-120"/>
              </a:rPr>
              <a:t>Örnekler + tartışma</a:t>
            </a:r>
            <a:endParaRPr lang="en-US" sz="2600" dirty="0"/>
          </a:p>
        </p:txBody>
      </p:sp>
      <p:sp>
        <p:nvSpPr>
          <p:cNvPr id="13" name="Text 10"/>
          <p:cNvSpPr txBox="1"/>
          <p:nvPr/>
        </p:nvSpPr>
        <p:spPr>
          <a:xfrm>
            <a:off x="4521098" y="2651760"/>
            <a:ext cx="2875178" cy="2468880"/>
          </a:xfrm>
          <a:prstGeom prst="rect">
            <a:avLst/>
          </a:prstGeom>
          <a:noFill/>
          <a:ln/>
        </p:spPr>
        <p:txBody>
          <a:bodyPr wrap="square" lIns="0" tIns="0" rIns="0" bIns="0" rtlCol="0" anchor="t"/>
          <a:lstStyle/>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9 çözümlü örnek</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Kuantum avantajı var mı?</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Dequantization, yoğunlaşma</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Diğer QML modelleri</a:t>
            </a:r>
            <a:endParaRPr lang="en-US" sz="1900" dirty="0"/>
          </a:p>
        </p:txBody>
      </p:sp>
      <p:sp>
        <p:nvSpPr>
          <p:cNvPr id="14" name="Shape 11"/>
          <p:cNvSpPr/>
          <p:nvPr/>
        </p:nvSpPr>
        <p:spPr>
          <a:xfrm>
            <a:off x="7944917" y="1280160"/>
            <a:ext cx="3423818" cy="3931920"/>
          </a:xfrm>
          <a:prstGeom prst="roundRect">
            <a:avLst>
              <a:gd name="adj" fmla="val 2671"/>
            </a:avLst>
          </a:prstGeom>
          <a:solidFill>
            <a:srgbClr val="E8EEF6"/>
          </a:solidFill>
          <a:ln w="12700">
            <a:solidFill>
              <a:srgbClr val="E8EEF6"/>
            </a:solidFill>
            <a:prstDash val="solid"/>
          </a:ln>
        </p:spPr>
      </p:sp>
      <p:sp>
        <p:nvSpPr>
          <p:cNvPr id="15" name="Text 12"/>
          <p:cNvSpPr txBox="1"/>
          <p:nvPr/>
        </p:nvSpPr>
        <p:spPr>
          <a:xfrm>
            <a:off x="8219237" y="1508760"/>
            <a:ext cx="2875178" cy="365760"/>
          </a:xfrm>
          <a:prstGeom prst="rect">
            <a:avLst/>
          </a:prstGeom>
          <a:noFill/>
          <a:ln/>
        </p:spPr>
        <p:txBody>
          <a:bodyPr wrap="square" lIns="0" tIns="0" rIns="0" bIns="0" rtlCol="0" anchor="t"/>
          <a:lstStyle/>
          <a:p>
            <a:pPr algn="l" indent="0" marL="0">
              <a:spcAft>
                <a:spcPts val="600"/>
              </a:spcAft>
              <a:buNone/>
            </a:pPr>
            <a:r>
              <a:rPr lang="en-US" sz="1500" b="1" dirty="0">
                <a:solidFill>
                  <a:srgbClr val="6B7280"/>
                </a:solidFill>
                <a:latin typeface="Calibri" pitchFamily="34" charset="0"/>
                <a:ea typeface="Calibri" pitchFamily="34" charset="-122"/>
                <a:cs typeface="Calibri" pitchFamily="34" charset="-120"/>
              </a:rPr>
              <a:t>3. saat</a:t>
            </a:r>
            <a:endParaRPr lang="en-US" sz="1500" dirty="0"/>
          </a:p>
        </p:txBody>
      </p:sp>
      <p:sp>
        <p:nvSpPr>
          <p:cNvPr id="16" name="Text 13"/>
          <p:cNvSpPr txBox="1"/>
          <p:nvPr/>
        </p:nvSpPr>
        <p:spPr>
          <a:xfrm>
            <a:off x="8219237" y="1874520"/>
            <a:ext cx="2875178" cy="548640"/>
          </a:xfrm>
          <a:prstGeom prst="rect">
            <a:avLst/>
          </a:prstGeom>
          <a:noFill/>
          <a:ln/>
        </p:spPr>
        <p:txBody>
          <a:bodyPr wrap="square" lIns="0" tIns="0" rIns="0" bIns="0" rtlCol="0" anchor="t"/>
          <a:lstStyle/>
          <a:p>
            <a:pPr algn="l" indent="0" marL="0">
              <a:spcAft>
                <a:spcPts val="600"/>
              </a:spcAft>
              <a:buNone/>
            </a:pPr>
            <a:r>
              <a:rPr lang="en-US" sz="2600" b="1" dirty="0">
                <a:solidFill>
                  <a:srgbClr val="1F3A5F"/>
                </a:solidFill>
                <a:latin typeface="Calibri" pitchFamily="34" charset="0"/>
                <a:ea typeface="Calibri" pitchFamily="34" charset="-122"/>
                <a:cs typeface="Calibri" pitchFamily="34" charset="-120"/>
              </a:rPr>
              <a:t>Lab + proje</a:t>
            </a:r>
            <a:endParaRPr lang="en-US" sz="2600" dirty="0"/>
          </a:p>
        </p:txBody>
      </p:sp>
      <p:sp>
        <p:nvSpPr>
          <p:cNvPr id="17" name="Text 14"/>
          <p:cNvSpPr txBox="1"/>
          <p:nvPr/>
        </p:nvSpPr>
        <p:spPr>
          <a:xfrm>
            <a:off x="8219237" y="2651760"/>
            <a:ext cx="2875178" cy="2468880"/>
          </a:xfrm>
          <a:prstGeom prst="rect">
            <a:avLst/>
          </a:prstGeom>
          <a:noFill/>
          <a:ln/>
        </p:spPr>
        <p:txBody>
          <a:bodyPr wrap="square" lIns="0" tIns="0" rIns="0" bIns="0" rtlCol="0" anchor="t"/>
          <a:lstStyle/>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Tam proje notebook'u</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Dönem projesi önerileri</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Rapor şablonu, rubrik</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Dersin kapanışı</a:t>
            </a:r>
            <a:endParaRPr lang="en-US" sz="1900" dirty="0"/>
          </a:p>
        </p:txBody>
      </p:sp>
      <p:sp>
        <p:nvSpPr>
          <p:cNvPr id="18" name="Text 15"/>
          <p:cNvSpPr txBox="1"/>
          <p:nvPr/>
        </p:nvSpPr>
        <p:spPr>
          <a:xfrm>
            <a:off x="548640" y="5486400"/>
            <a:ext cx="11094415" cy="365760"/>
          </a:xfrm>
          <a:prstGeom prst="rect">
            <a:avLst/>
          </a:prstGeom>
          <a:noFill/>
          <a:ln/>
        </p:spPr>
        <p:txBody>
          <a:bodyPr wrap="square" lIns="0" tIns="0" rIns="0" bIns="0" rtlCol="0" anchor="t"/>
          <a:lstStyle/>
          <a:p>
            <a:pPr algn="l" indent="0" marL="0">
              <a:spcAft>
                <a:spcPts val="600"/>
              </a:spcAft>
              <a:buNone/>
            </a:pPr>
            <a:r>
              <a:rPr lang="en-US" sz="1500" dirty="0">
                <a:solidFill>
                  <a:srgbClr val="6B7280"/>
                </a:solidFill>
                <a:latin typeface="Calibri" pitchFamily="34" charset="0"/>
                <a:ea typeface="Calibri" pitchFamily="34" charset="-122"/>
                <a:cs typeface="Calibri" pitchFamily="34" charset="-120"/>
              </a:rPr>
              <a:t>Materyal: Hafta15_Ders_Notu · Hafta15_Lab.ipynb · veri: digits01_pca4/8.csv, digits38_pca6.csv</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Öğrenme hedefleri</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a:t>
            </a:r>
            <a:endParaRPr lang="en-US" sz="1000" dirty="0"/>
          </a:p>
        </p:txBody>
      </p:sp>
      <p:sp>
        <p:nvSpPr>
          <p:cNvPr id="6" name="Text 3"/>
          <p:cNvSpPr txBox="1"/>
          <p:nvPr/>
        </p:nvSpPr>
        <p:spPr>
          <a:xfrm>
            <a:off x="548640" y="1280160"/>
            <a:ext cx="7589520" cy="4754880"/>
          </a:xfrm>
          <a:prstGeom prst="rect">
            <a:avLst/>
          </a:prstGeom>
          <a:noFill/>
          <a:ln/>
        </p:spPr>
        <p:txBody>
          <a:bodyPr wrap="square" lIns="0" tIns="0" rIns="0" bIns="0" rtlCol="0" anchor="t"/>
          <a:lstStyle/>
          <a:p>
            <a:pPr marL="254000" indent="-254000">
              <a:spcAft>
                <a:spcPts val="1000"/>
              </a:spcAft>
              <a:buSzPct val="100000"/>
              <a:buChar char="•"/>
            </a:pPr>
            <a:r>
              <a:rPr lang="en-US" sz="1900" dirty="0">
                <a:solidFill>
                  <a:srgbClr val="1F2937"/>
                </a:solidFill>
                <a:latin typeface="Calibri" pitchFamily="34" charset="0"/>
                <a:ea typeface="Calibri" pitchFamily="34" charset="-122"/>
                <a:cs typeface="Calibri" pitchFamily="34" charset="-120"/>
              </a:rPr>
              <a:t>QML projesini </a:t>
            </a:r>
            <a:r>
              <a:rPr lang="en-US" sz="1900" b="1" dirty="0">
                <a:solidFill>
                  <a:srgbClr val="1F2937"/>
                </a:solidFill>
                <a:latin typeface="Calibri" pitchFamily="34" charset="0"/>
                <a:ea typeface="Calibri" pitchFamily="34" charset="-122"/>
                <a:cs typeface="Calibri" pitchFamily="34" charset="-120"/>
              </a:rPr>
              <a:t>problemden rapora</a:t>
            </a:r>
            <a:r>
              <a:rPr lang="en-US" sz="1900" dirty="0">
                <a:solidFill>
                  <a:srgbClr val="1F2937"/>
                </a:solidFill>
                <a:latin typeface="Calibri" pitchFamily="34" charset="0"/>
                <a:ea typeface="Calibri" pitchFamily="34" charset="-122"/>
                <a:cs typeface="Calibri" pitchFamily="34" charset="-120"/>
              </a:rPr>
              <a:t> tekrar üretilebilir bir boru hattı olarak kurmak</a:t>
            </a:r>
            <a:endParaRPr lang="en-US" sz="1900" dirty="0"/>
          </a:p>
          <a:p>
            <a:pPr marL="254000" indent="-254000">
              <a:spcAft>
                <a:spcPts val="1000"/>
              </a:spcAft>
              <a:buSzPct val="100000"/>
              <a:buChar char="•"/>
            </a:pPr>
            <a:r>
              <a:rPr lang="en-US" sz="1900" dirty="0">
                <a:solidFill>
                  <a:srgbClr val="1F2937"/>
                </a:solidFill>
                <a:latin typeface="Calibri" pitchFamily="34" charset="0"/>
                <a:ea typeface="Calibri" pitchFamily="34" charset="-122"/>
                <a:cs typeface="Calibri" pitchFamily="34" charset="-120"/>
              </a:rPr>
              <a:t>PCA ile boyut indirgeme; </a:t>
            </a:r>
            <a:r>
              <a:rPr lang="en-US" sz="1900" b="1" dirty="0">
                <a:solidFill>
                  <a:srgbClr val="1F2937"/>
                </a:solidFill>
                <a:latin typeface="Calibri" pitchFamily="34" charset="0"/>
                <a:ea typeface="Calibri" pitchFamily="34" charset="-122"/>
                <a:cs typeface="Calibri" pitchFamily="34" charset="-120"/>
              </a:rPr>
              <a:t>açıklanan varyans</a:t>
            </a:r>
            <a:r>
              <a:rPr lang="en-US" sz="1900" dirty="0">
                <a:solidFill>
                  <a:srgbClr val="1F2937"/>
                </a:solidFill>
                <a:latin typeface="Calibri" pitchFamily="34" charset="0"/>
                <a:ea typeface="Calibri" pitchFamily="34" charset="-122"/>
                <a:cs typeface="Calibri" pitchFamily="34" charset="-120"/>
              </a:rPr>
              <a:t> ve kübit bütçesi</a:t>
            </a:r>
            <a:endParaRPr lang="en-US" sz="1900" dirty="0"/>
          </a:p>
          <a:p>
            <a:pPr marL="254000" indent="-254000">
              <a:spcAft>
                <a:spcPts val="1000"/>
              </a:spcAft>
              <a:buSzPct val="100000"/>
              <a:buChar char="•"/>
            </a:pPr>
            <a:r>
              <a:rPr lang="en-US" sz="1900" dirty="0">
                <a:solidFill>
                  <a:srgbClr val="1F2937"/>
                </a:solidFill>
                <a:latin typeface="Calibri" pitchFamily="34" charset="0"/>
                <a:ea typeface="Calibri" pitchFamily="34" charset="-122"/>
                <a:cs typeface="Calibri" pitchFamily="34" charset="-120"/>
              </a:rPr>
              <a:t>Doğruluk, </a:t>
            </a:r>
            <a:r>
              <a:rPr lang="en-US" sz="1900" b="1" dirty="0">
                <a:solidFill>
                  <a:srgbClr val="1F2937"/>
                </a:solidFill>
                <a:latin typeface="Calibri" pitchFamily="34" charset="0"/>
                <a:ea typeface="Calibri" pitchFamily="34" charset="-122"/>
                <a:cs typeface="Calibri" pitchFamily="34" charset="-120"/>
              </a:rPr>
              <a:t>F1</a:t>
            </a:r>
            <a:r>
              <a:rPr lang="en-US" sz="1900" dirty="0">
                <a:solidFill>
                  <a:srgbClr val="1F2937"/>
                </a:solidFill>
                <a:latin typeface="Calibri" pitchFamily="34" charset="0"/>
                <a:ea typeface="Calibri" pitchFamily="34" charset="-122"/>
                <a:cs typeface="Calibri" pitchFamily="34" charset="-120"/>
              </a:rPr>
              <a:t>, karışıklık matrisi, </a:t>
            </a:r>
            <a:r>
              <a:rPr lang="en-US" sz="1900" b="1" dirty="0">
                <a:solidFill>
                  <a:srgbClr val="1F2937"/>
                </a:solidFill>
                <a:latin typeface="Calibri" pitchFamily="34" charset="0"/>
                <a:ea typeface="Calibri" pitchFamily="34" charset="-122"/>
                <a:cs typeface="Calibri" pitchFamily="34" charset="-120"/>
              </a:rPr>
              <a:t>5-kat CV</a:t>
            </a:r>
            <a:r>
              <a:rPr lang="en-US" sz="1900" dirty="0">
                <a:solidFill>
                  <a:srgbClr val="1F2937"/>
                </a:solidFill>
                <a:latin typeface="Calibri" pitchFamily="34" charset="0"/>
                <a:ea typeface="Calibri" pitchFamily="34" charset="-122"/>
                <a:cs typeface="Calibri" pitchFamily="34" charset="-120"/>
              </a:rPr>
              <a:t>, </a:t>
            </a:r>
            <a:r>
              <a:rPr lang="en-US" sz="1900" b="1" dirty="0">
                <a:solidFill>
                  <a:srgbClr val="1F2937"/>
                </a:solidFill>
                <a:latin typeface="Calibri" pitchFamily="34" charset="0"/>
                <a:ea typeface="Calibri" pitchFamily="34" charset="-122"/>
                <a:cs typeface="Calibri" pitchFamily="34" charset="-120"/>
              </a:rPr>
              <a:t>güven aralığı</a:t>
            </a:r>
            <a:endParaRPr lang="en-US" sz="1900" dirty="0"/>
          </a:p>
          <a:p>
            <a:pPr marL="254000" indent="-254000">
              <a:spcAft>
                <a:spcPts val="1000"/>
              </a:spcAft>
              <a:buSzPct val="100000"/>
              <a:buChar char="•"/>
            </a:pPr>
            <a:r>
              <a:rPr lang="en-US" sz="1900" dirty="0">
                <a:solidFill>
                  <a:srgbClr val="1F2937"/>
                </a:solidFill>
                <a:latin typeface="Calibri" pitchFamily="34" charset="0"/>
                <a:ea typeface="Calibri" pitchFamily="34" charset="-122"/>
                <a:cs typeface="Calibri" pitchFamily="34" charset="-120"/>
              </a:rPr>
              <a:t>Kuantum modelleri </a:t>
            </a:r>
            <a:r>
              <a:rPr lang="en-US" sz="1900" b="1" dirty="0">
                <a:solidFill>
                  <a:srgbClr val="1F2937"/>
                </a:solidFill>
                <a:latin typeface="Calibri" pitchFamily="34" charset="0"/>
                <a:ea typeface="Calibri" pitchFamily="34" charset="-122"/>
                <a:cs typeface="Calibri" pitchFamily="34" charset="-120"/>
              </a:rPr>
              <a:t>ayarlanmış klasik temel modellerle</a:t>
            </a:r>
            <a:r>
              <a:rPr lang="en-US" sz="1900" dirty="0">
                <a:solidFill>
                  <a:srgbClr val="1F2937"/>
                </a:solidFill>
                <a:latin typeface="Calibri" pitchFamily="34" charset="0"/>
                <a:ea typeface="Calibri" pitchFamily="34" charset="-122"/>
                <a:cs typeface="Calibri" pitchFamily="34" charset="-120"/>
              </a:rPr>
              <a:t> adil karşılaştırmak</a:t>
            </a:r>
            <a:endParaRPr lang="en-US" sz="1900" dirty="0"/>
          </a:p>
          <a:p>
            <a:pPr marL="254000" indent="-254000">
              <a:spcAft>
                <a:spcPts val="1000"/>
              </a:spcAft>
              <a:buSzPct val="100000"/>
              <a:buChar char="•"/>
            </a:pPr>
            <a:r>
              <a:rPr lang="en-US" sz="1900" dirty="0">
                <a:solidFill>
                  <a:srgbClr val="1F2937"/>
                </a:solidFill>
                <a:latin typeface="Calibri" pitchFamily="34" charset="0"/>
                <a:ea typeface="Calibri" pitchFamily="34" charset="-122"/>
                <a:cs typeface="Calibri" pitchFamily="34" charset="-120"/>
              </a:rPr>
              <a:t>Donanım </a:t>
            </a:r>
            <a:r>
              <a:rPr lang="en-US" sz="1900" b="1" dirty="0">
                <a:solidFill>
                  <a:srgbClr val="1F2937"/>
                </a:solidFill>
                <a:latin typeface="Calibri" pitchFamily="34" charset="0"/>
                <a:ea typeface="Calibri" pitchFamily="34" charset="-122"/>
                <a:cs typeface="Calibri" pitchFamily="34" charset="-120"/>
              </a:rPr>
              <a:t>maliyeti</a:t>
            </a:r>
            <a:r>
              <a:rPr lang="en-US" sz="1900" dirty="0">
                <a:solidFill>
                  <a:srgbClr val="1F2937"/>
                </a:solidFill>
                <a:latin typeface="Calibri" pitchFamily="34" charset="0"/>
                <a:ea typeface="Calibri" pitchFamily="34" charset="-122"/>
                <a:cs typeface="Calibri" pitchFamily="34" charset="-120"/>
              </a:rPr>
              <a:t> (devre × shot) ve </a:t>
            </a:r>
            <a:r>
              <a:rPr lang="en-US" sz="1900" b="1" dirty="0">
                <a:solidFill>
                  <a:srgbClr val="1F2937"/>
                </a:solidFill>
                <a:latin typeface="Calibri" pitchFamily="34" charset="0"/>
                <a:ea typeface="Calibri" pitchFamily="34" charset="-122"/>
                <a:cs typeface="Calibri" pitchFamily="34" charset="-120"/>
              </a:rPr>
              <a:t>gürültü</a:t>
            </a:r>
            <a:r>
              <a:rPr lang="en-US" sz="1900" dirty="0">
                <a:solidFill>
                  <a:srgbClr val="1F2937"/>
                </a:solidFill>
                <a:latin typeface="Calibri" pitchFamily="34" charset="0"/>
                <a:ea typeface="Calibri" pitchFamily="34" charset="-122"/>
                <a:cs typeface="Calibri" pitchFamily="34" charset="-120"/>
              </a:rPr>
              <a:t> etkisini tahmin etmek</a:t>
            </a:r>
            <a:endParaRPr lang="en-US" sz="1900" dirty="0"/>
          </a:p>
          <a:p>
            <a:pPr marL="254000" indent="-254000">
              <a:spcAft>
                <a:spcPts val="1000"/>
              </a:spcAft>
              <a:buSzPct val="100000"/>
              <a:buChar char="•"/>
            </a:pPr>
            <a:r>
              <a:rPr lang="en-US" sz="1900" dirty="0">
                <a:solidFill>
                  <a:srgbClr val="1F2937"/>
                </a:solidFill>
                <a:latin typeface="Calibri" pitchFamily="34" charset="0"/>
                <a:ea typeface="Calibri" pitchFamily="34" charset="-122"/>
                <a:cs typeface="Calibri" pitchFamily="34" charset="-120"/>
              </a:rPr>
              <a:t>"Kuantum avantajı" iddialarını değerlendirmek: dequantization, yoğunlaşma, veri yükleme, barren plateau</a:t>
            </a:r>
            <a:endParaRPr lang="en-US" sz="1900" dirty="0"/>
          </a:p>
          <a:p>
            <a:pPr marL="254000" indent="-254000">
              <a:spcAft>
                <a:spcPts val="1000"/>
              </a:spcAft>
              <a:buSzPct val="100000"/>
              <a:buChar char="•"/>
            </a:pPr>
            <a:r>
              <a:rPr lang="en-US" sz="1900" dirty="0">
                <a:solidFill>
                  <a:srgbClr val="1F2937"/>
                </a:solidFill>
                <a:latin typeface="Calibri" pitchFamily="34" charset="0"/>
                <a:ea typeface="Calibri" pitchFamily="34" charset="-122"/>
                <a:cs typeface="Calibri" pitchFamily="34" charset="-120"/>
              </a:rPr>
              <a:t>Dönem projesini şablon ve rubrikle planlamak</a:t>
            </a:r>
            <a:endParaRPr lang="en-US" sz="1900" dirty="0"/>
          </a:p>
        </p:txBody>
      </p:sp>
      <p:sp>
        <p:nvSpPr>
          <p:cNvPr id="7" name="Shape 4"/>
          <p:cNvSpPr/>
          <p:nvPr/>
        </p:nvSpPr>
        <p:spPr>
          <a:xfrm>
            <a:off x="8412480" y="1280160"/>
            <a:ext cx="3230575" cy="4572000"/>
          </a:xfrm>
          <a:prstGeom prst="roundRect">
            <a:avLst>
              <a:gd name="adj" fmla="val 2264"/>
            </a:avLst>
          </a:prstGeom>
          <a:solidFill>
            <a:srgbClr val="E8EEF6"/>
          </a:solidFill>
          <a:ln w="12700">
            <a:solidFill>
              <a:srgbClr val="E8EEF6"/>
            </a:solidFill>
            <a:prstDash val="solid"/>
          </a:ln>
        </p:spPr>
      </p:sp>
      <p:sp>
        <p:nvSpPr>
          <p:cNvPr id="8" name="Text 5"/>
          <p:cNvSpPr txBox="1"/>
          <p:nvPr/>
        </p:nvSpPr>
        <p:spPr>
          <a:xfrm>
            <a:off x="8595360" y="1389888"/>
            <a:ext cx="2864815" cy="435254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Haftanın mesajı</a:t>
            </a:r>
            <a:endParaRPr lang="en-US" sz="17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"Kuantum" etiketi bir sonuç değildir.</a:t>
            </a:r>
            <a:endParaRPr lang="en-US" sz="17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Bir modelin değeri, </a:t>
            </a:r>
            <a:r>
              <a:rPr lang="en-US" sz="1700" b="1" dirty="0">
                <a:solidFill>
                  <a:srgbClr val="1F2937"/>
                </a:solidFill>
                <a:latin typeface="Calibri" pitchFamily="34" charset="0"/>
                <a:ea typeface="Calibri" pitchFamily="34" charset="-122"/>
                <a:cs typeface="Calibri" pitchFamily="34" charset="-120"/>
              </a:rPr>
              <a:t>iyi ayarlanmış klasik bir rakiple</a:t>
            </a:r>
            <a:r>
              <a:rPr lang="en-US" sz="1700" dirty="0">
                <a:solidFill>
                  <a:srgbClr val="1F2937"/>
                </a:solidFill>
                <a:latin typeface="Calibri" pitchFamily="34" charset="0"/>
                <a:ea typeface="Calibri" pitchFamily="34" charset="-122"/>
                <a:cs typeface="Calibri" pitchFamily="34" charset="-120"/>
              </a:rPr>
              <a:t>, aynı veri ve aynı protokolle karşılaştırıldığında anlaşılır.</a:t>
            </a:r>
            <a:endParaRPr lang="en-US" sz="17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Olumsuz sonuç da </a:t>
            </a:r>
            <a:r>
              <a:rPr lang="en-US" sz="1700" b="1" dirty="0">
                <a:solidFill>
                  <a:srgbClr val="1F2937"/>
                </a:solidFill>
                <a:latin typeface="Calibri" pitchFamily="34" charset="0"/>
                <a:ea typeface="Calibri" pitchFamily="34" charset="-122"/>
                <a:cs typeface="Calibri" pitchFamily="34" charset="-120"/>
              </a:rPr>
              <a:t>sonuçtur</a:t>
            </a:r>
            <a:r>
              <a:rPr lang="en-US" sz="1700" dirty="0">
                <a:solidFill>
                  <a:srgbClr val="1F2937"/>
                </a:solidFill>
                <a:latin typeface="Calibri" pitchFamily="34" charset="0"/>
                <a:ea typeface="Calibri" pitchFamily="34" charset="-122"/>
                <a:cs typeface="Calibri" pitchFamily="34" charset="-120"/>
              </a:rPr>
              <a: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5B84B8"/>
                </a:solidFill>
              </a:rPr>
              <a:t>01</a:t>
            </a:r>
            <a:endParaRPr lang="en-US" sz="7200" dirty="0"/>
          </a:p>
        </p:txBody>
      </p:sp>
      <p:sp>
        <p:nvSpPr>
          <p:cNvPr id="3" name="Text 1"/>
          <p:cNvSpPr txBox="1"/>
          <p:nvPr/>
        </p:nvSpPr>
        <p:spPr>
          <a:xfrm>
            <a:off x="731520" y="3108960"/>
            <a:ext cx="10972800" cy="822960"/>
          </a:xfrm>
          <a:prstGeom prst="rect">
            <a:avLst/>
          </a:prstGeom>
          <a:noFill/>
          <a:ln/>
        </p:spPr>
        <p:txBody>
          <a:bodyPr wrap="square" lIns="0" tIns="0" rIns="0" bIns="0" rtlCol="0" anchor="ctr"/>
          <a:lstStyle/>
          <a:p>
            <a:pPr indent="0" marL="0">
              <a:buNone/>
            </a:pPr>
            <a:r>
              <a:rPr lang="en-US" sz="3800" b="1" dirty="0">
                <a:solidFill>
                  <a:srgbClr val="FFFFFF"/>
                </a:solidFill>
              </a:rPr>
              <a:t>Uçtan uca QML boru hattı</a:t>
            </a:r>
            <a:endParaRPr lang="en-US" sz="3800" dirty="0"/>
          </a:p>
        </p:txBody>
      </p:sp>
      <p:sp>
        <p:nvSpPr>
          <p:cNvPr id="4" name="Text 2"/>
          <p:cNvSpPr txBox="1"/>
          <p:nvPr/>
        </p:nvSpPr>
        <p:spPr>
          <a:xfrm>
            <a:off x="731520" y="3977640"/>
            <a:ext cx="10515600" cy="731520"/>
          </a:xfrm>
          <a:prstGeom prst="rect">
            <a:avLst/>
          </a:prstGeom>
          <a:noFill/>
          <a:ln/>
        </p:spPr>
        <p:txBody>
          <a:bodyPr wrap="square" lIns="0" tIns="0" rIns="0" bIns="0" rtlCol="0" anchor="t"/>
          <a:lstStyle/>
          <a:p>
            <a:pPr indent="0" marL="0">
              <a:buNone/>
            </a:pPr>
            <a:r>
              <a:rPr lang="en-US" sz="1800" dirty="0">
                <a:solidFill>
                  <a:srgbClr val="C7D2E3"/>
                </a:solidFill>
              </a:rPr>
              <a:t>Problemden rapora on adım</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Boru hattı (pipeline): on adım</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5</a:t>
            </a:r>
            <a:endParaRPr lang="en-US" sz="1000" dirty="0"/>
          </a:p>
        </p:txBody>
      </p:sp>
      <p:pic>
        <p:nvPicPr>
          <p:cNvPr id="6" name="Image 0" descr="görsel">    </p:cNvPr>
          <p:cNvPicPr>
            <a:picLocks noChangeAspect="1"/>
          </p:cNvPicPr>
          <p:nvPr/>
        </p:nvPicPr>
        <p:blipFill>
          <a:blip r:embed="rId1"/>
          <a:stretch>
            <a:fillRect/>
          </a:stretch>
        </p:blipFill>
        <p:spPr>
          <a:xfrm>
            <a:off x="1223597" y="1097280"/>
            <a:ext cx="9744501" cy="3840480"/>
          </a:xfrm>
          <a:prstGeom prst="rect">
            <a:avLst/>
          </a:prstGeom>
        </p:spPr>
      </p:pic>
      <p:sp>
        <p:nvSpPr>
          <p:cNvPr id="7" name="Shape 3"/>
          <p:cNvSpPr/>
          <p:nvPr/>
        </p:nvSpPr>
        <p:spPr>
          <a:xfrm>
            <a:off x="548640" y="5074920"/>
            <a:ext cx="3560978" cy="868680"/>
          </a:xfrm>
          <a:prstGeom prst="roundRect">
            <a:avLst>
              <a:gd name="adj" fmla="val 8421"/>
            </a:avLst>
          </a:prstGeom>
          <a:solidFill>
            <a:srgbClr val="E8EEF6"/>
          </a:solidFill>
          <a:ln w="12700">
            <a:solidFill>
              <a:srgbClr val="E8EEF6"/>
            </a:solidFill>
            <a:prstDash val="solid"/>
          </a:ln>
        </p:spPr>
      </p:sp>
      <p:sp>
        <p:nvSpPr>
          <p:cNvPr id="8" name="Text 4"/>
          <p:cNvSpPr txBox="1"/>
          <p:nvPr/>
        </p:nvSpPr>
        <p:spPr>
          <a:xfrm>
            <a:off x="731520" y="5184648"/>
            <a:ext cx="3195218" cy="649224"/>
          </a:xfrm>
          <a:prstGeom prst="rect">
            <a:avLst/>
          </a:prstGeom>
          <a:noFill/>
          <a:ln/>
        </p:spPr>
        <p:txBody>
          <a:bodyPr wrap="square" lIns="0" tIns="0" rIns="0" bIns="0" rtlCol="0" anchor="ctr"/>
          <a:lstStyle/>
          <a:p>
            <a:pPr algn="l" indent="0" marL="0">
              <a:spcAft>
                <a:spcPts val="500"/>
              </a:spcAft>
              <a:buNone/>
            </a:pPr>
            <a:r>
              <a:rPr lang="en-US" sz="1500" b="1" dirty="0">
                <a:solidFill>
                  <a:srgbClr val="1F2937"/>
                </a:solidFill>
                <a:latin typeface="Calibri" pitchFamily="34" charset="0"/>
                <a:ea typeface="Calibri" pitchFamily="34" charset="-122"/>
                <a:cs typeface="Calibri" pitchFamily="34" charset="-120"/>
              </a:rPr>
              <a:t>Klasik temel</a:t>
            </a:r>
            <a:r>
              <a:rPr lang="en-US" sz="1500" dirty="0">
                <a:solidFill>
                  <a:srgbClr val="1F2937"/>
                </a:solidFill>
                <a:latin typeface="Calibri" pitchFamily="34" charset="0"/>
                <a:ea typeface="Calibri" pitchFamily="34" charset="-122"/>
                <a:cs typeface="Calibri" pitchFamily="34" charset="-120"/>
              </a:rPr>
              <a:t> = birim testteki beklenen değer</a:t>
            </a:r>
            <a:endParaRPr lang="en-US" sz="1500" dirty="0"/>
          </a:p>
        </p:txBody>
      </p:sp>
      <p:sp>
        <p:nvSpPr>
          <p:cNvPr id="9" name="Shape 5"/>
          <p:cNvSpPr/>
          <p:nvPr/>
        </p:nvSpPr>
        <p:spPr>
          <a:xfrm>
            <a:off x="4246778" y="5074920"/>
            <a:ext cx="3560978" cy="868680"/>
          </a:xfrm>
          <a:prstGeom prst="roundRect">
            <a:avLst>
              <a:gd name="adj" fmla="val 8421"/>
            </a:avLst>
          </a:prstGeom>
          <a:solidFill>
            <a:srgbClr val="E8EEF6"/>
          </a:solidFill>
          <a:ln w="12700">
            <a:solidFill>
              <a:srgbClr val="E8EEF6"/>
            </a:solidFill>
            <a:prstDash val="solid"/>
          </a:ln>
        </p:spPr>
      </p:sp>
      <p:sp>
        <p:nvSpPr>
          <p:cNvPr id="10" name="Text 6"/>
          <p:cNvSpPr txBox="1"/>
          <p:nvPr/>
        </p:nvSpPr>
        <p:spPr>
          <a:xfrm>
            <a:off x="4429658" y="5184648"/>
            <a:ext cx="3195218" cy="649224"/>
          </a:xfrm>
          <a:prstGeom prst="rect">
            <a:avLst/>
          </a:prstGeom>
          <a:noFill/>
          <a:ln/>
        </p:spPr>
        <p:txBody>
          <a:bodyPr wrap="square" lIns="0" tIns="0" rIns="0" bIns="0" rtlCol="0" anchor="ctr"/>
          <a:lstStyle/>
          <a:p>
            <a:pPr algn="l" indent="0" marL="0">
              <a:spcAft>
                <a:spcPts val="500"/>
              </a:spcAft>
              <a:buNone/>
            </a:pPr>
            <a:r>
              <a:rPr lang="en-US" sz="1500" b="1" dirty="0">
                <a:solidFill>
                  <a:srgbClr val="1F2937"/>
                </a:solidFill>
                <a:latin typeface="Calibri" pitchFamily="34" charset="0"/>
                <a:ea typeface="Calibri" pitchFamily="34" charset="-122"/>
                <a:cs typeface="Calibri" pitchFamily="34" charset="-120"/>
              </a:rPr>
              <a:t>Sabit tohum</a:t>
            </a:r>
            <a:r>
              <a:rPr lang="en-US" sz="1500" dirty="0">
                <a:solidFill>
                  <a:srgbClr val="1F2937"/>
                </a:solidFill>
                <a:latin typeface="Calibri" pitchFamily="34" charset="0"/>
                <a:ea typeface="Calibri" pitchFamily="34" charset="-122"/>
                <a:cs typeface="Calibri" pitchFamily="34" charset="-120"/>
              </a:rPr>
              <a:t> = deterministik build</a:t>
            </a:r>
            <a:endParaRPr lang="en-US" sz="1500" dirty="0"/>
          </a:p>
        </p:txBody>
      </p:sp>
      <p:sp>
        <p:nvSpPr>
          <p:cNvPr id="11" name="Shape 7"/>
          <p:cNvSpPr/>
          <p:nvPr/>
        </p:nvSpPr>
        <p:spPr>
          <a:xfrm>
            <a:off x="7944917" y="5074920"/>
            <a:ext cx="3560978" cy="868680"/>
          </a:xfrm>
          <a:prstGeom prst="roundRect">
            <a:avLst>
              <a:gd name="adj" fmla="val 8421"/>
            </a:avLst>
          </a:prstGeom>
          <a:solidFill>
            <a:srgbClr val="FDF3E8"/>
          </a:solidFill>
          <a:ln w="12700">
            <a:solidFill>
              <a:srgbClr val="FDF3E8"/>
            </a:solidFill>
            <a:prstDash val="solid"/>
          </a:ln>
        </p:spPr>
      </p:sp>
      <p:sp>
        <p:nvSpPr>
          <p:cNvPr id="12" name="Text 8"/>
          <p:cNvSpPr txBox="1"/>
          <p:nvPr/>
        </p:nvSpPr>
        <p:spPr>
          <a:xfrm>
            <a:off x="8127797" y="5184648"/>
            <a:ext cx="3195218" cy="649224"/>
          </a:xfrm>
          <a:prstGeom prst="rect">
            <a:avLst/>
          </a:prstGeom>
          <a:noFill/>
          <a:ln/>
        </p:spPr>
        <p:txBody>
          <a:bodyPr wrap="square" lIns="0" tIns="0" rIns="0" bIns="0" rtlCol="0" anchor="ctr"/>
          <a:lstStyle/>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Test kümesine bakarak </a:t>
            </a:r>
            <a:r>
              <a:rPr lang="en-US" sz="1500" b="1" dirty="0">
                <a:solidFill>
                  <a:srgbClr val="1F2937"/>
                </a:solidFill>
                <a:latin typeface="Calibri" pitchFamily="34" charset="0"/>
                <a:ea typeface="Calibri" pitchFamily="34" charset="-122"/>
                <a:cs typeface="Calibri" pitchFamily="34" charset="-120"/>
              </a:rPr>
              <a:t>ayar yapma</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Her adımda sorulacak soru</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1996995"/>
                <a:gridCol w="3328325"/>
                <a:gridCol w="4659654"/>
                <a:gridCol w="1109442"/>
              </a:tblGrid>
              <a:tr h="512064">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Adım</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Soru</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Bu haftaki karşılığı</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Hf.</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Problem</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Ne sınıflandırıyoruz? Başarı ölçütü?</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İkili rakam sınıflandırma; doğruluk, F1</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Veri + ön işleme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Kaç özellik = kaç kübit?</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digits → PCA k → [0, π], stratify</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Kodlama + model</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Veri devreye nasıl girer?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ZZ harita → QSVM; açı kodlama → VQC</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13–14</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Değerlendirme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Ne kadar iyi, ne kadar güvenilir?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Doğruluk, F1, karışıklık m., 5-kat CV, GA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Klasik temel</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Klasik rakip ne kadar iyi?</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LR, RBF-SVM, MLP (16)</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Maliyet</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Donanımda kaç devre × shot?</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n(n−1)/2 · shot; simülasyon süresi</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7, 13</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Gürültü</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Gerçek cihazda ne olur?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Aer: depolarize + okuma hatası</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Rapor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Tekrar üretilebilir mi?</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pandas → CSV / markdown</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İki vaka: kolay ve zor</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7</a:t>
            </a:r>
            <a:endParaRPr lang="en-US" sz="1000" dirty="0"/>
          </a:p>
        </p:txBody>
      </p:sp>
      <p:pic>
        <p:nvPicPr>
          <p:cNvPr id="6" name="Image 0" descr="görsel">    </p:cNvPr>
          <p:cNvPicPr>
            <a:picLocks noChangeAspect="1"/>
          </p:cNvPicPr>
          <p:nvPr/>
        </p:nvPicPr>
        <p:blipFill>
          <a:blip r:embed="rId1"/>
          <a:stretch>
            <a:fillRect/>
          </a:stretch>
        </p:blipFill>
        <p:spPr>
          <a:xfrm>
            <a:off x="548640" y="1283186"/>
            <a:ext cx="6949440" cy="2005629"/>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749040"/>
          <a:ext cx="6949440" cy="914400"/>
        </p:xfrm>
        <a:graphic>
          <a:graphicData uri="http://schemas.openxmlformats.org/drawingml/2006/table">
            <a:tbl>
              <a:tblPr/>
              <a:tblGrid>
                <a:gridCol w="1042416"/>
                <a:gridCol w="2084832"/>
                <a:gridCol w="2432304"/>
                <a:gridCol w="1389888"/>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Vaka</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Sınıflar</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Eğitim / test</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Kübit</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457200">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1a</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0 vs 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252 / 108</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57200">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1b</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0 vs 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252 / 108</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457200">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3 vs 8</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249 / 108</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bl>
          </a:graphicData>
        </a:graphic>
      </p:graphicFrame>
      <p:sp>
        <p:nvSpPr>
          <p:cNvPr id="8" name="Shape 3"/>
          <p:cNvSpPr/>
          <p:nvPr/>
        </p:nvSpPr>
        <p:spPr>
          <a:xfrm>
            <a:off x="7772400" y="1188720"/>
            <a:ext cx="3870655" cy="4754880"/>
          </a:xfrm>
          <a:prstGeom prst="roundRect">
            <a:avLst>
              <a:gd name="adj" fmla="val 1890"/>
            </a:avLst>
          </a:prstGeom>
          <a:solidFill>
            <a:srgbClr val="E8EEF6"/>
          </a:solidFill>
          <a:ln w="12700">
            <a:solidFill>
              <a:srgbClr val="E8EEF6"/>
            </a:solidFill>
            <a:prstDash val="solid"/>
          </a:ln>
        </p:spPr>
      </p:sp>
      <p:sp>
        <p:nvSpPr>
          <p:cNvPr id="9" name="Text 4"/>
          <p:cNvSpPr txBox="1"/>
          <p:nvPr/>
        </p:nvSpPr>
        <p:spPr>
          <a:xfrm>
            <a:off x="7955280" y="1298448"/>
            <a:ext cx="3504895" cy="453542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sklearn digits</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8×8 gri tonlu görüntü → </a:t>
            </a:r>
            <a:r>
              <a:rPr lang="en-US" sz="1600" b="1" dirty="0">
                <a:solidFill>
                  <a:srgbClr val="1F2937"/>
                </a:solidFill>
                <a:latin typeface="Calibri" pitchFamily="34" charset="0"/>
                <a:ea typeface="Calibri" pitchFamily="34" charset="-122"/>
                <a:cs typeface="Calibri" pitchFamily="34" charset="-120"/>
              </a:rPr>
              <a:t>64 özellik</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Yerleşik, </a:t>
            </a:r>
            <a:r>
              <a:rPr lang="en-US" sz="1600" b="1" dirty="0">
                <a:solidFill>
                  <a:srgbClr val="1F2937"/>
                </a:solidFill>
                <a:latin typeface="Calibri" pitchFamily="34" charset="0"/>
                <a:ea typeface="Calibri" pitchFamily="34" charset="-122"/>
                <a:cs typeface="Calibri" pitchFamily="34" charset="-120"/>
              </a:rPr>
              <a:t>internet gerekmez</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64 kübit simülasyonu imkânsız (2⁶⁴ genlik)</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 </a:t>
            </a:r>
            <a:r>
              <a:rPr lang="en-US" sz="1600" b="1" dirty="0">
                <a:solidFill>
                  <a:srgbClr val="1F2937"/>
                </a:solidFill>
                <a:latin typeface="Calibri" pitchFamily="34" charset="0"/>
                <a:ea typeface="Calibri" pitchFamily="34" charset="-122"/>
                <a:cs typeface="Calibri" pitchFamily="34" charset="-120"/>
              </a:rPr>
              <a:t>PCA</a:t>
            </a:r>
            <a:r>
              <a:rPr lang="en-US" sz="1600" dirty="0">
                <a:solidFill>
                  <a:srgbClr val="1F2937"/>
                </a:solidFill>
                <a:latin typeface="Calibri" pitchFamily="34" charset="0"/>
                <a:ea typeface="Calibri" pitchFamily="34" charset="-122"/>
                <a:cs typeface="Calibri" pitchFamily="34" charset="-120"/>
              </a:rPr>
              <a:t> ile k özelliğe indir</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k = kübit sayısı</a:t>
            </a:r>
            <a:endParaRPr lang="en-US" sz="1700" dirty="0"/>
          </a:p>
          <a:p>
            <a:pPr algn="l" indent="0" marL="0">
              <a:spcAft>
                <a:spcPts val="500"/>
              </a:spcAft>
              <a:buNone/>
            </a:pPr>
            <a:r>
              <a:rPr lang="en-US" sz="1600" dirty="0">
                <a:solidFill>
                  <a:srgbClr val="1F3A5F"/>
                </a:solidFill>
                <a:latin typeface="Courier New" pitchFamily="34" charset="0"/>
                <a:ea typeface="Courier New" pitchFamily="34" charset="-122"/>
                <a:cs typeface="Courier New" pitchFamily="34" charset="-120"/>
              </a:rPr>
              <a:t>ds_digits01(4)</a:t>
            </a:r>
            <a:r>
              <a:rPr lang="en-US" sz="1600" dirty="0">
                <a:solidFill>
                  <a:srgbClr val="1F2937"/>
                </a:solidFill>
                <a:latin typeface="Calibri" pitchFamily="34" charset="0"/>
                <a:ea typeface="Calibri" pitchFamily="34" charset="-122"/>
                <a:cs typeface="Calibri" pitchFamily="34" charset="-120"/>
              </a:rPr>
              <a:t>, </a:t>
            </a:r>
            <a:r>
              <a:rPr lang="en-US" sz="1600" dirty="0">
                <a:solidFill>
                  <a:srgbClr val="1F3A5F"/>
                </a:solidFill>
                <a:latin typeface="Courier New" pitchFamily="34" charset="0"/>
                <a:ea typeface="Courier New" pitchFamily="34" charset="-122"/>
                <a:cs typeface="Courier New" pitchFamily="34" charset="-120"/>
              </a:rPr>
              <a:t>ds_digits01(8)</a:t>
            </a:r>
            <a:r>
              <a:rPr lang="en-US" sz="1600" dirty="0">
                <a:solidFill>
                  <a:srgbClr val="1F2937"/>
                </a:solidFill>
                <a:latin typeface="Calibri" pitchFamily="34" charset="0"/>
                <a:ea typeface="Calibri" pitchFamily="34" charset="-122"/>
                <a:cs typeface="Calibri" pitchFamily="34" charset="-120"/>
              </a:rPr>
              <a:t>, </a:t>
            </a:r>
            <a:r>
              <a:rPr lang="en-US" sz="1600" dirty="0">
                <a:solidFill>
                  <a:srgbClr val="1F3A5F"/>
                </a:solidFill>
                <a:latin typeface="Courier New" pitchFamily="34" charset="0"/>
                <a:ea typeface="Courier New" pitchFamily="34" charset="-122"/>
                <a:cs typeface="Courier New" pitchFamily="34" charset="-120"/>
              </a:rPr>
              <a:t>ds_digits_pair(3, 8, 6)</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5B84B8"/>
                </a:solidFill>
              </a:rPr>
              <a:t>02</a:t>
            </a:r>
            <a:endParaRPr lang="en-US" sz="7200" dirty="0"/>
          </a:p>
        </p:txBody>
      </p:sp>
      <p:sp>
        <p:nvSpPr>
          <p:cNvPr id="3" name="Text 1"/>
          <p:cNvSpPr txBox="1"/>
          <p:nvPr/>
        </p:nvSpPr>
        <p:spPr>
          <a:xfrm>
            <a:off x="731520" y="3108960"/>
            <a:ext cx="10972800" cy="822960"/>
          </a:xfrm>
          <a:prstGeom prst="rect">
            <a:avLst/>
          </a:prstGeom>
          <a:noFill/>
          <a:ln/>
        </p:spPr>
        <p:txBody>
          <a:bodyPr wrap="square" lIns="0" tIns="0" rIns="0" bIns="0" rtlCol="0" anchor="ctr"/>
          <a:lstStyle/>
          <a:p>
            <a:pPr indent="0" marL="0">
              <a:buNone/>
            </a:pPr>
            <a:r>
              <a:rPr lang="en-US" sz="3800" b="1" dirty="0">
                <a:solidFill>
                  <a:srgbClr val="FFFFFF"/>
                </a:solidFill>
              </a:rPr>
              <a:t>Veri ve ön işleme</a:t>
            </a:r>
            <a:endParaRPr lang="en-US" sz="3800" dirty="0"/>
          </a:p>
        </p:txBody>
      </p:sp>
      <p:sp>
        <p:nvSpPr>
          <p:cNvPr id="4" name="Text 2"/>
          <p:cNvSpPr txBox="1"/>
          <p:nvPr/>
        </p:nvSpPr>
        <p:spPr>
          <a:xfrm>
            <a:off x="731520" y="3977640"/>
            <a:ext cx="10515600" cy="731520"/>
          </a:xfrm>
          <a:prstGeom prst="rect">
            <a:avLst/>
          </a:prstGeom>
          <a:noFill/>
          <a:ln/>
        </p:spPr>
        <p:txBody>
          <a:bodyPr wrap="square" lIns="0" tIns="0" rIns="0" bIns="0" rtlCol="0" anchor="t"/>
          <a:lstStyle/>
          <a:p>
            <a:pPr indent="0" marL="0">
              <a:buNone/>
            </a:pPr>
            <a:r>
              <a:rPr lang="en-US" sz="1800" dirty="0">
                <a:solidFill>
                  <a:srgbClr val="C7D2E3"/>
                </a:solidFill>
              </a:rPr>
              <a:t>PCA, [0, π] ölçekleme, stratify, veri sızıntısı</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PCA: açıklanan varyans = kübit bütçesi</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9</a:t>
            </a:r>
            <a:endParaRPr lang="en-US" sz="1000" dirty="0"/>
          </a:p>
        </p:txBody>
      </p:sp>
      <p:pic>
        <p:nvPicPr>
          <p:cNvPr id="6" name="Image 0" descr="görsel">    </p:cNvPr>
          <p:cNvPicPr>
            <a:picLocks noChangeAspect="1"/>
          </p:cNvPicPr>
          <p:nvPr/>
        </p:nvPicPr>
        <p:blipFill>
          <a:blip r:embed="rId1"/>
          <a:stretch>
            <a:fillRect/>
          </a:stretch>
        </p:blipFill>
        <p:spPr>
          <a:xfrm>
            <a:off x="750007" y="1097280"/>
            <a:ext cx="6363825" cy="3566160"/>
          </a:xfrm>
          <a:prstGeom prst="rect">
            <a:avLst/>
          </a:prstGeom>
        </p:spPr>
      </p:pic>
      <p:sp>
        <p:nvSpPr>
          <p:cNvPr id="7" name="Shape 3"/>
          <p:cNvSpPr/>
          <p:nvPr/>
        </p:nvSpPr>
        <p:spPr>
          <a:xfrm>
            <a:off x="548640" y="4846320"/>
            <a:ext cx="6766560" cy="914400"/>
          </a:xfrm>
          <a:prstGeom prst="roundRect">
            <a:avLst>
              <a:gd name="adj" fmla="val 10000"/>
            </a:avLst>
          </a:prstGeom>
          <a:solidFill>
            <a:srgbClr val="E8EEF6"/>
          </a:solidFill>
          <a:ln w="12700">
            <a:solidFill>
              <a:srgbClr val="E8EEF6"/>
            </a:solidFill>
            <a:prstDash val="solid"/>
          </a:ln>
        </p:spPr>
      </p:sp>
      <p:sp>
        <p:nvSpPr>
          <p:cNvPr id="8" name="Text 4"/>
          <p:cNvSpPr txBox="1"/>
          <p:nvPr/>
        </p:nvSpPr>
        <p:spPr>
          <a:xfrm>
            <a:off x="548640" y="4846320"/>
            <a:ext cx="6766560" cy="914400"/>
          </a:xfrm>
          <a:prstGeom prst="rect">
            <a:avLst/>
          </a:prstGeom>
          <a:noFill/>
          <a:ln/>
        </p:spPr>
        <p:txBody>
          <a:bodyPr wrap="square" lIns="0" tIns="0" rIns="0" bIns="0" rtlCol="0" anchor="ctr"/>
          <a:lstStyle/>
          <a:p>
            <a:pPr algn="ctr" indent="0" marL="0">
              <a:buNone/>
            </a:pPr>
            <a:r>
              <a:rPr lang="en-US" sz="2400" dirty="0">
                <a:solidFill>
                  <a:srgbClr val="1F3A5F"/>
                </a:solidFill>
                <a:latin typeface="Cambria" pitchFamily="34" charset="0"/>
                <a:ea typeface="Cambria" pitchFamily="34" charset="-122"/>
                <a:cs typeface="Cambria" pitchFamily="34" charset="-120"/>
              </a:rPr>
              <a:t>oran_i = λ_i / Σ λ_j</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589520" y="1280160"/>
          <a:ext cx="4053535" cy="914400"/>
        </p:xfrm>
        <a:graphic>
          <a:graphicData uri="http://schemas.openxmlformats.org/drawingml/2006/table">
            <a:tbl>
              <a:tblPr/>
              <a:tblGrid>
                <a:gridCol w="810707"/>
                <a:gridCol w="1621414"/>
                <a:gridCol w="1621414"/>
              </a:tblGrid>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k</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0 vs 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3 vs 8</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02920">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%59,3</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%36,2</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02920">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%73,4</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%52,2</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02920">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%79,8</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%63,3</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02920">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%84,9</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%71,4</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
        <p:nvSpPr>
          <p:cNvPr id="10" name="Shape 5"/>
          <p:cNvSpPr/>
          <p:nvPr/>
        </p:nvSpPr>
        <p:spPr>
          <a:xfrm>
            <a:off x="7589520" y="4023360"/>
            <a:ext cx="4053535" cy="1737360"/>
          </a:xfrm>
          <a:prstGeom prst="roundRect">
            <a:avLst>
              <a:gd name="adj" fmla="val 4211"/>
            </a:avLst>
          </a:prstGeom>
          <a:solidFill>
            <a:srgbClr val="E8EEF6"/>
          </a:solidFill>
          <a:ln w="12700">
            <a:solidFill>
              <a:srgbClr val="E8EEF6"/>
            </a:solidFill>
            <a:prstDash val="solid"/>
          </a:ln>
        </p:spPr>
      </p:sp>
      <p:sp>
        <p:nvSpPr>
          <p:cNvPr id="11" name="Text 6"/>
          <p:cNvSpPr txBox="1"/>
          <p:nvPr/>
        </p:nvSpPr>
        <p:spPr>
          <a:xfrm>
            <a:off x="7772400" y="4133088"/>
            <a:ext cx="3687775" cy="1517904"/>
          </a:xfrm>
          <a:prstGeom prst="rect">
            <a:avLst/>
          </a:prstGeom>
          <a:noFill/>
          <a:ln/>
        </p:spPr>
        <p:txBody>
          <a:bodyPr wrap="square" lIns="0" tIns="0" rIns="0" bIns="0" rtlCol="0" anchor="t"/>
          <a:lstStyle/>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Atılan varyans kuantum modelin </a:t>
            </a:r>
            <a:r>
              <a:rPr lang="en-US" sz="1600" b="1" dirty="0">
                <a:solidFill>
                  <a:srgbClr val="1F2937"/>
                </a:solidFill>
                <a:latin typeface="Calibri" pitchFamily="34" charset="0"/>
                <a:ea typeface="Calibri" pitchFamily="34" charset="-122"/>
                <a:cs typeface="Calibri" pitchFamily="34" charset="-120"/>
              </a:rPr>
              <a:t>göremediği</a:t>
            </a:r>
            <a:r>
              <a:rPr lang="en-US" sz="1600" dirty="0">
                <a:solidFill>
                  <a:srgbClr val="1F2937"/>
                </a:solidFill>
                <a:latin typeface="Calibri" pitchFamily="34" charset="0"/>
                <a:ea typeface="Calibri" pitchFamily="34" charset="-122"/>
                <a:cs typeface="Calibri" pitchFamily="34" charset="-120"/>
              </a:rPr>
              <a:t> bilgidir. Adil karşılaştırma: </a:t>
            </a:r>
            <a:r>
              <a:rPr lang="en-US" sz="1600" b="1" dirty="0">
                <a:solidFill>
                  <a:srgbClr val="1F2937"/>
                </a:solidFill>
                <a:latin typeface="Calibri" pitchFamily="34" charset="0"/>
                <a:ea typeface="Calibri" pitchFamily="34" charset="-122"/>
                <a:cs typeface="Calibri" pitchFamily="34" charset="-120"/>
              </a:rPr>
              <a:t>tüm modeller aynı k özelliği</a:t>
            </a:r>
            <a:r>
              <a:rPr lang="en-US" sz="1600" dirty="0">
                <a:solidFill>
                  <a:srgbClr val="1F2937"/>
                </a:solidFill>
                <a:latin typeface="Calibri" pitchFamily="34" charset="0"/>
                <a:ea typeface="Calibri" pitchFamily="34" charset="-122"/>
                <a:cs typeface="Calibri" pitchFamily="34" charset="-120"/>
              </a:rPr>
              <a:t> kullanır.</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Ölçekleme, stratify ve veri sızıntısı</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10</a:t>
            </a:r>
            <a:endParaRPr lang="en-US" sz="1000" dirty="0"/>
          </a:p>
        </p:txBody>
      </p:sp>
      <p:sp>
        <p:nvSpPr>
          <p:cNvPr id="6" name="Shape 3"/>
          <p:cNvSpPr/>
          <p:nvPr/>
        </p:nvSpPr>
        <p:spPr>
          <a:xfrm>
            <a:off x="548640" y="1234440"/>
            <a:ext cx="5760720" cy="822960"/>
          </a:xfrm>
          <a:prstGeom prst="roundRect">
            <a:avLst>
              <a:gd name="adj" fmla="val 11111"/>
            </a:avLst>
          </a:prstGeom>
          <a:solidFill>
            <a:srgbClr val="E8EEF6"/>
          </a:solidFill>
          <a:ln w="12700">
            <a:solidFill>
              <a:srgbClr val="E8EEF6"/>
            </a:solidFill>
            <a:prstDash val="solid"/>
          </a:ln>
        </p:spPr>
      </p:sp>
      <p:sp>
        <p:nvSpPr>
          <p:cNvPr id="7" name="Text 4"/>
          <p:cNvSpPr txBox="1"/>
          <p:nvPr/>
        </p:nvSpPr>
        <p:spPr>
          <a:xfrm>
            <a:off x="548640" y="1234440"/>
            <a:ext cx="5760720" cy="822960"/>
          </a:xfrm>
          <a:prstGeom prst="rect">
            <a:avLst/>
          </a:prstGeom>
          <a:noFill/>
          <a:ln/>
        </p:spPr>
        <p:txBody>
          <a:bodyPr wrap="square" lIns="0" tIns="0" rIns="0" bIns="0" rtlCol="0" anchor="ctr"/>
          <a:lstStyle/>
          <a:p>
            <a:pPr algn="ctr" indent="0" marL="0">
              <a:buNone/>
            </a:pPr>
            <a:r>
              <a:rPr lang="en-US" sz="2200" dirty="0">
                <a:solidFill>
                  <a:srgbClr val="1F3A5F"/>
                </a:solidFill>
                <a:latin typeface="Cambria" pitchFamily="34" charset="0"/>
                <a:ea typeface="Cambria" pitchFamily="34" charset="-122"/>
                <a:cs typeface="Cambria" pitchFamily="34" charset="-120"/>
              </a:rPr>
              <a:t>x' = (x − min) / (max − min) · π</a:t>
            </a:r>
            <a:endParaRPr lang="en-US" sz="2200" dirty="0"/>
          </a:p>
        </p:txBody>
      </p:sp>
      <p:sp>
        <p:nvSpPr>
          <p:cNvPr id="8" name="Shape 5"/>
          <p:cNvSpPr/>
          <p:nvPr/>
        </p:nvSpPr>
        <p:spPr>
          <a:xfrm>
            <a:off x="548640" y="2240280"/>
            <a:ext cx="5760720" cy="1234440"/>
          </a:xfrm>
          <a:prstGeom prst="roundRect">
            <a:avLst>
              <a:gd name="adj" fmla="val 5926"/>
            </a:avLst>
          </a:prstGeom>
          <a:solidFill>
            <a:srgbClr val="E8EEF6"/>
          </a:solidFill>
          <a:ln w="12700">
            <a:solidFill>
              <a:srgbClr val="E8EEF6"/>
            </a:solidFill>
            <a:prstDash val="solid"/>
          </a:ln>
        </p:spPr>
      </p:sp>
      <p:sp>
        <p:nvSpPr>
          <p:cNvPr id="9" name="Text 6"/>
          <p:cNvSpPr txBox="1"/>
          <p:nvPr/>
        </p:nvSpPr>
        <p:spPr>
          <a:xfrm>
            <a:off x="731520" y="2350008"/>
            <a:ext cx="5394960" cy="101498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Stratify</a:t>
            </a:r>
            <a:endParaRPr lang="en-US" sz="1700" dirty="0"/>
          </a:p>
          <a:p>
            <a:pPr algn="l" indent="0" marL="0">
              <a:spcAft>
                <a:spcPts val="500"/>
              </a:spcAft>
              <a:buNone/>
            </a:pPr>
            <a:r>
              <a:rPr lang="en-US" sz="1500" dirty="0">
                <a:solidFill>
                  <a:srgbClr val="1F3A5F"/>
                </a:solidFill>
                <a:latin typeface="Courier New" pitchFamily="34" charset="0"/>
                <a:ea typeface="Courier New" pitchFamily="34" charset="-122"/>
                <a:cs typeface="Courier New" pitchFamily="34" charset="-120"/>
              </a:rPr>
              <a:t>train_test_split(..., stratify=y, random_state=42)</a:t>
            </a:r>
            <a:r>
              <a:rPr lang="en-US" sz="1500" dirty="0">
                <a:solidFill>
                  <a:srgbClr val="1F2937"/>
                </a:solidFill>
                <a:latin typeface="Calibri" pitchFamily="34" charset="0"/>
                <a:ea typeface="Calibri" pitchFamily="34" charset="-122"/>
                <a:cs typeface="Calibri" pitchFamily="34" charset="-120"/>
              </a:rPr>
              <a:t> → eğitim ve testte sınıf oranı aynı (0,49 / 0,49)</a:t>
            </a:r>
            <a:endParaRPr lang="en-US" sz="1700" dirty="0"/>
          </a:p>
        </p:txBody>
      </p:sp>
      <p:sp>
        <p:nvSpPr>
          <p:cNvPr id="10" name="Shape 7"/>
          <p:cNvSpPr/>
          <p:nvPr/>
        </p:nvSpPr>
        <p:spPr>
          <a:xfrm>
            <a:off x="548640" y="3611880"/>
            <a:ext cx="5760720" cy="2331720"/>
          </a:xfrm>
          <a:prstGeom prst="roundRect">
            <a:avLst>
              <a:gd name="adj" fmla="val 3137"/>
            </a:avLst>
          </a:prstGeom>
          <a:solidFill>
            <a:srgbClr val="FDF3E8"/>
          </a:solidFill>
          <a:ln w="12700">
            <a:solidFill>
              <a:srgbClr val="FDF3E8"/>
            </a:solidFill>
            <a:prstDash val="solid"/>
          </a:ln>
        </p:spPr>
      </p:sp>
      <p:sp>
        <p:nvSpPr>
          <p:cNvPr id="11" name="Text 8"/>
          <p:cNvSpPr txBox="1"/>
          <p:nvPr/>
        </p:nvSpPr>
        <p:spPr>
          <a:xfrm>
            <a:off x="731520" y="3721608"/>
            <a:ext cx="5394960" cy="2112264"/>
          </a:xfrm>
          <a:prstGeom prst="rect">
            <a:avLst/>
          </a:prstGeom>
          <a:noFill/>
          <a:ln/>
        </p:spPr>
        <p:txBody>
          <a:bodyPr wrap="square" lIns="0" tIns="0" rIns="0" bIns="0" rtlCol="0" anchor="t"/>
          <a:lstStyle/>
          <a:p>
            <a:pPr algn="l" indent="0" marL="0">
              <a:spcAft>
                <a:spcPts val="600"/>
              </a:spcAft>
              <a:buNone/>
            </a:pPr>
            <a:r>
              <a:rPr lang="en-US" sz="1700" b="1" dirty="0">
                <a:solidFill>
                  <a:srgbClr val="D9822B"/>
                </a:solidFill>
                <a:latin typeface="Calibri" pitchFamily="34" charset="0"/>
                <a:ea typeface="Calibri" pitchFamily="34" charset="-122"/>
                <a:cs typeface="Calibri" pitchFamily="34" charset="-120"/>
              </a:rPr>
              <a:t>Veri sızıntısı</a:t>
            </a:r>
            <a:endParaRPr lang="en-US" sz="1700" dirty="0"/>
          </a:p>
          <a:p>
            <a:pPr algn="l" indent="0" marL="0">
              <a:spcAft>
                <a:spcPts val="500"/>
              </a:spcAft>
              <a:buNone/>
            </a:pPr>
            <a:r>
              <a:rPr lang="en-US" sz="1500" dirty="0">
                <a:solidFill>
                  <a:srgbClr val="1F3A5F"/>
                </a:solidFill>
                <a:latin typeface="Courier New" pitchFamily="34" charset="0"/>
                <a:ea typeface="Courier New" pitchFamily="34" charset="-122"/>
                <a:cs typeface="Courier New" pitchFamily="34" charset="-120"/>
              </a:rPr>
              <a:t>datasets.py</a:t>
            </a:r>
            <a:r>
              <a:rPr lang="en-US" sz="1500" dirty="0">
                <a:solidFill>
                  <a:srgbClr val="1F2937"/>
                </a:solidFill>
                <a:latin typeface="Calibri" pitchFamily="34" charset="0"/>
                <a:ea typeface="Calibri" pitchFamily="34" charset="-122"/>
                <a:cs typeface="Calibri" pitchFamily="34" charset="-120"/>
              </a:rPr>
              <a:t> PCA'yı </a:t>
            </a:r>
            <a:r>
              <a:rPr lang="en-US" sz="1500" b="1" dirty="0">
                <a:solidFill>
                  <a:srgbClr val="1F2937"/>
                </a:solidFill>
                <a:latin typeface="Calibri" pitchFamily="34" charset="0"/>
                <a:ea typeface="Calibri" pitchFamily="34" charset="-122"/>
                <a:cs typeface="Calibri" pitchFamily="34" charset="-120"/>
              </a:rPr>
              <a:t>tüm veride</a:t>
            </a:r>
            <a:r>
              <a:rPr lang="en-US" sz="1500" dirty="0">
                <a:solidFill>
                  <a:srgbClr val="1F2937"/>
                </a:solidFill>
                <a:latin typeface="Calibri" pitchFamily="34" charset="0"/>
                <a:ea typeface="Calibri" pitchFamily="34" charset="-122"/>
                <a:cs typeface="Calibri" pitchFamily="34" charset="-120"/>
              </a:rPr>
              <a:t> yapar (ders kolaylığı).</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Projede: ayır → </a:t>
            </a:r>
            <a:r>
              <a:rPr lang="en-US" sz="1500" dirty="0">
                <a:solidFill>
                  <a:srgbClr val="1F3A5F"/>
                </a:solidFill>
                <a:latin typeface="Courier New" pitchFamily="34" charset="0"/>
                <a:ea typeface="Courier New" pitchFamily="34" charset="-122"/>
                <a:cs typeface="Courier New" pitchFamily="34" charset="-120"/>
              </a:rPr>
              <a:t>pca.fit(Xtr)</a:t>
            </a:r>
            <a:r>
              <a:rPr lang="en-US" sz="1500" dirty="0">
                <a:solidFill>
                  <a:srgbClr val="1F2937"/>
                </a:solidFill>
                <a:latin typeface="Calibri" pitchFamily="34" charset="0"/>
                <a:ea typeface="Calibri" pitchFamily="34" charset="-122"/>
                <a:cs typeface="Calibri" pitchFamily="34" charset="-120"/>
              </a:rPr>
              <a:t> → </a:t>
            </a:r>
            <a:r>
              <a:rPr lang="en-US" sz="1500" dirty="0">
                <a:solidFill>
                  <a:srgbClr val="1F3A5F"/>
                </a:solidFill>
                <a:latin typeface="Courier New" pitchFamily="34" charset="0"/>
                <a:ea typeface="Courier New" pitchFamily="34" charset="-122"/>
                <a:cs typeface="Courier New" pitchFamily="34" charset="-120"/>
              </a:rPr>
              <a:t>sc.fit(...)</a:t>
            </a:r>
            <a:r>
              <a:rPr lang="en-US" sz="1500" dirty="0">
                <a:solidFill>
                  <a:srgbClr val="1F2937"/>
                </a:solidFill>
                <a:latin typeface="Calibri" pitchFamily="34" charset="0"/>
                <a:ea typeface="Calibri" pitchFamily="34" charset="-122"/>
                <a:cs typeface="Calibri" pitchFamily="34" charset="-120"/>
              </a:rPr>
              <a:t> → testte yalnız </a:t>
            </a:r>
            <a:r>
              <a:rPr lang="en-US" sz="1500" dirty="0">
                <a:solidFill>
                  <a:srgbClr val="1F3A5F"/>
                </a:solidFill>
                <a:latin typeface="Courier New" pitchFamily="34" charset="0"/>
                <a:ea typeface="Courier New" pitchFamily="34" charset="-122"/>
                <a:cs typeface="Courier New" pitchFamily="34" charset="-120"/>
              </a:rPr>
              <a:t>transform</a:t>
            </a:r>
            <a:r>
              <a:rPr lang="en-US" sz="1500" dirty="0">
                <a:solidFill>
                  <a:srgbClr val="1F2937"/>
                </a:solidFill>
                <a:latin typeface="Calibri" pitchFamily="34" charset="0"/>
                <a:ea typeface="Calibri" pitchFamily="34" charset="-122"/>
                <a:cs typeface="Calibri" pitchFamily="34" charset="-120"/>
              </a:rPr>
              <a:t> + </a:t>
            </a:r>
            <a:r>
              <a:rPr lang="en-US" sz="1500" dirty="0">
                <a:solidFill>
                  <a:srgbClr val="1F3A5F"/>
                </a:solidFill>
                <a:latin typeface="Courier New" pitchFamily="34" charset="0"/>
                <a:ea typeface="Courier New" pitchFamily="34" charset="-122"/>
                <a:cs typeface="Courier New" pitchFamily="34" charset="-120"/>
              </a:rPr>
              <a:t>np.clip(0, π)</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Hiperparametre: yalnız eğitimde CV</a:t>
            </a:r>
            <a:endParaRPr lang="en-US" sz="1700" dirty="0"/>
          </a:p>
        </p:txBody>
      </p:sp>
      <p:pic>
        <p:nvPicPr>
          <p:cNvPr id="12" name="Image 0" descr="görsel">    </p:cNvPr>
          <p:cNvPicPr>
            <a:picLocks noChangeAspect="1"/>
          </p:cNvPicPr>
          <p:nvPr/>
        </p:nvPicPr>
        <p:blipFill>
          <a:blip r:embed="rId1"/>
          <a:stretch>
            <a:fillRect/>
          </a:stretch>
        </p:blipFill>
        <p:spPr>
          <a:xfrm>
            <a:off x="6583680" y="2537549"/>
            <a:ext cx="5059375" cy="205722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1 · PCA açıklanan varyans</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11</a:t>
            </a:r>
            <a:endParaRPr lang="en-US" sz="1000" dirty="0"/>
          </a:p>
        </p:txBody>
      </p:sp>
      <p:sp>
        <p:nvSpPr>
          <p:cNvPr id="6" name="Shape 3"/>
          <p:cNvSpPr/>
          <p:nvPr/>
        </p:nvSpPr>
        <p:spPr>
          <a:xfrm>
            <a:off x="548640" y="1143000"/>
            <a:ext cx="6675120"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6309360"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Özdeğerler 6, 3, 1, 0. Oranlar? %85 için kaç bileşen? Digits 3 vs 8'de 6 bileşen ne kadar varyans korur?</a:t>
            </a:r>
            <a:endParaRPr lang="en-US" sz="1600" dirty="0"/>
          </a:p>
        </p:txBody>
      </p:sp>
      <p:sp>
        <p:nvSpPr>
          <p:cNvPr id="8" name="Text 5"/>
          <p:cNvSpPr txBox="1"/>
          <p:nvPr/>
        </p:nvSpPr>
        <p:spPr>
          <a:xfrm>
            <a:off x="548640" y="2286000"/>
            <a:ext cx="6675120" cy="3291840"/>
          </a:xfrm>
          <a:prstGeom prst="rect">
            <a:avLst/>
          </a:prstGeom>
          <a:noFill/>
          <a:ln/>
        </p:spPr>
        <p:txBody>
          <a:bodyPr wrap="square" lIns="0" tIns="0" rIns="0" bIns="0" rtlCol="0" anchor="t"/>
          <a:lstStyle/>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oranlar: 6/10 = 0,6    3/10 = 0,3    1/10 = 0,1    0</a:t>
            </a:r>
            <a:endParaRPr lang="en-US" sz="22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1. Kümülatif: 0,6 → </a:t>
            </a:r>
            <a:r>
              <a:rPr lang="en-US" sz="1900" b="1" dirty="0">
                <a:solidFill>
                  <a:srgbClr val="1F2937"/>
                </a:solidFill>
                <a:latin typeface="Calibri" pitchFamily="34" charset="0"/>
                <a:ea typeface="Calibri" pitchFamily="34" charset="-122"/>
                <a:cs typeface="Calibri" pitchFamily="34" charset="-120"/>
              </a:rPr>
              <a:t>0,9</a:t>
            </a:r>
            <a:r>
              <a:rPr lang="en-US" sz="1900" dirty="0">
                <a:solidFill>
                  <a:srgbClr val="1F2937"/>
                </a:solidFill>
                <a:latin typeface="Calibri" pitchFamily="34" charset="0"/>
                <a:ea typeface="Calibri" pitchFamily="34" charset="-122"/>
                <a:cs typeface="Calibri" pitchFamily="34" charset="-120"/>
              </a:rPr>
              <a:t> ≥ 0,85 → </a:t>
            </a:r>
            <a:r>
              <a:rPr lang="en-US" sz="1900" b="1" dirty="0">
                <a:solidFill>
                  <a:srgbClr val="1F2937"/>
                </a:solidFill>
                <a:latin typeface="Calibri" pitchFamily="34" charset="0"/>
                <a:ea typeface="Calibri" pitchFamily="34" charset="-122"/>
                <a:cs typeface="Calibri" pitchFamily="34" charset="-120"/>
              </a:rPr>
              <a:t>2 bileşen</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3 vs 8: 0,248 + 0,114 + 0,099 + 0,061 + 0,060 + 0,051 = 0,633</a:t>
            </a:r>
            <a:endParaRPr lang="en-US" sz="22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2. 6 kübitle varyansın ~%63'ü korunur, %37'si atılır.</a:t>
            </a:r>
            <a:endParaRPr lang="en-US" sz="2200" dirty="0"/>
          </a:p>
        </p:txBody>
      </p:sp>
      <p:sp>
        <p:nvSpPr>
          <p:cNvPr id="9" name="Shape 6"/>
          <p:cNvSpPr/>
          <p:nvPr/>
        </p:nvSpPr>
        <p:spPr>
          <a:xfrm>
            <a:off x="548640" y="5623560"/>
            <a:ext cx="6675120"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6309360"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0,6/0,3/0,1/0; 2 bileşen; ≈ %63</a:t>
            </a:r>
            <a:endParaRPr lang="en-US" sz="1700" dirty="0"/>
          </a:p>
        </p:txBody>
      </p:sp>
      <p:sp>
        <p:nvSpPr>
          <p:cNvPr id="11" name="Shape 8"/>
          <p:cNvSpPr/>
          <p:nvPr/>
        </p:nvSpPr>
        <p:spPr>
          <a:xfrm>
            <a:off x="7498080" y="1143000"/>
            <a:ext cx="4144975" cy="3291840"/>
          </a:xfrm>
          <a:prstGeom prst="rect">
            <a:avLst/>
          </a:prstGeom>
          <a:solidFill>
            <a:srgbClr val="F7F8FA"/>
          </a:solidFill>
          <a:ln w="9525">
            <a:solidFill>
              <a:srgbClr val="D1D5DB"/>
            </a:solidFill>
            <a:prstDash val="solid"/>
          </a:ln>
        </p:spPr>
      </p:sp>
      <p:sp>
        <p:nvSpPr>
          <p:cNvPr id="12" name="Text 9"/>
          <p:cNvSpPr txBox="1"/>
          <p:nvPr/>
        </p:nvSpPr>
        <p:spPr>
          <a:xfrm>
            <a:off x="7635240" y="1234440"/>
            <a:ext cx="3870655" cy="3108960"/>
          </a:xfrm>
          <a:prstGeom prst="rect">
            <a:avLst/>
          </a:prstGeom>
          <a:noFill/>
          <a:ln/>
        </p:spPr>
        <p:txBody>
          <a:bodyPr wrap="square" lIns="0" tIns="0" rIns="0" bIns="0" rtlCol="0" anchor="t"/>
          <a:lstStyle/>
          <a:p>
            <a:pPr indent="0" marL="0">
              <a:buNone/>
            </a:pPr>
            <a:r>
              <a:rPr lang="en-US" sz="1400" dirty="0">
                <a:solidFill>
                  <a:srgbClr val="1F2937"/>
                </a:solidFill>
                <a:latin typeface="Courier New" pitchFamily="34" charset="0"/>
                <a:ea typeface="Courier New" pitchFamily="34" charset="-122"/>
                <a:cs typeface="Courier New" pitchFamily="34" charset="-120"/>
              </a:rPr>
              <a:t>m = (d.target==3)|(d.target==8)</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ev = PCA(10, random_state=42)\</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  .fit(d.data[m])\</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  .explained_variance_ratio_</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ev[:6].round(3)</a:t>
            </a:r>
            <a:endParaRPr lang="en-US" sz="1400" dirty="0"/>
          </a:p>
          <a:p>
            <a:pPr indent="0" marL="0">
              <a:buNone/>
            </a:pPr>
            <a:r>
              <a:rPr lang="en-US" sz="1400" dirty="0">
                <a:solidFill>
                  <a:srgbClr val="6B7F99"/>
                </a:solidFill>
                <a:latin typeface="Courier New" pitchFamily="34" charset="0"/>
                <a:ea typeface="Courier New" pitchFamily="34" charset="-122"/>
                <a:cs typeface="Courier New" pitchFamily="34" charset="-120"/>
              </a:rPr>
              <a:t># [.248 .114 .099</a:t>
            </a:r>
            <a:endParaRPr lang="en-US" sz="1400" dirty="0"/>
          </a:p>
          <a:p>
            <a:pPr indent="0" marL="0">
              <a:buNone/>
            </a:pPr>
            <a:r>
              <a:rPr lang="en-US" sz="1400" dirty="0">
                <a:solidFill>
                  <a:srgbClr val="6B7F99"/>
                </a:solidFill>
                <a:latin typeface="Courier New" pitchFamily="34" charset="0"/>
                <a:ea typeface="Courier New" pitchFamily="34" charset="-122"/>
                <a:cs typeface="Courier New" pitchFamily="34" charset="-120"/>
              </a:rPr>
              <a:t>#  .061 .060 .051]</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ev[:6].sum()   </a:t>
            </a:r>
            <a:r>
              <a:rPr lang="en-US" sz="1400" dirty="0">
                <a:solidFill>
                  <a:srgbClr val="6B7F99"/>
                </a:solidFill>
                <a:latin typeface="Courier New" pitchFamily="34" charset="0"/>
                <a:ea typeface="Courier New" pitchFamily="34" charset="-122"/>
                <a:cs typeface="Courier New" pitchFamily="34" charset="-120"/>
              </a:rPr>
              <a:t># 0.633</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2 · [0, π] ölçekleme</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12</a:t>
            </a:r>
            <a:endParaRPr lang="en-US" sz="1000" dirty="0"/>
          </a:p>
        </p:txBody>
      </p:sp>
      <p:sp>
        <p:nvSpPr>
          <p:cNvPr id="6" name="Shape 3"/>
          <p:cNvSpPr/>
          <p:nvPr/>
        </p:nvSpPr>
        <p:spPr>
          <a:xfrm>
            <a:off x="548640" y="1143000"/>
            <a:ext cx="11094415"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10728655"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Eğitimde pc1: min −20, max 30. x = 5 ve x = −20 kaça gider? Testte x = 35 gelirse?</a:t>
            </a:r>
            <a:endParaRPr lang="en-US" sz="1600" dirty="0"/>
          </a:p>
        </p:txBody>
      </p:sp>
      <p:sp>
        <p:nvSpPr>
          <p:cNvPr id="8" name="Text 5"/>
          <p:cNvSpPr txBox="1"/>
          <p:nvPr/>
        </p:nvSpPr>
        <p:spPr>
          <a:xfrm>
            <a:off x="548640" y="2286000"/>
            <a:ext cx="11094415" cy="3291840"/>
          </a:xfrm>
          <a:prstGeom prst="rect">
            <a:avLst/>
          </a:prstGeom>
          <a:noFill/>
          <a:ln/>
        </p:spPr>
        <p:txBody>
          <a:bodyPr wrap="square" lIns="0" tIns="0" rIns="0" bIns="0" rtlCol="0" anchor="t"/>
          <a:lstStyle/>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x = 5 → (25/50)·π = π/2 ≈ 1,571   (RY(π/2)|0⟩ = |+⟩, ekvator)</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x = −20 → 0   (|0⟩, kuzey kutbu)</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x = 35 → (55/50)·π = 1,1π &gt; π</a:t>
            </a:r>
            <a:endParaRPr lang="en-US" sz="22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1. Test değeri aralık dışına taşabilir → </a:t>
            </a:r>
            <a:r>
              <a:rPr lang="en-US" sz="1900" b="1" dirty="0">
                <a:solidFill>
                  <a:srgbClr val="1F2937"/>
                </a:solidFill>
                <a:latin typeface="Calibri" pitchFamily="34" charset="0"/>
                <a:ea typeface="Calibri" pitchFamily="34" charset="-122"/>
                <a:cs typeface="Calibri" pitchFamily="34" charset="-120"/>
              </a:rPr>
              <a:t>[0, π]'ye kırpılır</a:t>
            </a:r>
            <a:r>
              <a:rPr lang="en-US" sz="1900" dirty="0">
                <a:solidFill>
                  <a:srgbClr val="1F2937"/>
                </a:solidFill>
                <a:latin typeface="Calibri" pitchFamily="34" charset="0"/>
                <a:ea typeface="Calibri" pitchFamily="34" charset="-122"/>
                <a:cs typeface="Calibri" pitchFamily="34" charset="-120"/>
              </a:rPr>
              <a:t> (</a:t>
            </a:r>
            <a:r>
              <a:rPr lang="en-US" sz="1900" dirty="0">
                <a:solidFill>
                  <a:srgbClr val="1F3A5F"/>
                </a:solidFill>
                <a:latin typeface="Courier New" pitchFamily="34" charset="0"/>
                <a:ea typeface="Courier New" pitchFamily="34" charset="-122"/>
                <a:cs typeface="Courier New" pitchFamily="34" charset="-120"/>
              </a:rPr>
              <a:t>np.clip</a:t>
            </a:r>
            <a:r>
              <a:rPr lang="en-US" sz="1900" dirty="0">
                <a:solidFill>
                  <a:srgbClr val="1F2937"/>
                </a:solidFill>
                <a:latin typeface="Calibri" pitchFamily="34" charset="0"/>
                <a:ea typeface="Calibri" pitchFamily="34" charset="-122"/>
                <a:cs typeface="Calibri" pitchFamily="34" charset="-120"/>
              </a:rPr>
              <a:t>).</a:t>
            </a:r>
            <a:endParaRPr lang="en-US" sz="2200" dirty="0"/>
          </a:p>
        </p:txBody>
      </p:sp>
      <p:sp>
        <p:nvSpPr>
          <p:cNvPr id="9" name="Shape 6"/>
          <p:cNvSpPr/>
          <p:nvPr/>
        </p:nvSpPr>
        <p:spPr>
          <a:xfrm>
            <a:off x="548640" y="5623560"/>
            <a:ext cx="11094415"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10728655"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π/2 ve 0; 1,1π → π</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5B84B8"/>
                </a:solidFill>
              </a:rPr>
              <a:t>03</a:t>
            </a:r>
            <a:endParaRPr lang="en-US" sz="7200" dirty="0"/>
          </a:p>
        </p:txBody>
      </p:sp>
      <p:sp>
        <p:nvSpPr>
          <p:cNvPr id="3" name="Text 1"/>
          <p:cNvSpPr txBox="1"/>
          <p:nvPr/>
        </p:nvSpPr>
        <p:spPr>
          <a:xfrm>
            <a:off x="731520" y="3108960"/>
            <a:ext cx="10972800" cy="822960"/>
          </a:xfrm>
          <a:prstGeom prst="rect">
            <a:avLst/>
          </a:prstGeom>
          <a:noFill/>
          <a:ln/>
        </p:spPr>
        <p:txBody>
          <a:bodyPr wrap="square" lIns="0" tIns="0" rIns="0" bIns="0" rtlCol="0" anchor="ctr"/>
          <a:lstStyle/>
          <a:p>
            <a:pPr indent="0" marL="0">
              <a:buNone/>
            </a:pPr>
            <a:r>
              <a:rPr lang="en-US" sz="3800" b="1" dirty="0">
                <a:solidFill>
                  <a:srgbClr val="FFFFFF"/>
                </a:solidFill>
              </a:rPr>
              <a:t>Modeller: QSVM ve VQC</a:t>
            </a:r>
            <a:endParaRPr lang="en-US" sz="3800" dirty="0"/>
          </a:p>
        </p:txBody>
      </p:sp>
      <p:sp>
        <p:nvSpPr>
          <p:cNvPr id="4" name="Text 2"/>
          <p:cNvSpPr txBox="1"/>
          <p:nvPr/>
        </p:nvSpPr>
        <p:spPr>
          <a:xfrm>
            <a:off x="731520" y="3977640"/>
            <a:ext cx="10515600" cy="731520"/>
          </a:xfrm>
          <a:prstGeom prst="rect">
            <a:avLst/>
          </a:prstGeom>
          <a:noFill/>
          <a:ln/>
        </p:spPr>
        <p:txBody>
          <a:bodyPr wrap="square" lIns="0" tIns="0" rIns="0" bIns="0" rtlCol="0" anchor="t"/>
          <a:lstStyle/>
          <a:p>
            <a:pPr indent="0" marL="0">
              <a:buNone/>
            </a:pPr>
            <a:r>
              <a:rPr lang="en-US" sz="1800" dirty="0">
                <a:solidFill>
                  <a:srgbClr val="C7D2E3"/>
                </a:solidFill>
              </a:rPr>
              <a:t>13. ve 14. haftaların hatırlatması + bant genişliği</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QSVM: kuantum çekirdek (13. hafta)</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14</a:t>
            </a:r>
            <a:endParaRPr lang="en-US" sz="1000" dirty="0"/>
          </a:p>
        </p:txBody>
      </p:sp>
      <p:pic>
        <p:nvPicPr>
          <p:cNvPr id="6" name="Image 0" descr="ZZ özellik haritası (4 kübit, reps = 1)">    </p:cNvPr>
          <p:cNvPicPr>
            <a:picLocks noChangeAspect="1"/>
          </p:cNvPicPr>
          <p:nvPr/>
        </p:nvPicPr>
        <p:blipFill>
          <a:blip r:embed="rId1"/>
          <a:stretch>
            <a:fillRect/>
          </a:stretch>
        </p:blipFill>
        <p:spPr>
          <a:xfrm>
            <a:off x="548640" y="1138337"/>
            <a:ext cx="6949440" cy="1792407"/>
          </a:xfrm>
          <a:prstGeom prst="rect">
            <a:avLst/>
          </a:prstGeom>
        </p:spPr>
      </p:pic>
      <p:sp>
        <p:nvSpPr>
          <p:cNvPr id="7" name="Text 3"/>
          <p:cNvSpPr txBox="1"/>
          <p:nvPr/>
        </p:nvSpPr>
        <p:spPr>
          <a:xfrm>
            <a:off x="548640" y="2999232"/>
            <a:ext cx="6949440" cy="274320"/>
          </a:xfrm>
          <a:prstGeom prst="rect">
            <a:avLst/>
          </a:prstGeom>
          <a:noFill/>
          <a:ln/>
        </p:spPr>
        <p:txBody>
          <a:bodyPr wrap="square" lIns="0" tIns="0" rIns="0" bIns="0" rtlCol="0" anchor="ctr"/>
          <a:lstStyle/>
          <a:p>
            <a:pPr algn="ctr" indent="0" marL="0">
              <a:buNone/>
            </a:pPr>
            <a:r>
              <a:rPr lang="en-US" sz="1100" i="1" dirty="0">
                <a:solidFill>
                  <a:srgbClr val="6B7280"/>
                </a:solidFill>
              </a:rPr>
              <a:t>ZZ özellik haritası (4 kübit, reps = 1)</a:t>
            </a:r>
            <a:endParaRPr lang="en-US" sz="1100" dirty="0"/>
          </a:p>
        </p:txBody>
      </p:sp>
      <p:pic>
        <p:nvPicPr>
          <p:cNvPr id="8" name="Image 1" descr="Çekirdek devresi: U(x) · U(x')†, P(00) = K">    </p:cNvPr>
          <p:cNvPicPr>
            <a:picLocks noChangeAspect="1"/>
          </p:cNvPicPr>
          <p:nvPr/>
        </p:nvPicPr>
        <p:blipFill>
          <a:blip r:embed="rId2"/>
          <a:stretch>
            <a:fillRect/>
          </a:stretch>
        </p:blipFill>
        <p:spPr>
          <a:xfrm>
            <a:off x="548640" y="3490506"/>
            <a:ext cx="6949440" cy="1294308"/>
          </a:xfrm>
          <a:prstGeom prst="rect">
            <a:avLst/>
          </a:prstGeom>
        </p:spPr>
      </p:pic>
      <p:sp>
        <p:nvSpPr>
          <p:cNvPr id="9" name="Text 4"/>
          <p:cNvSpPr txBox="1"/>
          <p:nvPr/>
        </p:nvSpPr>
        <p:spPr>
          <a:xfrm>
            <a:off x="548640" y="4919472"/>
            <a:ext cx="6949440" cy="274320"/>
          </a:xfrm>
          <a:prstGeom prst="rect">
            <a:avLst/>
          </a:prstGeom>
          <a:noFill/>
          <a:ln/>
        </p:spPr>
        <p:txBody>
          <a:bodyPr wrap="square" lIns="0" tIns="0" rIns="0" bIns="0" rtlCol="0" anchor="ctr"/>
          <a:lstStyle/>
          <a:p>
            <a:pPr algn="ctr" indent="0" marL="0">
              <a:buNone/>
            </a:pPr>
            <a:r>
              <a:rPr lang="en-US" sz="1100" i="1" dirty="0">
                <a:solidFill>
                  <a:srgbClr val="6B7280"/>
                </a:solidFill>
              </a:rPr>
              <a:t>Çekirdek devresi: U(x) · U(x')†, P(00) = K</a:t>
            </a:r>
            <a:endParaRPr lang="en-US" sz="1100" dirty="0"/>
          </a:p>
        </p:txBody>
      </p:sp>
      <p:sp>
        <p:nvSpPr>
          <p:cNvPr id="10" name="Shape 5"/>
          <p:cNvSpPr/>
          <p:nvPr/>
        </p:nvSpPr>
        <p:spPr>
          <a:xfrm>
            <a:off x="7772400" y="1188720"/>
            <a:ext cx="3870655" cy="914400"/>
          </a:xfrm>
          <a:prstGeom prst="roundRect">
            <a:avLst>
              <a:gd name="adj" fmla="val 10000"/>
            </a:avLst>
          </a:prstGeom>
          <a:solidFill>
            <a:srgbClr val="E8EEF6"/>
          </a:solidFill>
          <a:ln w="12700">
            <a:solidFill>
              <a:srgbClr val="E8EEF6"/>
            </a:solidFill>
            <a:prstDash val="solid"/>
          </a:ln>
        </p:spPr>
      </p:sp>
      <p:sp>
        <p:nvSpPr>
          <p:cNvPr id="11" name="Text 6"/>
          <p:cNvSpPr txBox="1"/>
          <p:nvPr/>
        </p:nvSpPr>
        <p:spPr>
          <a:xfrm>
            <a:off x="7772400" y="1188720"/>
            <a:ext cx="3870655" cy="914400"/>
          </a:xfrm>
          <a:prstGeom prst="rect">
            <a:avLst/>
          </a:prstGeom>
          <a:noFill/>
          <a:ln/>
        </p:spPr>
        <p:txBody>
          <a:bodyPr wrap="square" lIns="0" tIns="0" rIns="0" bIns="0" rtlCol="0" anchor="ctr"/>
          <a:lstStyle/>
          <a:p>
            <a:pPr algn="ctr" indent="0" marL="0">
              <a:buNone/>
            </a:pPr>
            <a:r>
              <a:rPr lang="en-US" sz="2200" dirty="0">
                <a:solidFill>
                  <a:srgbClr val="1F3A5F"/>
                </a:solidFill>
                <a:latin typeface="Cambria" pitchFamily="34" charset="0"/>
                <a:ea typeface="Cambria" pitchFamily="34" charset="-122"/>
                <a:cs typeface="Cambria" pitchFamily="34" charset="-120"/>
              </a:rPr>
              <a:t>K(x, x') = |⟨φ(x)|φ(x')⟩|²</a:t>
            </a:r>
            <a:endParaRPr lang="en-US" sz="2200" dirty="0"/>
          </a:p>
        </p:txBody>
      </p:sp>
      <p:sp>
        <p:nvSpPr>
          <p:cNvPr id="12" name="Shape 7"/>
          <p:cNvSpPr/>
          <p:nvPr/>
        </p:nvSpPr>
        <p:spPr>
          <a:xfrm>
            <a:off x="7772400" y="2286000"/>
            <a:ext cx="3870655" cy="3657600"/>
          </a:xfrm>
          <a:prstGeom prst="rect">
            <a:avLst/>
          </a:prstGeom>
          <a:solidFill>
            <a:srgbClr val="F7F8FA"/>
          </a:solidFill>
          <a:ln w="9525">
            <a:solidFill>
              <a:srgbClr val="D1D5DB"/>
            </a:solidFill>
            <a:prstDash val="solid"/>
          </a:ln>
        </p:spPr>
      </p:sp>
      <p:sp>
        <p:nvSpPr>
          <p:cNvPr id="13" name="Text 8"/>
          <p:cNvSpPr txBox="1"/>
          <p:nvPr/>
        </p:nvSpPr>
        <p:spPr>
          <a:xfrm>
            <a:off x="7909560" y="2377440"/>
            <a:ext cx="3596335" cy="3474720"/>
          </a:xfrm>
          <a:prstGeom prst="rect">
            <a:avLst/>
          </a:prstGeom>
          <a:noFill/>
          <a:ln/>
        </p:spPr>
        <p:txBody>
          <a:bodyPr wrap="square" lIns="0" tIns="0" rIns="0" bIns="0" rtlCol="0" anchor="t"/>
          <a:lstStyle/>
          <a:p>
            <a:pPr indent="0" marL="0">
              <a:buNone/>
            </a:pPr>
            <a:r>
              <a:rPr lang="en-US" sz="1300" dirty="0">
                <a:solidFill>
                  <a:srgbClr val="1F2937"/>
                </a:solidFill>
                <a:latin typeface="Courier New" pitchFamily="34" charset="0"/>
                <a:ea typeface="Courier New" pitchFamily="34" charset="-122"/>
                <a:cs typeface="Courier New" pitchFamily="34" charset="-120"/>
              </a:rPr>
              <a:t>def fm_states(X, bw=0.25):</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fm = zz_feature_map(X.shape[1],</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reps=2, entanglement="linear")</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return np.array([Statevector(</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fm.assign_parameters(x*bw)).data</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for x in X])</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def kmat(SA, SB):</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return abs(SA.conj() @ SB.T)**2</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svm = SVC(kernel="precomputed")</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svm.fit(kmat(Str, Str), ytr)</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svm.score(kmat(Ste, Str), yte)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Bant genişliği: QSVM'nin en önemli hiperparametresi</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15</a:t>
            </a:r>
            <a:endParaRPr lang="en-US" sz="1000" dirty="0"/>
          </a:p>
        </p:txBody>
      </p:sp>
      <p:pic>
        <p:nvPicPr>
          <p:cNvPr id="6" name="Image 0" descr="görsel">    </p:cNvPr>
          <p:cNvPicPr>
            <a:picLocks noChangeAspect="1"/>
          </p:cNvPicPr>
          <p:nvPr/>
        </p:nvPicPr>
        <p:blipFill>
          <a:blip r:embed="rId1"/>
          <a:stretch>
            <a:fillRect/>
          </a:stretch>
        </p:blipFill>
        <p:spPr>
          <a:xfrm>
            <a:off x="662209" y="1097280"/>
            <a:ext cx="6539422" cy="3017520"/>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4297680"/>
          <a:ext cx="6766560" cy="914400"/>
        </p:xfrm>
        <a:graphic>
          <a:graphicData uri="http://schemas.openxmlformats.org/drawingml/2006/table">
            <a:tbl>
              <a:tblPr/>
              <a:tblGrid>
                <a:gridCol w="1082650"/>
                <a:gridCol w="1894637"/>
                <a:gridCol w="1894637"/>
                <a:gridCol w="1894637"/>
              </a:tblGrid>
              <a:tr h="329184">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bw</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0–1 (4)</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0–1 (8)</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3–8 (6)</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329184">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0,1</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1,000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1,000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0,976</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329184">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0,25</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1,000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0,996</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0,960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329184">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0,5</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0,984</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0,924</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0,879</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329184">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0,881</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0,810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0,686</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pic>
        <p:nvPicPr>
          <p:cNvPr id="8" name="Image 1" descr="görsel">    </p:cNvPr>
          <p:cNvPicPr>
            <a:picLocks noChangeAspect="1"/>
          </p:cNvPicPr>
          <p:nvPr/>
        </p:nvPicPr>
        <p:blipFill>
          <a:blip r:embed="rId2"/>
          <a:stretch>
            <a:fillRect/>
          </a:stretch>
        </p:blipFill>
        <p:spPr>
          <a:xfrm>
            <a:off x="7589520" y="1561175"/>
            <a:ext cx="4053535" cy="2272610"/>
          </a:xfrm>
          <a:prstGeom prst="rect">
            <a:avLst/>
          </a:prstGeom>
        </p:spPr>
      </p:pic>
      <p:sp>
        <p:nvSpPr>
          <p:cNvPr id="9" name="Shape 3"/>
          <p:cNvSpPr/>
          <p:nvPr/>
        </p:nvSpPr>
        <p:spPr>
          <a:xfrm>
            <a:off x="7589520" y="4389120"/>
            <a:ext cx="4053535" cy="1554480"/>
          </a:xfrm>
          <a:prstGeom prst="roundRect">
            <a:avLst>
              <a:gd name="adj" fmla="val 4706"/>
            </a:avLst>
          </a:prstGeom>
          <a:solidFill>
            <a:srgbClr val="E8EEF6"/>
          </a:solidFill>
          <a:ln w="12700">
            <a:solidFill>
              <a:srgbClr val="E8EEF6"/>
            </a:solidFill>
            <a:prstDash val="solid"/>
          </a:ln>
        </p:spPr>
      </p:sp>
      <p:sp>
        <p:nvSpPr>
          <p:cNvPr id="10" name="Text 4"/>
          <p:cNvSpPr txBox="1"/>
          <p:nvPr/>
        </p:nvSpPr>
        <p:spPr>
          <a:xfrm>
            <a:off x="7772400" y="4498848"/>
            <a:ext cx="3687775" cy="1335024"/>
          </a:xfrm>
          <a:prstGeom prst="rect">
            <a:avLst/>
          </a:prstGeom>
          <a:noFill/>
          <a:ln/>
        </p:spPr>
        <p:txBody>
          <a:bodyPr wrap="square" lIns="0" tIns="0" rIns="0" bIns="0" rtlCol="0" anchor="t"/>
          <a:lstStyle/>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Derste tüm vakalar için </a:t>
            </a:r>
            <a:r>
              <a:rPr lang="en-US" sz="1600" b="1" dirty="0">
                <a:solidFill>
                  <a:srgbClr val="1F2937"/>
                </a:solidFill>
                <a:latin typeface="Calibri" pitchFamily="34" charset="0"/>
                <a:ea typeface="Calibri" pitchFamily="34" charset="-122"/>
                <a:cs typeface="Calibri" pitchFamily="34" charset="-120"/>
              </a:rPr>
              <a:t>bw = 0,25</a:t>
            </a:r>
            <a:r>
              <a:rPr lang="en-US" sz="1600" dirty="0">
                <a:solidFill>
                  <a:srgbClr val="1F2937"/>
                </a:solidFill>
                <a:latin typeface="Calibri" pitchFamily="34" charset="0"/>
                <a:ea typeface="Calibri" pitchFamily="34" charset="-122"/>
                <a:cs typeface="Calibri" pitchFamily="34" charset="-120"/>
              </a:rPr>
              <a:t>. Seçim </a:t>
            </a:r>
            <a:r>
              <a:rPr lang="en-US" sz="1600" b="1" dirty="0">
                <a:solidFill>
                  <a:srgbClr val="1F2937"/>
                </a:solidFill>
                <a:latin typeface="Calibri" pitchFamily="34" charset="0"/>
                <a:ea typeface="Calibri" pitchFamily="34" charset="-122"/>
                <a:cs typeface="Calibri" pitchFamily="34" charset="-120"/>
              </a:rPr>
              <a:t>yalnız eğitim kümesinde</a:t>
            </a:r>
            <a:r>
              <a:rPr lang="en-US" sz="1600" dirty="0">
                <a:solidFill>
                  <a:srgbClr val="1F2937"/>
                </a:solidFill>
                <a:latin typeface="Calibri" pitchFamily="34" charset="0"/>
                <a:ea typeface="Calibri" pitchFamily="34" charset="-122"/>
                <a:cs typeface="Calibri" pitchFamily="34" charset="-120"/>
              </a:rPr>
              <a:t> 5-kat CV ile.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3 · Tek kübitte çekirdek ve bant genişliği</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16</a:t>
            </a:r>
            <a:endParaRPr lang="en-US" sz="1000" dirty="0"/>
          </a:p>
        </p:txBody>
      </p:sp>
      <p:sp>
        <p:nvSpPr>
          <p:cNvPr id="6" name="Shape 3"/>
          <p:cNvSpPr/>
          <p:nvPr/>
        </p:nvSpPr>
        <p:spPr>
          <a:xfrm>
            <a:off x="548640" y="1143000"/>
            <a:ext cx="6675120"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6309360"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|φ(x)⟩ = RY(x)|0⟩. K(x, x') formülü? x = 0,4, x' = 3,0 için bw = 1 ve bw = 0,25?</a:t>
            </a:r>
            <a:endParaRPr lang="en-US" sz="1600" dirty="0"/>
          </a:p>
        </p:txBody>
      </p:sp>
      <p:sp>
        <p:nvSpPr>
          <p:cNvPr id="8" name="Text 5"/>
          <p:cNvSpPr txBox="1"/>
          <p:nvPr/>
        </p:nvSpPr>
        <p:spPr>
          <a:xfrm>
            <a:off x="548640" y="2286000"/>
            <a:ext cx="6675120" cy="3291840"/>
          </a:xfrm>
          <a:prstGeom prst="rect">
            <a:avLst/>
          </a:prstGeom>
          <a:noFill/>
          <a:ln/>
        </p:spPr>
        <p:txBody>
          <a:bodyPr wrap="square" lIns="0" tIns="0" rIns="0" bIns="0" rtlCol="0" anchor="t"/>
          <a:lstStyle/>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⟨φ(x)|φ(x')⟩ = cos(x/2)cos(x'/2) + sin(x/2)sin(x'/2) = cos((x − x')/2)</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K = cos²((x − x')/2)</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bw = 1: K = cos²(−1,3) ≈ 0,072  (neredeyse dik)</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bw = 0,25: K = cos²(−0,325) ≈ 0,898  (hâlâ benzer)</a:t>
            </a:r>
            <a:endParaRPr lang="en-US" sz="22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1. Çok kübitte bu etki </a:t>
            </a:r>
            <a:r>
              <a:rPr lang="en-US" sz="1900" b="1" dirty="0">
                <a:solidFill>
                  <a:srgbClr val="1F2937"/>
                </a:solidFill>
                <a:latin typeface="Calibri" pitchFamily="34" charset="0"/>
                <a:ea typeface="Calibri" pitchFamily="34" charset="-122"/>
                <a:cs typeface="Calibri" pitchFamily="34" charset="-120"/>
              </a:rPr>
              <a:t>üstel</a:t>
            </a:r>
            <a:r>
              <a:rPr lang="en-US" sz="1900" dirty="0">
                <a:solidFill>
                  <a:srgbClr val="1F2937"/>
                </a:solidFill>
                <a:latin typeface="Calibri" pitchFamily="34" charset="0"/>
                <a:ea typeface="Calibri" pitchFamily="34" charset="-122"/>
                <a:cs typeface="Calibri" pitchFamily="34" charset="-120"/>
              </a:rPr>
              <a:t> büyür → yoğunlaşma.</a:t>
            </a:r>
            <a:endParaRPr lang="en-US" sz="2200" dirty="0"/>
          </a:p>
        </p:txBody>
      </p:sp>
      <p:sp>
        <p:nvSpPr>
          <p:cNvPr id="9" name="Shape 6"/>
          <p:cNvSpPr/>
          <p:nvPr/>
        </p:nvSpPr>
        <p:spPr>
          <a:xfrm>
            <a:off x="548640" y="5623560"/>
            <a:ext cx="6675120"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6309360"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0,072 (bw = 1) vs 0,898 (bw = 0,25)</a:t>
            </a:r>
            <a:endParaRPr lang="en-US" sz="1700" dirty="0"/>
          </a:p>
        </p:txBody>
      </p:sp>
      <p:sp>
        <p:nvSpPr>
          <p:cNvPr id="11" name="Shape 8"/>
          <p:cNvSpPr/>
          <p:nvPr/>
        </p:nvSpPr>
        <p:spPr>
          <a:xfrm>
            <a:off x="7498080" y="1143000"/>
            <a:ext cx="4144975" cy="2926080"/>
          </a:xfrm>
          <a:prstGeom prst="rect">
            <a:avLst/>
          </a:prstGeom>
          <a:solidFill>
            <a:srgbClr val="F7F8FA"/>
          </a:solidFill>
          <a:ln w="9525">
            <a:solidFill>
              <a:srgbClr val="D1D5DB"/>
            </a:solidFill>
            <a:prstDash val="solid"/>
          </a:ln>
        </p:spPr>
      </p:sp>
      <p:sp>
        <p:nvSpPr>
          <p:cNvPr id="12" name="Text 9"/>
          <p:cNvSpPr txBox="1"/>
          <p:nvPr/>
        </p:nvSpPr>
        <p:spPr>
          <a:xfrm>
            <a:off x="7635240" y="1234440"/>
            <a:ext cx="3870655" cy="2743200"/>
          </a:xfrm>
          <a:prstGeom prst="rect">
            <a:avLst/>
          </a:prstGeom>
          <a:noFill/>
          <a:ln/>
        </p:spPr>
        <p:txBody>
          <a:bodyPr wrap="square" lIns="0" tIns="0" rIns="0" bIns="0" rtlCol="0" anchor="t"/>
          <a:lstStyle/>
          <a:p>
            <a:pPr indent="0" marL="0">
              <a:buNone/>
            </a:pPr>
            <a:r>
              <a:rPr lang="en-US" sz="1400" dirty="0">
                <a:solidFill>
                  <a:srgbClr val="1F2937"/>
                </a:solidFill>
                <a:latin typeface="Courier New" pitchFamily="34" charset="0"/>
                <a:ea typeface="Courier New" pitchFamily="34" charset="-122"/>
                <a:cs typeface="Courier New" pitchFamily="34" charset="-120"/>
              </a:rPr>
              <a:t>K = lambda a, b: np.cos((a-b)/2)**2</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K(0.4, 3.0)          </a:t>
            </a:r>
            <a:r>
              <a:rPr lang="en-US" sz="1400" dirty="0">
                <a:solidFill>
                  <a:srgbClr val="6B7F99"/>
                </a:solidFill>
                <a:latin typeface="Courier New" pitchFamily="34" charset="0"/>
                <a:ea typeface="Courier New" pitchFamily="34" charset="-122"/>
                <a:cs typeface="Courier New" pitchFamily="34" charset="-120"/>
              </a:rPr>
              <a:t># 0.072</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K(0.1, 0.75)         </a:t>
            </a:r>
            <a:r>
              <a:rPr lang="en-US" sz="1400" dirty="0">
                <a:solidFill>
                  <a:srgbClr val="6B7F99"/>
                </a:solidFill>
                <a:latin typeface="Courier New" pitchFamily="34" charset="0"/>
                <a:ea typeface="Courier New" pitchFamily="34" charset="-122"/>
                <a:cs typeface="Courier New" pitchFamily="34" charset="-120"/>
              </a:rPr>
              <a:t># 0.898</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6B7F99"/>
                </a:solidFill>
                <a:latin typeface="Courier New" pitchFamily="34" charset="0"/>
                <a:ea typeface="Courier New" pitchFamily="34" charset="-122"/>
                <a:cs typeface="Courier New" pitchFamily="34" charset="-120"/>
              </a:rPr>
              <a:t># Statevector ile doğrulama</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qc = QuantumCircuit(1)</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qc.ry(0.4, 0)</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VQC: PennyLane + PyTorch (14. hafta)</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17</a:t>
            </a:r>
            <a:endParaRPr lang="en-US" sz="1000" dirty="0"/>
          </a:p>
        </p:txBody>
      </p:sp>
      <p:pic>
        <p:nvPicPr>
          <p:cNvPr id="6" name="Image 0" descr="Açı kodlama → RY/RZ → CNOT halkası → ölçüm">    </p:cNvPr>
          <p:cNvPicPr>
            <a:picLocks noChangeAspect="1"/>
          </p:cNvPicPr>
          <p:nvPr/>
        </p:nvPicPr>
        <p:blipFill>
          <a:blip r:embed="rId1"/>
          <a:stretch>
            <a:fillRect/>
          </a:stretch>
        </p:blipFill>
        <p:spPr>
          <a:xfrm>
            <a:off x="548640" y="1277677"/>
            <a:ext cx="5852160" cy="2062367"/>
          </a:xfrm>
          <a:prstGeom prst="rect">
            <a:avLst/>
          </a:prstGeom>
        </p:spPr>
      </p:pic>
      <p:sp>
        <p:nvSpPr>
          <p:cNvPr id="7" name="Text 3"/>
          <p:cNvSpPr txBox="1"/>
          <p:nvPr/>
        </p:nvSpPr>
        <p:spPr>
          <a:xfrm>
            <a:off x="548640" y="3547872"/>
            <a:ext cx="5852160" cy="274320"/>
          </a:xfrm>
          <a:prstGeom prst="rect">
            <a:avLst/>
          </a:prstGeom>
          <a:noFill/>
          <a:ln/>
        </p:spPr>
        <p:txBody>
          <a:bodyPr wrap="square" lIns="0" tIns="0" rIns="0" bIns="0" rtlCol="0" anchor="ctr"/>
          <a:lstStyle/>
          <a:p>
            <a:pPr algn="ctr" indent="0" marL="0">
              <a:buNone/>
            </a:pPr>
            <a:r>
              <a:rPr lang="en-US" sz="1100" i="1" dirty="0">
                <a:solidFill>
                  <a:srgbClr val="6B7280"/>
                </a:solidFill>
              </a:rPr>
              <a:t>Açı kodlama → RY/RZ → CNOT halkası → ölçüm</a:t>
            </a:r>
            <a:endParaRPr lang="en-US" sz="1100" dirty="0"/>
          </a:p>
        </p:txBody>
      </p:sp>
      <p:pic>
        <p:nvPicPr>
          <p:cNvPr id="8" name="Image 1" descr="görsel">    </p:cNvPr>
          <p:cNvPicPr>
            <a:picLocks noChangeAspect="1"/>
          </p:cNvPicPr>
          <p:nvPr/>
        </p:nvPicPr>
        <p:blipFill>
          <a:blip r:embed="rId2"/>
          <a:stretch>
            <a:fillRect/>
          </a:stretch>
        </p:blipFill>
        <p:spPr>
          <a:xfrm>
            <a:off x="1628207" y="3931920"/>
            <a:ext cx="3693026" cy="2103120"/>
          </a:xfrm>
          <a:prstGeom prst="rect">
            <a:avLst/>
          </a:prstGeom>
        </p:spPr>
      </p:pic>
      <p:sp>
        <p:nvSpPr>
          <p:cNvPr id="9" name="Shape 4"/>
          <p:cNvSpPr/>
          <p:nvPr/>
        </p:nvSpPr>
        <p:spPr>
          <a:xfrm>
            <a:off x="6675120" y="1188720"/>
            <a:ext cx="4967935" cy="4754880"/>
          </a:xfrm>
          <a:prstGeom prst="rect">
            <a:avLst/>
          </a:prstGeom>
          <a:solidFill>
            <a:srgbClr val="F7F8FA"/>
          </a:solidFill>
          <a:ln w="9525">
            <a:solidFill>
              <a:srgbClr val="D1D5DB"/>
            </a:solidFill>
            <a:prstDash val="solid"/>
          </a:ln>
        </p:spPr>
      </p:sp>
      <p:sp>
        <p:nvSpPr>
          <p:cNvPr id="10" name="Text 5"/>
          <p:cNvSpPr txBox="1"/>
          <p:nvPr/>
        </p:nvSpPr>
        <p:spPr>
          <a:xfrm>
            <a:off x="6812280" y="1280160"/>
            <a:ext cx="4693615" cy="4572000"/>
          </a:xfrm>
          <a:prstGeom prst="rect">
            <a:avLst/>
          </a:prstGeom>
          <a:noFill/>
          <a:ln/>
        </p:spPr>
        <p:txBody>
          <a:bodyPr wrap="square" lIns="0" tIns="0" rIns="0" bIns="0" rtlCol="0" anchor="t"/>
          <a:lstStyle/>
          <a:p>
            <a:pPr indent="0" marL="0">
              <a:buNone/>
            </a:pPr>
            <a:r>
              <a:rPr lang="en-US" sz="1300" dirty="0">
                <a:solidFill>
                  <a:srgbClr val="1F2937"/>
                </a:solidFill>
                <a:latin typeface="Courier New" pitchFamily="34" charset="0"/>
                <a:ea typeface="Courier New" pitchFamily="34" charset="-122"/>
                <a:cs typeface="Courier New" pitchFamily="34" charset="-120"/>
              </a:rPr>
              <a:t>@qml.qnode(dev, interface="torch")</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def circ(x, w):</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qml.AngleEmbedding(x, wires=range(n),</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rotation="Y")</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qml.StronglyEntanglingLayers(w,</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wires=range(n))</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return qml.expval(qml.PauliZ(0))</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w = torch.nn.Parameter(</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0.1*torch.randn(2, n, 3))</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opt = torch.optim.Adam([w, b], lr=0.1)</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for ep in range(40):</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opt.zero_grad()</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loss = F.binary_cross_entropy_with_logits(</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3*(circ(Xt, w) + b), yt)</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loss.backward(); opt.step()</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QSVM ve VQC: iki farklı ödünleşim</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18</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884548"/>
                <a:gridCol w="4104934"/>
                <a:gridCol w="4104934"/>
              </a:tblGrid>
              <a:tr h="621792">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Özellik</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QSVM</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VQC</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621792">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Kuantum kısmın görevi</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Benzerlik (çekirdek)</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Tüm model</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621792">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Eğitim</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Konveks SVM, global çözüm</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Konveks değil, yerel minimum</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621792">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Donanım devresi</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Eğitim n(n−1)/2; test n_test·n</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Epoch başına n·(2P + 1)</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621792">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Parametre</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Yok (bw hiperparametre)</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6 kübit, 2 katman: 36 + bias</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621792">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Ölçeklenme sorunu</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n² devre, </a:t>
                      </a:r>
                      <a:r>
                        <a:rPr lang="en-US" sz="1700" b="1" dirty="0">
                          <a:solidFill>
                            <a:srgbClr val="1F2937"/>
                          </a:solidFill>
                          <a:latin typeface="Calibri" pitchFamily="34" charset="0"/>
                          <a:ea typeface="Calibri" pitchFamily="34" charset="-122"/>
                          <a:cs typeface="Calibri" pitchFamily="34" charset="-120"/>
                        </a:rPr>
                        <a:t>yoğunlaşma</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1F2937"/>
                          </a:solidFill>
                          <a:latin typeface="Calibri" pitchFamily="34" charset="0"/>
                          <a:ea typeface="Calibri" pitchFamily="34" charset="-122"/>
                          <a:cs typeface="Calibri" pitchFamily="34" charset="-120"/>
                        </a:rPr>
                        <a:t>Barren plateau</a:t>
                      </a:r>
                      <a:r>
                        <a:rPr lang="en-US" sz="1700" dirty="0">
                          <a:solidFill>
                            <a:srgbClr val="1F2937"/>
                          </a:solidFill>
                          <a:latin typeface="Calibri" pitchFamily="34" charset="0"/>
                          <a:ea typeface="Calibri" pitchFamily="34" charset="-122"/>
                          <a:cs typeface="Calibri" pitchFamily="34" charset="-120"/>
                        </a:rPr>
                        <a:t>, gürültülü gradyan</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4937760"/>
            <a:ext cx="11094415" cy="914400"/>
          </a:xfrm>
          <a:prstGeom prst="roundRect">
            <a:avLst>
              <a:gd name="adj" fmla="val 8000"/>
            </a:avLst>
          </a:prstGeom>
          <a:solidFill>
            <a:srgbClr val="E8EEF6"/>
          </a:solidFill>
          <a:ln w="12700">
            <a:solidFill>
              <a:srgbClr val="E8EEF6"/>
            </a:solidFill>
            <a:prstDash val="solid"/>
          </a:ln>
        </p:spPr>
      </p:sp>
      <p:sp>
        <p:nvSpPr>
          <p:cNvPr id="8" name="Text 4"/>
          <p:cNvSpPr txBox="1"/>
          <p:nvPr/>
        </p:nvSpPr>
        <p:spPr>
          <a:xfrm>
            <a:off x="731520" y="5047488"/>
            <a:ext cx="10728655" cy="694944"/>
          </a:xfrm>
          <a:prstGeom prst="rect">
            <a:avLst/>
          </a:prstGeom>
          <a:noFill/>
          <a:ln/>
        </p:spPr>
        <p:txBody>
          <a:bodyPr wrap="square" lIns="0" tIns="0" rIns="0" bIns="0" rtlCol="0" anchor="ctr"/>
          <a:lstStyle/>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Her iki modelin de klasik bir karşılığı var: </a:t>
            </a:r>
            <a:r>
              <a:rPr lang="en-US" sz="1700" b="1" dirty="0">
                <a:solidFill>
                  <a:srgbClr val="1F2937"/>
                </a:solidFill>
                <a:latin typeface="Calibri" pitchFamily="34" charset="0"/>
                <a:ea typeface="Calibri" pitchFamily="34" charset="-122"/>
                <a:cs typeface="Calibri" pitchFamily="34" charset="-120"/>
              </a:rPr>
              <a:t>QSVM ↔ RBF-SVM</a:t>
            </a:r>
            <a:r>
              <a:rPr lang="en-US" sz="1700" dirty="0">
                <a:solidFill>
                  <a:srgbClr val="1F2937"/>
                </a:solidFill>
                <a:latin typeface="Calibri" pitchFamily="34" charset="0"/>
                <a:ea typeface="Calibri" pitchFamily="34" charset="-122"/>
                <a:cs typeface="Calibri" pitchFamily="34" charset="-120"/>
              </a:rPr>
              <a:t>, </a:t>
            </a:r>
            <a:r>
              <a:rPr lang="en-US" sz="1700" b="1" dirty="0">
                <a:solidFill>
                  <a:srgbClr val="1F2937"/>
                </a:solidFill>
                <a:latin typeface="Calibri" pitchFamily="34" charset="0"/>
                <a:ea typeface="Calibri" pitchFamily="34" charset="-122"/>
                <a:cs typeface="Calibri" pitchFamily="34" charset="-120"/>
              </a:rPr>
              <a:t>VQC ↔ küçük MLP</a:t>
            </a:r>
            <a:r>
              <a:rPr lang="en-US" sz="1700" dirty="0">
                <a:solidFill>
                  <a:srgbClr val="1F2937"/>
                </a:solidFill>
                <a:latin typeface="Calibri" pitchFamily="34" charset="0"/>
                <a:ea typeface="Calibri" pitchFamily="34" charset="-122"/>
                <a:cs typeface="Calibri" pitchFamily="34" charset="-120"/>
              </a:rPr>
              <a:t>. Karşılaştırmayı bu çiftler üzerinden okuyun.</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5B84B8"/>
                </a:solidFill>
              </a:rPr>
              <a:t>04</a:t>
            </a:r>
            <a:endParaRPr lang="en-US" sz="7200" dirty="0"/>
          </a:p>
        </p:txBody>
      </p:sp>
      <p:sp>
        <p:nvSpPr>
          <p:cNvPr id="3" name="Text 1"/>
          <p:cNvSpPr txBox="1"/>
          <p:nvPr/>
        </p:nvSpPr>
        <p:spPr>
          <a:xfrm>
            <a:off x="731520" y="3108960"/>
            <a:ext cx="10972800" cy="822960"/>
          </a:xfrm>
          <a:prstGeom prst="rect">
            <a:avLst/>
          </a:prstGeom>
          <a:noFill/>
          <a:ln/>
        </p:spPr>
        <p:txBody>
          <a:bodyPr wrap="square" lIns="0" tIns="0" rIns="0" bIns="0" rtlCol="0" anchor="ctr"/>
          <a:lstStyle/>
          <a:p>
            <a:pPr indent="0" marL="0">
              <a:buNone/>
            </a:pPr>
            <a:r>
              <a:rPr lang="en-US" sz="3800" b="1" dirty="0">
                <a:solidFill>
                  <a:srgbClr val="FFFFFF"/>
                </a:solidFill>
              </a:rPr>
              <a:t>Değerlendirme ve sonuçlar</a:t>
            </a:r>
            <a:endParaRPr lang="en-US" sz="3800" dirty="0"/>
          </a:p>
        </p:txBody>
      </p:sp>
      <p:sp>
        <p:nvSpPr>
          <p:cNvPr id="4" name="Text 2"/>
          <p:cNvSpPr txBox="1"/>
          <p:nvPr/>
        </p:nvSpPr>
        <p:spPr>
          <a:xfrm>
            <a:off x="731520" y="3977640"/>
            <a:ext cx="10515600" cy="731520"/>
          </a:xfrm>
          <a:prstGeom prst="rect">
            <a:avLst/>
          </a:prstGeom>
          <a:noFill/>
          <a:ln/>
        </p:spPr>
        <p:txBody>
          <a:bodyPr wrap="square" lIns="0" tIns="0" rIns="0" bIns="0" rtlCol="0" anchor="t"/>
          <a:lstStyle/>
          <a:p>
            <a:pPr indent="0" marL="0">
              <a:buNone/>
            </a:pPr>
            <a:r>
              <a:rPr lang="en-US" sz="1800" dirty="0">
                <a:solidFill>
                  <a:srgbClr val="C7D2E3"/>
                </a:solidFill>
              </a:rPr>
              <a:t>Ölçütler, hold-out, CV, öğrenme eğrisi, maliyet, gürültü</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Ölçütler: karışıklık matrisi, kesinlik, duyarlılık, F1</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20</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4023360" cy="914400"/>
        </p:xfrm>
        <a:graphic>
          <a:graphicData uri="http://schemas.openxmlformats.org/drawingml/2006/table">
            <a:tbl>
              <a:tblPr/>
              <a:tblGrid>
                <a:gridCol w="1367942"/>
                <a:gridCol w="1327709"/>
                <a:gridCol w="1327709"/>
              </a:tblGrid>
              <a:tr h="457200">
                <a:tc>
                  <a:txBody>
                    <a:bodyPr/>
                    <a:lstStyle/>
                    <a:p>
                      <a:pPr indent="0" marL="0">
                        <a:buNone/>
                      </a:pP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Tahmin 0</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Tahmin 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457200">
                <a:tc>
                  <a:txBody>
                    <a:bodyPr/>
                    <a:lstStyle/>
                    <a:p>
                      <a:pPr algn="ctr" indent="0" marL="0">
                        <a:buNone/>
                      </a:pPr>
                      <a:r>
                        <a:rPr lang="en-US" sz="1600" b="1" dirty="0">
                          <a:solidFill>
                            <a:srgbClr val="1F2937"/>
                          </a:solidFill>
                          <a:latin typeface="Calibri" pitchFamily="34" charset="0"/>
                          <a:ea typeface="Calibri" pitchFamily="34" charset="-122"/>
                          <a:cs typeface="Calibri" pitchFamily="34" charset="-120"/>
                        </a:rPr>
                        <a:t>Gerçek 0</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TN</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FP</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57200">
                <a:tc>
                  <a:txBody>
                    <a:bodyPr/>
                    <a:lstStyle/>
                    <a:p>
                      <a:pPr algn="ctr" indent="0" marL="0">
                        <a:buNone/>
                      </a:pPr>
                      <a:r>
                        <a:rPr lang="en-US" sz="1600" b="1" dirty="0">
                          <a:solidFill>
                            <a:srgbClr val="1F2937"/>
                          </a:solidFill>
                          <a:latin typeface="Calibri" pitchFamily="34" charset="0"/>
                          <a:ea typeface="Calibri" pitchFamily="34" charset="-122"/>
                          <a:cs typeface="Calibri" pitchFamily="34" charset="-120"/>
                        </a:rPr>
                        <a:t>Gerçek 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FN</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TP</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4846320" y="1234440"/>
          <a:ext cx="6796735" cy="914400"/>
        </p:xfrm>
        <a:graphic>
          <a:graphicData uri="http://schemas.openxmlformats.org/drawingml/2006/table">
            <a:tbl>
              <a:tblPr/>
              <a:tblGrid>
                <a:gridCol w="2378857"/>
                <a:gridCol w="4417878"/>
              </a:tblGrid>
              <a:tr h="38404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Ölçüt</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Formül</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384048">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Doğruluk</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(TP + TN) / N</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384048">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Kesinlik</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TP / (TP + FP)</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384048">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Duyarlılık</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TP / (TP + FN)</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384048">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F1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2PR / (P + R)</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pic>
        <p:nvPicPr>
          <p:cNvPr id="8" name="Image 0" descr="görsel">    </p:cNvPr>
          <p:cNvPicPr>
            <a:picLocks noChangeAspect="1"/>
          </p:cNvPicPr>
          <p:nvPr/>
        </p:nvPicPr>
        <p:blipFill>
          <a:blip r:embed="rId1"/>
          <a:stretch>
            <a:fillRect/>
          </a:stretch>
        </p:blipFill>
        <p:spPr>
          <a:xfrm>
            <a:off x="1263218" y="3246120"/>
            <a:ext cx="9665258" cy="2743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Sonuçlar: model başına test doğruluğu</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21</a:t>
            </a:r>
            <a:endParaRPr lang="en-US" sz="1000" dirty="0"/>
          </a:p>
        </p:txBody>
      </p:sp>
      <p:graphicFrame>
        <p:nvGraphicFramePr>
          <p:cNvPr id="6" name="Chart 0" descr=""/>
          <p:cNvGraphicFramePr/>
          <p:nvPr/>
        </p:nvGraphicFramePr>
        <p:xfrm>
          <a:off x="548640" y="1143000"/>
          <a:ext cx="7680960" cy="4754880"/>
        </p:xfrm>
        <a:graphic xmlns:a="http://schemas.openxmlformats.org/drawingml/2006/main">
          <a:graphicData uri="http://schemas.openxmlformats.org/drawingml/2006/chart">
            <c:chart xmlns:c="http://schemas.openxmlformats.org/drawingml/2006/chart" r:id="rId1"/>
          </a:graphicData>
        </a:graphic>
      </p:graphicFrame>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8503920" y="1234440"/>
          <a:ext cx="3139135" cy="914400"/>
        </p:xfrm>
        <a:graphic>
          <a:graphicData uri="http://schemas.openxmlformats.org/drawingml/2006/table">
            <a:tbl>
              <a:tblPr/>
              <a:tblGrid>
                <a:gridCol w="1318437"/>
                <a:gridCol w="910349"/>
                <a:gridCol w="910349"/>
              </a:tblGrid>
              <a:tr h="3840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3–8 F1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Süre (s)</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384048">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Lojistik R.</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0,981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0,4</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RBF-SVM</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0,991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&lt; 0,01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384048">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MLP (16)</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0,981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1,6</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QSVM</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0,991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2,8</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384048">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VQC</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0,946</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12,3</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bl>
          </a:graphicData>
        </a:graphic>
      </p:graphicFrame>
      <p:sp>
        <p:nvSpPr>
          <p:cNvPr id="8" name="Shape 3"/>
          <p:cNvSpPr/>
          <p:nvPr/>
        </p:nvSpPr>
        <p:spPr>
          <a:xfrm>
            <a:off x="8503920" y="3840480"/>
            <a:ext cx="3139135" cy="2057400"/>
          </a:xfrm>
          <a:prstGeom prst="roundRect">
            <a:avLst>
              <a:gd name="adj" fmla="val 3556"/>
            </a:avLst>
          </a:prstGeom>
          <a:solidFill>
            <a:srgbClr val="E8EEF6"/>
          </a:solidFill>
          <a:ln w="12700">
            <a:solidFill>
              <a:srgbClr val="E8EEF6"/>
            </a:solidFill>
            <a:prstDash val="solid"/>
          </a:ln>
        </p:spPr>
      </p:sp>
      <p:sp>
        <p:nvSpPr>
          <p:cNvPr id="9" name="Text 4"/>
          <p:cNvSpPr txBox="1"/>
          <p:nvPr/>
        </p:nvSpPr>
        <p:spPr>
          <a:xfrm>
            <a:off x="8686800" y="3950208"/>
            <a:ext cx="2773375" cy="183794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Dürüst sonuç</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Bu veri setlerinde kuantum modellerin </a:t>
            </a:r>
            <a:r>
              <a:rPr lang="en-US" sz="1500" b="1" dirty="0">
                <a:solidFill>
                  <a:srgbClr val="1F2937"/>
                </a:solidFill>
                <a:latin typeface="Calibri" pitchFamily="34" charset="0"/>
                <a:ea typeface="Calibri" pitchFamily="34" charset="-122"/>
                <a:cs typeface="Calibri" pitchFamily="34" charset="-120"/>
              </a:rPr>
              <a:t>avantajı yok</a:t>
            </a:r>
            <a:r>
              <a:rPr lang="en-US" sz="1500" dirty="0">
                <a:solidFill>
                  <a:srgbClr val="1F2937"/>
                </a:solidFill>
                <a:latin typeface="Calibri" pitchFamily="34" charset="0"/>
                <a:ea typeface="Calibri" pitchFamily="34" charset="-122"/>
                <a:cs typeface="Calibri" pitchFamily="34" charset="-120"/>
              </a:rPr>
              <a:t>; klasik modeller aynı doğrulukta ve </a:t>
            </a:r>
            <a:r>
              <a:rPr lang="en-US" sz="1500" b="1" dirty="0">
                <a:solidFill>
                  <a:srgbClr val="1F2937"/>
                </a:solidFill>
                <a:latin typeface="Calibri" pitchFamily="34" charset="0"/>
                <a:ea typeface="Calibri" pitchFamily="34" charset="-122"/>
                <a:cs typeface="Calibri" pitchFamily="34" charset="-120"/>
              </a:rPr>
              <a:t>binlerce kat hızlı</a:t>
            </a:r>
            <a:r>
              <a:rPr lang="en-US" sz="1500" dirty="0">
                <a:solidFill>
                  <a:srgbClr val="1F2937"/>
                </a:solidFill>
                <a:latin typeface="Calibri" pitchFamily="34" charset="0"/>
                <a:ea typeface="Calibri" pitchFamily="34" charset="-122"/>
                <a:cs typeface="Calibri" pitchFamily="34" charset="-120"/>
              </a:rPr>
              <a:t>.</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5-kat çapraz doğrulama ve %95 güven aralığı</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22</a:t>
            </a:r>
            <a:endParaRPr lang="en-US" sz="1000" dirty="0"/>
          </a:p>
        </p:txBody>
      </p:sp>
      <p:pic>
        <p:nvPicPr>
          <p:cNvPr id="6" name="Image 0" descr="görsel">    </p:cNvPr>
          <p:cNvPicPr>
            <a:picLocks noChangeAspect="1"/>
          </p:cNvPicPr>
          <p:nvPr/>
        </p:nvPicPr>
        <p:blipFill>
          <a:blip r:embed="rId1"/>
          <a:stretch>
            <a:fillRect/>
          </a:stretch>
        </p:blipFill>
        <p:spPr>
          <a:xfrm>
            <a:off x="597985" y="1097280"/>
            <a:ext cx="6667870" cy="3017520"/>
          </a:xfrm>
          <a:prstGeom prst="rect">
            <a:avLst/>
          </a:prstGeom>
        </p:spPr>
      </p:pic>
      <p:sp>
        <p:nvSpPr>
          <p:cNvPr id="7" name="Shape 3"/>
          <p:cNvSpPr/>
          <p:nvPr/>
        </p:nvSpPr>
        <p:spPr>
          <a:xfrm>
            <a:off x="548640" y="4297680"/>
            <a:ext cx="6766560" cy="822960"/>
          </a:xfrm>
          <a:prstGeom prst="roundRect">
            <a:avLst>
              <a:gd name="adj" fmla="val 11111"/>
            </a:avLst>
          </a:prstGeom>
          <a:solidFill>
            <a:srgbClr val="E8EEF6"/>
          </a:solidFill>
          <a:ln w="12700">
            <a:solidFill>
              <a:srgbClr val="E8EEF6"/>
            </a:solidFill>
            <a:prstDash val="solid"/>
          </a:ln>
        </p:spPr>
      </p:sp>
      <p:sp>
        <p:nvSpPr>
          <p:cNvPr id="8" name="Text 4"/>
          <p:cNvSpPr txBox="1"/>
          <p:nvPr/>
        </p:nvSpPr>
        <p:spPr>
          <a:xfrm>
            <a:off x="548640" y="4297680"/>
            <a:ext cx="6766560" cy="822960"/>
          </a:xfrm>
          <a:prstGeom prst="rect">
            <a:avLst/>
          </a:prstGeom>
          <a:noFill/>
          <a:ln/>
        </p:spPr>
        <p:txBody>
          <a:bodyPr wrap="square" lIns="0" tIns="0" rIns="0" bIns="0" rtlCol="0" anchor="ctr"/>
          <a:lstStyle/>
          <a:p>
            <a:pPr algn="ctr" indent="0" marL="0">
              <a:buNone/>
            </a:pPr>
            <a:r>
              <a:rPr lang="en-US" sz="2000" dirty="0">
                <a:solidFill>
                  <a:srgbClr val="1F3A5F"/>
                </a:solidFill>
                <a:latin typeface="Cambria" pitchFamily="34" charset="0"/>
                <a:ea typeface="Cambria" pitchFamily="34" charset="-122"/>
                <a:cs typeface="Cambria" pitchFamily="34" charset="-120"/>
              </a:rPr>
              <a:t>x̄ ± t₀,₉₇₅;₄ · s/√5    (t ≈ 2,776)</a:t>
            </a:r>
            <a:endParaRPr lang="en-US" sz="2000" dirty="0"/>
          </a:p>
        </p:txBody>
      </p:sp>
      <p:sp>
        <p:nvSpPr>
          <p:cNvPr id="9" name="Shape 5"/>
          <p:cNvSpPr/>
          <p:nvPr/>
        </p:nvSpPr>
        <p:spPr>
          <a:xfrm>
            <a:off x="548640" y="5257800"/>
            <a:ext cx="6766560" cy="685800"/>
          </a:xfrm>
          <a:prstGeom prst="roundRect">
            <a:avLst>
              <a:gd name="adj" fmla="val 10667"/>
            </a:avLst>
          </a:prstGeom>
          <a:solidFill>
            <a:srgbClr val="FDF3E8"/>
          </a:solidFill>
          <a:ln w="12700">
            <a:solidFill>
              <a:srgbClr val="FDF3E8"/>
            </a:solidFill>
            <a:prstDash val="solid"/>
          </a:ln>
        </p:spPr>
      </p:sp>
      <p:sp>
        <p:nvSpPr>
          <p:cNvPr id="10" name="Text 6"/>
          <p:cNvSpPr txBox="1"/>
          <p:nvPr/>
        </p:nvSpPr>
        <p:spPr>
          <a:xfrm>
            <a:off x="731520" y="5367528"/>
            <a:ext cx="6400800" cy="466344"/>
          </a:xfrm>
          <a:prstGeom prst="rect">
            <a:avLst/>
          </a:prstGeom>
          <a:noFill/>
          <a:ln/>
        </p:spPr>
        <p:txBody>
          <a:bodyPr wrap="square" lIns="0" tIns="0" rIns="0" bIns="0" rtlCol="0" anchor="ctr"/>
          <a:lstStyle/>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Aralıklar </a:t>
            </a:r>
            <a:r>
              <a:rPr lang="en-US" sz="1600" b="1" dirty="0">
                <a:solidFill>
                  <a:srgbClr val="1F2937"/>
                </a:solidFill>
                <a:latin typeface="Calibri" pitchFamily="34" charset="0"/>
                <a:ea typeface="Calibri" pitchFamily="34" charset="-122"/>
                <a:cs typeface="Calibri" pitchFamily="34" charset="-120"/>
              </a:rPr>
              <a:t>örtüşüyorsa</a:t>
            </a:r>
            <a:r>
              <a:rPr lang="en-US" sz="1600" dirty="0">
                <a:solidFill>
                  <a:srgbClr val="1F2937"/>
                </a:solidFill>
                <a:latin typeface="Calibri" pitchFamily="34" charset="0"/>
                <a:ea typeface="Calibri" pitchFamily="34" charset="-122"/>
                <a:cs typeface="Calibri" pitchFamily="34" charset="-120"/>
              </a:rPr>
              <a:t> fark iddia edilemez.</a:t>
            </a:r>
            <a:endParaRPr lang="en-US" sz="1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589520" y="1234440"/>
          <a:ext cx="4053535" cy="914400"/>
        </p:xfrm>
        <a:graphic>
          <a:graphicData uri="http://schemas.openxmlformats.org/drawingml/2006/table">
            <a:tbl>
              <a:tblPr/>
              <a:tblGrid>
                <a:gridCol w="1459273"/>
                <a:gridCol w="972848"/>
                <a:gridCol w="1621414"/>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3–8 model</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CV ort.</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%95 GA</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457200">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Lojistik R.</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0,980</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[0,965; 0,996]</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57200">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RBF-SVM</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0,992</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[0,976; 1,000]</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457200">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MLP (16)</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0,980</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[0,954; 1,000]</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57200">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QSVM</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0,980</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[0,961; 1,000]</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
        <p:nvSpPr>
          <p:cNvPr id="12" name="Text 7"/>
          <p:cNvSpPr txBox="1"/>
          <p:nvPr/>
        </p:nvSpPr>
        <p:spPr>
          <a:xfrm>
            <a:off x="7589520" y="3840480"/>
            <a:ext cx="4053535" cy="731520"/>
          </a:xfrm>
          <a:prstGeom prst="rect">
            <a:avLst/>
          </a:prstGeom>
          <a:noFill/>
          <a:ln/>
        </p:spPr>
        <p:txBody>
          <a:bodyPr wrap="square" lIns="0" tIns="0" rIns="0" bIns="0" rtlCol="0" anchor="t"/>
          <a:lstStyle/>
          <a:p>
            <a:pPr algn="l" indent="0" marL="0">
              <a:spcAft>
                <a:spcPts val="600"/>
              </a:spcAft>
              <a:buNone/>
            </a:pPr>
            <a:r>
              <a:rPr lang="en-US" sz="1500" dirty="0">
                <a:solidFill>
                  <a:srgbClr val="6B7280"/>
                </a:solidFill>
                <a:latin typeface="Calibri" pitchFamily="34" charset="0"/>
                <a:ea typeface="Calibri" pitchFamily="34" charset="-122"/>
                <a:cs typeface="Calibri" pitchFamily="34" charset="-120"/>
              </a:rPr>
              <a:t>0–1 vakalarında tüm modeller CV'de 0,997–1,000.</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PCA boyutu ve eğitim seti boyutu</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23</a:t>
            </a:r>
            <a:endParaRPr lang="en-US" sz="1000" dirty="0"/>
          </a:p>
        </p:txBody>
      </p:sp>
      <p:graphicFrame>
        <p:nvGraphicFramePr>
          <p:cNvPr id="6" name="Chart 0" descr=""/>
          <p:cNvGraphicFramePr/>
          <p:nvPr/>
        </p:nvGraphicFramePr>
        <p:xfrm>
          <a:off x="548640" y="1143000"/>
          <a:ext cx="5410048"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6233008" y="1143000"/>
          <a:ext cx="5410048" cy="3931920"/>
        </p:xfrm>
        <a:graphic xmlns:a="http://schemas.openxmlformats.org/drawingml/2006/main">
          <a:graphicData uri="http://schemas.openxmlformats.org/drawingml/2006/chart">
            <c:chart xmlns:c="http://schemas.openxmlformats.org/drawingml/2006/chart" r:id="rId2"/>
          </a:graphicData>
        </a:graphic>
      </p:graphicFrame>
      <p:sp>
        <p:nvSpPr>
          <p:cNvPr id="8" name="Shape 3"/>
          <p:cNvSpPr/>
          <p:nvPr/>
        </p:nvSpPr>
        <p:spPr>
          <a:xfrm>
            <a:off x="548640" y="5257800"/>
            <a:ext cx="11094415" cy="685800"/>
          </a:xfrm>
          <a:prstGeom prst="roundRect">
            <a:avLst>
              <a:gd name="adj" fmla="val 10667"/>
            </a:avLst>
          </a:prstGeom>
          <a:solidFill>
            <a:srgbClr val="E8EEF6"/>
          </a:solidFill>
          <a:ln w="12700">
            <a:solidFill>
              <a:srgbClr val="E8EEF6"/>
            </a:solidFill>
            <a:prstDash val="solid"/>
          </a:ln>
        </p:spPr>
      </p:sp>
      <p:sp>
        <p:nvSpPr>
          <p:cNvPr id="9" name="Text 4"/>
          <p:cNvSpPr txBox="1"/>
          <p:nvPr/>
        </p:nvSpPr>
        <p:spPr>
          <a:xfrm>
            <a:off x="731520" y="5367528"/>
            <a:ext cx="10728655" cy="466344"/>
          </a:xfrm>
          <a:prstGeom prst="rect">
            <a:avLst/>
          </a:prstGeom>
          <a:noFill/>
          <a:ln/>
        </p:spPr>
        <p:txBody>
          <a:bodyPr wrap="square" lIns="0" tIns="0" rIns="0" bIns="0" rtlCol="0" anchor="ctr"/>
          <a:lstStyle/>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"Az veriyle kuantum daha iyi" iddiası bu deneyde </a:t>
            </a:r>
            <a:r>
              <a:rPr lang="en-US" sz="1600" b="1" dirty="0">
                <a:solidFill>
                  <a:srgbClr val="1F2937"/>
                </a:solidFill>
                <a:latin typeface="Calibri" pitchFamily="34" charset="0"/>
                <a:ea typeface="Calibri" pitchFamily="34" charset="-122"/>
                <a:cs typeface="Calibri" pitchFamily="34" charset="-120"/>
              </a:rPr>
              <a:t>doğrulanmadı</a:t>
            </a:r>
            <a:r>
              <a:rPr lang="en-US" sz="1600" dirty="0">
                <a:solidFill>
                  <a:srgbClr val="1F2937"/>
                </a:solidFill>
                <a:latin typeface="Calibri" pitchFamily="34" charset="0"/>
                <a:ea typeface="Calibri" pitchFamily="34" charset="-122"/>
                <a:cs typeface="Calibri" pitchFamily="34" charset="-120"/>
              </a:rPr>
              <a:t>: n = 10'da QSVM 0,870, RBF-SVM 0,906.</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Maliyet: devre sayısı × shot</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24</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5120640" cy="914400"/>
        </p:xfrm>
        <a:graphic>
          <a:graphicData uri="http://schemas.openxmlformats.org/drawingml/2006/table">
            <a:tbl>
              <a:tblPr/>
              <a:tblGrid>
                <a:gridCol w="2304288"/>
                <a:gridCol w="2816352"/>
              </a:tblGrid>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Model</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Devre sayısı</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0292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QSVM eğitim</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n(n − 1) / 2</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0292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QSVM test</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n_test × n</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0292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VQC / epoch</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n × (2P + 1)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0292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Her devre</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 shot  (ε ≈ 1/√shot)</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
        <p:nvSpPr>
          <p:cNvPr id="7" name="Shape 3"/>
          <p:cNvSpPr/>
          <p:nvPr/>
        </p:nvSpPr>
        <p:spPr>
          <a:xfrm>
            <a:off x="548640" y="3931920"/>
            <a:ext cx="5120640" cy="2011680"/>
          </a:xfrm>
          <a:prstGeom prst="roundRect">
            <a:avLst>
              <a:gd name="adj" fmla="val 3636"/>
            </a:avLst>
          </a:prstGeom>
          <a:solidFill>
            <a:srgbClr val="E8EEF6"/>
          </a:solidFill>
          <a:ln w="12700">
            <a:solidFill>
              <a:srgbClr val="E8EEF6"/>
            </a:solidFill>
            <a:prstDash val="solid"/>
          </a:ln>
        </p:spPr>
      </p:sp>
      <p:sp>
        <p:nvSpPr>
          <p:cNvPr id="8" name="Text 4"/>
          <p:cNvSpPr txBox="1"/>
          <p:nvPr/>
        </p:nvSpPr>
        <p:spPr>
          <a:xfrm>
            <a:off x="731520" y="4041648"/>
            <a:ext cx="4754880" cy="179222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Vaka 2 (249 / 108, 1024 shot)</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QSVM: </a:t>
            </a:r>
            <a:r>
              <a:rPr lang="en-US" sz="1600" b="1" dirty="0">
                <a:solidFill>
                  <a:srgbClr val="1F2937"/>
                </a:solidFill>
                <a:latin typeface="Calibri" pitchFamily="34" charset="0"/>
                <a:ea typeface="Calibri" pitchFamily="34" charset="-122"/>
                <a:cs typeface="Calibri" pitchFamily="34" charset="-120"/>
              </a:rPr>
              <a:t>57 768</a:t>
            </a:r>
            <a:r>
              <a:rPr lang="en-US" sz="1600" dirty="0">
                <a:solidFill>
                  <a:srgbClr val="1F2937"/>
                </a:solidFill>
                <a:latin typeface="Calibri" pitchFamily="34" charset="0"/>
                <a:ea typeface="Calibri" pitchFamily="34" charset="-122"/>
                <a:cs typeface="Calibri" pitchFamily="34" charset="-120"/>
              </a:rPr>
              <a:t> devre ≈ 5,9·10⁷ shot</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VQC (36 param., 40 epoch): ≈ 7,4·10⁸ shot</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Simülatör: 357 durum vektörü, ~1 s</a:t>
            </a:r>
            <a:endParaRPr lang="en-US" sz="1700" dirty="0"/>
          </a:p>
        </p:txBody>
      </p:sp>
      <p:pic>
        <p:nvPicPr>
          <p:cNvPr id="9" name="Image 0" descr="görsel">    </p:cNvPr>
          <p:cNvPicPr>
            <a:picLocks noChangeAspect="1"/>
          </p:cNvPicPr>
          <p:nvPr/>
        </p:nvPicPr>
        <p:blipFill>
          <a:blip r:embed="rId1"/>
          <a:stretch>
            <a:fillRect/>
          </a:stretch>
        </p:blipFill>
        <p:spPr>
          <a:xfrm>
            <a:off x="5943600" y="1162775"/>
            <a:ext cx="5699455" cy="3160850"/>
          </a:xfrm>
          <a:prstGeom prst="rect">
            <a:avLst/>
          </a:prstGeom>
        </p:spPr>
      </p:pic>
      <p:pic>
        <p:nvPicPr>
          <p:cNvPr id="10" name="Image 1" descr="görsel">    </p:cNvPr>
          <p:cNvPicPr>
            <a:picLocks noChangeAspect="1"/>
          </p:cNvPicPr>
          <p:nvPr/>
        </p:nvPicPr>
        <p:blipFill>
          <a:blip r:embed="rId2"/>
          <a:stretch>
            <a:fillRect/>
          </a:stretch>
        </p:blipFill>
        <p:spPr>
          <a:xfrm>
            <a:off x="6579216" y="4434840"/>
            <a:ext cx="4428223" cy="155448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Gürültü: Aer ile QSVM çekirdeği</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25</a:t>
            </a:r>
            <a:endParaRPr lang="en-US" sz="1000" dirty="0"/>
          </a:p>
        </p:txBody>
      </p:sp>
      <p:pic>
        <p:nvPicPr>
          <p:cNvPr id="6" name="Image 0" descr="görsel">    </p:cNvPr>
          <p:cNvPicPr>
            <a:picLocks noChangeAspect="1"/>
          </p:cNvPicPr>
          <p:nvPr/>
        </p:nvPicPr>
        <p:blipFill>
          <a:blip r:embed="rId1"/>
          <a:stretch>
            <a:fillRect/>
          </a:stretch>
        </p:blipFill>
        <p:spPr>
          <a:xfrm>
            <a:off x="548640" y="1177012"/>
            <a:ext cx="7315200" cy="2583735"/>
          </a:xfrm>
          <a:prstGeom prst="rect">
            <a:avLst/>
          </a:prstGeom>
        </p:spPr>
      </p:pic>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7315200" cy="914400"/>
        </p:xfrm>
        <a:graphic>
          <a:graphicData uri="http://schemas.openxmlformats.org/drawingml/2006/table">
            <a:tbl>
              <a:tblPr/>
              <a:tblGrid>
                <a:gridCol w="2487168"/>
                <a:gridCol w="2194560"/>
                <a:gridCol w="1316736"/>
                <a:gridCol w="1316736"/>
              </a:tblGrid>
              <a:tr h="3840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Ayar</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p₁ / p₂ / p_r</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K(x,x)</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Doğ.</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384048">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Kesin (Statevector)</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İdeal + 256 shot</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384048">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Düşük gürültü</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0,001/0,01/0,01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0,778</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Yüksek gürültü</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0,005/0,05/0,03</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0,328</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0,958</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
        <p:nvSpPr>
          <p:cNvPr id="8" name="Shape 3"/>
          <p:cNvSpPr/>
          <p:nvPr/>
        </p:nvSpPr>
        <p:spPr>
          <a:xfrm>
            <a:off x="8138160" y="1188720"/>
            <a:ext cx="3504895" cy="2286000"/>
          </a:xfrm>
          <a:prstGeom prst="roundRect">
            <a:avLst>
              <a:gd name="adj" fmla="val 3200"/>
            </a:avLst>
          </a:prstGeom>
          <a:solidFill>
            <a:srgbClr val="E8EEF6"/>
          </a:solidFill>
          <a:ln w="12700">
            <a:solidFill>
              <a:srgbClr val="E8EEF6"/>
            </a:solidFill>
            <a:prstDash val="solid"/>
          </a:ln>
        </p:spPr>
      </p:sp>
      <p:sp>
        <p:nvSpPr>
          <p:cNvPr id="9" name="Text 4"/>
          <p:cNvSpPr txBox="1"/>
          <p:nvPr/>
        </p:nvSpPr>
        <p:spPr>
          <a:xfrm>
            <a:off x="8321040" y="1298448"/>
            <a:ext cx="3139135" cy="206654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Devre</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Transpile sonrası: </a:t>
            </a:r>
            <a:r>
              <a:rPr lang="en-US" sz="1500" b="1" dirty="0">
                <a:solidFill>
                  <a:srgbClr val="1F2937"/>
                </a:solidFill>
                <a:latin typeface="Calibri" pitchFamily="34" charset="0"/>
                <a:ea typeface="Calibri" pitchFamily="34" charset="-122"/>
                <a:cs typeface="Calibri" pitchFamily="34" charset="-120"/>
              </a:rPr>
              <a:t>22 CX</a:t>
            </a:r>
            <a:r>
              <a:rPr lang="en-US" sz="1500" dirty="0">
                <a:solidFill>
                  <a:srgbClr val="1F2937"/>
                </a:solidFill>
                <a:latin typeface="Calibri" pitchFamily="34" charset="0"/>
                <a:ea typeface="Calibri" pitchFamily="34" charset="-122"/>
                <a:cs typeface="Calibri" pitchFamily="34" charset="-120"/>
              </a:rPr>
              <a:t>, 60 RZ, 16 SX</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Derinlik 45</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CX sayısı baskın etken</a:t>
            </a:r>
            <a:endParaRPr lang="en-US" sz="1700" dirty="0"/>
          </a:p>
        </p:txBody>
      </p:sp>
      <p:sp>
        <p:nvSpPr>
          <p:cNvPr id="10" name="Shape 5"/>
          <p:cNvSpPr/>
          <p:nvPr/>
        </p:nvSpPr>
        <p:spPr>
          <a:xfrm>
            <a:off x="8138160" y="3657600"/>
            <a:ext cx="3504895" cy="2286000"/>
          </a:xfrm>
          <a:prstGeom prst="roundRect">
            <a:avLst>
              <a:gd name="adj" fmla="val 3200"/>
            </a:avLst>
          </a:prstGeom>
          <a:solidFill>
            <a:srgbClr val="E8EEF6"/>
          </a:solidFill>
          <a:ln w="12700">
            <a:solidFill>
              <a:srgbClr val="E8EEF6"/>
            </a:solidFill>
            <a:prstDash val="solid"/>
          </a:ln>
        </p:spPr>
      </p:sp>
      <p:sp>
        <p:nvSpPr>
          <p:cNvPr id="11" name="Text 6"/>
          <p:cNvSpPr txBox="1"/>
          <p:nvPr/>
        </p:nvSpPr>
        <p:spPr>
          <a:xfrm>
            <a:off x="8321040" y="3767328"/>
            <a:ext cx="3139135" cy="206654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Ne yapılabilir?</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Daha sığ devre (reps = 1)</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Okuma hatası düzeltmesi, ZNE</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Köşegeni 1'e sabitle, K'yı PSD yap</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Raporlama: sayılar elle kopyalanmaz</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26</a:t>
            </a:r>
            <a:endParaRPr lang="en-US" sz="1000" dirty="0"/>
          </a:p>
        </p:txBody>
      </p:sp>
      <p:sp>
        <p:nvSpPr>
          <p:cNvPr id="6" name="Shape 3"/>
          <p:cNvSpPr/>
          <p:nvPr/>
        </p:nvSpPr>
        <p:spPr>
          <a:xfrm>
            <a:off x="548640" y="1234440"/>
            <a:ext cx="5852160" cy="3108960"/>
          </a:xfrm>
          <a:prstGeom prst="rect">
            <a:avLst/>
          </a:prstGeom>
          <a:solidFill>
            <a:srgbClr val="F7F8FA"/>
          </a:solidFill>
          <a:ln w="9525">
            <a:solidFill>
              <a:srgbClr val="D1D5DB"/>
            </a:solidFill>
            <a:prstDash val="solid"/>
          </a:ln>
        </p:spPr>
      </p:sp>
      <p:sp>
        <p:nvSpPr>
          <p:cNvPr id="7" name="Text 4"/>
          <p:cNvSpPr txBox="1"/>
          <p:nvPr/>
        </p:nvSpPr>
        <p:spPr>
          <a:xfrm>
            <a:off x="685800" y="1325880"/>
            <a:ext cx="5577840" cy="2926080"/>
          </a:xfrm>
          <a:prstGeom prst="rect">
            <a:avLst/>
          </a:prstGeom>
          <a:noFill/>
          <a:ln/>
        </p:spPr>
        <p:txBody>
          <a:bodyPr wrap="square" lIns="0" tIns="0" rIns="0" bIns="0" rtlCol="0" anchor="t"/>
          <a:lstStyle/>
          <a:p>
            <a:pPr indent="0" marL="0">
              <a:buNone/>
            </a:pPr>
            <a:r>
              <a:rPr lang="en-US" sz="1300" dirty="0">
                <a:solidFill>
                  <a:srgbClr val="1F2937"/>
                </a:solidFill>
                <a:latin typeface="Courier New" pitchFamily="34" charset="0"/>
                <a:ea typeface="Courier New" pitchFamily="34" charset="-122"/>
                <a:cs typeface="Courier New" pitchFamily="34" charset="-120"/>
              </a:rPr>
              <a:t>RESULTS = []</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def record(case, model, yte, pred, sec):</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RESULTS.append({"vaka": case, "model": model,</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"dogruluk": accuracy_score(yte, pred),</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"F1": f1_score(yte, pred), "sure_s": sec})</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rep = pd.DataFrame(RESULTS).round(3)</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rep.to_csv("hafta15_sonuclar.csv", index=False)</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print(rep.to_markdown(index=False))</a:t>
            </a:r>
            <a:endParaRPr lang="en-US" sz="1300" dirty="0"/>
          </a:p>
        </p:txBody>
      </p:sp>
      <p:sp>
        <p:nvSpPr>
          <p:cNvPr id="8" name="Shape 5"/>
          <p:cNvSpPr/>
          <p:nvPr/>
        </p:nvSpPr>
        <p:spPr>
          <a:xfrm>
            <a:off x="548640" y="4526280"/>
            <a:ext cx="5852160" cy="1371600"/>
          </a:xfrm>
          <a:prstGeom prst="roundRect">
            <a:avLst>
              <a:gd name="adj" fmla="val 5333"/>
            </a:avLst>
          </a:prstGeom>
          <a:solidFill>
            <a:srgbClr val="E8EEF6"/>
          </a:solidFill>
          <a:ln w="12700">
            <a:solidFill>
              <a:srgbClr val="E8EEF6"/>
            </a:solidFill>
            <a:prstDash val="solid"/>
          </a:ln>
        </p:spPr>
      </p:sp>
      <p:sp>
        <p:nvSpPr>
          <p:cNvPr id="9" name="Text 6"/>
          <p:cNvSpPr txBox="1"/>
          <p:nvPr/>
        </p:nvSpPr>
        <p:spPr>
          <a:xfrm>
            <a:off x="731520" y="4636008"/>
            <a:ext cx="5486400" cy="1152144"/>
          </a:xfrm>
          <a:prstGeom prst="rect">
            <a:avLst/>
          </a:prstGeom>
          <a:noFill/>
          <a:ln/>
        </p:spPr>
        <p:txBody>
          <a:bodyPr wrap="square" lIns="0" tIns="0" rIns="0" bIns="0" rtlCol="0" anchor="ctr"/>
          <a:lstStyle/>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Olumsuz sonuç da </a:t>
            </a:r>
            <a:r>
              <a:rPr lang="en-US" sz="1600" b="1" dirty="0">
                <a:solidFill>
                  <a:srgbClr val="1F2937"/>
                </a:solidFill>
                <a:latin typeface="Calibri" pitchFamily="34" charset="0"/>
                <a:ea typeface="Calibri" pitchFamily="34" charset="-122"/>
                <a:cs typeface="Calibri" pitchFamily="34" charset="-120"/>
              </a:rPr>
              <a:t>sonuçtur</a:t>
            </a:r>
            <a:r>
              <a:rPr lang="en-US" sz="1600" dirty="0">
                <a:solidFill>
                  <a:srgbClr val="1F2937"/>
                </a:solidFill>
                <a:latin typeface="Calibri" pitchFamily="34" charset="0"/>
                <a:ea typeface="Calibri" pitchFamily="34" charset="-122"/>
                <a:cs typeface="Calibri" pitchFamily="34" charset="-120"/>
              </a:rPr>
              <a:t>. Puan, kuantum modelin kazanmasına değil </a:t>
            </a:r>
            <a:r>
              <a:rPr lang="en-US" sz="1600" b="1" dirty="0">
                <a:solidFill>
                  <a:srgbClr val="1F2937"/>
                </a:solidFill>
                <a:latin typeface="Calibri" pitchFamily="34" charset="0"/>
                <a:ea typeface="Calibri" pitchFamily="34" charset="-122"/>
                <a:cs typeface="Calibri" pitchFamily="34" charset="-120"/>
              </a:rPr>
              <a:t>karşılaştırmanın doğruluğuna</a:t>
            </a:r>
            <a:r>
              <a:rPr lang="en-US" sz="1600" dirty="0">
                <a:solidFill>
                  <a:srgbClr val="1F2937"/>
                </a:solidFill>
                <a:latin typeface="Calibri" pitchFamily="34" charset="0"/>
                <a:ea typeface="Calibri" pitchFamily="34" charset="-122"/>
                <a:cs typeface="Calibri" pitchFamily="34" charset="-120"/>
              </a:rPr>
              <a:t> bağlı.</a:t>
            </a:r>
            <a:endParaRPr lang="en-US" sz="16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75120" y="1234440"/>
          <a:ext cx="4967935" cy="914400"/>
        </p:xfrm>
        <a:graphic>
          <a:graphicData uri="http://schemas.openxmlformats.org/drawingml/2006/table">
            <a:tbl>
              <a:tblPr/>
              <a:tblGrid>
                <a:gridCol w="4967935"/>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Raporda olmalı</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6692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Veri, ayrım, tohum, sızıntısız ön işleme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Tüm modeller aynı özelliklerle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6692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Hiperparametre arama (klasik de ayarlı)</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Ort. ± std ya da güven aralığı</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6692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Süre + donanım maliyet tahmini</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En az bir gürültülü deney</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6692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Olumsuz sonuçlar, sınırlamalar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5B84B8"/>
                </a:solidFill>
              </a:rPr>
              <a:t>2. saat</a:t>
            </a:r>
            <a:endParaRPr lang="en-US" sz="7200" dirty="0"/>
          </a:p>
        </p:txBody>
      </p:sp>
      <p:sp>
        <p:nvSpPr>
          <p:cNvPr id="3" name="Text 1"/>
          <p:cNvSpPr txBox="1"/>
          <p:nvPr/>
        </p:nvSpPr>
        <p:spPr>
          <a:xfrm>
            <a:off x="731520" y="3108960"/>
            <a:ext cx="10972800" cy="822960"/>
          </a:xfrm>
          <a:prstGeom prst="rect">
            <a:avLst/>
          </a:prstGeom>
          <a:noFill/>
          <a:ln/>
        </p:spPr>
        <p:txBody>
          <a:bodyPr wrap="square" lIns="0" tIns="0" rIns="0" bIns="0" rtlCol="0" anchor="ctr"/>
          <a:lstStyle/>
          <a:p>
            <a:pPr indent="0" marL="0">
              <a:buNone/>
            </a:pPr>
            <a:r>
              <a:rPr lang="en-US" sz="3800" b="1" dirty="0">
                <a:solidFill>
                  <a:srgbClr val="FFFFFF"/>
                </a:solidFill>
              </a:rPr>
              <a:t>Çözümlü örnekler</a:t>
            </a:r>
            <a:endParaRPr lang="en-US" sz="3800" dirty="0"/>
          </a:p>
        </p:txBody>
      </p:sp>
      <p:sp>
        <p:nvSpPr>
          <p:cNvPr id="4" name="Text 2"/>
          <p:cNvSpPr txBox="1"/>
          <p:nvPr/>
        </p:nvSpPr>
        <p:spPr>
          <a:xfrm>
            <a:off x="731520" y="3977640"/>
            <a:ext cx="10515600" cy="731520"/>
          </a:xfrm>
          <a:prstGeom prst="rect">
            <a:avLst/>
          </a:prstGeom>
          <a:noFill/>
          <a:ln/>
        </p:spPr>
        <p:txBody>
          <a:bodyPr wrap="square" lIns="0" tIns="0" rIns="0" bIns="0" rtlCol="0" anchor="t"/>
          <a:lstStyle/>
          <a:p>
            <a:pPr indent="0" marL="0">
              <a:buNone/>
            </a:pPr>
            <a:r>
              <a:rPr lang="en-US" sz="1800" dirty="0">
                <a:solidFill>
                  <a:srgbClr val="C7D2E3"/>
                </a:solidFill>
              </a:rPr>
              <a:t>F1, CV + güven aralığı, devre × shot, gürültü, anlamlılık</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4 · Karışıklık matrisinden F1</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28</a:t>
            </a:r>
            <a:endParaRPr lang="en-US" sz="1000" dirty="0"/>
          </a:p>
        </p:txBody>
      </p:sp>
      <p:sp>
        <p:nvSpPr>
          <p:cNvPr id="6" name="Shape 3"/>
          <p:cNvSpPr/>
          <p:nvPr/>
        </p:nvSpPr>
        <p:spPr>
          <a:xfrm>
            <a:off x="548640" y="1143000"/>
            <a:ext cx="6675120"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6309360"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Vaka 2, VQC: [[49, 6], [0, 53]] (pozitif = 8). Doğruluk, P, R, F1? Hata türü?</a:t>
            </a:r>
            <a:endParaRPr lang="en-US" sz="1600" dirty="0"/>
          </a:p>
        </p:txBody>
      </p:sp>
      <p:sp>
        <p:nvSpPr>
          <p:cNvPr id="8" name="Text 5"/>
          <p:cNvSpPr txBox="1"/>
          <p:nvPr/>
        </p:nvSpPr>
        <p:spPr>
          <a:xfrm>
            <a:off x="548640" y="2286000"/>
            <a:ext cx="6675120" cy="3291840"/>
          </a:xfrm>
          <a:prstGeom prst="rect">
            <a:avLst/>
          </a:prstGeom>
          <a:noFill/>
          <a:ln/>
        </p:spPr>
        <p:txBody>
          <a:bodyPr wrap="square" lIns="0" tIns="0" rIns="0" bIns="0" rtlCol="0" anchor="t"/>
          <a:lstStyle/>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1. TN = 49, FP = 6, FN = 0, TP = 53</a:t>
            </a:r>
            <a:endParaRPr lang="en-US" sz="19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Doğruluk = 102/108 ≈ 0,944      P = 53/59 ≈ 0,898</a:t>
            </a:r>
            <a:endParaRPr lang="en-US" sz="19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R = 53/53 = 1      F1 = 2·0,898·1/1,898 ≈ 0,946</a:t>
            </a:r>
            <a:endParaRPr lang="en-US" sz="19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2. Tüm hatalar </a:t>
            </a:r>
            <a:r>
              <a:rPr lang="en-US" sz="1900" b="1" dirty="0">
                <a:solidFill>
                  <a:srgbClr val="1F2937"/>
                </a:solidFill>
                <a:latin typeface="Calibri" pitchFamily="34" charset="0"/>
                <a:ea typeface="Calibri" pitchFamily="34" charset="-122"/>
                <a:cs typeface="Calibri" pitchFamily="34" charset="-120"/>
              </a:rPr>
              <a:t>yanlış pozitif</a:t>
            </a:r>
            <a:r>
              <a:rPr lang="en-US" sz="1900" dirty="0">
                <a:solidFill>
                  <a:srgbClr val="1F2937"/>
                </a:solidFill>
                <a:latin typeface="Calibri" pitchFamily="34" charset="0"/>
                <a:ea typeface="Calibri" pitchFamily="34" charset="-122"/>
                <a:cs typeface="Calibri" pitchFamily="34" charset="-120"/>
              </a:rPr>
              <a:t> (3 → 8): model 8'e yanlı.</a:t>
            </a:r>
            <a:endParaRPr lang="en-US" sz="1900" dirty="0"/>
          </a:p>
        </p:txBody>
      </p:sp>
      <p:sp>
        <p:nvSpPr>
          <p:cNvPr id="9" name="Shape 6"/>
          <p:cNvSpPr/>
          <p:nvPr/>
        </p:nvSpPr>
        <p:spPr>
          <a:xfrm>
            <a:off x="548640" y="5623560"/>
            <a:ext cx="6675120"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6309360"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0,944 / 0,898 / 1,000 / 0,946</a:t>
            </a:r>
            <a:endParaRPr lang="en-US" sz="1700" dirty="0"/>
          </a:p>
        </p:txBody>
      </p:sp>
      <p:sp>
        <p:nvSpPr>
          <p:cNvPr id="11" name="Shape 8"/>
          <p:cNvSpPr/>
          <p:nvPr/>
        </p:nvSpPr>
        <p:spPr>
          <a:xfrm>
            <a:off x="7498080" y="1143000"/>
            <a:ext cx="4144975" cy="3291840"/>
          </a:xfrm>
          <a:prstGeom prst="rect">
            <a:avLst/>
          </a:prstGeom>
          <a:solidFill>
            <a:srgbClr val="F7F8FA"/>
          </a:solidFill>
          <a:ln w="9525">
            <a:solidFill>
              <a:srgbClr val="D1D5DB"/>
            </a:solidFill>
            <a:prstDash val="solid"/>
          </a:ln>
        </p:spPr>
      </p:sp>
      <p:sp>
        <p:nvSpPr>
          <p:cNvPr id="12" name="Text 9"/>
          <p:cNvSpPr txBox="1"/>
          <p:nvPr/>
        </p:nvSpPr>
        <p:spPr>
          <a:xfrm>
            <a:off x="7635240" y="1234440"/>
            <a:ext cx="3870655" cy="3108960"/>
          </a:xfrm>
          <a:prstGeom prst="rect">
            <a:avLst/>
          </a:prstGeom>
          <a:noFill/>
          <a:ln/>
        </p:spPr>
        <p:txBody>
          <a:bodyPr wrap="square" lIns="0" tIns="0" rIns="0" bIns="0" rtlCol="0" anchor="t"/>
          <a:lstStyle/>
          <a:p>
            <a:pPr indent="0" marL="0">
              <a:buNone/>
            </a:pPr>
            <a:r>
              <a:rPr lang="en-US" sz="1400" dirty="0">
                <a:solidFill>
                  <a:srgbClr val="1F2937"/>
                </a:solidFill>
                <a:latin typeface="Courier New" pitchFamily="34" charset="0"/>
                <a:ea typeface="Courier New" pitchFamily="34" charset="-122"/>
                <a:cs typeface="Courier New" pitchFamily="34" charset="-120"/>
              </a:rPr>
              <a:t>cm = confusion_matrix(yte, p)</a:t>
            </a:r>
            <a:endParaRPr lang="en-US" sz="1400" dirty="0"/>
          </a:p>
          <a:p>
            <a:pPr indent="0" marL="0">
              <a:buNone/>
            </a:pPr>
            <a:r>
              <a:rPr lang="en-US" sz="1400" dirty="0">
                <a:solidFill>
                  <a:srgbClr val="6B7F99"/>
                </a:solidFill>
                <a:latin typeface="Courier New" pitchFamily="34" charset="0"/>
                <a:ea typeface="Courier New" pitchFamily="34" charset="-122"/>
                <a:cs typeface="Courier New" pitchFamily="34" charset="-120"/>
              </a:rPr>
              <a:t># [[49, 6],</a:t>
            </a:r>
            <a:endParaRPr lang="en-US" sz="1400" dirty="0"/>
          </a:p>
          <a:p>
            <a:pPr indent="0" marL="0">
              <a:buNone/>
            </a:pPr>
            <a:r>
              <a:rPr lang="en-US" sz="1400" dirty="0">
                <a:solidFill>
                  <a:srgbClr val="6B7F99"/>
                </a:solidFill>
                <a:latin typeface="Courier New" pitchFamily="34" charset="0"/>
                <a:ea typeface="Courier New" pitchFamily="34" charset="-122"/>
                <a:cs typeface="Courier New" pitchFamily="34" charset="-120"/>
              </a:rPr>
              <a:t>#  [ 0, 53]]</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(tn, fp), (fn, tp) = cm</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P = tp/(tp+fp)   </a:t>
            </a:r>
            <a:r>
              <a:rPr lang="en-US" sz="1400" dirty="0">
                <a:solidFill>
                  <a:srgbClr val="6B7F99"/>
                </a:solidFill>
                <a:latin typeface="Courier New" pitchFamily="34" charset="0"/>
                <a:ea typeface="Courier New" pitchFamily="34" charset="-122"/>
                <a:cs typeface="Courier New" pitchFamily="34" charset="-120"/>
              </a:rPr>
              <a:t># 0.898</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R = tp/(tp+fn)   </a:t>
            </a:r>
            <a:r>
              <a:rPr lang="en-US" sz="1400" dirty="0">
                <a:solidFill>
                  <a:srgbClr val="6B7F99"/>
                </a:solidFill>
                <a:latin typeface="Courier New" pitchFamily="34" charset="0"/>
                <a:ea typeface="Courier New" pitchFamily="34" charset="-122"/>
                <a:cs typeface="Courier New" pitchFamily="34" charset="-120"/>
              </a:rPr>
              <a:t># 1.0</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2*P*R/(P+R)      </a:t>
            </a:r>
            <a:r>
              <a:rPr lang="en-US" sz="1400" dirty="0">
                <a:solidFill>
                  <a:srgbClr val="6B7F99"/>
                </a:solidFill>
                <a:latin typeface="Courier New" pitchFamily="34" charset="0"/>
                <a:ea typeface="Courier New" pitchFamily="34" charset="-122"/>
                <a:cs typeface="Courier New" pitchFamily="34" charset="-120"/>
              </a:rPr>
              <a:t># 0.946</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f1_score(yte, p) </a:t>
            </a:r>
            <a:r>
              <a:rPr lang="en-US" sz="1400" dirty="0">
                <a:solidFill>
                  <a:srgbClr val="6B7F99"/>
                </a:solidFill>
                <a:latin typeface="Courier New" pitchFamily="34" charset="0"/>
                <a:ea typeface="Courier New" pitchFamily="34" charset="-122"/>
                <a:cs typeface="Courier New" pitchFamily="34" charset="-120"/>
              </a:rPr>
              <a:t># 0.946</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5 · CV ortalaması ve %95 güven aralığı</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29</a:t>
            </a:r>
            <a:endParaRPr lang="en-US" sz="1000" dirty="0"/>
          </a:p>
        </p:txBody>
      </p:sp>
      <p:sp>
        <p:nvSpPr>
          <p:cNvPr id="6" name="Shape 3"/>
          <p:cNvSpPr/>
          <p:nvPr/>
        </p:nvSpPr>
        <p:spPr>
          <a:xfrm>
            <a:off x="548640" y="1143000"/>
            <a:ext cx="6675120"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6309360"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QSVM (3–8) kat doğrulukları: 0,9583; 0,9861; 0,9718; 0,9859; 1,0000.</a:t>
            </a:r>
            <a:endParaRPr lang="en-US" sz="1600" dirty="0"/>
          </a:p>
        </p:txBody>
      </p:sp>
      <p:sp>
        <p:nvSpPr>
          <p:cNvPr id="8" name="Text 5"/>
          <p:cNvSpPr txBox="1"/>
          <p:nvPr/>
        </p:nvSpPr>
        <p:spPr>
          <a:xfrm>
            <a:off x="548640" y="2286000"/>
            <a:ext cx="6675120" cy="3291840"/>
          </a:xfrm>
          <a:prstGeom prst="rect">
            <a:avLst/>
          </a:prstGeom>
          <a:noFill/>
          <a:ln/>
        </p:spPr>
        <p:txBody>
          <a:bodyPr wrap="square" lIns="0" tIns="0" rIns="0" bIns="0" rtlCol="0" anchor="t"/>
          <a:lstStyle/>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x̄ = 4,9021 / 5 ≈ 0,9804</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s = √(Σ(xᵢ − x̄)² / 4) = √(0,001008/4) ≈ 0,0159</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h = 2,776 · 0,0159/√5 ≈ 0,0197</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GA = [0,961 ; 1,000]   (üst sınır 1'e kırpılır)</a:t>
            </a:r>
            <a:endParaRPr lang="en-US" sz="2200" dirty="0"/>
          </a:p>
        </p:txBody>
      </p:sp>
      <p:sp>
        <p:nvSpPr>
          <p:cNvPr id="9" name="Shape 6"/>
          <p:cNvSpPr/>
          <p:nvPr/>
        </p:nvSpPr>
        <p:spPr>
          <a:xfrm>
            <a:off x="548640" y="5623560"/>
            <a:ext cx="6675120"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6309360"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x̄ ≈ 0,980, GA ≈ [0,961; 1,000]</a:t>
            </a:r>
            <a:endParaRPr lang="en-US" sz="1700" dirty="0"/>
          </a:p>
        </p:txBody>
      </p:sp>
      <p:sp>
        <p:nvSpPr>
          <p:cNvPr id="11" name="Shape 8"/>
          <p:cNvSpPr/>
          <p:nvPr/>
        </p:nvSpPr>
        <p:spPr>
          <a:xfrm>
            <a:off x="7498080" y="1143000"/>
            <a:ext cx="4144975" cy="2926080"/>
          </a:xfrm>
          <a:prstGeom prst="rect">
            <a:avLst/>
          </a:prstGeom>
          <a:solidFill>
            <a:srgbClr val="F7F8FA"/>
          </a:solidFill>
          <a:ln w="9525">
            <a:solidFill>
              <a:srgbClr val="D1D5DB"/>
            </a:solidFill>
            <a:prstDash val="solid"/>
          </a:ln>
        </p:spPr>
      </p:sp>
      <p:sp>
        <p:nvSpPr>
          <p:cNvPr id="12" name="Text 9"/>
          <p:cNvSpPr txBox="1"/>
          <p:nvPr/>
        </p:nvSpPr>
        <p:spPr>
          <a:xfrm>
            <a:off x="7635240" y="1234440"/>
            <a:ext cx="3870655" cy="2743200"/>
          </a:xfrm>
          <a:prstGeom prst="rect">
            <a:avLst/>
          </a:prstGeom>
          <a:noFill/>
          <a:ln/>
        </p:spPr>
        <p:txBody>
          <a:bodyPr wrap="square" lIns="0" tIns="0" rIns="0" bIns="0" rtlCol="0" anchor="t"/>
          <a:lstStyle/>
          <a:p>
            <a:pPr indent="0" marL="0">
              <a:buNone/>
            </a:pPr>
            <a:r>
              <a:rPr lang="en-US" sz="1400" dirty="0">
                <a:solidFill>
                  <a:srgbClr val="1F2937"/>
                </a:solidFill>
                <a:latin typeface="Courier New" pitchFamily="34" charset="0"/>
                <a:ea typeface="Courier New" pitchFamily="34" charset="-122"/>
                <a:cs typeface="Courier New" pitchFamily="34" charset="-120"/>
              </a:rPr>
              <a:t>sc = np.array([.9583, .9861,</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      .9718, .9859, 1.0])</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m, s = sc.mean(), sc.std(ddof=1)</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h = stats.t.ppf(.975, 4) \</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    * s / np.sqrt(5)</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m - h, m + h</a:t>
            </a:r>
            <a:endParaRPr lang="en-US" sz="1400" dirty="0"/>
          </a:p>
          <a:p>
            <a:pPr indent="0" marL="0">
              <a:buNone/>
            </a:pPr>
            <a:r>
              <a:rPr lang="en-US" sz="1400" dirty="0">
                <a:solidFill>
                  <a:srgbClr val="6B7F99"/>
                </a:solidFill>
                <a:latin typeface="Courier New" pitchFamily="34" charset="0"/>
                <a:ea typeface="Courier New" pitchFamily="34" charset="-122"/>
                <a:cs typeface="Courier New" pitchFamily="34" charset="-120"/>
              </a:rPr>
              <a:t># (0.9607, 1.0001)</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6 · QSVM için devre × shot maliyeti</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30</a:t>
            </a:r>
            <a:endParaRPr lang="en-US" sz="1000" dirty="0"/>
          </a:p>
        </p:txBody>
      </p:sp>
      <p:sp>
        <p:nvSpPr>
          <p:cNvPr id="6" name="Shape 3"/>
          <p:cNvSpPr/>
          <p:nvPr/>
        </p:nvSpPr>
        <p:spPr>
          <a:xfrm>
            <a:off x="548640" y="1143000"/>
            <a:ext cx="11094415"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10728655"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249 eğitim, 108 test, 1024 shot, shot başına 100 µs. Devre, shot, süre? Simülatörde kaç durum vektörü?</a:t>
            </a:r>
            <a:endParaRPr lang="en-US" sz="1600" dirty="0"/>
          </a:p>
        </p:txBody>
      </p:sp>
      <p:sp>
        <p:nvSpPr>
          <p:cNvPr id="8" name="Text 5"/>
          <p:cNvSpPr txBox="1"/>
          <p:nvPr/>
        </p:nvSpPr>
        <p:spPr>
          <a:xfrm>
            <a:off x="548640" y="2286000"/>
            <a:ext cx="11094415" cy="3291840"/>
          </a:xfrm>
          <a:prstGeom prst="rect">
            <a:avLst/>
          </a:prstGeom>
          <a:noFill/>
          <a:ln/>
        </p:spPr>
        <p:txBody>
          <a:bodyPr wrap="square" lIns="0" tIns="0" rIns="0" bIns="0" rtlCol="0" anchor="t"/>
          <a:lstStyle/>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eğitim: 249·248/2 = 30 876     test: 108·249 = 26 892</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toplam: 57 768 devre  →  ×1024 ≈ 5,9·10⁷ shot</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süre ≈ 5,9·10⁷ · 10⁻⁴ s ≈ 1,6 saat (kuyruk ve derleme hariç)</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simülatör: 249 + 108 = 357 durum vektörü + tek matris çarpımı</a:t>
            </a:r>
            <a:endParaRPr lang="en-US" sz="2200" dirty="0"/>
          </a:p>
        </p:txBody>
      </p:sp>
      <p:sp>
        <p:nvSpPr>
          <p:cNvPr id="9" name="Shape 6"/>
          <p:cNvSpPr/>
          <p:nvPr/>
        </p:nvSpPr>
        <p:spPr>
          <a:xfrm>
            <a:off x="548640" y="5623560"/>
            <a:ext cx="11094415"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10728655"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57 768 devre, ≈ 5,9·10⁷ shot, ≥ 1,6 saat</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7 · VQC için parameter-shift maliyeti</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31</a:t>
            </a:r>
            <a:endParaRPr lang="en-US" sz="1000" dirty="0"/>
          </a:p>
        </p:txBody>
      </p:sp>
      <p:sp>
        <p:nvSpPr>
          <p:cNvPr id="6" name="Shape 3"/>
          <p:cNvSpPr/>
          <p:nvPr/>
        </p:nvSpPr>
        <p:spPr>
          <a:xfrm>
            <a:off x="548640" y="1143000"/>
            <a:ext cx="11094415"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10728655"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6 kübit, 2 katman (36 parametre), 249 örnek, 40 epoch, 1024 shot.</a:t>
            </a:r>
            <a:endParaRPr lang="en-US" sz="1600" dirty="0"/>
          </a:p>
        </p:txBody>
      </p:sp>
      <p:sp>
        <p:nvSpPr>
          <p:cNvPr id="8" name="Text 5"/>
          <p:cNvSpPr txBox="1"/>
          <p:nvPr/>
        </p:nvSpPr>
        <p:spPr>
          <a:xfrm>
            <a:off x="548640" y="2286000"/>
            <a:ext cx="11094415" cy="3291840"/>
          </a:xfrm>
          <a:prstGeom prst="rect">
            <a:avLst/>
          </a:prstGeom>
          <a:noFill/>
          <a:ln/>
        </p:spPr>
        <p:txBody>
          <a:bodyPr wrap="square" lIns="0" tIns="0" rIns="0" bIns="0" rtlCol="0" anchor="t"/>
          <a:lstStyle/>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1. Örnek başına: 1 ileri geçiş + parametre başına 2 kaydırmalı devre</a:t>
            </a:r>
            <a:endParaRPr lang="en-US" sz="19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2·36 + 1 = 73 devre/örnek      249·73 = 18 177 devre/epoch</a:t>
            </a:r>
            <a:endParaRPr lang="en-US" sz="19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18 177 · 40 = 727 080 devre  →  ≈ 7,4·10⁸ shot</a:t>
            </a:r>
            <a:endParaRPr lang="en-US" sz="19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2. QSVM'nin ~12 katı. Simülatörde geri yayılım tek geçişte gradyan verir; donanımda bu kolaylık yok.</a:t>
            </a:r>
            <a:endParaRPr lang="en-US" sz="1900" dirty="0"/>
          </a:p>
        </p:txBody>
      </p:sp>
      <p:sp>
        <p:nvSpPr>
          <p:cNvPr id="9" name="Shape 6"/>
          <p:cNvSpPr/>
          <p:nvPr/>
        </p:nvSpPr>
        <p:spPr>
          <a:xfrm>
            <a:off x="548640" y="5623560"/>
            <a:ext cx="11094415"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10728655"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727 080 devre, ≈ 7,4·10⁸ shot</a:t>
            </a:r>
            <a:endParaRPr lang="en-US"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8 · Gürültünün çekirdek köşegenine etkisi</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32</a:t>
            </a:r>
            <a:endParaRPr lang="en-US" sz="1000" dirty="0"/>
          </a:p>
        </p:txBody>
      </p:sp>
      <p:sp>
        <p:nvSpPr>
          <p:cNvPr id="6" name="Shape 3"/>
          <p:cNvSpPr/>
          <p:nvPr/>
        </p:nvSpPr>
        <p:spPr>
          <a:xfrm>
            <a:off x="548640" y="1143000"/>
            <a:ext cx="11094415"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10728655"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Devrede 22 CX, 76 tek kübit kapısı, 4 ölçüm. Düşük (0,001/0,01/0,01) ve yüksek (0,005/0,05/0,03) gürültüde K(x, x) ≈ ?</a:t>
            </a:r>
            <a:endParaRPr lang="en-US" sz="1600" dirty="0"/>
          </a:p>
        </p:txBody>
      </p:sp>
      <p:sp>
        <p:nvSpPr>
          <p:cNvPr id="8" name="Text 5"/>
          <p:cNvSpPr txBox="1"/>
          <p:nvPr/>
        </p:nvSpPr>
        <p:spPr>
          <a:xfrm>
            <a:off x="548640" y="2286000"/>
            <a:ext cx="11094415" cy="3291840"/>
          </a:xfrm>
          <a:prstGeom prst="rect">
            <a:avLst/>
          </a:prstGeom>
          <a:noFill/>
          <a:ln/>
        </p:spPr>
        <p:txBody>
          <a:bodyPr wrap="square" lIns="0" tIns="0" rIns="0" bIns="0" rtlCol="0" anchor="t"/>
          <a:lstStyle/>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1. Hatasız olasılığı F ≈ (1 − ¾p₁)^76 · (1 − 15/16·p₂)^22 · (1 − p_r)^4</a:t>
            </a:r>
            <a:endParaRPr lang="en-US" sz="19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düşük: 0,945 · 0,813 · 0,961 ≈ 0,738  →  K ≈ F + (1 − F)/16 ≈ 0,75</a:t>
            </a:r>
            <a:endParaRPr lang="en-US" sz="19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yüksek: 0,752 · 0,348 · 0,885 ≈ 0,231  →  K ≈ 0,28</a:t>
            </a:r>
            <a:endParaRPr lang="en-US" sz="19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2. Ölçülen: 0,778 ve 0,328 → aynı mertebe. </a:t>
            </a:r>
            <a:r>
              <a:rPr lang="en-US" sz="1900" b="1" dirty="0">
                <a:solidFill>
                  <a:srgbClr val="1F2937"/>
                </a:solidFill>
                <a:latin typeface="Calibri" pitchFamily="34" charset="0"/>
                <a:ea typeface="Calibri" pitchFamily="34" charset="-122"/>
                <a:cs typeface="Calibri" pitchFamily="34" charset="-120"/>
              </a:rPr>
              <a:t>CX baskın.</a:t>
            </a:r>
            <a:endParaRPr lang="en-US" sz="1900" dirty="0"/>
          </a:p>
        </p:txBody>
      </p:sp>
      <p:sp>
        <p:nvSpPr>
          <p:cNvPr id="9" name="Shape 6"/>
          <p:cNvSpPr/>
          <p:nvPr/>
        </p:nvSpPr>
        <p:spPr>
          <a:xfrm>
            <a:off x="548640" y="5623560"/>
            <a:ext cx="11094415"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10728655"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 0,75 ve ≈ 0,28</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9 · Bir örnek farkı anlamlı mı?</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33</a:t>
            </a:r>
            <a:endParaRPr lang="en-US" sz="1000" dirty="0"/>
          </a:p>
        </p:txBody>
      </p:sp>
      <p:sp>
        <p:nvSpPr>
          <p:cNvPr id="6" name="Shape 3"/>
          <p:cNvSpPr/>
          <p:nvPr/>
        </p:nvSpPr>
        <p:spPr>
          <a:xfrm>
            <a:off x="548640" y="1143000"/>
            <a:ext cx="11094415"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10728655"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3–8: QSVM 0,991, lojistik R. 0,981 (108 test). Fark anlamlı mı?</a:t>
            </a:r>
            <a:endParaRPr lang="en-US" sz="1600" dirty="0"/>
          </a:p>
        </p:txBody>
      </p:sp>
      <p:sp>
        <p:nvSpPr>
          <p:cNvPr id="8" name="Text 5"/>
          <p:cNvSpPr txBox="1"/>
          <p:nvPr/>
        </p:nvSpPr>
        <p:spPr>
          <a:xfrm>
            <a:off x="548640" y="2286000"/>
            <a:ext cx="11094415" cy="3291840"/>
          </a:xfrm>
          <a:prstGeom prst="rect">
            <a:avLst/>
          </a:prstGeom>
          <a:noFill/>
          <a:ln/>
        </p:spPr>
        <p:txBody>
          <a:bodyPr wrap="square" lIns="0" tIns="0" rIns="0" bIns="0" rtlCol="0" anchor="t"/>
          <a:lstStyle/>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1. Fark = 1/108 ≈ 0,009: yalnızca </a:t>
            </a:r>
            <a:r>
              <a:rPr lang="en-US" sz="1900" b="1" dirty="0">
                <a:solidFill>
                  <a:srgbClr val="1F2937"/>
                </a:solidFill>
                <a:latin typeface="Calibri" pitchFamily="34" charset="0"/>
                <a:ea typeface="Calibri" pitchFamily="34" charset="-122"/>
                <a:cs typeface="Calibri" pitchFamily="34" charset="-120"/>
              </a:rPr>
              <a:t>bir</a:t>
            </a:r>
            <a:r>
              <a:rPr lang="en-US" sz="1900" dirty="0">
                <a:solidFill>
                  <a:srgbClr val="1F2937"/>
                </a:solidFill>
                <a:latin typeface="Calibri" pitchFamily="34" charset="0"/>
                <a:ea typeface="Calibri" pitchFamily="34" charset="-122"/>
                <a:cs typeface="Calibri" pitchFamily="34" charset="-120"/>
              </a:rPr>
              <a:t> test örneği</a:t>
            </a:r>
            <a:endParaRPr lang="en-US" sz="19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SE ≈ √(0,98 · 0,02 / 108) ≈ 0,0135      %95 ≈ ± 0,026</a:t>
            </a:r>
            <a:endParaRPr lang="en-US" sz="19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2. Fark belirsizliğin üçte biri → </a:t>
            </a:r>
            <a:r>
              <a:rPr lang="en-US" sz="1900" b="1" dirty="0">
                <a:solidFill>
                  <a:srgbClr val="1F2937"/>
                </a:solidFill>
                <a:latin typeface="Calibri" pitchFamily="34" charset="0"/>
                <a:ea typeface="Calibri" pitchFamily="34" charset="-122"/>
                <a:cs typeface="Calibri" pitchFamily="34" charset="-120"/>
              </a:rPr>
              <a:t>anlamlı değil</a:t>
            </a:r>
            <a:endParaRPr lang="en-US" sz="19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3. CV aralıkları da örtüşüyor (önceki slayt).</a:t>
            </a:r>
            <a:endParaRPr lang="en-US" sz="1900" dirty="0"/>
          </a:p>
        </p:txBody>
      </p:sp>
      <p:sp>
        <p:nvSpPr>
          <p:cNvPr id="9" name="Shape 6"/>
          <p:cNvSpPr/>
          <p:nvPr/>
        </p:nvSpPr>
        <p:spPr>
          <a:xfrm>
            <a:off x="548640" y="5623560"/>
            <a:ext cx="11094415"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10728655"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Hayır; istatistiksel olarak ayırt edilemez</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5B84B8"/>
                </a:solidFill>
              </a:rPr>
              <a:t>05</a:t>
            </a:r>
            <a:endParaRPr lang="en-US" sz="7200" dirty="0"/>
          </a:p>
        </p:txBody>
      </p:sp>
      <p:sp>
        <p:nvSpPr>
          <p:cNvPr id="3" name="Text 1"/>
          <p:cNvSpPr txBox="1"/>
          <p:nvPr/>
        </p:nvSpPr>
        <p:spPr>
          <a:xfrm>
            <a:off x="731520" y="3108960"/>
            <a:ext cx="10972800" cy="822960"/>
          </a:xfrm>
          <a:prstGeom prst="rect">
            <a:avLst/>
          </a:prstGeom>
          <a:noFill/>
          <a:ln/>
        </p:spPr>
        <p:txBody>
          <a:bodyPr wrap="square" lIns="0" tIns="0" rIns="0" bIns="0" rtlCol="0" anchor="ctr"/>
          <a:lstStyle/>
          <a:p>
            <a:pPr indent="0" marL="0">
              <a:buNone/>
            </a:pPr>
            <a:r>
              <a:rPr lang="en-US" sz="3800" b="1" dirty="0">
                <a:solidFill>
                  <a:srgbClr val="FFFFFF"/>
                </a:solidFill>
              </a:rPr>
              <a:t>Kuantum avantajı gerçekte var mı?</a:t>
            </a:r>
            <a:endParaRPr lang="en-US" sz="3800" dirty="0"/>
          </a:p>
        </p:txBody>
      </p:sp>
      <p:sp>
        <p:nvSpPr>
          <p:cNvPr id="4" name="Text 2"/>
          <p:cNvSpPr txBox="1"/>
          <p:nvPr/>
        </p:nvSpPr>
        <p:spPr>
          <a:xfrm>
            <a:off x="731520" y="3977640"/>
            <a:ext cx="10515600" cy="731520"/>
          </a:xfrm>
          <a:prstGeom prst="rect">
            <a:avLst/>
          </a:prstGeom>
          <a:noFill/>
          <a:ln/>
        </p:spPr>
        <p:txBody>
          <a:bodyPr wrap="square" lIns="0" tIns="0" rIns="0" bIns="0" rtlCol="0" anchor="t"/>
          <a:lstStyle/>
          <a:p>
            <a:pPr indent="0" marL="0">
              <a:buNone/>
            </a:pPr>
            <a:r>
              <a:rPr lang="en-US" sz="1800" dirty="0">
                <a:solidFill>
                  <a:srgbClr val="C7D2E3"/>
                </a:solidFill>
              </a:rPr>
              <a:t>Kanıtlanmış alanlar, dequantization, yoğunlaşma, veri yükleme, barren plateau</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Kuantum avantajı haritası</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35</a:t>
            </a:r>
            <a:endParaRPr lang="en-US" sz="1000" dirty="0"/>
          </a:p>
        </p:txBody>
      </p:sp>
      <p:pic>
        <p:nvPicPr>
          <p:cNvPr id="6" name="Image 0" descr="görsel">    </p:cNvPr>
          <p:cNvPicPr>
            <a:picLocks noChangeAspect="1"/>
          </p:cNvPicPr>
          <p:nvPr/>
        </p:nvPicPr>
        <p:blipFill>
          <a:blip r:embed="rId1"/>
          <a:stretch>
            <a:fillRect/>
          </a:stretch>
        </p:blipFill>
        <p:spPr>
          <a:xfrm>
            <a:off x="1174416" y="1097280"/>
            <a:ext cx="9842863" cy="4023360"/>
          </a:xfrm>
          <a:prstGeom prst="rect">
            <a:avLst/>
          </a:prstGeom>
        </p:spPr>
      </p:pic>
      <p:sp>
        <p:nvSpPr>
          <p:cNvPr id="7" name="Shape 3"/>
          <p:cNvSpPr/>
          <p:nvPr/>
        </p:nvSpPr>
        <p:spPr>
          <a:xfrm>
            <a:off x="548640" y="5257800"/>
            <a:ext cx="11094415" cy="685800"/>
          </a:xfrm>
          <a:prstGeom prst="roundRect">
            <a:avLst>
              <a:gd name="adj" fmla="val 10667"/>
            </a:avLst>
          </a:prstGeom>
          <a:solidFill>
            <a:srgbClr val="E8EEF6"/>
          </a:solidFill>
          <a:ln w="12700">
            <a:solidFill>
              <a:srgbClr val="E8EEF6"/>
            </a:solidFill>
            <a:prstDash val="solid"/>
          </a:ln>
        </p:spPr>
      </p:sp>
      <p:sp>
        <p:nvSpPr>
          <p:cNvPr id="8" name="Text 4"/>
          <p:cNvSpPr txBox="1"/>
          <p:nvPr/>
        </p:nvSpPr>
        <p:spPr>
          <a:xfrm>
            <a:off x="731520" y="5367528"/>
            <a:ext cx="10728655" cy="466344"/>
          </a:xfrm>
          <a:prstGeom prst="rect">
            <a:avLst/>
          </a:prstGeom>
          <a:noFill/>
          <a:ln/>
        </p:spPr>
        <p:txBody>
          <a:bodyPr wrap="square" lIns="0" tIns="0" rIns="0" bIns="0" rtlCol="0" anchor="ctr"/>
          <a:lstStyle/>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Kısa cevap: </a:t>
            </a:r>
            <a:r>
              <a:rPr lang="en-US" sz="1700" b="1" dirty="0">
                <a:solidFill>
                  <a:srgbClr val="1F2937"/>
                </a:solidFill>
                <a:latin typeface="Calibri" pitchFamily="34" charset="0"/>
                <a:ea typeface="Calibri" pitchFamily="34" charset="-122"/>
                <a:cs typeface="Calibri" pitchFamily="34" charset="-120"/>
              </a:rPr>
              <a:t>Özel yapılı problemlerde evet; klasik veride pratik ML için henüz kanıt yok.</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Kanıtlanmış (ya da güçlü kanıtlı) avantaj alanları</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36</a:t>
            </a:r>
            <a:endParaRPr lang="en-US" sz="1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662660"/>
                <a:gridCol w="2884548"/>
                <a:gridCol w="4659654"/>
                <a:gridCol w="887553"/>
              </a:tblGrid>
              <a:tr h="7315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Alan</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Hızlanma</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Durum</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Hf.</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73152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Shor: çarpanlara ayırma</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Süper-polinom (bilinen en iyi klasiğe göre)</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Kanıtlı; büyük, hataya dayanıklı makine gerekir</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73152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Grover: yapısız arama</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Karesel: √N</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Kanıtlı ve optimal; ek yükler pratikte kazancı azaltır</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73152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Deutsch-Jozsa, BV</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Sorgu karmaşıklığı</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Kanıtlı; yapay (oracle) problemler</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73152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Örnekleme deneyleri</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Klasik simülasyonun zor olduğu iddiası</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Gösterimler yapıldı, bazıları tartışıldı; pratik faydası yok</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
        <p:nvSpPr>
          <p:cNvPr id="7" name="Shape 3"/>
          <p:cNvSpPr/>
          <p:nvPr/>
        </p:nvSpPr>
        <p:spPr>
          <a:xfrm>
            <a:off x="548640" y="4892040"/>
            <a:ext cx="11094415" cy="1005840"/>
          </a:xfrm>
          <a:prstGeom prst="roundRect">
            <a:avLst>
              <a:gd name="adj" fmla="val 7273"/>
            </a:avLst>
          </a:prstGeom>
          <a:solidFill>
            <a:srgbClr val="E8EEF6"/>
          </a:solidFill>
          <a:ln w="12700">
            <a:solidFill>
              <a:srgbClr val="E8EEF6"/>
            </a:solidFill>
            <a:prstDash val="solid"/>
          </a:ln>
        </p:spPr>
      </p:sp>
      <p:sp>
        <p:nvSpPr>
          <p:cNvPr id="8" name="Text 4"/>
          <p:cNvSpPr txBox="1"/>
          <p:nvPr/>
        </p:nvSpPr>
        <p:spPr>
          <a:xfrm>
            <a:off x="731520" y="5001768"/>
            <a:ext cx="10728655" cy="786384"/>
          </a:xfrm>
          <a:prstGeom prst="rect">
            <a:avLst/>
          </a:prstGeom>
          <a:noFill/>
          <a:ln/>
        </p:spPr>
        <p:txBody>
          <a:bodyPr wrap="square" lIns="0" tIns="0" rIns="0" bIns="0" rtlCol="0" anchor="ctr"/>
          <a:lstStyle/>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Ortak nokta: </a:t>
            </a:r>
            <a:r>
              <a:rPr lang="en-US" sz="1700" b="1" dirty="0">
                <a:solidFill>
                  <a:srgbClr val="1F2937"/>
                </a:solidFill>
                <a:latin typeface="Calibri" pitchFamily="34" charset="0"/>
                <a:ea typeface="Calibri" pitchFamily="34" charset="-122"/>
                <a:cs typeface="Calibri" pitchFamily="34" charset="-120"/>
              </a:rPr>
              <a:t>özel yapı</a:t>
            </a:r>
            <a:r>
              <a:rPr lang="en-US" sz="1700" dirty="0">
                <a:solidFill>
                  <a:srgbClr val="1F2937"/>
                </a:solidFill>
                <a:latin typeface="Calibri" pitchFamily="34" charset="0"/>
                <a:ea typeface="Calibri" pitchFamily="34" charset="-122"/>
                <a:cs typeface="Calibri" pitchFamily="34" charset="-120"/>
              </a:rPr>
              <a:t> (periyodiklik, oracle). Makine öğrenmesi problemleri genellikle böyle temiz bir yapı taşımaz.</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Dequantization: "aynı veri erişimi" kuralı</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37</a:t>
            </a:r>
            <a:endParaRPr lang="en-US" sz="1000" dirty="0"/>
          </a:p>
        </p:txBody>
      </p:sp>
      <p:sp>
        <p:nvSpPr>
          <p:cNvPr id="6" name="Shape 3"/>
          <p:cNvSpPr/>
          <p:nvPr/>
        </p:nvSpPr>
        <p:spPr>
          <a:xfrm>
            <a:off x="548640" y="1234440"/>
            <a:ext cx="5410048" cy="2194560"/>
          </a:xfrm>
          <a:prstGeom prst="roundRect">
            <a:avLst>
              <a:gd name="adj" fmla="val 3333"/>
            </a:avLst>
          </a:prstGeom>
          <a:solidFill>
            <a:srgbClr val="E8EEF6"/>
          </a:solidFill>
          <a:ln w="12700">
            <a:solidFill>
              <a:srgbClr val="E8EEF6"/>
            </a:solidFill>
            <a:prstDash val="solid"/>
          </a:ln>
        </p:spPr>
      </p:sp>
      <p:sp>
        <p:nvSpPr>
          <p:cNvPr id="7" name="Text 4"/>
          <p:cNvSpPr txBox="1"/>
          <p:nvPr/>
        </p:nvSpPr>
        <p:spPr>
          <a:xfrm>
            <a:off x="731520" y="1344168"/>
            <a:ext cx="5044288" cy="197510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Vaat (2009 →)</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HHL, kuantum öneri sistemleri, kuantum PCA: </a:t>
            </a:r>
            <a:r>
              <a:rPr lang="en-US" sz="1600" b="1" dirty="0">
                <a:solidFill>
                  <a:srgbClr val="1F2937"/>
                </a:solidFill>
                <a:latin typeface="Calibri" pitchFamily="34" charset="0"/>
                <a:ea typeface="Calibri" pitchFamily="34" charset="-122"/>
                <a:cs typeface="Calibri" pitchFamily="34" charset="-120"/>
              </a:rPr>
              <a:t>üstel</a:t>
            </a:r>
            <a:r>
              <a:rPr lang="en-US" sz="1600" dirty="0">
                <a:solidFill>
                  <a:srgbClr val="1F2937"/>
                </a:solidFill>
                <a:latin typeface="Calibri" pitchFamily="34" charset="0"/>
                <a:ea typeface="Calibri" pitchFamily="34" charset="-122"/>
                <a:cs typeface="Calibri" pitchFamily="34" charset="-120"/>
              </a:rPr>
              <a:t> hızlanma</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Varsayım: veri </a:t>
            </a:r>
            <a:r>
              <a:rPr lang="en-US" sz="1600" b="1" dirty="0">
                <a:solidFill>
                  <a:srgbClr val="1F2937"/>
                </a:solidFill>
                <a:latin typeface="Calibri" pitchFamily="34" charset="0"/>
                <a:ea typeface="Calibri" pitchFamily="34" charset="-122"/>
                <a:cs typeface="Calibri" pitchFamily="34" charset="-120"/>
              </a:rPr>
              <a:t>QRAM</a:t>
            </a:r>
            <a:r>
              <a:rPr lang="en-US" sz="1600" dirty="0">
                <a:solidFill>
                  <a:srgbClr val="1F2937"/>
                </a:solidFill>
                <a:latin typeface="Calibri" pitchFamily="34" charset="0"/>
                <a:ea typeface="Calibri" pitchFamily="34" charset="-122"/>
                <a:cs typeface="Calibri" pitchFamily="34" charset="-120"/>
              </a:rPr>
              <a:t> benzeri yapıda, çıktı yalnız örneklenecek</a:t>
            </a:r>
            <a:endParaRPr lang="en-US" sz="1700" dirty="0"/>
          </a:p>
        </p:txBody>
      </p:sp>
      <p:sp>
        <p:nvSpPr>
          <p:cNvPr id="8" name="Shape 5"/>
          <p:cNvSpPr/>
          <p:nvPr/>
        </p:nvSpPr>
        <p:spPr>
          <a:xfrm>
            <a:off x="6233008" y="1234440"/>
            <a:ext cx="5410048" cy="2194560"/>
          </a:xfrm>
          <a:prstGeom prst="roundRect">
            <a:avLst>
              <a:gd name="adj" fmla="val 3333"/>
            </a:avLst>
          </a:prstGeom>
          <a:solidFill>
            <a:srgbClr val="E8EEF6"/>
          </a:solidFill>
          <a:ln w="12700">
            <a:solidFill>
              <a:srgbClr val="E8EEF6"/>
            </a:solidFill>
            <a:prstDash val="solid"/>
          </a:ln>
        </p:spPr>
      </p:sp>
      <p:sp>
        <p:nvSpPr>
          <p:cNvPr id="9" name="Text 6"/>
          <p:cNvSpPr txBox="1"/>
          <p:nvPr/>
        </p:nvSpPr>
        <p:spPr>
          <a:xfrm>
            <a:off x="6415888" y="1344168"/>
            <a:ext cx="5044288" cy="197510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E. Tang (arXiv 2018, STOC 2019)</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Klasik algoritmaya </a:t>
            </a:r>
            <a:r>
              <a:rPr lang="en-US" sz="1600" b="1" dirty="0">
                <a:solidFill>
                  <a:srgbClr val="1F2937"/>
                </a:solidFill>
                <a:latin typeface="Calibri" pitchFamily="34" charset="0"/>
                <a:ea typeface="Calibri" pitchFamily="34" charset="-122"/>
                <a:cs typeface="Calibri" pitchFamily="34" charset="-120"/>
              </a:rPr>
              <a:t>aynı örnekleme erişimi</a:t>
            </a:r>
            <a:r>
              <a:rPr lang="en-US" sz="1600" dirty="0">
                <a:solidFill>
                  <a:srgbClr val="1F2937"/>
                </a:solidFill>
                <a:latin typeface="Calibri" pitchFamily="34" charset="0"/>
                <a:ea typeface="Calibri" pitchFamily="34" charset="-122"/>
                <a:cs typeface="Calibri" pitchFamily="34" charset="-120"/>
              </a:rPr>
              <a:t> verildi</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Öneri sistemlerinde üstel fark </a:t>
            </a:r>
            <a:r>
              <a:rPr lang="en-US" sz="1600" b="1" dirty="0">
                <a:solidFill>
                  <a:srgbClr val="1F2937"/>
                </a:solidFill>
                <a:latin typeface="Calibri" pitchFamily="34" charset="0"/>
                <a:ea typeface="Calibri" pitchFamily="34" charset="-122"/>
                <a:cs typeface="Calibri" pitchFamily="34" charset="-120"/>
              </a:rPr>
              <a:t>ortadan kalktı</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"Kuantumdan ilham alan" klasik algoritmalar</a:t>
            </a:r>
            <a:endParaRPr lang="en-US" sz="1700" dirty="0"/>
          </a:p>
        </p:txBody>
      </p:sp>
      <p:sp>
        <p:nvSpPr>
          <p:cNvPr id="10" name="Shape 7"/>
          <p:cNvSpPr/>
          <p:nvPr/>
        </p:nvSpPr>
        <p:spPr>
          <a:xfrm>
            <a:off x="548640" y="3657600"/>
            <a:ext cx="11094415" cy="1097280"/>
          </a:xfrm>
          <a:prstGeom prst="roundRect">
            <a:avLst>
              <a:gd name="adj" fmla="val 6667"/>
            </a:avLst>
          </a:prstGeom>
          <a:solidFill>
            <a:srgbClr val="FDF3E8"/>
          </a:solidFill>
          <a:ln w="12700">
            <a:solidFill>
              <a:srgbClr val="FDF3E8"/>
            </a:solidFill>
            <a:prstDash val="solid"/>
          </a:ln>
        </p:spPr>
      </p:sp>
      <p:sp>
        <p:nvSpPr>
          <p:cNvPr id="11" name="Text 8"/>
          <p:cNvSpPr txBox="1"/>
          <p:nvPr/>
        </p:nvSpPr>
        <p:spPr>
          <a:xfrm>
            <a:off x="731520" y="3767328"/>
            <a:ext cx="10728655" cy="877824"/>
          </a:xfrm>
          <a:prstGeom prst="rect">
            <a:avLst/>
          </a:prstGeom>
          <a:noFill/>
          <a:ln/>
        </p:spPr>
        <p:txBody>
          <a:bodyPr wrap="square" lIns="0" tIns="0" rIns="0" bIns="0" rtlCol="0" anchor="t"/>
          <a:lstStyle/>
          <a:p>
            <a:pPr algn="l" indent="0" marL="0">
              <a:spcAft>
                <a:spcPts val="600"/>
              </a:spcAft>
              <a:buNone/>
            </a:pPr>
            <a:r>
              <a:rPr lang="en-US" sz="1700" b="1" dirty="0">
                <a:solidFill>
                  <a:srgbClr val="D9822B"/>
                </a:solidFill>
                <a:latin typeface="Calibri" pitchFamily="34" charset="0"/>
                <a:ea typeface="Calibri" pitchFamily="34" charset="-122"/>
                <a:cs typeface="Calibri" pitchFamily="34" charset="-120"/>
              </a:rPr>
              <a:t>Yazılımcı için ders</a:t>
            </a:r>
            <a:endParaRPr lang="en-US" sz="17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Hızlanma iddiası iki algoritmayı karşılaştırır: </a:t>
            </a:r>
            <a:r>
              <a:rPr lang="en-US" sz="1700" b="1" dirty="0">
                <a:solidFill>
                  <a:srgbClr val="1F2937"/>
                </a:solidFill>
                <a:latin typeface="Calibri" pitchFamily="34" charset="0"/>
                <a:ea typeface="Calibri" pitchFamily="34" charset="-122"/>
                <a:cs typeface="Calibri" pitchFamily="34" charset="-120"/>
              </a:rPr>
              <a:t>her iki tarafa aynı girdi modeli</a:t>
            </a:r>
            <a:r>
              <a:rPr lang="en-US" sz="1700" dirty="0">
                <a:solidFill>
                  <a:srgbClr val="1F2937"/>
                </a:solidFill>
                <a:latin typeface="Calibri" pitchFamily="34" charset="0"/>
                <a:ea typeface="Calibri" pitchFamily="34" charset="-122"/>
                <a:cs typeface="Calibri" pitchFamily="34" charset="-120"/>
              </a:rPr>
              <a:t> verilmeli ve </a:t>
            </a:r>
            <a:r>
              <a:rPr lang="en-US" sz="1700" b="1" dirty="0">
                <a:solidFill>
                  <a:srgbClr val="1F2937"/>
                </a:solidFill>
                <a:latin typeface="Calibri" pitchFamily="34" charset="0"/>
                <a:ea typeface="Calibri" pitchFamily="34" charset="-122"/>
                <a:cs typeface="Calibri" pitchFamily="34" charset="-120"/>
              </a:rPr>
              <a:t>veri hazırlama</a:t>
            </a:r>
            <a:r>
              <a:rPr lang="en-US" sz="1700" dirty="0">
                <a:solidFill>
                  <a:srgbClr val="1F2937"/>
                </a:solidFill>
                <a:latin typeface="Calibri" pitchFamily="34" charset="0"/>
                <a:ea typeface="Calibri" pitchFamily="34" charset="-122"/>
                <a:cs typeface="Calibri" pitchFamily="34" charset="-120"/>
              </a:rPr>
              <a:t> uçtan uca süreye dahil edilmeli.</a:t>
            </a:r>
            <a:endParaRPr lang="en-US" sz="1700" dirty="0"/>
          </a:p>
        </p:txBody>
      </p:sp>
      <p:sp>
        <p:nvSpPr>
          <p:cNvPr id="12" name="Text 9"/>
          <p:cNvSpPr txBox="1"/>
          <p:nvPr/>
        </p:nvSpPr>
        <p:spPr>
          <a:xfrm>
            <a:off x="548640" y="5029200"/>
            <a:ext cx="11094415" cy="457200"/>
          </a:xfrm>
          <a:prstGeom prst="rect">
            <a:avLst/>
          </a:prstGeom>
          <a:noFill/>
          <a:ln/>
        </p:spPr>
        <p:txBody>
          <a:bodyPr wrap="square" lIns="0" tIns="0" rIns="0" bIns="0" rtlCol="0" anchor="t"/>
          <a:lstStyle/>
          <a:p>
            <a:pPr algn="l" indent="0" marL="0">
              <a:spcAft>
                <a:spcPts val="600"/>
              </a:spcAft>
              <a:buNone/>
            </a:pPr>
            <a:r>
              <a:rPr lang="en-US" sz="1400" dirty="0">
                <a:solidFill>
                  <a:srgbClr val="6B7280"/>
                </a:solidFill>
                <a:latin typeface="Calibri" pitchFamily="34" charset="0"/>
                <a:ea typeface="Calibri" pitchFamily="34" charset="-122"/>
                <a:cs typeface="Calibri" pitchFamily="34" charset="-120"/>
              </a:rPr>
              <a:t>S. Aaronson, "Read the fine print", Nature Physics, 2015 · E. Tang, arXiv:1807.04271</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Veri yükleme darboğazı</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38</a:t>
            </a:r>
            <a:endParaRPr lang="en-US" sz="1000" dirty="0"/>
          </a:p>
        </p:txBody>
      </p:sp>
      <p:pic>
        <p:nvPicPr>
          <p:cNvPr id="6" name="Image 0" descr="görsel">    </p:cNvPr>
          <p:cNvPicPr>
            <a:picLocks noChangeAspect="1"/>
          </p:cNvPicPr>
          <p:nvPr/>
        </p:nvPicPr>
        <p:blipFill>
          <a:blip r:embed="rId1"/>
          <a:stretch>
            <a:fillRect/>
          </a:stretch>
        </p:blipFill>
        <p:spPr>
          <a:xfrm>
            <a:off x="675284" y="1097280"/>
            <a:ext cx="10841126" cy="3566160"/>
          </a:xfrm>
          <a:prstGeom prst="rect">
            <a:avLst/>
          </a:prstGeom>
        </p:spPr>
      </p:pic>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4754880"/>
          <a:ext cx="11094415" cy="914400"/>
        </p:xfrm>
        <a:graphic>
          <a:graphicData uri="http://schemas.openxmlformats.org/drawingml/2006/table">
            <a:tbl>
              <a:tblPr/>
              <a:tblGrid>
                <a:gridCol w="4437766"/>
                <a:gridCol w="2218883"/>
                <a:gridCol w="4437766"/>
              </a:tblGrid>
              <a:tr h="38404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Kodlama (12. hafta)</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Kübit</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Yükleme maliyeti</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384048">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Açı</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d</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d kapı (ucuz)</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384048">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Genlik</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log₂ d</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genel durumda O(d) kapı</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Çekirdek yoğunlaşması</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39</a:t>
            </a:r>
            <a:endParaRPr lang="en-US" sz="1000" dirty="0"/>
          </a:p>
        </p:txBody>
      </p:sp>
      <p:pic>
        <p:nvPicPr>
          <p:cNvPr id="6" name="Image 0" descr="görsel">    </p:cNvPr>
          <p:cNvPicPr>
            <a:picLocks noChangeAspect="1"/>
          </p:cNvPicPr>
          <p:nvPr/>
        </p:nvPicPr>
        <p:blipFill>
          <a:blip r:embed="rId1"/>
          <a:stretch>
            <a:fillRect/>
          </a:stretch>
        </p:blipFill>
        <p:spPr>
          <a:xfrm>
            <a:off x="548640" y="1241310"/>
            <a:ext cx="7498080" cy="2638021"/>
          </a:xfrm>
          <a:prstGeom prst="rect">
            <a:avLst/>
          </a:prstGeom>
        </p:spPr>
      </p:pic>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4160520"/>
          <a:ext cx="7498080" cy="914400"/>
        </p:xfrm>
        <a:graphic>
          <a:graphicData uri="http://schemas.openxmlformats.org/drawingml/2006/table">
            <a:tbl>
              <a:tblPr/>
              <a:tblGrid>
                <a:gridCol w="1499616"/>
                <a:gridCol w="2999232"/>
                <a:gridCol w="2999232"/>
              </a:tblGrid>
              <a:tr h="34747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Kübit</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Var K (bw 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Var K (bw 0,25)</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347472">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7.5e-2</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1.3e-1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347472">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1.8e-2</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7.1e-2</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347472">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3.3e-3</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3.5e-2</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347472">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2.3e-4</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1.4e-2</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
        <p:nvSpPr>
          <p:cNvPr id="8" name="Shape 3"/>
          <p:cNvSpPr/>
          <p:nvPr/>
        </p:nvSpPr>
        <p:spPr>
          <a:xfrm>
            <a:off x="8321040" y="1188720"/>
            <a:ext cx="3322015" cy="2377440"/>
          </a:xfrm>
          <a:prstGeom prst="roundRect">
            <a:avLst>
              <a:gd name="adj" fmla="val 3077"/>
            </a:avLst>
          </a:prstGeom>
          <a:solidFill>
            <a:srgbClr val="E8EEF6"/>
          </a:solidFill>
          <a:ln w="12700">
            <a:solidFill>
              <a:srgbClr val="E8EEF6"/>
            </a:solidFill>
            <a:prstDash val="solid"/>
          </a:ln>
        </p:spPr>
      </p:sp>
      <p:sp>
        <p:nvSpPr>
          <p:cNvPr id="9" name="Text 4"/>
          <p:cNvSpPr txBox="1"/>
          <p:nvPr/>
        </p:nvSpPr>
        <p:spPr>
          <a:xfrm>
            <a:off x="8503920" y="1298448"/>
            <a:ext cx="2956255" cy="215798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Neden olur?</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2ⁿ boyutta rastgele iki durumun örtüşmesi ~1/2ⁿ</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İfade gücü, dolanıklık, küresel ölçüm ve </a:t>
            </a:r>
            <a:r>
              <a:rPr lang="en-US" sz="1500" b="1" dirty="0">
                <a:solidFill>
                  <a:srgbClr val="1F2937"/>
                </a:solidFill>
                <a:latin typeface="Calibri" pitchFamily="34" charset="0"/>
                <a:ea typeface="Calibri" pitchFamily="34" charset="-122"/>
                <a:cs typeface="Calibri" pitchFamily="34" charset="-120"/>
              </a:rPr>
              <a:t>gürültü</a:t>
            </a:r>
            <a:r>
              <a:rPr lang="en-US" sz="1500" dirty="0">
                <a:solidFill>
                  <a:srgbClr val="1F2937"/>
                </a:solidFill>
                <a:latin typeface="Calibri" pitchFamily="34" charset="0"/>
                <a:ea typeface="Calibri" pitchFamily="34" charset="-122"/>
                <a:cs typeface="Calibri" pitchFamily="34" charset="-120"/>
              </a:rPr>
              <a:t> yoğunlaşmayı artırır</a:t>
            </a:r>
            <a:endParaRPr lang="en-US" sz="1700" dirty="0"/>
          </a:p>
        </p:txBody>
      </p:sp>
      <p:sp>
        <p:nvSpPr>
          <p:cNvPr id="10" name="Shape 5"/>
          <p:cNvSpPr/>
          <p:nvPr/>
        </p:nvSpPr>
        <p:spPr>
          <a:xfrm>
            <a:off x="8321040" y="3749040"/>
            <a:ext cx="3322015" cy="2194560"/>
          </a:xfrm>
          <a:prstGeom prst="roundRect">
            <a:avLst>
              <a:gd name="adj" fmla="val 3333"/>
            </a:avLst>
          </a:prstGeom>
          <a:solidFill>
            <a:srgbClr val="FDF3E8"/>
          </a:solidFill>
          <a:ln w="12700">
            <a:solidFill>
              <a:srgbClr val="FDF3E8"/>
            </a:solidFill>
            <a:prstDash val="solid"/>
          </a:ln>
        </p:spPr>
      </p:sp>
      <p:sp>
        <p:nvSpPr>
          <p:cNvPr id="11" name="Text 6"/>
          <p:cNvSpPr txBox="1"/>
          <p:nvPr/>
        </p:nvSpPr>
        <p:spPr>
          <a:xfrm>
            <a:off x="8503920" y="3858768"/>
            <a:ext cx="2956255" cy="1975104"/>
          </a:xfrm>
          <a:prstGeom prst="rect">
            <a:avLst/>
          </a:prstGeom>
          <a:noFill/>
          <a:ln/>
        </p:spPr>
        <p:txBody>
          <a:bodyPr wrap="square" lIns="0" tIns="0" rIns="0" bIns="0" rtlCol="0" anchor="t"/>
          <a:lstStyle/>
          <a:p>
            <a:pPr algn="l" indent="0" marL="0">
              <a:spcAft>
                <a:spcPts val="600"/>
              </a:spcAft>
              <a:buNone/>
            </a:pPr>
            <a:r>
              <a:rPr lang="en-US" sz="1700" b="1" dirty="0">
                <a:solidFill>
                  <a:srgbClr val="D9822B"/>
                </a:solidFill>
                <a:latin typeface="Calibri" pitchFamily="34" charset="0"/>
                <a:ea typeface="Calibri" pitchFamily="34" charset="-122"/>
                <a:cs typeface="Calibri" pitchFamily="34" charset="-120"/>
              </a:rPr>
              <a:t>Gerilim</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Küçük bw → yoğunlaşma gecikir</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Çok küçük bw → devre ≈ özdeşlik → </a:t>
            </a:r>
            <a:r>
              <a:rPr lang="en-US" sz="1500" b="1" dirty="0">
                <a:solidFill>
                  <a:srgbClr val="1F2937"/>
                </a:solidFill>
                <a:latin typeface="Calibri" pitchFamily="34" charset="0"/>
                <a:ea typeface="Calibri" pitchFamily="34" charset="-122"/>
                <a:cs typeface="Calibri" pitchFamily="34" charset="-120"/>
              </a:rPr>
              <a:t>klasik olarak kolay</a:t>
            </a:r>
            <a:endParaRPr lang="en-US" sz="1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Barren plateau ve umut veren koşullar</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40</a:t>
            </a:r>
            <a:endParaRPr lang="en-US" sz="1000" dirty="0"/>
          </a:p>
        </p:txBody>
      </p:sp>
      <p:pic>
        <p:nvPicPr>
          <p:cNvPr id="6" name="Image 0" descr="görsel">    </p:cNvPr>
          <p:cNvPicPr>
            <a:picLocks noChangeAspect="1"/>
          </p:cNvPicPr>
          <p:nvPr/>
        </p:nvPicPr>
        <p:blipFill>
          <a:blip r:embed="rId1"/>
          <a:stretch>
            <a:fillRect/>
          </a:stretch>
        </p:blipFill>
        <p:spPr>
          <a:xfrm>
            <a:off x="548640" y="1102523"/>
            <a:ext cx="4937760" cy="2915595"/>
          </a:xfrm>
          <a:prstGeom prst="rect">
            <a:avLst/>
          </a:prstGeom>
        </p:spPr>
      </p:pic>
      <p:sp>
        <p:nvSpPr>
          <p:cNvPr id="7" name="Shape 3"/>
          <p:cNvSpPr/>
          <p:nvPr/>
        </p:nvSpPr>
        <p:spPr>
          <a:xfrm>
            <a:off x="548640" y="4160520"/>
            <a:ext cx="4937760" cy="1783080"/>
          </a:xfrm>
          <a:prstGeom prst="roundRect">
            <a:avLst>
              <a:gd name="adj" fmla="val 4103"/>
            </a:avLst>
          </a:prstGeom>
          <a:solidFill>
            <a:srgbClr val="E8EEF6"/>
          </a:solidFill>
          <a:ln w="12700">
            <a:solidFill>
              <a:srgbClr val="E8EEF6"/>
            </a:solidFill>
            <a:prstDash val="solid"/>
          </a:ln>
        </p:spPr>
      </p:sp>
      <p:sp>
        <p:nvSpPr>
          <p:cNvPr id="8" name="Text 4"/>
          <p:cNvSpPr txBox="1"/>
          <p:nvPr/>
        </p:nvSpPr>
        <p:spPr>
          <a:xfrm>
            <a:off x="731520" y="4270248"/>
            <a:ext cx="4572000" cy="1563624"/>
          </a:xfrm>
          <a:prstGeom prst="rect">
            <a:avLst/>
          </a:prstGeom>
          <a:noFill/>
          <a:ln/>
        </p:spPr>
        <p:txBody>
          <a:bodyPr wrap="square" lIns="0" tIns="0" rIns="0" bIns="0" rtlCol="0" anchor="t"/>
          <a:lstStyle/>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Gradyan ~ 0 → optimizasyon ilerleyemez; küçük gradyanı shot gürültüsünden ayırmak için </a:t>
            </a:r>
            <a:r>
              <a:rPr lang="en-US" sz="1500" b="1" dirty="0">
                <a:solidFill>
                  <a:srgbClr val="1F2937"/>
                </a:solidFill>
                <a:latin typeface="Calibri" pitchFamily="34" charset="0"/>
                <a:ea typeface="Calibri" pitchFamily="34" charset="-122"/>
                <a:cs typeface="Calibri" pitchFamily="34" charset="-120"/>
              </a:rPr>
              <a:t>üstel shot</a:t>
            </a:r>
            <a:r>
              <a:rPr lang="en-US" sz="1500" dirty="0">
                <a:solidFill>
                  <a:srgbClr val="1F2937"/>
                </a:solidFill>
                <a:latin typeface="Calibri" pitchFamily="34" charset="0"/>
                <a:ea typeface="Calibri" pitchFamily="34" charset="-122"/>
                <a:cs typeface="Calibri" pitchFamily="34" charset="-120"/>
              </a:rPr>
              <a:t> gerekir.</a:t>
            </a:r>
            <a:endParaRPr lang="en-US" sz="15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760720" y="1234440"/>
          <a:ext cx="5882335" cy="914400"/>
        </p:xfrm>
        <a:graphic>
          <a:graphicData uri="http://schemas.openxmlformats.org/drawingml/2006/table">
            <a:tbl>
              <a:tblPr/>
              <a:tblGrid>
                <a:gridCol w="1764701"/>
                <a:gridCol w="4117635"/>
              </a:tblGrid>
              <a:tr h="10058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Koşul</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Neden umut verici?</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1005840">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Kuantum veri</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Veri zaten kuantum durum: yükleme darboğazı yok (Huang ve diğ., 2022)</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1005840">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Özel yapı</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Ayrık log tabanlı yapay sınıflandırma (Liu, Arunachalam, Temme, 2021)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1005840">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Veri gücü analizi</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Kuantum çekirdek klasikten farklı öğrenebilir mi? Önceden test (Huang ve diğ., 2021)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1005840">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Hataya dayanıklı donanım</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Derin devreler; uzun vadeli, takvimi belirsiz</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Dengeli sonuç: bir "avantaj" haberini okurken sorulacak 5 soru</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41</a:t>
            </a:r>
            <a:endParaRPr lang="en-US" sz="1000" dirty="0"/>
          </a:p>
        </p:txBody>
      </p:sp>
      <p:sp>
        <p:nvSpPr>
          <p:cNvPr id="6" name="Shape 3"/>
          <p:cNvSpPr/>
          <p:nvPr/>
        </p:nvSpPr>
        <p:spPr>
          <a:xfrm>
            <a:off x="548640" y="1280160"/>
            <a:ext cx="2036003" cy="3017520"/>
          </a:xfrm>
          <a:prstGeom prst="roundRect">
            <a:avLst>
              <a:gd name="adj" fmla="val 4491"/>
            </a:avLst>
          </a:prstGeom>
          <a:solidFill>
            <a:srgbClr val="E8EEF6"/>
          </a:solidFill>
          <a:ln w="12700">
            <a:solidFill>
              <a:srgbClr val="E8EEF6"/>
            </a:solidFill>
            <a:prstDash val="solid"/>
          </a:ln>
        </p:spPr>
      </p:sp>
      <p:sp>
        <p:nvSpPr>
          <p:cNvPr id="7" name="Text 4"/>
          <p:cNvSpPr txBox="1"/>
          <p:nvPr/>
        </p:nvSpPr>
        <p:spPr>
          <a:xfrm>
            <a:off x="731520" y="1417320"/>
            <a:ext cx="1670243" cy="640080"/>
          </a:xfrm>
          <a:prstGeom prst="rect">
            <a:avLst/>
          </a:prstGeom>
          <a:noFill/>
          <a:ln/>
        </p:spPr>
        <p:txBody>
          <a:bodyPr wrap="square" lIns="0" tIns="0" rIns="0" bIns="0" rtlCol="0" anchor="t"/>
          <a:lstStyle/>
          <a:p>
            <a:pPr algn="l" indent="0" marL="0">
              <a:spcAft>
                <a:spcPts val="600"/>
              </a:spcAft>
              <a:buNone/>
            </a:pPr>
            <a:r>
              <a:rPr lang="en-US" sz="3600" b="1" dirty="0">
                <a:solidFill>
                  <a:srgbClr val="2E6DB4"/>
                </a:solidFill>
                <a:latin typeface="Calibri" pitchFamily="34" charset="0"/>
                <a:ea typeface="Calibri" pitchFamily="34" charset="-122"/>
                <a:cs typeface="Calibri" pitchFamily="34" charset="-120"/>
              </a:rPr>
              <a:t>1</a:t>
            </a:r>
            <a:endParaRPr lang="en-US" sz="3600" dirty="0"/>
          </a:p>
        </p:txBody>
      </p:sp>
      <p:sp>
        <p:nvSpPr>
          <p:cNvPr id="8" name="Text 5"/>
          <p:cNvSpPr txBox="1"/>
          <p:nvPr/>
        </p:nvSpPr>
        <p:spPr>
          <a:xfrm>
            <a:off x="731520" y="2148840"/>
            <a:ext cx="1670243" cy="822960"/>
          </a:xfrm>
          <a:prstGeom prst="rect">
            <a:avLst/>
          </a:prstGeom>
          <a:noFill/>
          <a:ln/>
        </p:spPr>
        <p:txBody>
          <a:bodyPr wrap="square" lIns="0" tIns="0" rIns="0" bIns="0" rtlCol="0" anchor="t"/>
          <a:lstStyle/>
          <a:p>
            <a:pPr algn="l" indent="0" marL="0">
              <a:spcAft>
                <a:spcPts val="600"/>
              </a:spcAft>
              <a:buNone/>
            </a:pPr>
            <a:r>
              <a:rPr lang="en-US" sz="1800" b="1" dirty="0">
                <a:solidFill>
                  <a:srgbClr val="1F3A5F"/>
                </a:solidFill>
                <a:latin typeface="Calibri" pitchFamily="34" charset="0"/>
                <a:ea typeface="Calibri" pitchFamily="34" charset="-122"/>
                <a:cs typeface="Calibri" pitchFamily="34" charset="-120"/>
              </a:rPr>
              <a:t>Hangi problem?</a:t>
            </a:r>
            <a:endParaRPr lang="en-US" sz="1800" dirty="0"/>
          </a:p>
        </p:txBody>
      </p:sp>
      <p:sp>
        <p:nvSpPr>
          <p:cNvPr id="9" name="Text 6"/>
          <p:cNvSpPr txBox="1"/>
          <p:nvPr/>
        </p:nvSpPr>
        <p:spPr>
          <a:xfrm>
            <a:off x="731520" y="3017520"/>
            <a:ext cx="1670243" cy="1188720"/>
          </a:xfrm>
          <a:prstGeom prst="rect">
            <a:avLst/>
          </a:prstGeom>
          <a:noFill/>
          <a:ln/>
        </p:spPr>
        <p:txBody>
          <a:bodyPr wrap="square" lIns="0" tIns="0" rIns="0" bIns="0" rtlCol="0" anchor="t"/>
          <a:lstStyle/>
          <a:p>
            <a:pPr algn="l" indent="0" marL="0">
              <a:spcAft>
                <a:spcPts val="600"/>
              </a:spcAft>
              <a:buNone/>
            </a:pPr>
            <a:r>
              <a:rPr lang="en-US" sz="1500" dirty="0">
                <a:solidFill>
                  <a:srgbClr val="1F2937"/>
                </a:solidFill>
                <a:latin typeface="Calibri" pitchFamily="34" charset="0"/>
                <a:ea typeface="Calibri" pitchFamily="34" charset="-122"/>
                <a:cs typeface="Calibri" pitchFamily="34" charset="-120"/>
              </a:rPr>
              <a:t>Özel yapı var mı, yoksa genel ML mi?</a:t>
            </a:r>
            <a:endParaRPr lang="en-US" sz="1500" dirty="0"/>
          </a:p>
        </p:txBody>
      </p:sp>
      <p:sp>
        <p:nvSpPr>
          <p:cNvPr id="10" name="Shape 7"/>
          <p:cNvSpPr/>
          <p:nvPr/>
        </p:nvSpPr>
        <p:spPr>
          <a:xfrm>
            <a:off x="2767523" y="1280160"/>
            <a:ext cx="2036003" cy="3017520"/>
          </a:xfrm>
          <a:prstGeom prst="roundRect">
            <a:avLst>
              <a:gd name="adj" fmla="val 4491"/>
            </a:avLst>
          </a:prstGeom>
          <a:solidFill>
            <a:srgbClr val="E8EEF6"/>
          </a:solidFill>
          <a:ln w="12700">
            <a:solidFill>
              <a:srgbClr val="E8EEF6"/>
            </a:solidFill>
            <a:prstDash val="solid"/>
          </a:ln>
        </p:spPr>
      </p:sp>
      <p:sp>
        <p:nvSpPr>
          <p:cNvPr id="11" name="Text 8"/>
          <p:cNvSpPr txBox="1"/>
          <p:nvPr/>
        </p:nvSpPr>
        <p:spPr>
          <a:xfrm>
            <a:off x="2950403" y="1417320"/>
            <a:ext cx="1670243" cy="640080"/>
          </a:xfrm>
          <a:prstGeom prst="rect">
            <a:avLst/>
          </a:prstGeom>
          <a:noFill/>
          <a:ln/>
        </p:spPr>
        <p:txBody>
          <a:bodyPr wrap="square" lIns="0" tIns="0" rIns="0" bIns="0" rtlCol="0" anchor="t"/>
          <a:lstStyle/>
          <a:p>
            <a:pPr algn="l" indent="0" marL="0">
              <a:spcAft>
                <a:spcPts val="600"/>
              </a:spcAft>
              <a:buNone/>
            </a:pPr>
            <a:r>
              <a:rPr lang="en-US" sz="3600" b="1" dirty="0">
                <a:solidFill>
                  <a:srgbClr val="2E6DB4"/>
                </a:solidFill>
                <a:latin typeface="Calibri" pitchFamily="34" charset="0"/>
                <a:ea typeface="Calibri" pitchFamily="34" charset="-122"/>
                <a:cs typeface="Calibri" pitchFamily="34" charset="-120"/>
              </a:rPr>
              <a:t>2</a:t>
            </a:r>
            <a:endParaRPr lang="en-US" sz="3600" dirty="0"/>
          </a:p>
        </p:txBody>
      </p:sp>
      <p:sp>
        <p:nvSpPr>
          <p:cNvPr id="12" name="Text 9"/>
          <p:cNvSpPr txBox="1"/>
          <p:nvPr/>
        </p:nvSpPr>
        <p:spPr>
          <a:xfrm>
            <a:off x="2950403" y="2148840"/>
            <a:ext cx="1670243" cy="822960"/>
          </a:xfrm>
          <a:prstGeom prst="rect">
            <a:avLst/>
          </a:prstGeom>
          <a:noFill/>
          <a:ln/>
        </p:spPr>
        <p:txBody>
          <a:bodyPr wrap="square" lIns="0" tIns="0" rIns="0" bIns="0" rtlCol="0" anchor="t"/>
          <a:lstStyle/>
          <a:p>
            <a:pPr algn="l" indent="0" marL="0">
              <a:spcAft>
                <a:spcPts val="600"/>
              </a:spcAft>
              <a:buNone/>
            </a:pPr>
            <a:r>
              <a:rPr lang="en-US" sz="1800" b="1" dirty="0">
                <a:solidFill>
                  <a:srgbClr val="1F3A5F"/>
                </a:solidFill>
                <a:latin typeface="Calibri" pitchFamily="34" charset="0"/>
                <a:ea typeface="Calibri" pitchFamily="34" charset="-122"/>
                <a:cs typeface="Calibri" pitchFamily="34" charset="-120"/>
              </a:rPr>
              <a:t>Hangi klasik rakip?</a:t>
            </a:r>
            <a:endParaRPr lang="en-US" sz="1800" dirty="0"/>
          </a:p>
        </p:txBody>
      </p:sp>
      <p:sp>
        <p:nvSpPr>
          <p:cNvPr id="13" name="Text 10"/>
          <p:cNvSpPr txBox="1"/>
          <p:nvPr/>
        </p:nvSpPr>
        <p:spPr>
          <a:xfrm>
            <a:off x="2950403" y="3017520"/>
            <a:ext cx="1670243" cy="1188720"/>
          </a:xfrm>
          <a:prstGeom prst="rect">
            <a:avLst/>
          </a:prstGeom>
          <a:noFill/>
          <a:ln/>
        </p:spPr>
        <p:txBody>
          <a:bodyPr wrap="square" lIns="0" tIns="0" rIns="0" bIns="0" rtlCol="0" anchor="t"/>
          <a:lstStyle/>
          <a:p>
            <a:pPr algn="l" indent="0" marL="0">
              <a:spcAft>
                <a:spcPts val="600"/>
              </a:spcAft>
              <a:buNone/>
            </a:pPr>
            <a:r>
              <a:rPr lang="en-US" sz="1500" dirty="0">
                <a:solidFill>
                  <a:srgbClr val="1F2937"/>
                </a:solidFill>
                <a:latin typeface="Calibri" pitchFamily="34" charset="0"/>
                <a:ea typeface="Calibri" pitchFamily="34" charset="-122"/>
                <a:cs typeface="Calibri" pitchFamily="34" charset="-120"/>
              </a:rPr>
              <a:t>Ayarlanmış mı? Aynı özellikler mi?</a:t>
            </a:r>
            <a:endParaRPr lang="en-US" sz="1500" dirty="0"/>
          </a:p>
        </p:txBody>
      </p:sp>
      <p:sp>
        <p:nvSpPr>
          <p:cNvPr id="14" name="Shape 11"/>
          <p:cNvSpPr/>
          <p:nvPr/>
        </p:nvSpPr>
        <p:spPr>
          <a:xfrm>
            <a:off x="4986406" y="1280160"/>
            <a:ext cx="2036003" cy="3017520"/>
          </a:xfrm>
          <a:prstGeom prst="roundRect">
            <a:avLst>
              <a:gd name="adj" fmla="val 4491"/>
            </a:avLst>
          </a:prstGeom>
          <a:solidFill>
            <a:srgbClr val="E8EEF6"/>
          </a:solidFill>
          <a:ln w="12700">
            <a:solidFill>
              <a:srgbClr val="E8EEF6"/>
            </a:solidFill>
            <a:prstDash val="solid"/>
          </a:ln>
        </p:spPr>
      </p:sp>
      <p:sp>
        <p:nvSpPr>
          <p:cNvPr id="15" name="Text 12"/>
          <p:cNvSpPr txBox="1"/>
          <p:nvPr/>
        </p:nvSpPr>
        <p:spPr>
          <a:xfrm>
            <a:off x="5169286" y="1417320"/>
            <a:ext cx="1670243" cy="640080"/>
          </a:xfrm>
          <a:prstGeom prst="rect">
            <a:avLst/>
          </a:prstGeom>
          <a:noFill/>
          <a:ln/>
        </p:spPr>
        <p:txBody>
          <a:bodyPr wrap="square" lIns="0" tIns="0" rIns="0" bIns="0" rtlCol="0" anchor="t"/>
          <a:lstStyle/>
          <a:p>
            <a:pPr algn="l" indent="0" marL="0">
              <a:spcAft>
                <a:spcPts val="600"/>
              </a:spcAft>
              <a:buNone/>
            </a:pPr>
            <a:r>
              <a:rPr lang="en-US" sz="3600" b="1" dirty="0">
                <a:solidFill>
                  <a:srgbClr val="2E6DB4"/>
                </a:solidFill>
                <a:latin typeface="Calibri" pitchFamily="34" charset="0"/>
                <a:ea typeface="Calibri" pitchFamily="34" charset="-122"/>
                <a:cs typeface="Calibri" pitchFamily="34" charset="-120"/>
              </a:rPr>
              <a:t>3</a:t>
            </a:r>
            <a:endParaRPr lang="en-US" sz="3600" dirty="0"/>
          </a:p>
        </p:txBody>
      </p:sp>
      <p:sp>
        <p:nvSpPr>
          <p:cNvPr id="16" name="Text 13"/>
          <p:cNvSpPr txBox="1"/>
          <p:nvPr/>
        </p:nvSpPr>
        <p:spPr>
          <a:xfrm>
            <a:off x="5169286" y="2148840"/>
            <a:ext cx="1670243" cy="822960"/>
          </a:xfrm>
          <a:prstGeom prst="rect">
            <a:avLst/>
          </a:prstGeom>
          <a:noFill/>
          <a:ln/>
        </p:spPr>
        <p:txBody>
          <a:bodyPr wrap="square" lIns="0" tIns="0" rIns="0" bIns="0" rtlCol="0" anchor="t"/>
          <a:lstStyle/>
          <a:p>
            <a:pPr algn="l" indent="0" marL="0">
              <a:spcAft>
                <a:spcPts val="600"/>
              </a:spcAft>
              <a:buNone/>
            </a:pPr>
            <a:r>
              <a:rPr lang="en-US" sz="1800" b="1" dirty="0">
                <a:solidFill>
                  <a:srgbClr val="1F3A5F"/>
                </a:solidFill>
                <a:latin typeface="Calibri" pitchFamily="34" charset="0"/>
                <a:ea typeface="Calibri" pitchFamily="34" charset="-122"/>
                <a:cs typeface="Calibri" pitchFamily="34" charset="-120"/>
              </a:rPr>
              <a:t>Aynı veri erişimi mi?</a:t>
            </a:r>
            <a:endParaRPr lang="en-US" sz="1800" dirty="0"/>
          </a:p>
        </p:txBody>
      </p:sp>
      <p:sp>
        <p:nvSpPr>
          <p:cNvPr id="17" name="Text 14"/>
          <p:cNvSpPr txBox="1"/>
          <p:nvPr/>
        </p:nvSpPr>
        <p:spPr>
          <a:xfrm>
            <a:off x="5169286" y="3017520"/>
            <a:ext cx="1670243" cy="1188720"/>
          </a:xfrm>
          <a:prstGeom prst="rect">
            <a:avLst/>
          </a:prstGeom>
          <a:noFill/>
          <a:ln/>
        </p:spPr>
        <p:txBody>
          <a:bodyPr wrap="square" lIns="0" tIns="0" rIns="0" bIns="0" rtlCol="0" anchor="t"/>
          <a:lstStyle/>
          <a:p>
            <a:pPr algn="l" indent="0" marL="0">
              <a:spcAft>
                <a:spcPts val="600"/>
              </a:spcAft>
              <a:buNone/>
            </a:pPr>
            <a:r>
              <a:rPr lang="en-US" sz="1500" dirty="0">
                <a:solidFill>
                  <a:srgbClr val="1F2937"/>
                </a:solidFill>
                <a:latin typeface="Calibri" pitchFamily="34" charset="0"/>
                <a:ea typeface="Calibri" pitchFamily="34" charset="-122"/>
                <a:cs typeface="Calibri" pitchFamily="34" charset="-120"/>
              </a:rPr>
              <a:t>QRAM varsayımı klasiğe de verildi mi?</a:t>
            </a:r>
            <a:endParaRPr lang="en-US" sz="1500" dirty="0"/>
          </a:p>
        </p:txBody>
      </p:sp>
      <p:sp>
        <p:nvSpPr>
          <p:cNvPr id="18" name="Shape 15"/>
          <p:cNvSpPr/>
          <p:nvPr/>
        </p:nvSpPr>
        <p:spPr>
          <a:xfrm>
            <a:off x="7205289" y="1280160"/>
            <a:ext cx="2036003" cy="3017520"/>
          </a:xfrm>
          <a:prstGeom prst="roundRect">
            <a:avLst>
              <a:gd name="adj" fmla="val 4491"/>
            </a:avLst>
          </a:prstGeom>
          <a:solidFill>
            <a:srgbClr val="E8EEF6"/>
          </a:solidFill>
          <a:ln w="12700">
            <a:solidFill>
              <a:srgbClr val="E8EEF6"/>
            </a:solidFill>
            <a:prstDash val="solid"/>
          </a:ln>
        </p:spPr>
      </p:sp>
      <p:sp>
        <p:nvSpPr>
          <p:cNvPr id="19" name="Text 16"/>
          <p:cNvSpPr txBox="1"/>
          <p:nvPr/>
        </p:nvSpPr>
        <p:spPr>
          <a:xfrm>
            <a:off x="7388169" y="1417320"/>
            <a:ext cx="1670243" cy="640080"/>
          </a:xfrm>
          <a:prstGeom prst="rect">
            <a:avLst/>
          </a:prstGeom>
          <a:noFill/>
          <a:ln/>
        </p:spPr>
        <p:txBody>
          <a:bodyPr wrap="square" lIns="0" tIns="0" rIns="0" bIns="0" rtlCol="0" anchor="t"/>
          <a:lstStyle/>
          <a:p>
            <a:pPr algn="l" indent="0" marL="0">
              <a:spcAft>
                <a:spcPts val="600"/>
              </a:spcAft>
              <a:buNone/>
            </a:pPr>
            <a:r>
              <a:rPr lang="en-US" sz="3600" b="1" dirty="0">
                <a:solidFill>
                  <a:srgbClr val="2E6DB4"/>
                </a:solidFill>
                <a:latin typeface="Calibri" pitchFamily="34" charset="0"/>
                <a:ea typeface="Calibri" pitchFamily="34" charset="-122"/>
                <a:cs typeface="Calibri" pitchFamily="34" charset="-120"/>
              </a:rPr>
              <a:t>4</a:t>
            </a:r>
            <a:endParaRPr lang="en-US" sz="3600" dirty="0"/>
          </a:p>
        </p:txBody>
      </p:sp>
      <p:sp>
        <p:nvSpPr>
          <p:cNvPr id="20" name="Text 17"/>
          <p:cNvSpPr txBox="1"/>
          <p:nvPr/>
        </p:nvSpPr>
        <p:spPr>
          <a:xfrm>
            <a:off x="7388169" y="2148840"/>
            <a:ext cx="1670243" cy="822960"/>
          </a:xfrm>
          <a:prstGeom prst="rect">
            <a:avLst/>
          </a:prstGeom>
          <a:noFill/>
          <a:ln/>
        </p:spPr>
        <p:txBody>
          <a:bodyPr wrap="square" lIns="0" tIns="0" rIns="0" bIns="0" rtlCol="0" anchor="t"/>
          <a:lstStyle/>
          <a:p>
            <a:pPr algn="l" indent="0" marL="0">
              <a:spcAft>
                <a:spcPts val="600"/>
              </a:spcAft>
              <a:buNone/>
            </a:pPr>
            <a:r>
              <a:rPr lang="en-US" sz="1800" b="1" dirty="0">
                <a:solidFill>
                  <a:srgbClr val="1F3A5F"/>
                </a:solidFill>
                <a:latin typeface="Calibri" pitchFamily="34" charset="0"/>
                <a:ea typeface="Calibri" pitchFamily="34" charset="-122"/>
                <a:cs typeface="Calibri" pitchFamily="34" charset="-120"/>
              </a:rPr>
              <a:t>Uçtan uca süre mi?</a:t>
            </a:r>
            <a:endParaRPr lang="en-US" sz="1800" dirty="0"/>
          </a:p>
        </p:txBody>
      </p:sp>
      <p:sp>
        <p:nvSpPr>
          <p:cNvPr id="21" name="Text 18"/>
          <p:cNvSpPr txBox="1"/>
          <p:nvPr/>
        </p:nvSpPr>
        <p:spPr>
          <a:xfrm>
            <a:off x="7388169" y="3017520"/>
            <a:ext cx="1670243" cy="1188720"/>
          </a:xfrm>
          <a:prstGeom prst="rect">
            <a:avLst/>
          </a:prstGeom>
          <a:noFill/>
          <a:ln/>
        </p:spPr>
        <p:txBody>
          <a:bodyPr wrap="square" lIns="0" tIns="0" rIns="0" bIns="0" rtlCol="0" anchor="t"/>
          <a:lstStyle/>
          <a:p>
            <a:pPr algn="l" indent="0" marL="0">
              <a:spcAft>
                <a:spcPts val="600"/>
              </a:spcAft>
              <a:buNone/>
            </a:pPr>
            <a:r>
              <a:rPr lang="en-US" sz="1500" dirty="0">
                <a:solidFill>
                  <a:srgbClr val="1F2937"/>
                </a:solidFill>
                <a:latin typeface="Calibri" pitchFamily="34" charset="0"/>
                <a:ea typeface="Calibri" pitchFamily="34" charset="-122"/>
                <a:cs typeface="Calibri" pitchFamily="34" charset="-120"/>
              </a:rPr>
              <a:t>Yükleme + işlem + okuma + shot</a:t>
            </a:r>
            <a:endParaRPr lang="en-US" sz="1500" dirty="0"/>
          </a:p>
        </p:txBody>
      </p:sp>
      <p:sp>
        <p:nvSpPr>
          <p:cNvPr id="22" name="Shape 19"/>
          <p:cNvSpPr/>
          <p:nvPr/>
        </p:nvSpPr>
        <p:spPr>
          <a:xfrm>
            <a:off x="9424172" y="1280160"/>
            <a:ext cx="2036003" cy="3017520"/>
          </a:xfrm>
          <a:prstGeom prst="roundRect">
            <a:avLst>
              <a:gd name="adj" fmla="val 4491"/>
            </a:avLst>
          </a:prstGeom>
          <a:solidFill>
            <a:srgbClr val="E8EEF6"/>
          </a:solidFill>
          <a:ln w="12700">
            <a:solidFill>
              <a:srgbClr val="E8EEF6"/>
            </a:solidFill>
            <a:prstDash val="solid"/>
          </a:ln>
        </p:spPr>
      </p:sp>
      <p:sp>
        <p:nvSpPr>
          <p:cNvPr id="23" name="Text 20"/>
          <p:cNvSpPr txBox="1"/>
          <p:nvPr/>
        </p:nvSpPr>
        <p:spPr>
          <a:xfrm>
            <a:off x="9607052" y="1417320"/>
            <a:ext cx="1670243" cy="640080"/>
          </a:xfrm>
          <a:prstGeom prst="rect">
            <a:avLst/>
          </a:prstGeom>
          <a:noFill/>
          <a:ln/>
        </p:spPr>
        <p:txBody>
          <a:bodyPr wrap="square" lIns="0" tIns="0" rIns="0" bIns="0" rtlCol="0" anchor="t"/>
          <a:lstStyle/>
          <a:p>
            <a:pPr algn="l" indent="0" marL="0">
              <a:spcAft>
                <a:spcPts val="600"/>
              </a:spcAft>
              <a:buNone/>
            </a:pPr>
            <a:r>
              <a:rPr lang="en-US" sz="3600" b="1" dirty="0">
                <a:solidFill>
                  <a:srgbClr val="2E6DB4"/>
                </a:solidFill>
                <a:latin typeface="Calibri" pitchFamily="34" charset="0"/>
                <a:ea typeface="Calibri" pitchFamily="34" charset="-122"/>
                <a:cs typeface="Calibri" pitchFamily="34" charset="-120"/>
              </a:rPr>
              <a:t>5</a:t>
            </a:r>
            <a:endParaRPr lang="en-US" sz="3600" dirty="0"/>
          </a:p>
        </p:txBody>
      </p:sp>
      <p:sp>
        <p:nvSpPr>
          <p:cNvPr id="24" name="Text 21"/>
          <p:cNvSpPr txBox="1"/>
          <p:nvPr/>
        </p:nvSpPr>
        <p:spPr>
          <a:xfrm>
            <a:off x="9607052" y="2148840"/>
            <a:ext cx="1670243" cy="822960"/>
          </a:xfrm>
          <a:prstGeom prst="rect">
            <a:avLst/>
          </a:prstGeom>
          <a:noFill/>
          <a:ln/>
        </p:spPr>
        <p:txBody>
          <a:bodyPr wrap="square" lIns="0" tIns="0" rIns="0" bIns="0" rtlCol="0" anchor="t"/>
          <a:lstStyle/>
          <a:p>
            <a:pPr algn="l" indent="0" marL="0">
              <a:spcAft>
                <a:spcPts val="600"/>
              </a:spcAft>
              <a:buNone/>
            </a:pPr>
            <a:r>
              <a:rPr lang="en-US" sz="1800" b="1" dirty="0">
                <a:solidFill>
                  <a:srgbClr val="1F3A5F"/>
                </a:solidFill>
                <a:latin typeface="Calibri" pitchFamily="34" charset="0"/>
                <a:ea typeface="Calibri" pitchFamily="34" charset="-122"/>
                <a:cs typeface="Calibri" pitchFamily="34" charset="-120"/>
              </a:rPr>
              <a:t>Gürültü dahil mi?</a:t>
            </a:r>
            <a:endParaRPr lang="en-US" sz="1800" dirty="0"/>
          </a:p>
        </p:txBody>
      </p:sp>
      <p:sp>
        <p:nvSpPr>
          <p:cNvPr id="25" name="Text 22"/>
          <p:cNvSpPr txBox="1"/>
          <p:nvPr/>
        </p:nvSpPr>
        <p:spPr>
          <a:xfrm>
            <a:off x="9607052" y="3017520"/>
            <a:ext cx="1670243" cy="1188720"/>
          </a:xfrm>
          <a:prstGeom prst="rect">
            <a:avLst/>
          </a:prstGeom>
          <a:noFill/>
          <a:ln/>
        </p:spPr>
        <p:txBody>
          <a:bodyPr wrap="square" lIns="0" tIns="0" rIns="0" bIns="0" rtlCol="0" anchor="t"/>
          <a:lstStyle/>
          <a:p>
            <a:pPr algn="l" indent="0" marL="0">
              <a:spcAft>
                <a:spcPts val="600"/>
              </a:spcAft>
              <a:buNone/>
            </a:pPr>
            <a:r>
              <a:rPr lang="en-US" sz="1500" dirty="0">
                <a:solidFill>
                  <a:srgbClr val="1F2937"/>
                </a:solidFill>
                <a:latin typeface="Calibri" pitchFamily="34" charset="0"/>
                <a:ea typeface="Calibri" pitchFamily="34" charset="-122"/>
                <a:cs typeface="Calibri" pitchFamily="34" charset="-120"/>
              </a:rPr>
              <a:t>Simülatör mü, gerçek cihaz mı?</a:t>
            </a:r>
            <a:endParaRPr lang="en-US" sz="1500" dirty="0"/>
          </a:p>
        </p:txBody>
      </p:sp>
      <p:sp>
        <p:nvSpPr>
          <p:cNvPr id="26" name="Shape 23"/>
          <p:cNvSpPr/>
          <p:nvPr/>
        </p:nvSpPr>
        <p:spPr>
          <a:xfrm>
            <a:off x="548640" y="4572000"/>
            <a:ext cx="11094415" cy="1325880"/>
          </a:xfrm>
          <a:prstGeom prst="roundRect">
            <a:avLst>
              <a:gd name="adj" fmla="val 5517"/>
            </a:avLst>
          </a:prstGeom>
          <a:solidFill>
            <a:srgbClr val="E8EEF6"/>
          </a:solidFill>
          <a:ln w="12700">
            <a:solidFill>
              <a:srgbClr val="E8EEF6"/>
            </a:solidFill>
            <a:prstDash val="solid"/>
          </a:ln>
        </p:spPr>
      </p:sp>
      <p:sp>
        <p:nvSpPr>
          <p:cNvPr id="27" name="Text 24"/>
          <p:cNvSpPr txBox="1"/>
          <p:nvPr/>
        </p:nvSpPr>
        <p:spPr>
          <a:xfrm>
            <a:off x="731520" y="4681728"/>
            <a:ext cx="10728655" cy="1106424"/>
          </a:xfrm>
          <a:prstGeom prst="rect">
            <a:avLst/>
          </a:prstGeom>
          <a:noFill/>
          <a:ln/>
        </p:spPr>
        <p:txBody>
          <a:bodyPr wrap="square" lIns="0" tIns="0" rIns="0" bIns="0" rtlCol="0" anchor="ctr"/>
          <a:lstStyle/>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Kuantum ML "işe yaramaz" değildir; ama bugün </a:t>
            </a:r>
            <a:r>
              <a:rPr lang="en-US" sz="1600" b="1" dirty="0">
                <a:solidFill>
                  <a:srgbClr val="1F2937"/>
                </a:solidFill>
                <a:latin typeface="Calibri" pitchFamily="34" charset="0"/>
                <a:ea typeface="Calibri" pitchFamily="34" charset="-122"/>
                <a:cs typeface="Calibri" pitchFamily="34" charset="-120"/>
              </a:rPr>
              <a:t>klasik veride</a:t>
            </a:r>
            <a:r>
              <a:rPr lang="en-US" sz="1600" dirty="0">
                <a:solidFill>
                  <a:srgbClr val="1F2937"/>
                </a:solidFill>
                <a:latin typeface="Calibri" pitchFamily="34" charset="0"/>
                <a:ea typeface="Calibri" pitchFamily="34" charset="-122"/>
                <a:cs typeface="Calibri" pitchFamily="34" charset="-120"/>
              </a:rPr>
              <a:t> klasik yöntemlerin yerini alacağına dair kanıt yoktur. Bowles, Ahmed ve Schuld (2024) benchmark çalışması: küçük ölçekli problemlerde klasik modeller genelde önde.</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Diğer QML modellerine kısa bakış</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42</a:t>
            </a:r>
            <a:endParaRPr lang="en-US" sz="1000" dirty="0"/>
          </a:p>
        </p:txBody>
      </p:sp>
      <p:sp>
        <p:nvSpPr>
          <p:cNvPr id="6" name="Text 3"/>
          <p:cNvSpPr txBox="1"/>
          <p:nvPr/>
        </p:nvSpPr>
        <p:spPr>
          <a:xfrm>
            <a:off x="548640" y="1188720"/>
            <a:ext cx="3515258" cy="411480"/>
          </a:xfrm>
          <a:prstGeom prst="rect">
            <a:avLst/>
          </a:prstGeom>
          <a:noFill/>
          <a:ln/>
        </p:spPr>
        <p:txBody>
          <a:bodyPr wrap="square" lIns="0" tIns="0" rIns="0" bIns="0" rtlCol="0" anchor="t"/>
          <a:lstStyle/>
          <a:p>
            <a:pPr algn="l" indent="0" marL="0">
              <a:spcAft>
                <a:spcPts val="600"/>
              </a:spcAft>
              <a:buNone/>
            </a:pPr>
            <a:r>
              <a:rPr lang="en-US" sz="1800" b="1" dirty="0">
                <a:solidFill>
                  <a:srgbClr val="1F3A5F"/>
                </a:solidFill>
                <a:latin typeface="Calibri" pitchFamily="34" charset="0"/>
                <a:ea typeface="Calibri" pitchFamily="34" charset="-122"/>
                <a:cs typeface="Calibri" pitchFamily="34" charset="-120"/>
              </a:rPr>
              <a:t>Kuantum otokodlayıcı</a:t>
            </a:r>
            <a:endParaRPr lang="en-US" sz="1800" dirty="0"/>
          </a:p>
        </p:txBody>
      </p:sp>
      <p:pic>
        <p:nvPicPr>
          <p:cNvPr id="7" name="Image 0" descr="görsel">    </p:cNvPr>
          <p:cNvPicPr>
            <a:picLocks noChangeAspect="1"/>
          </p:cNvPicPr>
          <p:nvPr/>
        </p:nvPicPr>
        <p:blipFill>
          <a:blip r:embed="rId1"/>
          <a:stretch>
            <a:fillRect/>
          </a:stretch>
        </p:blipFill>
        <p:spPr>
          <a:xfrm>
            <a:off x="548640" y="1872754"/>
            <a:ext cx="3515258" cy="2198092"/>
          </a:xfrm>
          <a:prstGeom prst="rect">
            <a:avLst/>
          </a:prstGeom>
        </p:spPr>
      </p:pic>
      <p:sp>
        <p:nvSpPr>
          <p:cNvPr id="8" name="Shape 4"/>
          <p:cNvSpPr/>
          <p:nvPr/>
        </p:nvSpPr>
        <p:spPr>
          <a:xfrm>
            <a:off x="548640" y="4480560"/>
            <a:ext cx="3515258" cy="1417320"/>
          </a:xfrm>
          <a:prstGeom prst="roundRect">
            <a:avLst>
              <a:gd name="adj" fmla="val 5161"/>
            </a:avLst>
          </a:prstGeom>
          <a:solidFill>
            <a:srgbClr val="E8EEF6"/>
          </a:solidFill>
          <a:ln w="12700">
            <a:solidFill>
              <a:srgbClr val="E8EEF6"/>
            </a:solidFill>
            <a:prstDash val="solid"/>
          </a:ln>
        </p:spPr>
      </p:sp>
      <p:sp>
        <p:nvSpPr>
          <p:cNvPr id="9" name="Text 5"/>
          <p:cNvSpPr txBox="1"/>
          <p:nvPr/>
        </p:nvSpPr>
        <p:spPr>
          <a:xfrm>
            <a:off x="731520" y="4590288"/>
            <a:ext cx="3149498" cy="1197864"/>
          </a:xfrm>
          <a:prstGeom prst="rect">
            <a:avLst/>
          </a:prstGeom>
          <a:noFill/>
          <a:ln/>
        </p:spPr>
        <p:txBody>
          <a:bodyPr wrap="square" lIns="0" tIns="0" rIns="0" bIns="0" rtlCol="0" anchor="t"/>
          <a:lstStyle/>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n kübiti k &lt; n'ye sıkıştır; çöp kübit |0⟩ mı? → </a:t>
            </a:r>
            <a:r>
              <a:rPr lang="en-US" sz="1500" b="1" dirty="0">
                <a:solidFill>
                  <a:srgbClr val="1F2937"/>
                </a:solidFill>
                <a:latin typeface="Calibri" pitchFamily="34" charset="0"/>
                <a:ea typeface="Calibri" pitchFamily="34" charset="-122"/>
                <a:cs typeface="Calibri" pitchFamily="34" charset="-120"/>
              </a:rPr>
              <a:t>SWAP testi</a:t>
            </a:r>
            <a:endParaRPr lang="en-US" sz="1500" dirty="0"/>
          </a:p>
        </p:txBody>
      </p:sp>
      <p:sp>
        <p:nvSpPr>
          <p:cNvPr id="10" name="Text 6"/>
          <p:cNvSpPr txBox="1"/>
          <p:nvPr/>
        </p:nvSpPr>
        <p:spPr>
          <a:xfrm>
            <a:off x="4338218" y="1188720"/>
            <a:ext cx="3515258" cy="411480"/>
          </a:xfrm>
          <a:prstGeom prst="rect">
            <a:avLst/>
          </a:prstGeom>
          <a:noFill/>
          <a:ln/>
        </p:spPr>
        <p:txBody>
          <a:bodyPr wrap="square" lIns="0" tIns="0" rIns="0" bIns="0" rtlCol="0" anchor="t"/>
          <a:lstStyle/>
          <a:p>
            <a:pPr algn="l" indent="0" marL="0">
              <a:spcAft>
                <a:spcPts val="600"/>
              </a:spcAft>
              <a:buNone/>
            </a:pPr>
            <a:r>
              <a:rPr lang="en-US" sz="1800" b="1" dirty="0">
                <a:solidFill>
                  <a:srgbClr val="1F3A5F"/>
                </a:solidFill>
                <a:latin typeface="Calibri" pitchFamily="34" charset="0"/>
                <a:ea typeface="Calibri" pitchFamily="34" charset="-122"/>
                <a:cs typeface="Calibri" pitchFamily="34" charset="-120"/>
              </a:rPr>
              <a:t>Kuantum GAN</a:t>
            </a:r>
            <a:endParaRPr lang="en-US" sz="1800" dirty="0"/>
          </a:p>
        </p:txBody>
      </p:sp>
      <p:pic>
        <p:nvPicPr>
          <p:cNvPr id="11" name="Image 1" descr="görsel">    </p:cNvPr>
          <p:cNvPicPr>
            <a:picLocks noChangeAspect="1"/>
          </p:cNvPicPr>
          <p:nvPr/>
        </p:nvPicPr>
        <p:blipFill>
          <a:blip r:embed="rId2"/>
          <a:stretch>
            <a:fillRect/>
          </a:stretch>
        </p:blipFill>
        <p:spPr>
          <a:xfrm>
            <a:off x="4338218" y="2393633"/>
            <a:ext cx="3515258" cy="1156335"/>
          </a:xfrm>
          <a:prstGeom prst="rect">
            <a:avLst/>
          </a:prstGeom>
        </p:spPr>
      </p:pic>
      <p:sp>
        <p:nvSpPr>
          <p:cNvPr id="12" name="Shape 7"/>
          <p:cNvSpPr/>
          <p:nvPr/>
        </p:nvSpPr>
        <p:spPr>
          <a:xfrm>
            <a:off x="4338218" y="4480560"/>
            <a:ext cx="3515258" cy="1417320"/>
          </a:xfrm>
          <a:prstGeom prst="roundRect">
            <a:avLst>
              <a:gd name="adj" fmla="val 5161"/>
            </a:avLst>
          </a:prstGeom>
          <a:solidFill>
            <a:srgbClr val="E8EEF6"/>
          </a:solidFill>
          <a:ln w="12700">
            <a:solidFill>
              <a:srgbClr val="E8EEF6"/>
            </a:solidFill>
            <a:prstDash val="solid"/>
          </a:ln>
        </p:spPr>
      </p:sp>
      <p:sp>
        <p:nvSpPr>
          <p:cNvPr id="13" name="Text 8"/>
          <p:cNvSpPr txBox="1"/>
          <p:nvPr/>
        </p:nvSpPr>
        <p:spPr>
          <a:xfrm>
            <a:off x="4521098" y="4590288"/>
            <a:ext cx="3149498" cy="1197864"/>
          </a:xfrm>
          <a:prstGeom prst="rect">
            <a:avLst/>
          </a:prstGeom>
          <a:noFill/>
          <a:ln/>
        </p:spPr>
        <p:txBody>
          <a:bodyPr wrap="square" lIns="0" tIns="0" rIns="0" bIns="0" rtlCol="0" anchor="t"/>
          <a:lstStyle/>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Üretici = parametreli devre; </a:t>
            </a:r>
            <a:r>
              <a:rPr lang="en-US" sz="1500" b="1" dirty="0">
                <a:solidFill>
                  <a:srgbClr val="1F2937"/>
                </a:solidFill>
                <a:latin typeface="Calibri" pitchFamily="34" charset="0"/>
                <a:ea typeface="Calibri" pitchFamily="34" charset="-122"/>
                <a:cs typeface="Calibri" pitchFamily="34" charset="-120"/>
              </a:rPr>
              <a:t>dağılım öğrenme ve yükleme</a:t>
            </a:r>
            <a:endParaRPr lang="en-US" sz="1500" dirty="0"/>
          </a:p>
        </p:txBody>
      </p:sp>
      <p:sp>
        <p:nvSpPr>
          <p:cNvPr id="14" name="Text 9"/>
          <p:cNvSpPr txBox="1"/>
          <p:nvPr/>
        </p:nvSpPr>
        <p:spPr>
          <a:xfrm>
            <a:off x="8127797" y="1188720"/>
            <a:ext cx="3515258" cy="411480"/>
          </a:xfrm>
          <a:prstGeom prst="rect">
            <a:avLst/>
          </a:prstGeom>
          <a:noFill/>
          <a:ln/>
        </p:spPr>
        <p:txBody>
          <a:bodyPr wrap="square" lIns="0" tIns="0" rIns="0" bIns="0" rtlCol="0" anchor="t"/>
          <a:lstStyle/>
          <a:p>
            <a:pPr algn="l" indent="0" marL="0">
              <a:spcAft>
                <a:spcPts val="600"/>
              </a:spcAft>
              <a:buNone/>
            </a:pPr>
            <a:r>
              <a:rPr lang="en-US" sz="1800" b="1" dirty="0">
                <a:solidFill>
                  <a:srgbClr val="1F3A5F"/>
                </a:solidFill>
                <a:latin typeface="Calibri" pitchFamily="34" charset="0"/>
                <a:ea typeface="Calibri" pitchFamily="34" charset="-122"/>
                <a:cs typeface="Calibri" pitchFamily="34" charset="-120"/>
              </a:rPr>
              <a:t>Çekirdek hizalama</a:t>
            </a:r>
            <a:endParaRPr lang="en-US" sz="1800" dirty="0"/>
          </a:p>
        </p:txBody>
      </p:sp>
      <p:pic>
        <p:nvPicPr>
          <p:cNvPr id="15" name="Image 2" descr="görsel">    </p:cNvPr>
          <p:cNvPicPr>
            <a:picLocks noChangeAspect="1"/>
          </p:cNvPicPr>
          <p:nvPr/>
        </p:nvPicPr>
        <p:blipFill>
          <a:blip r:embed="rId3"/>
          <a:stretch>
            <a:fillRect/>
          </a:stretch>
        </p:blipFill>
        <p:spPr>
          <a:xfrm>
            <a:off x="8127797" y="1931651"/>
            <a:ext cx="3515258" cy="2080298"/>
          </a:xfrm>
          <a:prstGeom prst="rect">
            <a:avLst/>
          </a:prstGeom>
        </p:spPr>
      </p:pic>
      <p:sp>
        <p:nvSpPr>
          <p:cNvPr id="16" name="Shape 10"/>
          <p:cNvSpPr/>
          <p:nvPr/>
        </p:nvSpPr>
        <p:spPr>
          <a:xfrm>
            <a:off x="8127797" y="4480560"/>
            <a:ext cx="3515258" cy="1417320"/>
          </a:xfrm>
          <a:prstGeom prst="roundRect">
            <a:avLst>
              <a:gd name="adj" fmla="val 5161"/>
            </a:avLst>
          </a:prstGeom>
          <a:solidFill>
            <a:srgbClr val="E8EEF6"/>
          </a:solidFill>
          <a:ln w="12700">
            <a:solidFill>
              <a:srgbClr val="E8EEF6"/>
            </a:solidFill>
            <a:prstDash val="solid"/>
          </a:ln>
        </p:spPr>
      </p:sp>
      <p:sp>
        <p:nvSpPr>
          <p:cNvPr id="17" name="Text 11"/>
          <p:cNvSpPr txBox="1"/>
          <p:nvPr/>
        </p:nvSpPr>
        <p:spPr>
          <a:xfrm>
            <a:off x="8310677" y="4590288"/>
            <a:ext cx="3149498" cy="1197864"/>
          </a:xfrm>
          <a:prstGeom prst="rect">
            <a:avLst/>
          </a:prstGeom>
          <a:noFill/>
          <a:ln/>
        </p:spPr>
        <p:txBody>
          <a:bodyPr wrap="square" lIns="0" tIns="0" rIns="0" bIns="0" rtlCol="0" anchor="t"/>
          <a:lstStyle/>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A(K, yyᵀ) = ⟨K, Y⟩_F / (‖K‖·‖Y‖) en büyüklenir</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5B84B8"/>
                </a:solidFill>
              </a:rPr>
              <a:t>3. saat</a:t>
            </a:r>
            <a:endParaRPr lang="en-US" sz="7200" dirty="0"/>
          </a:p>
        </p:txBody>
      </p:sp>
      <p:sp>
        <p:nvSpPr>
          <p:cNvPr id="3" name="Text 1"/>
          <p:cNvSpPr txBox="1"/>
          <p:nvPr/>
        </p:nvSpPr>
        <p:spPr>
          <a:xfrm>
            <a:off x="731520" y="3108960"/>
            <a:ext cx="10972800" cy="822960"/>
          </a:xfrm>
          <a:prstGeom prst="rect">
            <a:avLst/>
          </a:prstGeom>
          <a:noFill/>
          <a:ln/>
        </p:spPr>
        <p:txBody>
          <a:bodyPr wrap="square" lIns="0" tIns="0" rIns="0" bIns="0" rtlCol="0" anchor="ctr"/>
          <a:lstStyle/>
          <a:p>
            <a:pPr indent="0" marL="0">
              <a:buNone/>
            </a:pPr>
            <a:r>
              <a:rPr lang="en-US" sz="3800" b="1" dirty="0">
                <a:solidFill>
                  <a:srgbClr val="FFFFFF"/>
                </a:solidFill>
              </a:rPr>
              <a:t>Lab ve dönem projesi</a:t>
            </a:r>
            <a:endParaRPr lang="en-US" sz="3800" dirty="0"/>
          </a:p>
        </p:txBody>
      </p:sp>
      <p:sp>
        <p:nvSpPr>
          <p:cNvPr id="4" name="Text 2"/>
          <p:cNvSpPr txBox="1"/>
          <p:nvPr/>
        </p:nvSpPr>
        <p:spPr>
          <a:xfrm>
            <a:off x="731520" y="3977640"/>
            <a:ext cx="10515600" cy="731520"/>
          </a:xfrm>
          <a:prstGeom prst="rect">
            <a:avLst/>
          </a:prstGeom>
          <a:noFill/>
          <a:ln/>
        </p:spPr>
        <p:txBody>
          <a:bodyPr wrap="square" lIns="0" tIns="0" rIns="0" bIns="0" rtlCol="0" anchor="t"/>
          <a:lstStyle/>
          <a:p>
            <a:pPr indent="0" marL="0">
              <a:buNone/>
            </a:pPr>
            <a:r>
              <a:rPr lang="en-US" sz="1800" dirty="0">
                <a:solidFill>
                  <a:srgbClr val="C7D2E3"/>
                </a:solidFill>
              </a:rPr>
              <a:t>Tam proje notebook'u, proje önerileri, rapor şablonu, rubrik</a:t>
            </a:r>
            <a:endParaRPr lang="en-US"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Lab akışı: Hafta15_Lab.ipynb</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44</a:t>
            </a:r>
            <a:endParaRPr lang="en-US" sz="1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1109442"/>
                <a:gridCol w="8320811"/>
                <a:gridCol w="1664162"/>
              </a:tblGrid>
              <a:tr h="47548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Bölüm</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Konu</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Süre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Kurulum, veri setleri (datasets.py fonksiyonları kopyalandı)</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5 dk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PCA, açıklanan varyans, stratify, sızıntısız sürüm</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7 dk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B</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Klasik temel: LR, RBF-SVM, MLP (16)</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5 dk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C</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QSVM: Statevector çekirdek, bant genişliği CV</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10 dk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D</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VQC: PennyLane + PyTorch</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10 dk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F1, karışıklık matrisi, 5-kat CV, %95 GA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8 dk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F–G</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Maliyet (devre × shot) ve Aer gürültü deneyi</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12 dk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H</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Rapor tablosu: pandas → CSV / markdown</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3 dk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I</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8 alıştırma (assert ile)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Ödev</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Dönem projesi önerileri (1/2)</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45</a:t>
            </a:r>
            <a:endParaRPr lang="en-US" sz="10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665665"/>
                <a:gridCol w="3772101"/>
                <a:gridCol w="2218883"/>
                <a:gridCol w="3328325"/>
                <a:gridCol w="1109442"/>
              </a:tblGrid>
              <a:tr h="64008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Başlık</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Veri seti</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Yöntem</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Zorluk</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64008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Kodlama yöntemlerinin karşılaştırması</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moons, circles, xor</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Açı / ZZ / genlik + QSVM</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Kolay</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64008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Iris iki sınıf: QSVM vs klasik</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iris_2sinif</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QSVM, VQC, LR, RBF; CV</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Kolay</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64008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Çok sınıflı rakam tanıma</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digits 0–9, PCA 6–8</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One-vs-rest QSVM</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Orta</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64008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Çekirdek yoğunlaşmasının ölçeklenmesi</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digits, PCA 2–12</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Kübit × bw taraması</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Orta</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64008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Veri yeniden yükleme sınıflandırıcısı</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moons, circles</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Data re-uploading (PL + torch)</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Orta</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5669280"/>
            <a:ext cx="11094415" cy="548640"/>
          </a:xfrm>
          <a:prstGeom prst="rect">
            <a:avLst/>
          </a:prstGeom>
          <a:noFill/>
          <a:ln/>
        </p:spPr>
        <p:txBody>
          <a:bodyPr wrap="square" lIns="0" tIns="0" rIns="0" bIns="0" rtlCol="0" anchor="t"/>
          <a:lstStyle/>
          <a:p>
            <a:pPr algn="l" indent="0" marL="0">
              <a:spcAft>
                <a:spcPts val="600"/>
              </a:spcAft>
              <a:buNone/>
            </a:pPr>
            <a:r>
              <a:rPr lang="en-US" sz="1400" dirty="0">
                <a:solidFill>
                  <a:srgbClr val="6B7280"/>
                </a:solidFill>
                <a:latin typeface="Calibri" pitchFamily="34" charset="0"/>
                <a:ea typeface="Calibri" pitchFamily="34" charset="-122"/>
                <a:cs typeface="Calibri" pitchFamily="34" charset="-120"/>
              </a:rPr>
              <a:t>Beklenen çıktı örnekleri: kodlama × veri seti doğruluk tablosu, CV + GA tablosu, 10×10 karışıklık matrisi, varyans–kübit grafiği.</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Dönem projesi önerileri (2/2)</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46</a:t>
            </a:r>
            <a:endParaRPr lang="en-US" sz="10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665665"/>
                <a:gridCol w="3772101"/>
                <a:gridCol w="2218883"/>
                <a:gridCol w="3328325"/>
                <a:gridCol w="1109442"/>
              </a:tblGrid>
              <a:tr h="64008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Başlık</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Veri seti</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Yöntem</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Zorluk</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64008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Başlatma stratejileri ve barren plateau</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digits 3 vs 8</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Rastgele / küçük açı / katmanlı</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Orta</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64008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Göğüs kanseri verisinde QML</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load_breast_cancer</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PCA + QSVM/VQC vs ayarlı klasik</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Orta</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64008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Eğitilebilir kuantum çekirdek</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digits 3–8 / iris</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Parametreli ZZ + hizalama</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Zor</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64008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Gürültü ve hata azaltma</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digits 0–1 (PCA 4)</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Aer + okuma düzeltmesi, ZNE</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Zor</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64008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QAOA MaxCut vs klasik sezgisel</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maxcut_graflar</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QAOA p = 1–3 vs açgözlü</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Orta</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5669280"/>
            <a:ext cx="11094415" cy="548640"/>
          </a:xfrm>
          <a:prstGeom prst="rect">
            <a:avLst/>
          </a:prstGeom>
          <a:noFill/>
          <a:ln/>
        </p:spPr>
        <p:txBody>
          <a:bodyPr wrap="square" lIns="0" tIns="0" rIns="0" bIns="0" rtlCol="0" anchor="t"/>
          <a:lstStyle/>
          <a:p>
            <a:pPr algn="l" indent="0" marL="0">
              <a:spcAft>
                <a:spcPts val="600"/>
              </a:spcAft>
              <a:buNone/>
            </a:pPr>
            <a:r>
              <a:rPr lang="en-US" sz="1400" dirty="0">
                <a:solidFill>
                  <a:srgbClr val="6B7280"/>
                </a:solidFill>
                <a:latin typeface="Calibri" pitchFamily="34" charset="0"/>
                <a:ea typeface="Calibri" pitchFamily="34" charset="-122"/>
                <a:cs typeface="Calibri" pitchFamily="34" charset="-120"/>
              </a:rPr>
              <a:t>Beklenen çıktı örnekleri: gradyan varyansı grafiği, duyarlılık/F1 tablosu, hizalama–epoch eğrisi, gürültü–doğruluk, yaklaşım oranı–graf boyutu.</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Proje raporu şablonu</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47</a:t>
            </a:r>
            <a:endParaRPr lang="en-US" sz="10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662660"/>
                <a:gridCol w="6212873"/>
                <a:gridCol w="2218883"/>
              </a:tblGrid>
              <a:tr h="493776">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Bölüm</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İçerik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Uzunluk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493776">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 Özet</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Soru, yöntem, ana bulgu (sayılarla)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150–200 kelime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93776">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2. Giriş</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Motivasyon, 2–5 ilgili çalışma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 sayfa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493776">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3. Veri ve ön işleme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Örnek sayısı, denge, PCA, sızıntısız ayrım, tohum</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 sayfa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93776">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4. Yöntemler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Devre çizimleri, eğitim, klasik temel, hiperparametre arama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2 sayfa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493776">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5. Deney düzeni</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CV protokolü, ölçütler, sürümler, donanım</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0,5 sayfa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93776">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6. Sonuçlar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Ort. ± std / GA tabloları, grafikler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2–3 sayfa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493776">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7. Maliyet ve gürültü</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Devre × shot, süre, gürültülü deney</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 sayfa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93776">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8. Tartışma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Yorum, sınırlamalar, olumsuz bulgular, avantaj değerlendirmesi</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 sayfa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493776">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9. Sonuç + ekler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Özet, gelecek çalışma, notebook bağlantısı</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0,5 sayfa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Değerlendirme rubriği (100 puan)</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48</a:t>
            </a:r>
            <a:endParaRPr lang="en-US" sz="10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7863840" cy="914400"/>
        </p:xfrm>
        <a:graphic>
          <a:graphicData uri="http://schemas.openxmlformats.org/drawingml/2006/table">
            <a:tbl>
              <a:tblPr/>
              <a:tblGrid>
                <a:gridCol w="3302813"/>
                <a:gridCol w="786384"/>
                <a:gridCol w="3774643"/>
              </a:tblGrid>
              <a:tr h="512064">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Ölçüt</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Puan</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Tam puan için</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Problem tanımı ve motivasyon</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Net soru, ölçülebilir ölçüt, kaynak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Veri ve ön işleme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Sızıntısız, stratify, sabit tohum</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Klasik temel modeller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15</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 2 model, </a:t>
                      </a:r>
                      <a:r>
                        <a:rPr lang="en-US" sz="1500" b="1" dirty="0">
                          <a:solidFill>
                            <a:srgbClr val="1F2937"/>
                          </a:solidFill>
                          <a:latin typeface="Calibri" pitchFamily="34" charset="0"/>
                          <a:ea typeface="Calibri" pitchFamily="34" charset="-122"/>
                          <a:cs typeface="Calibri" pitchFamily="34" charset="-120"/>
                        </a:rPr>
                        <a:t>ayarlanmış</a:t>
                      </a:r>
                      <a:r>
                        <a:rPr lang="en-US" sz="1500" dirty="0">
                          <a:solidFill>
                            <a:srgbClr val="1F2937"/>
                          </a:solidFill>
                          <a:latin typeface="Calibri" pitchFamily="34" charset="0"/>
                          <a:ea typeface="Calibri" pitchFamily="34" charset="-122"/>
                          <a:cs typeface="Calibri" pitchFamily="34" charset="-120"/>
                        </a:rPr>
                        <a:t>, aynı özellikler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Kuantum model(ler)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20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Çalışıyor, devre çizili, CV ile ayarlı</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Değerlendirme ve istatistik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15</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CV + GA, uygun ölçütler, anlamlılık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Maliyet ve gürültü</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Devre × shot + gürültülü deney</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Rapor ve tekrar üretilebilirlik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Notebook çalışır, tablolar kodla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Sunum</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Süre, net mesaj, sorular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
        <p:nvSpPr>
          <p:cNvPr id="7" name="Shape 3"/>
          <p:cNvSpPr/>
          <p:nvPr/>
        </p:nvSpPr>
        <p:spPr>
          <a:xfrm>
            <a:off x="8686800" y="1234440"/>
            <a:ext cx="2956255" cy="4663440"/>
          </a:xfrm>
          <a:prstGeom prst="roundRect">
            <a:avLst>
              <a:gd name="adj" fmla="val 2474"/>
            </a:avLst>
          </a:prstGeom>
          <a:solidFill>
            <a:srgbClr val="FDF3E8"/>
          </a:solidFill>
          <a:ln w="12700">
            <a:solidFill>
              <a:srgbClr val="FDF3E8"/>
            </a:solidFill>
            <a:prstDash val="solid"/>
          </a:ln>
        </p:spPr>
      </p:sp>
      <p:sp>
        <p:nvSpPr>
          <p:cNvPr id="8" name="Text 4"/>
          <p:cNvSpPr txBox="1"/>
          <p:nvPr/>
        </p:nvSpPr>
        <p:spPr>
          <a:xfrm>
            <a:off x="8869680" y="1344168"/>
            <a:ext cx="2590495" cy="4443984"/>
          </a:xfrm>
          <a:prstGeom prst="rect">
            <a:avLst/>
          </a:prstGeom>
          <a:noFill/>
          <a:ln/>
        </p:spPr>
        <p:txBody>
          <a:bodyPr wrap="square" lIns="0" tIns="0" rIns="0" bIns="0" rtlCol="0" anchor="t"/>
          <a:lstStyle/>
          <a:p>
            <a:pPr algn="l" indent="0" marL="0">
              <a:spcAft>
                <a:spcPts val="600"/>
              </a:spcAft>
              <a:buNone/>
            </a:pPr>
            <a:r>
              <a:rPr lang="en-US" sz="1700" b="1" dirty="0">
                <a:solidFill>
                  <a:srgbClr val="D9822B"/>
                </a:solidFill>
                <a:latin typeface="Calibri" pitchFamily="34" charset="0"/>
                <a:ea typeface="Calibri" pitchFamily="34" charset="-122"/>
                <a:cs typeface="Calibri" pitchFamily="34" charset="-120"/>
              </a:rPr>
              <a:t>Kural</a:t>
            </a:r>
            <a:endParaRPr lang="en-US" sz="17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Kuantum modelin </a:t>
            </a:r>
            <a:r>
              <a:rPr lang="en-US" sz="1700" b="1" dirty="0">
                <a:solidFill>
                  <a:srgbClr val="1F2937"/>
                </a:solidFill>
                <a:latin typeface="Calibri" pitchFamily="34" charset="0"/>
                <a:ea typeface="Calibri" pitchFamily="34" charset="-122"/>
                <a:cs typeface="Calibri" pitchFamily="34" charset="-120"/>
              </a:rPr>
              <a:t>kazanması puanı etkilemez</a:t>
            </a:r>
            <a:r>
              <a:rPr lang="en-US" sz="1700" dirty="0">
                <a:solidFill>
                  <a:srgbClr val="1F2937"/>
                </a:solidFill>
                <a:latin typeface="Calibri" pitchFamily="34" charset="0"/>
                <a:ea typeface="Calibri" pitchFamily="34" charset="-122"/>
                <a:cs typeface="Calibri" pitchFamily="34" charset="-120"/>
              </a:rPr>
              <a:t>.</a:t>
            </a:r>
            <a:endParaRPr lang="en-US" sz="17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Ayarsız klasik rakiple "kuantum üstünlüğü" → "Klasik temel" ve "Değerlendirme"den </a:t>
            </a:r>
            <a:r>
              <a:rPr lang="en-US" sz="1700" b="1" dirty="0">
                <a:solidFill>
                  <a:srgbClr val="1F2937"/>
                </a:solidFill>
                <a:latin typeface="Calibri" pitchFamily="34" charset="0"/>
                <a:ea typeface="Calibri" pitchFamily="34" charset="-122"/>
                <a:cs typeface="Calibri" pitchFamily="34" charset="-120"/>
              </a:rPr>
              <a:t>puan kaybı</a:t>
            </a:r>
            <a:r>
              <a:rPr lang="en-US" sz="1700" dirty="0">
                <a:solidFill>
                  <a:srgbClr val="1F2937"/>
                </a:solidFill>
                <a:latin typeface="Calibri" pitchFamily="34" charset="0"/>
                <a:ea typeface="Calibri" pitchFamily="34" charset="-122"/>
                <a:cs typeface="Calibri" pitchFamily="34" charset="-120"/>
              </a:rPr>
              <a:t>.</a:t>
            </a:r>
            <a:endParaRPr lang="en-US" sz="17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Haftanın özeti</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49</a:t>
            </a:r>
            <a:endParaRPr lang="en-US" sz="1000" dirty="0"/>
          </a:p>
        </p:txBody>
      </p:sp>
      <p:sp>
        <p:nvSpPr>
          <p:cNvPr id="6" name="Text 3"/>
          <p:cNvSpPr txBox="1"/>
          <p:nvPr/>
        </p:nvSpPr>
        <p:spPr>
          <a:xfrm>
            <a:off x="548640" y="1280160"/>
            <a:ext cx="11094415" cy="4754880"/>
          </a:xfrm>
          <a:prstGeom prst="rect">
            <a:avLst/>
          </a:prstGeom>
          <a:noFill/>
          <a:ln/>
        </p:spPr>
        <p:txBody>
          <a:bodyPr wrap="square" lIns="0" tIns="0" rIns="0" bIns="0" rtlCol="0" anchor="t"/>
          <a:lstStyle/>
          <a:p>
            <a:pPr marL="254000" indent="-254000">
              <a:spcAft>
                <a:spcPts val="1200"/>
              </a:spcAft>
              <a:buSzPct val="100000"/>
              <a:buChar char="•"/>
            </a:pPr>
            <a:r>
              <a:rPr lang="en-US" sz="1900" dirty="0">
                <a:solidFill>
                  <a:srgbClr val="1F2937"/>
                </a:solidFill>
                <a:latin typeface="Calibri" pitchFamily="34" charset="0"/>
                <a:ea typeface="Calibri" pitchFamily="34" charset="-122"/>
                <a:cs typeface="Calibri" pitchFamily="34" charset="-120"/>
              </a:rPr>
              <a:t>Boru hattı: </a:t>
            </a:r>
            <a:r>
              <a:rPr lang="en-US" sz="1900" b="1" dirty="0">
                <a:solidFill>
                  <a:srgbClr val="1F2937"/>
                </a:solidFill>
                <a:latin typeface="Calibri" pitchFamily="34" charset="0"/>
                <a:ea typeface="Calibri" pitchFamily="34" charset="-122"/>
                <a:cs typeface="Calibri" pitchFamily="34" charset="-120"/>
              </a:rPr>
              <a:t>problem → veri → ön işleme → kodlama → model → değerlendirme → klasik temel → maliyet → gürültü → rapor</a:t>
            </a:r>
            <a:endParaRPr lang="en-US" sz="1900" dirty="0"/>
          </a:p>
          <a:p>
            <a:pPr marL="254000" indent="-254000">
              <a:spcAft>
                <a:spcPts val="1200"/>
              </a:spcAft>
              <a:buSzPct val="100000"/>
              <a:buChar char="•"/>
            </a:pPr>
            <a:r>
              <a:rPr lang="en-US" sz="1900" dirty="0">
                <a:solidFill>
                  <a:srgbClr val="1F2937"/>
                </a:solidFill>
                <a:latin typeface="Calibri" pitchFamily="34" charset="0"/>
                <a:ea typeface="Calibri" pitchFamily="34" charset="-122"/>
                <a:cs typeface="Calibri" pitchFamily="34" charset="-120"/>
              </a:rPr>
              <a:t>PCA kübit bütçesini belirler; ön işleme ve ayar </a:t>
            </a:r>
            <a:r>
              <a:rPr lang="en-US" sz="1900" b="1" dirty="0">
                <a:solidFill>
                  <a:srgbClr val="1F2937"/>
                </a:solidFill>
                <a:latin typeface="Calibri" pitchFamily="34" charset="0"/>
                <a:ea typeface="Calibri" pitchFamily="34" charset="-122"/>
                <a:cs typeface="Calibri" pitchFamily="34" charset="-120"/>
              </a:rPr>
              <a:t>yalnız eğitim kümesinde</a:t>
            </a:r>
            <a:endParaRPr lang="en-US" sz="1900" dirty="0"/>
          </a:p>
          <a:p>
            <a:pPr marL="254000" indent="-254000">
              <a:spcAft>
                <a:spcPts val="1200"/>
              </a:spcAft>
              <a:buSzPct val="100000"/>
              <a:buChar char="•"/>
            </a:pPr>
            <a:r>
              <a:rPr lang="en-US" sz="1900" b="1" dirty="0">
                <a:solidFill>
                  <a:srgbClr val="1F2937"/>
                </a:solidFill>
                <a:latin typeface="Calibri" pitchFamily="34" charset="0"/>
                <a:ea typeface="Calibri" pitchFamily="34" charset="-122"/>
                <a:cs typeface="Calibri" pitchFamily="34" charset="-120"/>
              </a:rPr>
              <a:t>F1</a:t>
            </a:r>
            <a:r>
              <a:rPr lang="en-US" sz="1900" dirty="0">
                <a:solidFill>
                  <a:srgbClr val="1F2937"/>
                </a:solidFill>
                <a:latin typeface="Calibri" pitchFamily="34" charset="0"/>
                <a:ea typeface="Calibri" pitchFamily="34" charset="-122"/>
                <a:cs typeface="Calibri" pitchFamily="34" charset="-120"/>
              </a:rPr>
              <a:t> ve karışıklık matrisi hata türünü; </a:t>
            </a:r>
            <a:r>
              <a:rPr lang="en-US" sz="1900" b="1" dirty="0">
                <a:solidFill>
                  <a:srgbClr val="1F2937"/>
                </a:solidFill>
                <a:latin typeface="Calibri" pitchFamily="34" charset="0"/>
                <a:ea typeface="Calibri" pitchFamily="34" charset="-122"/>
                <a:cs typeface="Calibri" pitchFamily="34" charset="-120"/>
              </a:rPr>
              <a:t>CV + %95 GA</a:t>
            </a:r>
            <a:r>
              <a:rPr lang="en-US" sz="1900" dirty="0">
                <a:solidFill>
                  <a:srgbClr val="1F2937"/>
                </a:solidFill>
                <a:latin typeface="Calibri" pitchFamily="34" charset="0"/>
                <a:ea typeface="Calibri" pitchFamily="34" charset="-122"/>
                <a:cs typeface="Calibri" pitchFamily="34" charset="-120"/>
              </a:rPr>
              <a:t> farkın anlamlılığını gösterir</a:t>
            </a:r>
            <a:endParaRPr lang="en-US" sz="1900" dirty="0"/>
          </a:p>
          <a:p>
            <a:pPr marL="254000" indent="-254000">
              <a:spcAft>
                <a:spcPts val="1200"/>
              </a:spcAft>
              <a:buSzPct val="100000"/>
              <a:buChar char="•"/>
            </a:pPr>
            <a:r>
              <a:rPr lang="en-US" sz="1900" dirty="0">
                <a:solidFill>
                  <a:srgbClr val="1F2937"/>
                </a:solidFill>
                <a:latin typeface="Calibri" pitchFamily="34" charset="0"/>
                <a:ea typeface="Calibri" pitchFamily="34" charset="-122"/>
                <a:cs typeface="Calibri" pitchFamily="34" charset="-120"/>
              </a:rPr>
              <a:t>Bu vakalarda klasik modeller </a:t>
            </a:r>
            <a:r>
              <a:rPr lang="en-US" sz="1900" b="1" dirty="0">
                <a:solidFill>
                  <a:srgbClr val="1F2937"/>
                </a:solidFill>
                <a:latin typeface="Calibri" pitchFamily="34" charset="0"/>
                <a:ea typeface="Calibri" pitchFamily="34" charset="-122"/>
                <a:cs typeface="Calibri" pitchFamily="34" charset="-120"/>
              </a:rPr>
              <a:t>en az kuantum kadar iyi</a:t>
            </a:r>
            <a:r>
              <a:rPr lang="en-US" sz="1900" dirty="0">
                <a:solidFill>
                  <a:srgbClr val="1F2937"/>
                </a:solidFill>
                <a:latin typeface="Calibri" pitchFamily="34" charset="0"/>
                <a:ea typeface="Calibri" pitchFamily="34" charset="-122"/>
                <a:cs typeface="Calibri" pitchFamily="34" charset="-120"/>
              </a:rPr>
              <a:t> ve çok daha ucuz</a:t>
            </a:r>
            <a:endParaRPr lang="en-US" sz="1900" dirty="0"/>
          </a:p>
          <a:p>
            <a:pPr marL="254000" indent="-254000">
              <a:spcAft>
                <a:spcPts val="1200"/>
              </a:spcAft>
              <a:buSzPct val="100000"/>
              <a:buChar char="•"/>
            </a:pPr>
            <a:r>
              <a:rPr lang="en-US" sz="1900" dirty="0">
                <a:solidFill>
                  <a:srgbClr val="1F2937"/>
                </a:solidFill>
                <a:latin typeface="Calibri" pitchFamily="34" charset="0"/>
                <a:ea typeface="Calibri" pitchFamily="34" charset="-122"/>
                <a:cs typeface="Calibri" pitchFamily="34" charset="-120"/>
              </a:rPr>
              <a:t>Donanım: QSVM </a:t>
            </a:r>
            <a:r>
              <a:rPr lang="en-US" sz="1900" b="1" dirty="0">
                <a:solidFill>
                  <a:srgbClr val="1F2937"/>
                </a:solidFill>
                <a:latin typeface="Calibri" pitchFamily="34" charset="0"/>
                <a:ea typeface="Calibri" pitchFamily="34" charset="-122"/>
                <a:cs typeface="Calibri" pitchFamily="34" charset="-120"/>
              </a:rPr>
              <a:t>n(n−1)/2</a:t>
            </a:r>
            <a:r>
              <a:rPr lang="en-US" sz="1900" dirty="0">
                <a:solidFill>
                  <a:srgbClr val="1F2937"/>
                </a:solidFill>
                <a:latin typeface="Calibri" pitchFamily="34" charset="0"/>
                <a:ea typeface="Calibri" pitchFamily="34" charset="-122"/>
                <a:cs typeface="Calibri" pitchFamily="34" charset="-120"/>
              </a:rPr>
              <a:t>, VQC </a:t>
            </a:r>
            <a:r>
              <a:rPr lang="en-US" sz="1900" b="1" dirty="0">
                <a:solidFill>
                  <a:srgbClr val="1F2937"/>
                </a:solidFill>
                <a:latin typeface="Calibri" pitchFamily="34" charset="0"/>
                <a:ea typeface="Calibri" pitchFamily="34" charset="-122"/>
                <a:cs typeface="Calibri" pitchFamily="34" charset="-120"/>
              </a:rPr>
              <a:t>n(2P+1)</a:t>
            </a:r>
            <a:r>
              <a:rPr lang="en-US" sz="1900" dirty="0">
                <a:solidFill>
                  <a:srgbClr val="1F2937"/>
                </a:solidFill>
                <a:latin typeface="Calibri" pitchFamily="34" charset="0"/>
                <a:ea typeface="Calibri" pitchFamily="34" charset="-122"/>
                <a:cs typeface="Calibri" pitchFamily="34" charset="-120"/>
              </a:rPr>
              <a:t>/epoch devre, × shot; gürültü K'yı küçültür</a:t>
            </a:r>
            <a:endParaRPr lang="en-US" sz="1900" dirty="0"/>
          </a:p>
          <a:p>
            <a:pPr marL="254000" indent="-254000">
              <a:spcAft>
                <a:spcPts val="1200"/>
              </a:spcAft>
              <a:buSzPct val="100000"/>
              <a:buChar char="•"/>
            </a:pPr>
            <a:r>
              <a:rPr lang="en-US" sz="1900" dirty="0">
                <a:solidFill>
                  <a:srgbClr val="1F2937"/>
                </a:solidFill>
                <a:latin typeface="Calibri" pitchFamily="34" charset="0"/>
                <a:ea typeface="Calibri" pitchFamily="34" charset="-122"/>
                <a:cs typeface="Calibri" pitchFamily="34" charset="-120"/>
              </a:rPr>
              <a:t>Kanıtlı avantaj özel yapılı problemlerde; klasik veride ML için </a:t>
            </a:r>
            <a:r>
              <a:rPr lang="en-US" sz="1900" b="1" dirty="0">
                <a:solidFill>
                  <a:srgbClr val="1F2937"/>
                </a:solidFill>
                <a:latin typeface="Calibri" pitchFamily="34" charset="0"/>
                <a:ea typeface="Calibri" pitchFamily="34" charset="-122"/>
                <a:cs typeface="Calibri" pitchFamily="34" charset="-120"/>
              </a:rPr>
              <a:t>kanıt yok</a:t>
            </a:r>
            <a:r>
              <a:rPr lang="en-US" sz="1900" dirty="0">
                <a:solidFill>
                  <a:srgbClr val="1F2937"/>
                </a:solidFill>
                <a:latin typeface="Calibri" pitchFamily="34" charset="0"/>
                <a:ea typeface="Calibri" pitchFamily="34" charset="-122"/>
                <a:cs typeface="Calibri" pitchFamily="34" charset="-120"/>
              </a:rPr>
              <a:t> (dequantization, yoğunlaşma, veri yükleme, barren plateau)</a:t>
            </a:r>
            <a:endParaRPr lang="en-US" sz="1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Dönem projesi teslim takvimi (genel öneri)</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50</a:t>
            </a:r>
            <a:endParaRPr lang="en-US" sz="1000" dirty="0"/>
          </a:p>
        </p:txBody>
      </p:sp>
      <p:pic>
        <p:nvPicPr>
          <p:cNvPr id="6" name="Image 0" descr="görsel">    </p:cNvPr>
          <p:cNvPicPr>
            <a:picLocks noChangeAspect="1"/>
          </p:cNvPicPr>
          <p:nvPr/>
        </p:nvPicPr>
        <p:blipFill>
          <a:blip r:embed="rId1"/>
          <a:stretch>
            <a:fillRect/>
          </a:stretch>
        </p:blipFill>
        <p:spPr>
          <a:xfrm>
            <a:off x="548640" y="1109800"/>
            <a:ext cx="6766560" cy="2901039"/>
          </a:xfrm>
          <a:prstGeom prst="rect">
            <a:avLst/>
          </a:prstGeom>
        </p:spPr>
      </p:pic>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4160520"/>
          <a:ext cx="6766560" cy="914400"/>
        </p:xfrm>
        <a:graphic>
          <a:graphicData uri="http://schemas.openxmlformats.org/drawingml/2006/table">
            <a:tbl>
              <a:tblPr/>
              <a:tblGrid>
                <a:gridCol w="1488643"/>
                <a:gridCol w="3518611"/>
                <a:gridCol w="1759306"/>
              </a:tblGrid>
              <a:tr h="36576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Aşama</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Teslim</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Zaman</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Öneri</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1 sayfa: soru, veri, yöntem</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1. hafta</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Ara kontrol</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Veri hattı + klasik temel</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2. hafta</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Deneyler</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Kuantum modeller, CV, gürültü</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3–5. hafta</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Final</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Rapor + notebook + sunum</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6. hafta</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
        <p:nvSpPr>
          <p:cNvPr id="8" name="Shape 3"/>
          <p:cNvSpPr/>
          <p:nvPr/>
        </p:nvSpPr>
        <p:spPr>
          <a:xfrm>
            <a:off x="7589520" y="1188720"/>
            <a:ext cx="4053535" cy="4754880"/>
          </a:xfrm>
          <a:prstGeom prst="roundRect">
            <a:avLst>
              <a:gd name="adj" fmla="val 1805"/>
            </a:avLst>
          </a:prstGeom>
          <a:solidFill>
            <a:srgbClr val="E8EEF6"/>
          </a:solidFill>
          <a:ln w="12700">
            <a:solidFill>
              <a:srgbClr val="E8EEF6"/>
            </a:solidFill>
            <a:prstDash val="solid"/>
          </a:ln>
        </p:spPr>
      </p:sp>
      <p:sp>
        <p:nvSpPr>
          <p:cNvPr id="9" name="Text 4"/>
          <p:cNvSpPr txBox="1"/>
          <p:nvPr/>
        </p:nvSpPr>
        <p:spPr>
          <a:xfrm>
            <a:off x="7772400" y="1298448"/>
            <a:ext cx="3687775" cy="453542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Sunum önerileri</a:t>
            </a:r>
            <a:endParaRPr lang="en-US" sz="1700" dirty="0"/>
          </a:p>
          <a:p>
            <a:pPr algn="l" indent="0" marL="0">
              <a:spcAft>
                <a:spcPts val="500"/>
              </a:spcAft>
              <a:buNone/>
            </a:pPr>
            <a:r>
              <a:rPr lang="en-US" sz="1600" b="1" dirty="0">
                <a:solidFill>
                  <a:srgbClr val="1F2937"/>
                </a:solidFill>
                <a:latin typeface="Calibri" pitchFamily="34" charset="0"/>
                <a:ea typeface="Calibri" pitchFamily="34" charset="-122"/>
                <a:cs typeface="Calibri" pitchFamily="34" charset="-120"/>
              </a:rPr>
              <a:t>10 dk</a:t>
            </a:r>
            <a:r>
              <a:rPr lang="en-US" sz="1600" dirty="0">
                <a:solidFill>
                  <a:srgbClr val="1F2937"/>
                </a:solidFill>
                <a:latin typeface="Calibri" pitchFamily="34" charset="0"/>
                <a:ea typeface="Calibri" pitchFamily="34" charset="-122"/>
                <a:cs typeface="Calibri" pitchFamily="34" charset="-120"/>
              </a:rPr>
              <a:t> sunum + 5 dk soru, 8–10 slayt</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Soru → veri → yöntem → sonuç → maliyet → sınırlama</a:t>
            </a:r>
            <a:endParaRPr lang="en-US" sz="1700" dirty="0"/>
          </a:p>
          <a:p>
            <a:pPr algn="l" indent="0" marL="0">
              <a:spcAft>
                <a:spcPts val="500"/>
              </a:spcAft>
              <a:buNone/>
            </a:pPr>
            <a:r>
              <a:rPr lang="en-US" sz="1600" b="1" dirty="0">
                <a:solidFill>
                  <a:srgbClr val="1F2937"/>
                </a:solidFill>
                <a:latin typeface="Calibri" pitchFamily="34" charset="0"/>
                <a:ea typeface="Calibri" pitchFamily="34" charset="-122"/>
                <a:cs typeface="Calibri" pitchFamily="34" charset="-120"/>
              </a:rPr>
              <a:t>Tek mesaj</a:t>
            </a:r>
            <a:r>
              <a:rPr lang="en-US" sz="1600" dirty="0">
                <a:solidFill>
                  <a:srgbClr val="1F2937"/>
                </a:solidFill>
                <a:latin typeface="Calibri" pitchFamily="34" charset="0"/>
                <a:ea typeface="Calibri" pitchFamily="34" charset="-122"/>
                <a:cs typeface="Calibri" pitchFamily="34" charset="-120"/>
              </a:rPr>
              <a:t> belirleyin</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Her grafikte klasik temel de görünsün</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Olumsuz sonuçları saklamayın</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Demo riskliyse kayıtlı çıktı</a:t>
            </a:r>
            <a:endParaRPr lang="en-US" sz="17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15 haftada kazanılan beceriler ve ileri okuma</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51</a:t>
            </a:r>
            <a:endParaRPr lang="en-US" sz="10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5669280" cy="914400"/>
        </p:xfrm>
        <a:graphic>
          <a:graphicData uri="http://schemas.openxmlformats.org/drawingml/2006/table">
            <a:tbl>
              <a:tblPr/>
              <a:tblGrid>
                <a:gridCol w="1133856"/>
                <a:gridCol w="4535424"/>
              </a:tblGrid>
              <a:tr h="512064">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Hafta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Beceri</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1–3</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Durum vektörü, ölçüm, MiniSim</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4–6</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Kapılar = üniter matrisler; devre, dolanıklık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Framework'ler, gürültü modeli</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8–10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Oracle, Grover, QFT, QPE, Shor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11</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Hibrit döngü, parameter-shift, QAOA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12–14</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Veri kodlama, QSVM, VQC + PyTorch</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15</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Uçtan uca proje, dürüst benchmark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bl>
          </a:graphicData>
        </a:graphic>
      </p:graphicFrame>
      <p:pic>
        <p:nvPicPr>
          <p:cNvPr id="7" name="Image 0" descr="görsel">    </p:cNvPr>
          <p:cNvPicPr>
            <a:picLocks noChangeAspect="1"/>
          </p:cNvPicPr>
          <p:nvPr/>
        </p:nvPicPr>
        <p:blipFill>
          <a:blip r:embed="rId1"/>
          <a:stretch>
            <a:fillRect/>
          </a:stretch>
        </p:blipFill>
        <p:spPr>
          <a:xfrm>
            <a:off x="6492240" y="1387427"/>
            <a:ext cx="5150815" cy="1797146"/>
          </a:xfrm>
          <a:prstGeom prst="rect">
            <a:avLst/>
          </a:prstGeom>
        </p:spPr>
      </p:pic>
      <p:sp>
        <p:nvSpPr>
          <p:cNvPr id="8" name="Shape 3"/>
          <p:cNvSpPr/>
          <p:nvPr/>
        </p:nvSpPr>
        <p:spPr>
          <a:xfrm>
            <a:off x="6492240" y="3520440"/>
            <a:ext cx="5150815" cy="2377440"/>
          </a:xfrm>
          <a:prstGeom prst="roundRect">
            <a:avLst>
              <a:gd name="adj" fmla="val 3077"/>
            </a:avLst>
          </a:prstGeom>
          <a:solidFill>
            <a:srgbClr val="E8EEF6"/>
          </a:solidFill>
          <a:ln w="12700">
            <a:solidFill>
              <a:srgbClr val="E8EEF6"/>
            </a:solidFill>
            <a:prstDash val="solid"/>
          </a:ln>
        </p:spPr>
      </p:sp>
      <p:sp>
        <p:nvSpPr>
          <p:cNvPr id="9" name="Text 4"/>
          <p:cNvSpPr txBox="1"/>
          <p:nvPr/>
        </p:nvSpPr>
        <p:spPr>
          <a:xfrm>
            <a:off x="6675120" y="3630168"/>
            <a:ext cx="4785055" cy="215798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Kitaplar</a:t>
            </a:r>
            <a:endParaRPr lang="en-US" sz="1700" dirty="0"/>
          </a:p>
          <a:p>
            <a:pPr algn="l" indent="0" marL="0">
              <a:spcAft>
                <a:spcPts val="500"/>
              </a:spcAft>
              <a:buNone/>
            </a:pPr>
            <a:r>
              <a:rPr lang="en-US" sz="1400" dirty="0">
                <a:solidFill>
                  <a:srgbClr val="1F2937"/>
                </a:solidFill>
                <a:latin typeface="Calibri" pitchFamily="34" charset="0"/>
                <a:ea typeface="Calibri" pitchFamily="34" charset="-122"/>
                <a:cs typeface="Calibri" pitchFamily="34" charset="-120"/>
              </a:rPr>
              <a:t>Johnston ve diğ., *Programming Quantum Computers* (O'Reilly)</a:t>
            </a:r>
            <a:endParaRPr lang="en-US" sz="1700" dirty="0"/>
          </a:p>
          <a:p>
            <a:pPr algn="l" indent="0" marL="0">
              <a:spcAft>
                <a:spcPts val="500"/>
              </a:spcAft>
              <a:buNone/>
            </a:pPr>
            <a:r>
              <a:rPr lang="en-US" sz="1400" dirty="0">
                <a:solidFill>
                  <a:srgbClr val="1F2937"/>
                </a:solidFill>
                <a:latin typeface="Calibri" pitchFamily="34" charset="0"/>
                <a:ea typeface="Calibri" pitchFamily="34" charset="-122"/>
                <a:cs typeface="Calibri" pitchFamily="34" charset="-120"/>
              </a:rPr>
              <a:t>Yanofsky, Mannucci, *QC for Computer Scientists*</a:t>
            </a:r>
            <a:endParaRPr lang="en-US" sz="1700" dirty="0"/>
          </a:p>
          <a:p>
            <a:pPr algn="l" indent="0" marL="0">
              <a:spcAft>
                <a:spcPts val="500"/>
              </a:spcAft>
              <a:buNone/>
            </a:pPr>
            <a:r>
              <a:rPr lang="en-US" sz="1400" dirty="0">
                <a:solidFill>
                  <a:srgbClr val="1F2937"/>
                </a:solidFill>
                <a:latin typeface="Calibri" pitchFamily="34" charset="0"/>
                <a:ea typeface="Calibri" pitchFamily="34" charset="-122"/>
                <a:cs typeface="Calibri" pitchFamily="34" charset="-120"/>
              </a:rPr>
              <a:t>Schuld, Petruccione, *Machine Learning with Quantum Computers*</a:t>
            </a:r>
            <a:endParaRPr lang="en-US" sz="1700" dirty="0"/>
          </a:p>
          <a:p>
            <a:pPr algn="l" indent="0" marL="0">
              <a:spcAft>
                <a:spcPts val="500"/>
              </a:spcAft>
              <a:buNone/>
            </a:pPr>
            <a:r>
              <a:rPr lang="en-US" sz="1400" dirty="0">
                <a:solidFill>
                  <a:srgbClr val="1F2937"/>
                </a:solidFill>
                <a:latin typeface="Calibri" pitchFamily="34" charset="0"/>
                <a:ea typeface="Calibri" pitchFamily="34" charset="-122"/>
                <a:cs typeface="Calibri" pitchFamily="34" charset="-120"/>
              </a:rPr>
              <a:t>Nielsen, Chuang, *Quantum Computation and Quantum Information*</a:t>
            </a:r>
            <a:endParaRPr lang="en-US" sz="17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Dersin kapanışı: 15 haftanın haritası</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15</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52</a:t>
            </a:r>
            <a:endParaRPr lang="en-US" sz="1000" dirty="0"/>
          </a:p>
        </p:txBody>
      </p:sp>
      <p:pic>
        <p:nvPicPr>
          <p:cNvPr id="6" name="Image 0" descr="görsel">    </p:cNvPr>
          <p:cNvPicPr>
            <a:picLocks noChangeAspect="1"/>
          </p:cNvPicPr>
          <p:nvPr/>
        </p:nvPicPr>
        <p:blipFill>
          <a:blip r:embed="rId1"/>
          <a:stretch>
            <a:fillRect/>
          </a:stretch>
        </p:blipFill>
        <p:spPr>
          <a:xfrm>
            <a:off x="1727104" y="1097280"/>
            <a:ext cx="8737487" cy="3566160"/>
          </a:xfrm>
          <a:prstGeom prst="rect">
            <a:avLst/>
          </a:prstGeom>
        </p:spPr>
      </p:pic>
      <p:sp>
        <p:nvSpPr>
          <p:cNvPr id="7" name="Shape 3"/>
          <p:cNvSpPr/>
          <p:nvPr/>
        </p:nvSpPr>
        <p:spPr>
          <a:xfrm>
            <a:off x="548640" y="4754880"/>
            <a:ext cx="11094415" cy="1188720"/>
          </a:xfrm>
          <a:prstGeom prst="roundRect">
            <a:avLst>
              <a:gd name="adj" fmla="val 6154"/>
            </a:avLst>
          </a:prstGeom>
          <a:solidFill>
            <a:srgbClr val="E8EEF6"/>
          </a:solidFill>
          <a:ln w="12700">
            <a:solidFill>
              <a:srgbClr val="E8EEF6"/>
            </a:solidFill>
            <a:prstDash val="solid"/>
          </a:ln>
        </p:spPr>
      </p:sp>
      <p:sp>
        <p:nvSpPr>
          <p:cNvPr id="8" name="Text 4"/>
          <p:cNvSpPr txBox="1"/>
          <p:nvPr/>
        </p:nvSpPr>
        <p:spPr>
          <a:xfrm>
            <a:off x="731520" y="4864608"/>
            <a:ext cx="10728655" cy="96926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Son söz</a:t>
            </a:r>
            <a:endParaRPr lang="en-US" sz="17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Kalıcı olan bir API değil, bir </a:t>
            </a:r>
            <a:r>
              <a:rPr lang="en-US" sz="1700" b="1" dirty="0">
                <a:solidFill>
                  <a:srgbClr val="1F2937"/>
                </a:solidFill>
                <a:latin typeface="Calibri" pitchFamily="34" charset="0"/>
                <a:ea typeface="Calibri" pitchFamily="34" charset="-122"/>
                <a:cs typeface="Calibri" pitchFamily="34" charset="-120"/>
              </a:rPr>
              <a:t>düşünme biçimi</a:t>
            </a:r>
            <a:r>
              <a:rPr lang="en-US" sz="1700" dirty="0">
                <a:solidFill>
                  <a:srgbClr val="1F2937"/>
                </a:solidFill>
                <a:latin typeface="Calibri" pitchFamily="34" charset="0"/>
                <a:ea typeface="Calibri" pitchFamily="34" charset="-122"/>
                <a:cs typeface="Calibri" pitchFamily="34" charset="-120"/>
              </a:rPr>
              <a:t>: durum = vektör, kapı = fonksiyon, algoritma = faz manipülasyonu; her iddiayı </a:t>
            </a:r>
            <a:r>
              <a:rPr lang="en-US" sz="1700" b="1" dirty="0">
                <a:solidFill>
                  <a:srgbClr val="1F2937"/>
                </a:solidFill>
                <a:latin typeface="Calibri" pitchFamily="34" charset="0"/>
                <a:ea typeface="Calibri" pitchFamily="34" charset="-122"/>
                <a:cs typeface="Calibri" pitchFamily="34" charset="-120"/>
              </a:rPr>
              <a:t>ölçerek, karşılaştırarak ve maliyetini hesaplayarak</a:t>
            </a:r>
            <a:r>
              <a:rPr lang="en-US" sz="1700" dirty="0">
                <a:solidFill>
                  <a:srgbClr val="1F2937"/>
                </a:solidFill>
                <a:latin typeface="Calibri" pitchFamily="34" charset="0"/>
                <a:ea typeface="Calibri" pitchFamily="34" charset="-122"/>
                <a:cs typeface="Calibri" pitchFamily="34" charset="-120"/>
              </a:rPr>
              <a:t> sına. Teşekkürler!</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2026-09-23T15:57:58Z</dcterms:created>
  <dcterms:modified xsi:type="dcterms:W3CDTF">2026-09-23T15:57:58Z</dcterms:modified>
</cp:coreProperties>
</file>