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1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Bell durumu: olasılıklar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Olasılık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00</c:v>
                  </c:pt>
                  <c:pt idx="1">
                    <c:v>01</c:v>
                  </c:pt>
                  <c:pt idx="2">
                    <c:v>10</c:v>
                  </c:pt>
                  <c:pt idx="3">
                    <c:v>11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</c:v>
                </c:pt>
                <c:pt idx="2">
                  <c:v>0</c:v>
                </c:pt>
                <c:pt idx="3">
                  <c:v>0.5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hafta matematiği sadece kod yazmak için gerektiği kadar işliyoruz. Her kavramı NumPy'deki karşılığıyla birlikte verin. Haftanın sonunda öğrenciler kendi simülatörlerini yazmış olacak; bu motivasyonu en başta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saatin akışı. İkinci saatteki tensör çarpımı ve bit sırası konusu en çok zorlanılan kısım; oraya zaman ayırın.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Tabloyu haftanın haritası olarak kullanın. Her satır bir bölüm. Sağ sütundaki NumPy karşılıklarını vurgulayın: amaç formül ezberlemek değil, kodunu yazabilmek.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Karmaşık sayıları 2B nokta olarak anlatın; yazılımcılar için en sezgisi budur.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 = a + bi. Python'da 3+4j. Büyüklük ve açıyı çizim üzerinden gösterin. Eşlenik: x eksenine göre yansıma.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Euler formülünü verin ama ispatına girmeyin. Önemli olan: e^(iφ) ile çarpmak büyüklüğü değiştirmez, sadece döndürür. Sağdaki tabloda hangi kapıların hangi fazı eklediği var; 4-5. haftada tekrar gelecek.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Öğrencilere 2 dakika verin, sonra adım adım çözün.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örnek Bölüm 5'teki göreli faz konusuna köprü kuruyor.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İç çarpım = izdüşüm. Genel olasılık kuralını burada veriyoruz.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Ket sütun vektörü, bra eşlenik satır vektörü. Bra-ket birleşince bir sayı (iç çarpım) olur. np.vdot tuzağını mutlaka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haftadaki P(0) = |α|² kuralı bunun özel hâli. Bu genel form 3. haftada farklı bazlarda ölçüm yaparken kullanılacak.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 vektörü |+⟩'ya çok yakın (açı küçük), bu yüzden P(+) yüksek. Şekildeki izdüşümle ilişkilendirin.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bölümün en önemli mesajı sıra kuralı.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Kapıyı bir fonksiyon gibi anlatın: vektör alır, vektör döndürür. Tablo sadece referans; kapıların ayrıntısı 4-5. haftada.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Örnek 3 ile bağlantıyı vurgulayın: H kapısı bazı değiştirir.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Yazılımcılar için f(g(x)) benzetmesi işe yarar: önce g, sonra f. Devrede önce H sonra X ise matematikte X·H. Lab'da yanlış sıranın farklı sonuç verdiğini görecekler.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Sadece işaret farkı var gibi görünse de bu bir göreli faz farkına yol açabilir.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 dagger = eşlenik transpoz. Üniterlik iki şey garanti eder: olasılık toplamı 1 kalır ve kapı geri alınabilir. Ölçümün üniter olmadığını, bu yüzden geri alınamadığını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is_unitary fonksiyonunu lab'da (Alıştırma 3) yazacaklar.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Kuantum algoritmalarının temel hilesini ilk kez burada görüyorlar.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Vektörün tamamını aynı fazla çarpmak hiçbir şeyi değiştirmez; aynı durum. Yazılım sonucu: iki vektörü karşılaştırırken np.allclose yetmez.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Sadece bir genliğin fazını değiştirince olasılıklar aynı kalıyor ama Bloch noktası ekvator boyunca dönüyor. Turuncu noktalı çizgi dönüş yolunu gösteriyor. Bu, S, T, Z ve Rz kapılarının yaptığı şeydir.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Algoritmaların hilesi: cevabı fazlara kodla, sonra H ile olasılığa çevir. Deutsch-Jozsa (8. hafta), Grover (9) ve QFT (10) hep bunu yapıyor.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İkinci saat. Bit sırası konusunda yavaş gidin.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kombinasyon (00, 01, 10, 11) için bir genlik. Bağımsız kübitlerde genlikler çarpılır. İndeksin ikili yazılışı bit dizisini veriyor.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çok önemli. Kron zincirinin en solu en yüksek numaralı kübit. Böylece indeksin ikili yazılışı Qiskit sonuç stringiyle aynı oluyor. Nielsen-Chuang ters sırayı kullanır; kaynak okurken dikkat.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Sıranın önemini göstermek için [1,0]⊗[0.6,0.8]'i de hesaplatın (ödev sorusu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I⊗X yalnız q0'a, H⊗I yalnız q1'e. Isı haritası aynı kapının farklı kübite uygulanınca bambaşka bir 4x4 yapı oluşturduğunu gösteriyor.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Qiskit'te qc.x(0); qc.h(1) çalıştırıp Statevector ile karşılaştırın.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Bell durumu iki ayrı vektörün çarpımı olarak yazılamaz. Kodla test: 2x2'ye çevir, rankına bak. Dolanık kübitlerin kendi ayrı vektörleri yoktur.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 testinin mantığı: çarpım durumu = dış çarpım = rank 1 matris.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Marjinal olasılık GROUP BY gibi: kübitin biti 1 olan tüm indeksleri topla. ⟨Z⟩ QML haftalarında modelin çıktısı olacak; Bloch z koordinatına eşit olduğunu vurgulayın.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bağlantı QML haftalarında çok önemli olacak.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Lab'a geçiş. Bölüm F'de MiniSim'i birlikte yazın; test kısmını öğrenciler çalıştırsın.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metodun hangi kavramı kullandığını gösterin. Simülatörün içinde gizemli bir şey olmadığını görmeleri bu haftanın asıl kazanımı.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Kodu satır satır okuyun. apply_cx'teki bit işlemlerini açıklayın: (i &gt;&gt; c) &amp; 1 kontrol biti; i ^ (1 &lt;&lt; t) hedef bitini çevirir.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Yazılım mühendisliği yaklaşımı: bağımsız bir referansla karşılaştırarak test et. Tam matris yönteminin ölçeklenmediğini grafikle gösterin; verimli sürüm lab'da 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Bölüm F en uzun kısım. Alıştırmaların hepsi assert ile otomatik kontrol ediliyor.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Özeti birlikte tekrar edin.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Gelecek hafta kübit ve ölçüm derinlemesine: farklı bazlarda ölçüm ve Bloch küresinde durum okuma.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7D2E3"/>
                </a:solidFill>
              </a:rPr>
              <a:t>KUANTUM HESAPLAMA VE UYGULAMALARI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Hafta 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603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Kuantum Programlama İçin Gereken Matematik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Karmaşık sayılar · iç çarpım · matris = kapı · faz · tensör çarpımı · NumPy ile kendi simülatörümüz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planı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saat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 sayılar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Vektörler ve iç çarpım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Matris = kapı, sıra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Üniterlik ve faz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4246778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1098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saat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21098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örnekler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521098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Tensör çarpımı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bit sırası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Dolanıklık testi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 değer ⟨Z⟩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7944917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19237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saat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219237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(Colab)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219237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kavramlar NumPy'de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MiniSim simülatörü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ile doğrulama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Alıştırmalar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bu matematik? Kavram → kullanım → kod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2662660"/>
                <a:gridCol w="4881543"/>
                <a:gridCol w="3550213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Kavram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Kuantumda ne işe yarar?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Karmaşık sayı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Genlik; faz bilgisi taşır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abs(z)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np.angle(z)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Vektör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Kübit durumu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np.array([a, b])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 çarpım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Olasılık, diklik testi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np.vdot(a, b)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 @ q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Üniterlik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Geçerli kapı, tersi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U.conj().T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Algoritmaların gücü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np.exp(1j*phi)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Tensör çarpımı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kübitli durum ve kapı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np.kron(a, b)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Beklenen değer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QML model çıktısı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np.vdot(q, Z @ q)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Karmaşık sayılar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Genliklerin dili: büyüklük ve faz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 sayı = 2B düzlemde bir nokta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358" y="1097280"/>
            <a:ext cx="4181204" cy="493776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280160"/>
          <a:ext cx="5608015" cy="914400"/>
        </p:xfrm>
        <a:graphic>
          <a:graphicData uri="http://schemas.openxmlformats.org/drawingml/2006/table">
            <a:tbl>
              <a:tblPr/>
              <a:tblGrid>
                <a:gridCol w="1682405"/>
                <a:gridCol w="1682405"/>
                <a:gridCol w="2243206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= 3 + 4i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 / sanal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z.real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z.imag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Eşlenik z*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3 − 4i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np.conj(z)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Büyüklük |z|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abs(z)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|z|² = z·z*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abs(z)**2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 φ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53,13°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np.angle(z)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Kutupsal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5·e^(i·0,927)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r*np.exp(1j*phi)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6035040" y="4937760"/>
            <a:ext cx="5608015" cy="960120"/>
          </a:xfrm>
          <a:prstGeom prst="roundRect">
            <a:avLst>
              <a:gd name="adj" fmla="val 7619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217920" y="5047488"/>
            <a:ext cx="52422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 =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|z|²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z² değil! z = i için z² = −1, |z|² = 1.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çarpanı e^(iφ): büyüklüğü 1, sadece açı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8348"/>
            <a:ext cx="4937760" cy="403562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852160" y="1234440"/>
            <a:ext cx="5790895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852160" y="1234440"/>
            <a:ext cx="5790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e^(iφ) = cos φ + i·sin φ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2377440"/>
          <a:ext cx="5790895" cy="914400"/>
        </p:xfrm>
        <a:graphic>
          <a:graphicData uri="http://schemas.openxmlformats.org/drawingml/2006/table">
            <a:tbl>
              <a:tblPr/>
              <a:tblGrid>
                <a:gridCol w="1447724"/>
                <a:gridCol w="2316358"/>
                <a:gridCol w="2026813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φ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e^(iφ)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Hangi kapıda?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π/4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(1+i)/√2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π/2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3π/2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S†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852160" y="5303520"/>
            <a:ext cx="5790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Genliği e^(iφ) ile çarpmak → </a:t>
            </a: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büyüklük aynı</a:t>
            </a: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açı φ kadar döner.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 · Karmaşık sayı işlemleri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3 + 4i için |z|, z*, |z|² ve faz? z·z* neden hep gerçektir?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|z| = √(9 + 16) = 5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z* = 3 − 4i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z·z* = 9 − 12i + 12i − 16i² = 25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Sanal terimler birbirini götürür → z·z* = a² + b² her zaman gerçek.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 = atan2(4, 3) ≈ 53,13°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|z| = 5, z* = 3 − 4i, |z|² = 25, φ ≈ 53,13°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9260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3 + 4j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abs(z)   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np.conj(z)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(3-4j)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abs(z)**2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25.0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np.degrees(np.angle(z))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53.13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2 · Faz çarpanı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e^(iπ/2), e^(iπ), e^(iπ/4)? q = [0.6, 0.8]'in ikinci genliği e^(iπ/2) ile çarpılırsa olasılıklar değişir mi?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e^(iπ/2) = i     e^(iπ) = −1     e^(iπ/4) ≈ 0.707 + 0.707i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Yeni vektör [0.6, 0.8i]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|0.6|² = 0.36     |0.8i|² = 0.64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Olasılıklar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değişmez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değişen genliğin açısıdır (göreli faz).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Olasılıklar aynı: 0.36 / 0.64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Vektörler ve iç çarpım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Olasılığın genel formülü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Ket, bra ve iç çarpım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400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880360"/>
                <a:gridCol w="2240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Notasyon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Anlamı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|q⟩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Sütun vektörü (ket)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⟨q|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Eşlenik satır vektörü (bra)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q.conj()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⟨a|b⟩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 çarpım: Σ aᵢ*·bᵢ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np.vdot(a, b)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‖q‖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Uzunluk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np.linalg.norm(q)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315200" y="1280160"/>
            <a:ext cx="4327855" cy="1280160"/>
          </a:xfrm>
          <a:prstGeom prst="roundRect">
            <a:avLst>
              <a:gd name="adj" fmla="val 714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0" y="1280160"/>
            <a:ext cx="4327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⟨a|b⟩ = Σ aᵢ* · bᵢ</a:t>
            </a:r>
            <a:endParaRPr lang="en-US" sz="2600" dirty="0"/>
          </a:p>
        </p:txBody>
      </p:sp>
      <p:sp>
        <p:nvSpPr>
          <p:cNvPr id="9" name="Shape 5"/>
          <p:cNvSpPr/>
          <p:nvPr/>
        </p:nvSpPr>
        <p:spPr>
          <a:xfrm>
            <a:off x="7315200" y="2834640"/>
            <a:ext cx="4327855" cy="1737360"/>
          </a:xfrm>
          <a:prstGeom prst="roundRect">
            <a:avLst>
              <a:gd name="adj" fmla="val 4211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98080" y="2944368"/>
            <a:ext cx="3962095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tuzağı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np.dot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eşlenik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almaz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[i, 0]: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np.dot(a,a)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−1 ✗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np.vdot(a,a)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 ✓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206240"/>
            <a:ext cx="6400800" cy="1645920"/>
          </a:xfrm>
          <a:prstGeom prst="roundRect">
            <a:avLst>
              <a:gd name="adj" fmla="val 444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" y="4315968"/>
            <a:ext cx="60350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Diklik (ortogonallik)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⟨a|b⟩ = 0 ise vektörler diktir.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⟨0|1⟩ = 0,  ⟨+|−⟩ = 0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olasılık kuralı: |⟨φ|q⟩|²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591" y="1097280"/>
            <a:ext cx="5281618" cy="4846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217920" y="1280160"/>
            <a:ext cx="5425135" cy="1188720"/>
          </a:xfrm>
          <a:prstGeom prst="roundRect">
            <a:avLst>
              <a:gd name="adj" fmla="val 7692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17920" y="1280160"/>
            <a:ext cx="5425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P(q, φ olarak bulunur) = |⟨φ|q⟩|²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6217920" y="2743200"/>
            <a:ext cx="542513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|0⟩ seçilirse: ⟨0|q⟩ = α  → 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P(0) = |α|²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(1. hafta)</a:t>
            </a:r>
            <a:endParaRPr lang="en-US" sz="18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çarpım geometrik olarak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izdüşümdür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haftada: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bazlarda ölçüm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3 · İç çarpım ve olasılık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[0.6, 0.8] için ⟨0|q⟩, ⟨+|q⟩? q'nun |+⟩ ve |−⟩ olarak bulunma olasılıkları?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⟨0|q⟩ = 0.6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⟨+|q⟩ = (0.6 + 0.8)/√2 ≈ 0.9899  →  P(+) = 0.98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⟨−|q⟩ = (0.6 − 0.8)/√2 ≈ −0.1414  →  P(−) = 0.02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0.98 + 0.02 = 1 ✓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P(+) = 0.98, P(−) = 0.02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1089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plus  = np.array([1, 1])/np.sqrt(2)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minus = np.array([1,-1])/np.sqrt(2)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np.array([0.6, 0.8])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abs(np.vdot(plus, q))**2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0.98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abs(np.vdot(minus, q))**2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0.02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Matrisler ve kapılar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Matris = fonksiyon, sıra kuralı, üniterlik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 = durum vektörünü değiştiren matris fonksiyonu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7306" y="1097280"/>
            <a:ext cx="6357084" cy="182880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11094415" cy="914400"/>
        </p:xfrm>
        <a:graphic>
          <a:graphicData uri="http://schemas.openxmlformats.org/drawingml/2006/table">
            <a:tbl>
              <a:tblPr/>
              <a:tblGrid>
                <a:gridCol w="1109442"/>
                <a:gridCol w="3772101"/>
                <a:gridCol w="3772101"/>
                <a:gridCol w="2440771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Etkisi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[[0, 1], [1, 0]]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|0⟩ ↔ |1⟩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qc.x(0)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[[1, 0], [0, −1]]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|1⟩'in işareti çevrilir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qc.z(0)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(1/√2)[[1, 1], [1, −1]]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|0⟩→|+⟩, |1⟩→|−⟩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qc.h(0)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[[1, 0], [0, i]]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|1⟩'e 90° faz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qc.s(0)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[[1, 0], [0, e^(iπ/4)]]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|1⟩'e 45° faz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qc.t(0)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4 · Matris × vektör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kapısını q = [0.6, 0.8]'e uygulayın. Yeni olasılıklar?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H·q = (1/√2)·[0.6 + 0.8 , 0.6 − 0.8]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q' ≈ [0.990 , −0.141]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P(0) = 0.98      P(1) = 0.02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Örnek 3 ile aynı sayılar!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+ ölçüm = |+⟩/|−⟩ bazında ölçüm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(3. hafta).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q' ≈ [0.990, −0.141]; P(0) = 0.98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3774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np.array([[1, 1],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[1,-1]])/np.sqrt(2)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np.array([0.6, 0.8])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@ q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[ 0.99, -0.141]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 kuralı: devre soldan sağa, matematik sağdan sola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488" y="1097280"/>
            <a:ext cx="9956719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4632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956048"/>
            <a:ext cx="107286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 bileşimi gibi: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f(g(x))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önce g, sonra f.  Devrede H → X ise matematikte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· H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5 · Sıra önemlidir: XZ ≠ ZX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X·Z ve Z·X aynı mıdır?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X·Z = [[0, −1], [1, 0]]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Z·X = [[0, 1], [−1, 0]]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XZ = −ZX: sonuçlar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Matris çarpımı değişmeli değildir → devredeki kapıların sırası sonucu değiştirebilir.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XZ ≠ ZX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7432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@ Z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[[ 0, -1],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[ 1,  0]]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@ 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[[ 0,  1],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[-1,  0]]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Üniterlik: her kapının uyması gereken kural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11094415" cy="1097280"/>
          </a:xfrm>
          <a:prstGeom prst="roundRect">
            <a:avLst>
              <a:gd name="adj" fmla="val 8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U† · U = I          U† = U.conj().T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3423818" cy="1645920"/>
          </a:xfrm>
          <a:prstGeom prst="roundRect">
            <a:avLst>
              <a:gd name="adj" fmla="val 444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715768"/>
            <a:ext cx="305805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Normu korur</a:t>
            </a:r>
            <a:endParaRPr lang="en-US" sz="18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 toplamı her kapıdan sonra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kalır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246778" y="2606040"/>
            <a:ext cx="3423818" cy="1645920"/>
          </a:xfrm>
          <a:prstGeom prst="roundRect">
            <a:avLst>
              <a:gd name="adj" fmla="val 444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29658" y="2715768"/>
            <a:ext cx="305805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Tersi vardır</a:t>
            </a:r>
            <a:endParaRPr lang="en-US" sz="18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U⁻¹ = U† → her kapı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alınabilir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944917" y="2606040"/>
            <a:ext cx="3423818" cy="1645920"/>
          </a:xfrm>
          <a:prstGeom prst="roundRect">
            <a:avLst>
              <a:gd name="adj" fmla="val 444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27797" y="2715768"/>
            <a:ext cx="305805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Bileşim üniter</a:t>
            </a:r>
            <a:endParaRPr lang="en-US" sz="18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devre de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üniter bir matristir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4526280"/>
            <a:ext cx="11094415" cy="1325880"/>
          </a:xfrm>
          <a:prstGeom prst="roundRect">
            <a:avLst>
              <a:gd name="adj" fmla="val 55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636008"/>
            <a:ext cx="10728655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mantıktan fark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tersinir değil (çıktı 0 → girdi 00, 01 ya da 10 olabilir). Kuantum kapılarında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kaybolmaz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Ölçüm üniter değildir → geri alınamaz.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6 · Üniterlik testi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ve M = [[1, 1], [0, 1]] üniter mi? M'yi |+⟩'ya uygularsak?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H†H = H·H = I  ✓   (H kendi tersidir)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M†M = [[1, 1], [1, 2]] ≠ I  ✗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M·|+⟩ = [1.414, 0.707] → olasılık toplamı 2.5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Toplam 1 değil → M bir kuantum kapısı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olamaz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 üniter; M değil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2918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is_unitary(M):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np.asarray(M, complex)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np.allclose(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M.conj().T @ M,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np.eye(len(M)))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is_unitary(H)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is_unitary([[1,1],[0,1]])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Faz: global ve göreli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Algoritmaların gücünün kaynağı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faz: gözlemlenemez, önemsizdir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28" y="1097280"/>
            <a:ext cx="7110423" cy="38404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138160" y="1280160"/>
            <a:ext cx="3504895" cy="1828800"/>
          </a:xfrm>
          <a:prstGeom prst="roundRect">
            <a:avLst>
              <a:gd name="adj" fmla="val 4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321040" y="1389888"/>
            <a:ext cx="3139135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ve e^(iφ)·q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kuantum durumudur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olasılıklar, Bloch noktası ve sonraki tüm sonuçlar aynı.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8138160" y="3291840"/>
            <a:ext cx="3504895" cy="1828800"/>
          </a:xfrm>
          <a:prstGeom prst="roundRect">
            <a:avLst>
              <a:gd name="adj" fmla="val 4000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321040" y="3401568"/>
            <a:ext cx="3139135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Yazılımda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np.allclose(a, b)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yetmez.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test: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abs(np.vdot(a, b)) ≈ 1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212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[0.6, 0.8] ve i·q = [0.6i, 0.8i] → Bloch'ta aynı nokta, olasılıklar aynı (0.36 / 0.64).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Göreli faz: ekvator etrafında dönüş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3227"/>
            <a:ext cx="11094415" cy="310570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9204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4892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[1, e^(iφ)] / √2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4480560" y="4892040"/>
            <a:ext cx="7162495" cy="91440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663440" y="5001768"/>
            <a:ext cx="67967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Olasılıklar hep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%50 / %50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ama durum gerçekten farklı: nokta ekvatorda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kadar döner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Göreli faz ölçümle görülmez, H ile görünür olur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64152"/>
            <a:ext cx="6583680" cy="2483775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463040"/>
          <a:ext cx="4236415" cy="914400"/>
        </p:xfrm>
        <a:graphic>
          <a:graphicData uri="http://schemas.openxmlformats.org/drawingml/2006/table">
            <a:tbl>
              <a:tblPr/>
              <a:tblGrid>
                <a:gridCol w="1270925"/>
                <a:gridCol w="1482745"/>
                <a:gridCol w="1482745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sonrası ölçüm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%50 / %50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%100 → 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%50 / %50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%100 →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438912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31520" y="4498848"/>
            <a:ext cx="10728655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algoritmalarının temel hilesi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Cevabı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göreli fazlara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kodla → H gibi kapılarla fazları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ölçülebilir olasılık farklarına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dönüştür. (Deutsch-Jozsa, Grover, QFT)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2.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Tensör çarpımı ve çözümlü örnekler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Kübitleri birleştirmek, Qiskit bit sırası, dolanıklık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Tensör çarpımı: iki kübitin ortak durumu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97547"/>
            <a:ext cx="6766560" cy="418858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589520" y="1280160"/>
            <a:ext cx="4053535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589520" y="1280160"/>
            <a:ext cx="4053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[a₀, a₁] ⊗ [b₀, b₁]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589520" y="2468880"/>
            <a:ext cx="405353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[a₀b₀, a₀b₁, a₁b₀, a₁b₁]</a:t>
            </a:r>
            <a:endParaRPr lang="en-US" sz="19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NumPy: </a:t>
            </a:r>
            <a:r>
              <a:rPr lang="en-US" sz="19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np.kron(q1, q0)</a:t>
            </a:r>
            <a:endParaRPr lang="en-US" sz="19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kübit →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2ⁿ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genlik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dersin bit sırası kuralı (Qiskit ile uyumlu)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5760720" cy="2011680"/>
          </a:xfrm>
          <a:prstGeom prst="roundRect">
            <a:avLst>
              <a:gd name="adj" fmla="val 363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89888"/>
            <a:ext cx="539496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np.kron(q1, q0)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en soldaki çarpan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yüksek numaralı kübit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q₍ₙ₋₁₎ ⊗ … ⊗ q₁ ⊗ q₀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3474720"/>
            <a:ext cx="5760720" cy="2377440"/>
          </a:xfrm>
          <a:prstGeom prst="roundRect">
            <a:avLst>
              <a:gd name="adj" fmla="val 3077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3584448"/>
            <a:ext cx="539496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İndeksin ikili yazılışı = Qiskit sonuç stringi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kübit, indeks 5 =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q₂ = 1, q₁ = 0, q₀ = 1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&amp; Chuang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sırayı kullanır!</a:t>
            </a:r>
            <a:endParaRPr lang="en-US" sz="17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280160"/>
          <a:ext cx="4967935" cy="914400"/>
        </p:xfrm>
        <a:graphic>
          <a:graphicData uri="http://schemas.openxmlformats.org/drawingml/2006/table">
            <a:tbl>
              <a:tblPr/>
              <a:tblGrid>
                <a:gridCol w="1987174"/>
                <a:gridCol w="2980761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İndeks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q₂q₁q₀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7 · Tensör çarpımı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q₁ = [0.6, 0.8], q₀ = [1, 0]. İki kübitli durum ve olasılıklar?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[0.6·1, 0.6·0, 0.8·1, 0.8·0] = [0.6, 0, 0.8, 0]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İndeks → bit: 0→00, 1→01, 2→10, 3→11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P(00) = 0.36    P(10) = 0.64    P(01) = P(11) = 0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q₀ her zaman 0; q₁ 0.36/0.64 → bağımsız kübitler.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[0.6, 0, 0.8, 0]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7432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np.kron([0.6, 0.8], [1, 0])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[0.6, 0. , 0.8, 0. 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np.kron([1, 0], [0.6, 0.8])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[0.6, 0.8, 0. , 0. 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farklı!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kübite kapı: diğerlerine I koy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1972"/>
            <a:ext cx="7498080" cy="3613976"/>
          </a:xfrm>
          <a:prstGeom prst="rect">
            <a:avLst/>
          </a:prstGeom>
        </p:spPr>
      </p:pic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1280160"/>
          <a:ext cx="3322015" cy="914400"/>
        </p:xfrm>
        <a:graphic>
          <a:graphicData uri="http://schemas.openxmlformats.org/drawingml/2006/table">
            <a:tbl>
              <a:tblPr/>
              <a:tblGrid>
                <a:gridCol w="1827108"/>
                <a:gridCol w="1494907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 matris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yalnız q₀'a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⊗ 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yalnız q₁'e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⊗ 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İkisi birden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⊗ 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kübit, X q₁'e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⊗ X ⊗ 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548640" y="5303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Mavi: pozitif, turuncu: negatif, gri: 0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8 · Çok kübitli kapı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|00⟩'dan başla: q₀'a X, q₁'e H. Son durum ve olasılıklar?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q₀: X|0⟩ = [0, 1]      q₁: H|0⟩ = [0.707, 0.707]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q₁ ⊗ q₀ = [0, 0.707, 0, 0.707]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Dolu indeksler 1 (01) ve 3 (11): q₀ hep 1, q₁ %50–%50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Tam matris ile: (H ⊗ X)·[1,0,0,0] aynı sonucu verir ✓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[0, 0.707, 0, 0.707]</a:t>
            </a:r>
            <a:endParaRPr lang="en-US" sz="17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1674" y="1417320"/>
            <a:ext cx="2597788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Dolanıklık: çarpana ayrılamayan durumlar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393" y="1188720"/>
            <a:ext cx="3050974" cy="2194560"/>
          </a:xfrm>
          <a:prstGeom prst="rect">
            <a:avLst/>
          </a:prstGeom>
        </p:spPr>
      </p:pic>
      <p:graphicFrame>
        <p:nvGraphicFramePr>
          <p:cNvPr id="7" name="Chart 0" descr=""/>
          <p:cNvGraphicFramePr/>
          <p:nvPr/>
        </p:nvGraphicFramePr>
        <p:xfrm>
          <a:off x="4572000" y="1143000"/>
          <a:ext cx="38404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3"/>
          <p:cNvSpPr/>
          <p:nvPr/>
        </p:nvSpPr>
        <p:spPr>
          <a:xfrm>
            <a:off x="8686800" y="1188720"/>
            <a:ext cx="2956255" cy="2926080"/>
          </a:xfrm>
          <a:prstGeom prst="roundRect">
            <a:avLst>
              <a:gd name="adj" fmla="val 25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869680" y="1298448"/>
            <a:ext cx="2590495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 vektörü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[0.707, 0, 0, 0.707]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kübit tek başına %50–%50, ama sonuçlar hep eşit.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548640" y="4389120"/>
            <a:ext cx="11094415" cy="14630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85800" y="4480560"/>
            <a:ext cx="108200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is_product_state(psi):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np.linalg.matrix_rank(psi.reshape(2, 2)) ==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is_product_state(np.kron([1, 0], plus))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is_product_state(bell)            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 -&gt; dolanık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9 · Bell durumu çarpana ayrılamaz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[1/√2, 0, 0, 1/√2] = [a₀, a₁] ⊗ [b₀, b₁] yazılabilir mi?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a₀b₀ = 1/√2    a₀b₁ = 0    a₁b₀ = 0    a₁b₁ = 1/√2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a₀b₀ ≠ 0 → a₀, b₀ ≠ 0;   a₁b₁ ≠ 0 → a₁, b₁ ≠ 0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 zaman a₀b₁ ≠ 0 olmalı, ama 0 →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çelişki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Kübitlerin ayrı ayrı vektörleri yoktur →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dolanık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Yazılamaz; durum dolanıktır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Marjinal olasılık ve beklenen değer ⟨Z⟩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5410048" cy="2103120"/>
          </a:xfrm>
          <a:prstGeom prst="roundRect">
            <a:avLst>
              <a:gd name="adj" fmla="val 3478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89888"/>
            <a:ext cx="504428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Marjinal olasılık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P(qₖ = 1) = k'ıncı biti 1 olan indekslerin olasılık toplamı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Bell: P(q₀ = 1) = P(01) + P(11) =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33008" y="1280160"/>
            <a:ext cx="5410048" cy="2103120"/>
          </a:xfrm>
          <a:prstGeom prst="roundRect">
            <a:avLst>
              <a:gd name="adj" fmla="val 3478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5888" y="1389888"/>
            <a:ext cx="504428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 değer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⟨Z⟩ = ⟨q|Z|q⟩ =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P(0) − P(1)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Bloch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koordinatı; ⟨X⟩ = x, ⟨Y⟩ = y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3657600"/>
            <a:ext cx="11094415" cy="13716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3749040"/>
            <a:ext cx="10820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prob_qubit_one(state, k):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sum(abs(a)**2 for i, a in enumerate(state) if (i &gt;&gt; k) &amp; 1)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expval(U, psi):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np.vdot(psi, U @ psi).real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⟨ψ|U|ψ⟩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donanımda ⟨Z⟩ sayımlardan tahmin edilir: </a:t>
            </a: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(N₀ − N₁) / N</a:t>
            </a: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QML haftalarında (12–15) model çıktısı budur.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10 · Beklenen değerler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[0.6, 0.8] için ⟨Z⟩ ve ⟨X⟩? Bloch koordinatlarıyla karşılaştırın.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⟨Z⟩ = 0.36 − 0.64 = −0.28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X|q⟩ = [0.8, 0.6]  →  ⟨X⟩ = 0.6·0.8 + 0.8·0.6 = 0.96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Bloch (Hafta 1): x = 2·0.6·0.8 = 0.96, z = −0.28 ✓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⟨Z⟩ = −0.28, ⟨X⟩ = 0.96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3774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np.diag([1, -1])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np.array([[0,1],[1,0]])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np.array([0.6, 0.8])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np.vdot(q, Z @ q)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-0.28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np.vdot(q, X @ q)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0.96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3.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Lab: MiniSim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NumPy ile kendi kuantum simülatörümüz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MiniSim: ~40 satırlık durum vektörü simülatörü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504" y="1097280"/>
            <a:ext cx="10346688" cy="2834640"/>
          </a:xfrm>
          <a:prstGeom prst="rect">
            <a:avLst/>
          </a:prstGeom>
        </p:spPr>
      </p:pic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8320811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Kullanılan kavram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__init__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 vektörü |00…0⟩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apply_1q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Tensör çarpımı + matris × vektör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apply_cx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 işlemleriyle permütasyon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|genlik|² ile olasılıklı örnekleme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MiniSim kodu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48463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3444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MiniSim: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 =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self.state = np.zeros(2**n, dtype=complex); self.state[0] =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_full_matrix(self, U, target):         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q_{n-1} ⊗ ... ⊗ q_0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 = np.array([[1]], dtype=complex)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k in reversed(range(self.n)):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 = np.kron(M, U if k == target else I)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apply_1q(self, U, target):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self.state = self._full_matrix(U, target) @ self.state; return self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apply_cx(self, control, target):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 = self.state.copy()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 in range(2**self.n):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(i &gt;&gt; control) &amp; 1:              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kontrol biti 1 mi?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new[i ^ (1 &lt;&lt; target)] = self.state[i]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hedef bitini çevir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self.state = new; return self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sample(self, shots=1000, seed=None):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 = np.abs(self.state)**2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idx = np.random.default_rng(seed).choice(2**self.n, size=shots, p=p)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v, c = np.unique(idx, return_counts=True)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{format(int(a), f"0{self.n}b"): int(b) for a, b in zip(v, c)}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Doğrulama: 200 rastgele devrede MiniSim = Qiskit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5852160" cy="27432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5577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 = MiniSim(2).apply_1q(H, 0).apply_cx(0,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QuantumCircuit(2); qc.h(0); qc.cx(0,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np.allclose(sim.state, Statevector.from_instruction(qc).data)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random_test(n=3, depth=12, trials=200)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200 rastgele devrede MiniSim == Qiskit ? True</a:t>
            </a:r>
            <a:endParaRPr lang="en-US" sz="1400" dirty="0"/>
          </a:p>
        </p:txBody>
      </p:sp>
      <p:pic>
        <p:nvPicPr>
          <p:cNvPr id="8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282" y="4114800"/>
            <a:ext cx="2344795" cy="18288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566160" y="4572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GHZ sonucu: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{'000': 503, '111': 497}</a:t>
            </a:r>
            <a:endParaRPr lang="en-US" sz="1300" dirty="0"/>
          </a:p>
        </p:txBody>
      </p:sp>
      <p:pic>
        <p:nvPicPr>
          <p:cNvPr id="10" name="Image 1" descr="gör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80071"/>
            <a:ext cx="4967935" cy="270913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675120" y="4663440"/>
            <a:ext cx="4967935" cy="1188720"/>
          </a:xfrm>
          <a:prstGeom prst="roundRect">
            <a:avLst>
              <a:gd name="adj" fmla="val 615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858000" y="4773168"/>
            <a:ext cx="460217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matris 4ⁿ eleman → küçük n için. Gerçek simülatörler 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reshape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tensordot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sadece ilgili ekseni çarpar.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akışı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109442"/>
                <a:gridCol w="8320811"/>
                <a:gridCol w="166416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Bölüm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Kurulum ve yardımcı fonksiyonlar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Karmaşık sayılar: büyüklük, eşlenik, faz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Vektörler ve iç çarpım (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np.vdot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Matrisler = kapılar, sıra, üniterlik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ve göreli faz, Bloch küresi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Tensör çarpımı,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ket('01')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dolanıklık testi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MiniSim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ve Qiskit ile doğrulama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G–H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⟨Z⟩ ve 7 alıştırma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Ödev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Haftanın özeti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 = </a:t>
            </a: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|genlik|²</a:t>
            </a: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21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abs(z)**2</a:t>
            </a: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z² değil</a:t>
            </a:r>
            <a:endParaRPr lang="en-US" sz="21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çarpım </a:t>
            </a:r>
            <a:r>
              <a:rPr lang="en-US" sz="21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np.vdot</a:t>
            </a: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genel olasılık </a:t>
            </a: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|⟨φ|q⟩|²</a:t>
            </a:r>
            <a:endParaRPr lang="en-US" sz="21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 = </a:t>
            </a: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üniter</a:t>
            </a: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matris: olasılık korunur, geri alınabilir</a:t>
            </a:r>
            <a:endParaRPr lang="en-US" sz="21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Devre soldan sağa, matematik </a:t>
            </a: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sağdan sola</a:t>
            </a: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(X·H = önce H)</a:t>
            </a:r>
            <a:endParaRPr lang="en-US" sz="21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faz önemsiz; </a:t>
            </a: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göreli faz</a:t>
            </a: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ekvator etrafında dönüş, algoritmaların gücü</a:t>
            </a:r>
            <a:endParaRPr lang="en-US" sz="21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Tensör çarpımı </a:t>
            </a:r>
            <a:r>
              <a:rPr lang="en-US" sz="21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np.kron(q1, q0)</a:t>
            </a: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indeksin ikili yazılışı = </a:t>
            </a: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stringi</a:t>
            </a:r>
            <a:endParaRPr lang="en-US" sz="21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Dolanık durum çarpana ayrılamaz; </a:t>
            </a: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⟨Z⟩ = P(0) − P(1)</a:t>
            </a: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Bloch z</a:t>
            </a:r>
            <a:endParaRPr lang="en-US" sz="2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ve gelecek hafta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5410048" cy="3474720"/>
          </a:xfrm>
          <a:prstGeom prst="roundRect">
            <a:avLst>
              <a:gd name="adj" fmla="val 210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89888"/>
            <a:ext cx="5044288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notu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10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9 yazılı soru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H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7 kodlama alıştırması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Teslim: notebook + yazılı cevaplar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33008" y="1280160"/>
            <a:ext cx="5410048" cy="3474720"/>
          </a:xfrm>
          <a:prstGeom prst="roundRect">
            <a:avLst>
              <a:gd name="adj" fmla="val 2105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5888" y="1389888"/>
            <a:ext cx="5044288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3: Kübit, ölçüm ve Bloch küresi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bazlarda ölçüm (Z, X, Y)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küresinde durum okuma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 tomografisi: vektörü ölçümlerden geri kurmak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istatistiği ve güven aralıkları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2026-09-23T15:03:34Z</dcterms:created>
  <dcterms:modified xsi:type="dcterms:W3CDTF">2026-09-23T15:03:34Z</dcterms:modified>
</cp:coreProperties>
</file>