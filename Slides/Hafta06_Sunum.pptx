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Eşleşme oranı (iki bit aynı), 4000 shot</a:t>
            </a:r>
          </a:p>
        </c:rich>
      </c:tx>
      <c:layout/>
      <c:overlay val="0"/>
    </c:title>
    <c:autoTitleDeleted val="0"/>
    <c:plotArea>
      <c:layout/>
      <c:barChart>
        <c:barDir val="col"/>
        <c:grouping val="clustered"/>
        <c:varyColors val="0"/>
        <c:ser>
          <c:idx val="0"/>
          <c:order val="0"/>
          <c:tx>
            <c:strRef>
              <c:f>Sheet1!$B$1</c:f>
              <c:strCache>
                <c:ptCount val="1"/>
                <c:pt idx="0">
                  <c:v>ZZ eşleşme</c:v>
                </c:pt>
              </c:strCache>
            </c:strRef>
          </c:tx>
          <c:spPr>
            <a:solidFill>
              <a:srgbClr val="1F3A5F"/>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Bell Φ⁺</c:v>
                  </c:pt>
                  <c:pt idx="1">
                    <c:v>|00⟩</c:v>
                  </c:pt>
                  <c:pt idx="2">
                    <c:v>|+⟩|+⟩</c:v>
                  </c:pt>
                  <c:pt idx="3">
                    <c:v>Bell Ψ⁻</c:v>
                  </c:pt>
                  <c:pt idx="4">
                    <c:v>Klasik yazı-tura</c:v>
                  </c:pt>
                </c:lvl>
              </c:multiLvlStrCache>
            </c:multiLvlStrRef>
          </c:cat>
          <c:val>
            <c:numRef>
              <c:f>Sheet1!$B$2:$B$6</c:f>
              <c:numCache>
                <c:formatCode>General</c:formatCode>
                <c:ptCount val="5"/>
                <c:pt idx="0">
                  <c:v>1</c:v>
                </c:pt>
                <c:pt idx="1">
                  <c:v>1</c:v>
                </c:pt>
                <c:pt idx="2">
                  <c:v>0.5</c:v>
                </c:pt>
                <c:pt idx="3">
                  <c:v>0</c:v>
                </c:pt>
                <c:pt idx="4">
                  <c:v>1</c:v>
                </c:pt>
              </c:numCache>
            </c:numRef>
          </c:val>
        </c:ser>
        <c:ser>
          <c:idx val="1"/>
          <c:order val="1"/>
          <c:tx>
            <c:strRef>
              <c:f>Sheet1!$C$1</c:f>
              <c:strCache>
                <c:ptCount val="1"/>
                <c:pt idx="0">
                  <c:v>XX eşleşme</c:v>
                </c:pt>
              </c:strCache>
            </c:strRef>
          </c:tx>
          <c:spPr>
            <a:solidFill>
              <a:srgbClr val="2E6DB4"/>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Bell Φ⁺</c:v>
                  </c:pt>
                  <c:pt idx="1">
                    <c:v>|00⟩</c:v>
                  </c:pt>
                  <c:pt idx="2">
                    <c:v>|+⟩|+⟩</c:v>
                  </c:pt>
                  <c:pt idx="3">
                    <c:v>Bell Ψ⁻</c:v>
                  </c:pt>
                  <c:pt idx="4">
                    <c:v>Klasik yazı-tura</c:v>
                  </c:pt>
                </c:lvl>
              </c:multiLvlStrCache>
            </c:multiLvlStrRef>
          </c:cat>
          <c:val>
            <c:numRef>
              <c:f>Sheet1!$C$2:$C$6</c:f>
              <c:numCache>
                <c:formatCode>General</c:formatCode>
                <c:ptCount val="5"/>
                <c:pt idx="0">
                  <c:v>1</c:v>
                </c:pt>
                <c:pt idx="1">
                  <c:v>0.51</c:v>
                </c:pt>
                <c:pt idx="2">
                  <c:v>1</c:v>
                </c:pt>
                <c:pt idx="3">
                  <c:v>0</c:v>
                </c:pt>
                <c:pt idx="4">
                  <c:v>0.5</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kübitleri birbirine bağlıyoruz. Motivasyon: şimdiye kadar yaptığımız her şey klasik bilgisayarda kolayca simüle edilebilirdi; çok kübitli kapılar olmadan kuantum hesaplamanın hiçbir avantajı yok. Fizik yok: dolanıklığı 'ortak olasılık tablosu paylaşan değişkenler' olarak anlatacağız.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saatin akışı. Birinci saat kapılar ve dolanıklık; ikinci saat tersinir mantık ve ışınlanma (en zor kısım, yavaş gidin); üçüncü saat lab. Işınlanma bölümünde Qiskit bit sırası tuzağına özellikle zaman ayırın.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okuyun. Her kapı için aynı dört adımı izleyeceğimizi söyleyin: devre görseli, doğruluk tablosu, matris, Qiskit kodu. Lab'da her iddia bir otomatik testle doğrulanacak.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kübit kapılarından oluşan devre her zaman n tane ayrı küçük vektörle simüle edilir; avantaj yok. Kübitleri bağlayan kapılar, programlamadaki if ifadesinin karşılığı. Tablo haftanın haritası.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CNOT haftanın ana kapısı. Klasik davranışı çok basit; zorluk bit sırasında ve süperpozisyonlu girdide.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girdilerde CNOT tek satırlık bir Python fonksiyonu: return c, t ^ c. Kontrol hiç değişmez. Kendi tersidir: iki kez uygularsanız başa dönersiniz. Bilgi kaybolmaz çünkü kontrol çıktıda da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haftadaki MiniSim'de CNOT'u matris kurmadan uygulamıştık: kontrol biti 1 olan indekslerde hedef bitini çevir. Bit işlemlerini açıklayın. Sonuç listesi hangi genliklerin yer değiştirdiğini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 2.2'yi tahtada birlikte doldurun: her baz nereye gidiyor. Matrisin j'inci sütunu |j⟩ girdisinin çıktısı. Kontrol değişince matris tamamen değişiyor.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çok önemli. Nielsen-Chuang ve çoğu kitap soldaki biti birinci kübit sayar. Qiskit'te soldaki bit en yüksek numaralı kübit. Dolayısıyla kitaptaki CNOT bizim cx(1,0)'ımız. Matris ezberlemeyin, Operator ile yazdırın.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2 dakika verin. Sonra genliklerin karmaşık olsa bile sadece yer değiştirdiğini vurgulayın: CNOT genlikleri çarpmaz,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 |+⟩ ise durum vektöründe iki dal var. CNOT doğrusal: her dala ayrı uygulanır. 00 dalında bir şey olmaz, 01 dalı 11'e taşınır. Yazılım benzetmesi: if ifadesinin iki kolu birden çalışıyor ve sonuçlar genlikleriyle saklanıyor.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haftadaki is_product_state fonksiyonunu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Dolanık bir kübite tek başına bakınca durum vektörü değil, bir olasılık karışımı elde ederiz. partial_trace ile 2x2 yoğunluk matrisi alınır; Bell'de I/2, Bloch vektörü boyu sıfır. Bütün bilgi korelasyonda. Fiziğe girmeden 'tek başına tamamen rastgele' diye yorumlayın.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kapı için aynı dört 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 klasik bitleri hiç değiştirmez; yalnızca |11⟩'in işaretini çevirir. AND değişmeli olduğu için simetrik: kontrol-hedef ayrımı yok. Birçok donanımın doğal kapısı CZ; transpile CNOT'ları H+CZ+H'ye çevirir.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haftadaki HXH = Z özdeşliğini hatırlatın. Dallara ayırma tekniği kontrollü kapılarda her zaman işe yarar.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Yazılımcıların bildiği geçici değişkensiz takas: a ^= b; b ^= a; a ^= b. Her x ^= y bir CNOT. SWAP'ın maliyeti 3 CNOT; gerçek donanımda komşu olmayan kübitler için transpiler SWAP ekler (7.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Permütasyon kurallarını slayt 8'den kullanın: cx(0,1) ikinci ve dördüncüyü, cx(1,0) üçüncü ve dördüncüyü takas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kontrol de 1 ise hedef çevrilir: t ^= a AND b. Hedef 0 ile başlarsa sonunda a AND b olur; girdiler korunur. Toffoli + X ile her klasik fonksiyon tersinir biçimde yazılabilir. 8x8 matriste yalnızca 011 ve 111 takas.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tek kübit kapısının kontrollü sürümü var: kontrol 0 iken I, 1 iken U. Matris blok köşegen. Hazır metotlar ch, cry, cp; genel yöntem Gate.control(k). ctrl_state=0 ile kontrol 0 iken uygulanır: 8-9. haftadaki oracle'larda kullanılacak.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 |−⟩ iken X|−⟩ = −|−⟩: hedef değişmez, −1 kontrolün 1 dalına yazılır. Kontrol |+⟩ → |−⟩ olur; son H ile kesin 1 okunur. 8. haftadaki Deutsch-Jozsa ve Bernstein-Vazirani tamamen buna dayanıyor; o hafta bu slayta geri döneceğiz.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Bölüm B'de Bloch küresinde q₀'ın +x'ten −x'e döndüğünü görecekler.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Dolanıklığı ölçümle, yalnızca istatistikle göstereceğiz. CHSH vb. fizik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Hepsi aynı devre: h(0) + cx(0,1); fark başlangıçtaki klasik girdide. Ψ⁻ işareti: kitaplarda |01⟩−|10⟩, bizde |10⟩−|01⟩; yalnızca global faz farkı, aynı durum.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Doğrudan ölçüm Φ⁺ ile Φ⁻'yi (ve Ψ⁺ ile Ψ⁻'yi) ayırt edemez: fark yalnızca göreli fazda. Farkı görmek için bazı değiştirmek gerekir; bir sonraki bölüm.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Ψ⁺ ve Ψ⁻ için aynı hesabı ödev olarak verebilirsiniz.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GHZ: tüm kübitler birlikte 0 ya da 1. Zincir yöntemi derinlik n; ağaç (fan-out) yönteminde her adımda hazır kübit sayısı ikiye katlanır, derinlik 1 + log2 n. Paralel indirgeme (parallel reduction) benzetmesi. Derinlik = gürültülü donanımda hata.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GHZ-5'te 32 olası sonuç var ama yalnızca iki tanesi görülüyor. Kodu gösterin; ghz_log fonksiyonunu lab'da Alıştırma 4 olarak yazacaklar.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yazı-tura da ZZ'de %100 eşleşir; farkı XX bazı (önce H) ortaya çıkarır. Bell her iki bazda tam korelasyon verir, hiçbir çarpım durumu ya da klasik karışım bunu yapamaz. Bu, dolanıklığın ölçümle görülen istatistik imzası. CHSH'ye girmiyoruz.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Φ⁺'nın H⊗H altında kendisine dönüşmesi, iki bazda da korelasyonun nedenidir.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 Önce tersinir mantık (yazılımcılar için rahat), sonra ışınlanma (en zor kısım).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 üniterlik: her kapının tersi var, bilgi kaybolmaz. AND 2 bit alıp 1 bit verir, birebir olamaz. Çözüm: girdileri koru, sonucu 0 ile başlayan ayrı bir kübite XOR'la. (x, y) → (x, y ⊕ f(x)) kalıbı 8. haftadaki oracle'ların ta kendisi.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önemli: önce Toffoli (b bozulmadan carry), sonra CNOT (b'nin üzerine sum). Ters sırada Toffoli a XOR b'yi görür ve carry yanlış çıkar. Tüm girdiler için test lab'da truth_table 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Süperpozisyon kısmında 'kuantum paralellik' yanılgısını tartışın: hepsini hesaplamak, hepsini okumak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 a⊕b⊕cin, cout = çoğunluk. Son CNOT b'yi eski hâline döndürür: temizlik. Lab'da 8 girdinin hepsi a+b+cin = sum + 2·cout ile test ediliyor.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2^n girdinin hepsini dene: X ile hazırla, devreyi ekle, Statevector ile olasılık, kesinse bit dizisi, değilse '?'. Sınırlılık: faz görmez; CZ ile I aynı tabloyu verir. Faz dahil test için Operator.equiv.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Geçici değişken kuantumda çöpe atılamaz: süperpozisyonda girdilerle dolanık kalır ve sonraki girişim adımlarını bozar. Kalıp: hesapla, kopyala, geri al. 8-9. hafta oracle'larında şart.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hızından hızlı bir şey yok, madde taşınmıyor. Yazılım gözüyle: bilinmeyen bir kübit durumunu yalnızca 2 klasik bit göndererek taşımak, önceden paylaşılmış bir Bell çifti karşılığında. Kaynak ölçülüp bozulur: move semantiği. Klonlanamazlık: doğrusallık yüzünden kopya fonksiyonu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Adımları tek tek anlatın. Gönderen Bell devresinin tersini uygulayıp ölçüyor: bu Bell bazında ölçmek demek. Alıcı iki bite göre düzeltiyor: m1 → X, m0 →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h(0)'dan sonra dört ölçüm sonucu eşit olasılıklı (0.09+0.16 = 0.25). Her satır çiftinde q2'nin koşullu durumu ψ'nin bozulmuş bir sürümü. Son sütun ertelenmiş düzeltmeden sonra: q2 artık her dalda [0.6,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 adımlar ders notunda Örnek 11'de tam olarak var. Tahtada Adım 2'yi (cx(0,1)) mutlaka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sık hata: Qiskit sayım stringini soldan okuyup ilk biti m0 sanmak. Qiskit registerları ters sırada yazar: 'm1 m0'. Güvenli yol: düzeltmeyi stringe değil doğrudan klasik bitlere bağlamak (if_test).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Dinamik devre: ortada ölçüm, sonuca göre kapı; çalışma zamanı if. c_if Qiskit 2'de kaldırıldı; with qc.if_test kullanın. Aer destekliyor; sandbox'ta fidelity 1.0 doğrulandı. save_density_matrix ile q2'nin tüm shot'lardaki ortalama durumunu alıyoruz.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Koşullu X/Z yerine kontrollü cx(1,2) ve cz(0,2). Devre tamamen üniter olur, Statevector ile tek seferde test edilir. Bir doğrulama aracıdır; gerçek uzak iletişimde alıcı q0/q1'e sahip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donanımda yoğunluk matrisi görülmez; X, Y, Z bazlarında ölçüp Bloch vektörü tahmini (3. hafta tomografi). F = (1 + r·s)/2. 7. haftada gürültülü arka uçta bu fidelity'nin düştüğünü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Işınlanmanın tersi: Bell çifti + 1 kübit → 2 klasik bit. Gönderen yalnız kendi kübitine Z ve/veya X uygular; alıcı Bell bazından çıkıp ölçer. Aer'de 4 mesajın hepsi 500/500 doğru.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Alıştırma 8'de öğrenciler 'Qiskit' kelimesini 24 kübitle gönderecek.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Lab'a geçiş. truth_table'ı birlikte yazın; sonra öğrenciler bölümleri çalıştırsın.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Bölüm E en uzun kısım. Tüm alıştırmalar assert ile otomatik kontrol ediliyor. Notebook Colab'da tek başına çalışıyor, çözümlü sürüm ~1 dakikada bitiyor.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Alıştırma 6 (2 bitlik toplayıcı) en zorlayıcısı; uncompute unutulursa assert düşer. Alıştırma 7'de Z düzeltmesi unutulunca ortalama fidelity yaklaşık 2/3'e düşüyor.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Özeti birlikte tekrar 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aynı devreleri dört framework'te yazacak ve gerçek donanımın gürültüsünü göreceğiz. Bu haftaki fidelity hesabını orada tekrar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600" b="1" spc="200" kern="0" dirty="0">
                <a:solidFill>
                  <a:srgbClr val="C7D2E3"/>
                </a:solidFill>
              </a:rPr>
              <a:t>KUANTUM HESAPLAMA VE UYGULAMALARI</a:t>
            </a:r>
            <a:endParaRPr lang="en-US" sz="1600" dirty="0"/>
          </a:p>
        </p:txBody>
      </p:sp>
      <p:sp>
        <p:nvSpPr>
          <p:cNvPr id="3" name="Text 1"/>
          <p:cNvSpPr txBox="1"/>
          <p:nvPr/>
        </p:nvSpPr>
        <p:spPr>
          <a:xfrm>
            <a:off x="731520" y="2011680"/>
            <a:ext cx="10058400" cy="457200"/>
          </a:xfrm>
          <a:prstGeom prst="rect">
            <a:avLst/>
          </a:prstGeom>
          <a:noFill/>
          <a:ln/>
        </p:spPr>
        <p:txBody>
          <a:bodyPr wrap="square" lIns="0" tIns="0" rIns="0" bIns="0" rtlCol="0" anchor="ctr"/>
          <a:lstStyle/>
          <a:p>
            <a:pPr indent="0" marL="0">
              <a:buNone/>
            </a:pPr>
            <a:r>
              <a:rPr lang="en-US" sz="2200" dirty="0">
                <a:solidFill>
                  <a:srgbClr val="FFFFFF"/>
                </a:solidFill>
              </a:rPr>
              <a:t>Hafta 6</a:t>
            </a:r>
            <a:endParaRPr lang="en-US" sz="2200" dirty="0"/>
          </a:p>
        </p:txBody>
      </p:sp>
      <p:sp>
        <p:nvSpPr>
          <p:cNvPr id="4" name="Text 2"/>
          <p:cNvSpPr txBox="1"/>
          <p:nvPr/>
        </p:nvSpPr>
        <p:spPr>
          <a:xfrm>
            <a:off x="731520" y="2560320"/>
            <a:ext cx="10972800" cy="1554480"/>
          </a:xfrm>
          <a:prstGeom prst="rect">
            <a:avLst/>
          </a:prstGeom>
          <a:noFill/>
          <a:ln/>
        </p:spPr>
        <p:txBody>
          <a:bodyPr wrap="square" lIns="0" tIns="0" rIns="0" bIns="0" rtlCol="0" anchor="t"/>
          <a:lstStyle/>
          <a:p>
            <a:pPr indent="0" marL="0">
              <a:buNone/>
            </a:pPr>
            <a:r>
              <a:rPr lang="en-US" sz="4200" b="1" dirty="0">
                <a:solidFill>
                  <a:srgbClr val="FFFFFF"/>
                </a:solidFill>
              </a:rPr>
              <a:t>Çok Kübitli Devreler: CNOT, Dolanıklık ve Işınlanma</a:t>
            </a:r>
            <a:endParaRPr lang="en-US" sz="4200" dirty="0"/>
          </a:p>
        </p:txBody>
      </p:sp>
      <p:sp>
        <p:nvSpPr>
          <p:cNvPr id="5" name="Text 3"/>
          <p:cNvSpPr txBox="1"/>
          <p:nvPr/>
        </p:nvSpPr>
        <p:spPr>
          <a:xfrm>
            <a:off x="731520" y="4297680"/>
            <a:ext cx="10515600" cy="822960"/>
          </a:xfrm>
          <a:prstGeom prst="rect">
            <a:avLst/>
          </a:prstGeom>
          <a:noFill/>
          <a:ln/>
        </p:spPr>
        <p:txBody>
          <a:bodyPr wrap="square" lIns="0" tIns="0" rIns="0" bIns="0" rtlCol="0" anchor="t"/>
          <a:lstStyle/>
          <a:p>
            <a:pPr indent="0" marL="0">
              <a:buNone/>
            </a:pPr>
            <a:r>
              <a:rPr lang="en-US" sz="1800" dirty="0">
                <a:solidFill>
                  <a:srgbClr val="C7D2E3"/>
                </a:solidFill>
              </a:rPr>
              <a:t>CNOT · CZ · SWAP · Toffoli · kontrollü-U · Bell ve GHZ · tersinir toplayıcı · ışınlanma · süper yoğun kodlama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Bu haftanın planı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280160"/>
            <a:ext cx="3423818" cy="3931920"/>
          </a:xfrm>
          <a:prstGeom prst="roundRect">
            <a:avLst>
              <a:gd name="adj" fmla="val 2671"/>
            </a:avLst>
          </a:prstGeom>
          <a:solidFill>
            <a:srgbClr val="F3F4F6"/>
          </a:solidFill>
          <a:ln w="12700">
            <a:solidFill>
              <a:srgbClr val="F3F4F6"/>
            </a:solidFill>
            <a:prstDash val="solid"/>
          </a:ln>
        </p:spPr>
      </p:sp>
      <p:sp>
        <p:nvSpPr>
          <p:cNvPr id="7" name="Text 4"/>
          <p:cNvSpPr txBox="1"/>
          <p:nvPr/>
        </p:nvSpPr>
        <p:spPr>
          <a:xfrm>
            <a:off x="822960"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1. saat</a:t>
            </a:r>
            <a:endParaRPr lang="en-US" sz="1500" dirty="0"/>
          </a:p>
        </p:txBody>
      </p:sp>
      <p:sp>
        <p:nvSpPr>
          <p:cNvPr id="8" name="Text 5"/>
          <p:cNvSpPr txBox="1"/>
          <p:nvPr/>
        </p:nvSpPr>
        <p:spPr>
          <a:xfrm>
            <a:off x="822960"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Teori</a:t>
            </a:r>
            <a:endParaRPr lang="en-US" sz="2600" dirty="0"/>
          </a:p>
        </p:txBody>
      </p:sp>
      <p:sp>
        <p:nvSpPr>
          <p:cNvPr id="9" name="Text 6"/>
          <p:cNvSpPr txBox="1"/>
          <p:nvPr/>
        </p:nvSpPr>
        <p:spPr>
          <a:xfrm>
            <a:off x="822960"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CNOT ve XOR</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CZ, SWAP, Toffoli</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Kontrollü-U, faz geri tepmesi</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Bell, GHZ, korelasyon</a:t>
            </a:r>
            <a:endParaRPr lang="en-US" sz="1900" dirty="0"/>
          </a:p>
        </p:txBody>
      </p:sp>
      <p:sp>
        <p:nvSpPr>
          <p:cNvPr id="10" name="Shape 7"/>
          <p:cNvSpPr/>
          <p:nvPr/>
        </p:nvSpPr>
        <p:spPr>
          <a:xfrm>
            <a:off x="4246778" y="1280160"/>
            <a:ext cx="3423818" cy="3931920"/>
          </a:xfrm>
          <a:prstGeom prst="roundRect">
            <a:avLst>
              <a:gd name="adj" fmla="val 2671"/>
            </a:avLst>
          </a:prstGeom>
          <a:solidFill>
            <a:srgbClr val="F3F4F6"/>
          </a:solidFill>
          <a:ln w="12700">
            <a:solidFill>
              <a:srgbClr val="F3F4F6"/>
            </a:solidFill>
            <a:prstDash val="solid"/>
          </a:ln>
        </p:spPr>
      </p:sp>
      <p:sp>
        <p:nvSpPr>
          <p:cNvPr id="11" name="Text 8"/>
          <p:cNvSpPr txBox="1"/>
          <p:nvPr/>
        </p:nvSpPr>
        <p:spPr>
          <a:xfrm>
            <a:off x="4521098"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2. saat</a:t>
            </a:r>
            <a:endParaRPr lang="en-US" sz="1500" dirty="0"/>
          </a:p>
        </p:txBody>
      </p:sp>
      <p:sp>
        <p:nvSpPr>
          <p:cNvPr id="12" name="Text 9"/>
          <p:cNvSpPr txBox="1"/>
          <p:nvPr/>
        </p:nvSpPr>
        <p:spPr>
          <a:xfrm>
            <a:off x="4521098"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Çözümlü örnekler</a:t>
            </a:r>
            <a:endParaRPr lang="en-US" sz="2600" dirty="0"/>
          </a:p>
        </p:txBody>
      </p:sp>
      <p:sp>
        <p:nvSpPr>
          <p:cNvPr id="13" name="Text 10"/>
          <p:cNvSpPr txBox="1"/>
          <p:nvPr/>
        </p:nvSpPr>
        <p:spPr>
          <a:xfrm>
            <a:off x="4521098"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Tersinir mantık</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Yarım/tam toplayıcı</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Işınlanma adım adım</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Süper yoğun kodlama</a:t>
            </a:r>
            <a:endParaRPr lang="en-US" sz="1900" dirty="0"/>
          </a:p>
        </p:txBody>
      </p:sp>
      <p:sp>
        <p:nvSpPr>
          <p:cNvPr id="14" name="Shape 11"/>
          <p:cNvSpPr/>
          <p:nvPr/>
        </p:nvSpPr>
        <p:spPr>
          <a:xfrm>
            <a:off x="7944917" y="1280160"/>
            <a:ext cx="3423818" cy="3931920"/>
          </a:xfrm>
          <a:prstGeom prst="roundRect">
            <a:avLst>
              <a:gd name="adj" fmla="val 2671"/>
            </a:avLst>
          </a:prstGeom>
          <a:solidFill>
            <a:srgbClr val="E8EEF6"/>
          </a:solidFill>
          <a:ln w="12700">
            <a:solidFill>
              <a:srgbClr val="E8EEF6"/>
            </a:solidFill>
            <a:prstDash val="solid"/>
          </a:ln>
        </p:spPr>
      </p:sp>
      <p:sp>
        <p:nvSpPr>
          <p:cNvPr id="15" name="Text 12"/>
          <p:cNvSpPr txBox="1"/>
          <p:nvPr/>
        </p:nvSpPr>
        <p:spPr>
          <a:xfrm>
            <a:off x="8219237"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3. saat</a:t>
            </a:r>
            <a:endParaRPr lang="en-US" sz="1500" dirty="0"/>
          </a:p>
        </p:txBody>
      </p:sp>
      <p:sp>
        <p:nvSpPr>
          <p:cNvPr id="16" name="Text 13"/>
          <p:cNvSpPr txBox="1"/>
          <p:nvPr/>
        </p:nvSpPr>
        <p:spPr>
          <a:xfrm>
            <a:off x="8219237" y="1874520"/>
            <a:ext cx="2875178" cy="548640"/>
          </a:xfrm>
          <a:prstGeom prst="rect">
            <a:avLst/>
          </a:prstGeom>
          <a:noFill/>
          <a:ln/>
        </p:spPr>
        <p:txBody>
          <a:bodyPr wrap="square" lIns="0" tIns="0" rIns="0" bIns="0" rtlCol="0" anchor="t"/>
          <a:lstStyle/>
          <a:p>
            <a:pPr algn="l" indent="0" marL="0">
              <a:spcAft>
                <a:spcPts val="600"/>
              </a:spcAft>
              <a:buNone/>
            </a:pPr>
            <a:r>
              <a:rPr lang="en-US" sz="2600" b="1" dirty="0">
                <a:solidFill>
                  <a:srgbClr val="1F3A5F"/>
                </a:solidFill>
                <a:latin typeface="Calibri" pitchFamily="34" charset="0"/>
                <a:ea typeface="Calibri" pitchFamily="34" charset="-122"/>
                <a:cs typeface="Calibri" pitchFamily="34" charset="-120"/>
              </a:rPr>
              <a:t>Lab (Colab)</a:t>
            </a:r>
            <a:endParaRPr lang="en-US" sz="2600" dirty="0"/>
          </a:p>
        </p:txBody>
      </p:sp>
      <p:sp>
        <p:nvSpPr>
          <p:cNvPr id="17" name="Text 14"/>
          <p:cNvSpPr txBox="1"/>
          <p:nvPr/>
        </p:nvSpPr>
        <p:spPr>
          <a:xfrm>
            <a:off x="8219237"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truth_table() test aracı</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Toplayıcı testleri</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Işınlanma: if_test</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Fidelity doğrulama</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Öğrenme hedefleri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548640" y="1280160"/>
            <a:ext cx="6949440" cy="457200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CNOT'u </a:t>
            </a:r>
            <a:r>
              <a:rPr lang="en-US" sz="1900" b="1" dirty="0">
                <a:solidFill>
                  <a:srgbClr val="1F2937"/>
                </a:solidFill>
                <a:latin typeface="Calibri" pitchFamily="34" charset="0"/>
                <a:ea typeface="Calibri" pitchFamily="34" charset="-122"/>
                <a:cs typeface="Calibri" pitchFamily="34" charset="-120"/>
              </a:rPr>
              <a:t>XOR</a:t>
            </a:r>
            <a:r>
              <a:rPr lang="en-US" sz="1900" dirty="0">
                <a:solidFill>
                  <a:srgbClr val="1F2937"/>
                </a:solidFill>
                <a:latin typeface="Calibri" pitchFamily="34" charset="0"/>
                <a:ea typeface="Calibri" pitchFamily="34" charset="-122"/>
                <a:cs typeface="Calibri" pitchFamily="34" charset="-120"/>
              </a:rPr>
              <a:t> olarak açıklamak; Qiskit sırasında </a:t>
            </a:r>
            <a:r>
              <a:rPr lang="en-US" sz="1900" b="1" dirty="0">
                <a:solidFill>
                  <a:srgbClr val="1F2937"/>
                </a:solidFill>
                <a:latin typeface="Calibri" pitchFamily="34" charset="0"/>
                <a:ea typeface="Calibri" pitchFamily="34" charset="-122"/>
                <a:cs typeface="Calibri" pitchFamily="34" charset="-120"/>
              </a:rPr>
              <a:t>iki yönün matrisini</a:t>
            </a:r>
            <a:r>
              <a:rPr lang="en-US" sz="1900" dirty="0">
                <a:solidFill>
                  <a:srgbClr val="1F2937"/>
                </a:solidFill>
                <a:latin typeface="Calibri" pitchFamily="34" charset="0"/>
                <a:ea typeface="Calibri" pitchFamily="34" charset="-122"/>
                <a:cs typeface="Calibri" pitchFamily="34" charset="-120"/>
              </a:rPr>
              <a:t> kurmak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Süperpozisyonda CNOT → </a:t>
            </a:r>
            <a:r>
              <a:rPr lang="en-US" sz="1900" b="1" dirty="0">
                <a:solidFill>
                  <a:srgbClr val="1F2937"/>
                </a:solidFill>
                <a:latin typeface="Calibri" pitchFamily="34" charset="0"/>
                <a:ea typeface="Calibri" pitchFamily="34" charset="-122"/>
                <a:cs typeface="Calibri" pitchFamily="34" charset="-120"/>
              </a:rPr>
              <a:t>dolanıklığın</a:t>
            </a:r>
            <a:r>
              <a:rPr lang="en-US" sz="1900" dirty="0">
                <a:solidFill>
                  <a:srgbClr val="1F2937"/>
                </a:solidFill>
                <a:latin typeface="Calibri" pitchFamily="34" charset="0"/>
                <a:ea typeface="Calibri" pitchFamily="34" charset="-122"/>
                <a:cs typeface="Calibri" pitchFamily="34" charset="-120"/>
              </a:rPr>
              <a:t> doğuşunu adım adım hesaplamak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CZ, SWAP, Toffoli, kontrollü-U; </a:t>
            </a:r>
            <a:r>
              <a:rPr lang="en-US" sz="1900" b="1" dirty="0">
                <a:solidFill>
                  <a:srgbClr val="1F2937"/>
                </a:solidFill>
                <a:latin typeface="Calibri" pitchFamily="34" charset="0"/>
                <a:ea typeface="Calibri" pitchFamily="34" charset="-122"/>
                <a:cs typeface="Calibri" pitchFamily="34" charset="-120"/>
              </a:rPr>
              <a:t>faz geri tepmesi</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Bell ve GHZ; dolanıklığı </a:t>
            </a:r>
            <a:r>
              <a:rPr lang="en-US" sz="1900" b="1" dirty="0">
                <a:solidFill>
                  <a:srgbClr val="1F2937"/>
                </a:solidFill>
                <a:latin typeface="Calibri" pitchFamily="34" charset="0"/>
                <a:ea typeface="Calibri" pitchFamily="34" charset="-122"/>
                <a:cs typeface="Calibri" pitchFamily="34" charset="-120"/>
              </a:rPr>
              <a:t>ZZ/XX eşleşme oranlarıyla</a:t>
            </a:r>
            <a:r>
              <a:rPr lang="en-US" sz="1900" dirty="0">
                <a:solidFill>
                  <a:srgbClr val="1F2937"/>
                </a:solidFill>
                <a:latin typeface="Calibri" pitchFamily="34" charset="0"/>
                <a:ea typeface="Calibri" pitchFamily="34" charset="-122"/>
                <a:cs typeface="Calibri" pitchFamily="34" charset="-120"/>
              </a:rPr>
              <a:t> göstermek</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X, CX, CCX ile </a:t>
            </a:r>
            <a:r>
              <a:rPr lang="en-US" sz="1900" b="1" dirty="0">
                <a:solidFill>
                  <a:srgbClr val="1F2937"/>
                </a:solidFill>
                <a:latin typeface="Calibri" pitchFamily="34" charset="0"/>
                <a:ea typeface="Calibri" pitchFamily="34" charset="-122"/>
                <a:cs typeface="Calibri" pitchFamily="34" charset="-120"/>
              </a:rPr>
              <a:t>toplayıcı</a:t>
            </a:r>
            <a:r>
              <a:rPr lang="en-US" sz="1900" dirty="0">
                <a:solidFill>
                  <a:srgbClr val="1F2937"/>
                </a:solidFill>
                <a:latin typeface="Calibri" pitchFamily="34" charset="0"/>
                <a:ea typeface="Calibri" pitchFamily="34" charset="-122"/>
                <a:cs typeface="Calibri" pitchFamily="34" charset="-120"/>
              </a:rPr>
              <a:t>; </a:t>
            </a:r>
            <a:r>
              <a:rPr lang="en-US" sz="1900" b="1" dirty="0">
                <a:solidFill>
                  <a:srgbClr val="1F2937"/>
                </a:solidFill>
                <a:latin typeface="Calibri" pitchFamily="34" charset="0"/>
                <a:ea typeface="Calibri" pitchFamily="34" charset="-122"/>
                <a:cs typeface="Calibri" pitchFamily="34" charset="-120"/>
              </a:rPr>
              <a:t>uncompute</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Işınlanma</a:t>
            </a:r>
            <a:r>
              <a:rPr lang="en-US" sz="1900" dirty="0">
                <a:solidFill>
                  <a:srgbClr val="1F2937"/>
                </a:solidFill>
                <a:latin typeface="Calibri" pitchFamily="34" charset="0"/>
                <a:ea typeface="Calibri" pitchFamily="34" charset="-122"/>
                <a:cs typeface="Calibri" pitchFamily="34" charset="-120"/>
              </a:rPr>
              <a:t>: düzeltme tablosu, </a:t>
            </a:r>
            <a:r>
              <a:rPr lang="en-US" sz="1900" dirty="0">
                <a:solidFill>
                  <a:srgbClr val="1F3A5F"/>
                </a:solidFill>
                <a:latin typeface="Courier New" pitchFamily="34" charset="0"/>
                <a:ea typeface="Courier New" pitchFamily="34" charset="-122"/>
                <a:cs typeface="Courier New" pitchFamily="34" charset="-120"/>
              </a:rPr>
              <a:t>if_test</a:t>
            </a:r>
            <a:r>
              <a:rPr lang="en-US" sz="1900" dirty="0">
                <a:solidFill>
                  <a:srgbClr val="1F2937"/>
                </a:solidFill>
                <a:latin typeface="Calibri" pitchFamily="34" charset="0"/>
                <a:ea typeface="Calibri" pitchFamily="34" charset="-122"/>
                <a:cs typeface="Calibri" pitchFamily="34" charset="-120"/>
              </a:rPr>
              <a:t> ve ertelenmiş sürüm, fidelity</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Süper yoğun kodlama</a:t>
            </a:r>
            <a:r>
              <a:rPr lang="en-US" sz="1900" dirty="0">
                <a:solidFill>
                  <a:srgbClr val="1F2937"/>
                </a:solidFill>
                <a:latin typeface="Calibri" pitchFamily="34" charset="0"/>
                <a:ea typeface="Calibri" pitchFamily="34" charset="-122"/>
                <a:cs typeface="Calibri" pitchFamily="34" charset="-120"/>
              </a:rPr>
              <a:t>: 1 kübitle 2 bit</a:t>
            </a:r>
            <a:endParaRPr lang="en-US" sz="1900" dirty="0"/>
          </a:p>
        </p:txBody>
      </p:sp>
      <p:sp>
        <p:nvSpPr>
          <p:cNvPr id="7" name="Shape 4"/>
          <p:cNvSpPr/>
          <p:nvPr/>
        </p:nvSpPr>
        <p:spPr>
          <a:xfrm>
            <a:off x="7863840" y="1280160"/>
            <a:ext cx="3779215" cy="4206240"/>
          </a:xfrm>
          <a:prstGeom prst="roundRect">
            <a:avLst>
              <a:gd name="adj" fmla="val 1936"/>
            </a:avLst>
          </a:prstGeom>
          <a:solidFill>
            <a:srgbClr val="E8EEF6"/>
          </a:solidFill>
          <a:ln w="12700">
            <a:solidFill>
              <a:srgbClr val="E8EEF6"/>
            </a:solidFill>
            <a:prstDash val="solid"/>
          </a:ln>
        </p:spPr>
      </p:sp>
      <p:sp>
        <p:nvSpPr>
          <p:cNvPr id="8" name="Text 5"/>
          <p:cNvSpPr txBox="1"/>
          <p:nvPr/>
        </p:nvSpPr>
        <p:spPr>
          <a:xfrm>
            <a:off x="8046720" y="1389888"/>
            <a:ext cx="3413455" cy="3986784"/>
          </a:xfrm>
          <a:prstGeom prst="rect">
            <a:avLst/>
          </a:prstGeom>
          <a:noFill/>
          <a:ln/>
        </p:spPr>
        <p:txBody>
          <a:bodyPr wrap="square" lIns="0" tIns="0" rIns="0" bIns="0" rtlCol="0" anchor="t"/>
          <a:lstStyle/>
          <a:p>
            <a:pPr algn="l" indent="0" marL="0">
              <a:spcAft>
                <a:spcPts val="600"/>
              </a:spcAft>
              <a:buNone/>
            </a:pPr>
            <a:r>
              <a:rPr lang="en-US" sz="1900" b="1" dirty="0">
                <a:solidFill>
                  <a:srgbClr val="2E6DB4"/>
                </a:solidFill>
                <a:latin typeface="Calibri" pitchFamily="34" charset="0"/>
                <a:ea typeface="Calibri" pitchFamily="34" charset="-122"/>
                <a:cs typeface="Calibri" pitchFamily="34" charset="-120"/>
              </a:rPr>
              <a:t>Her kapı için 4 adım</a:t>
            </a:r>
            <a:endParaRPr lang="en-US" sz="19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1. Devre görseli</a:t>
            </a:r>
            <a:endParaRPr lang="en-US" sz="19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2. Doğruluk tablosu</a:t>
            </a:r>
            <a:endParaRPr lang="en-US" sz="19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3. Matris (ısı haritası)</a:t>
            </a:r>
            <a:endParaRPr lang="en-US" sz="19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4. Qiskit kodu</a:t>
            </a:r>
            <a:endParaRPr lang="en-US" sz="19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 </a:t>
            </a:r>
            <a:r>
              <a:rPr lang="en-US" sz="1800" dirty="0">
                <a:solidFill>
                  <a:srgbClr val="1F3A5F"/>
                </a:solidFill>
                <a:latin typeface="Courier New" pitchFamily="34" charset="0"/>
                <a:ea typeface="Courier New" pitchFamily="34" charset="-122"/>
                <a:cs typeface="Courier New" pitchFamily="34" charset="-120"/>
              </a:rPr>
              <a:t>truth_table()</a:t>
            </a:r>
            <a:r>
              <a:rPr lang="en-US" sz="1800" dirty="0">
                <a:solidFill>
                  <a:srgbClr val="1F2937"/>
                </a:solidFill>
                <a:latin typeface="Calibri" pitchFamily="34" charset="0"/>
                <a:ea typeface="Calibri" pitchFamily="34" charset="-122"/>
                <a:cs typeface="Calibri" pitchFamily="34" charset="-120"/>
              </a:rPr>
              <a:t> ile otomatik test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Neden çok kübitli kapılar?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440771"/>
                <a:gridCol w="4992487"/>
                <a:gridCol w="3661157"/>
              </a:tblGrid>
              <a:tr h="51206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Kavram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Yazılım benzetmesi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Sonraki kullanım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CNOT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3A5F"/>
                          </a:solidFill>
                          <a:latin typeface="Courier New" pitchFamily="34" charset="0"/>
                          <a:ea typeface="Courier New" pitchFamily="34" charset="-122"/>
                          <a:cs typeface="Courier New" pitchFamily="34" charset="-120"/>
                        </a:rPr>
                        <a:t>if c: t = not t</a:t>
                      </a:r>
                      <a:r>
                        <a:rPr lang="en-US" sz="1600" dirty="0">
                          <a:solidFill>
                            <a:srgbClr val="1F2937"/>
                          </a:solidFill>
                          <a:latin typeface="Calibri" pitchFamily="34" charset="0"/>
                          <a:ea typeface="Calibri" pitchFamily="34" charset="-122"/>
                          <a:cs typeface="Calibri" pitchFamily="34" charset="-120"/>
                        </a:rPr>
                        <a:t>  (t ^= c)</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Her algoritma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CZ</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3A5F"/>
                          </a:solidFill>
                          <a:latin typeface="Courier New" pitchFamily="34" charset="0"/>
                          <a:ea typeface="Courier New" pitchFamily="34" charset="-122"/>
                          <a:cs typeface="Courier New" pitchFamily="34" charset="-120"/>
                        </a:rPr>
                        <a:t>if c and t: amp *=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Grover, donanım kapısı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SWAP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XOR takas: </a:t>
                      </a:r>
                      <a:r>
                        <a:rPr lang="en-US" sz="1600" dirty="0">
                          <a:solidFill>
                            <a:srgbClr val="1F3A5F"/>
                          </a:solidFill>
                          <a:latin typeface="Courier New" pitchFamily="34" charset="0"/>
                          <a:ea typeface="Courier New" pitchFamily="34" charset="-122"/>
                          <a:cs typeface="Courier New" pitchFamily="34" charset="-120"/>
                        </a:rPr>
                        <a:t>a^=b; b^=a; a^=b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Transpile (7. hafta)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Toffoli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Tersinir AND: </a:t>
                      </a:r>
                      <a:r>
                        <a:rPr lang="en-US" sz="1600" dirty="0">
                          <a:solidFill>
                            <a:srgbClr val="1F3A5F"/>
                          </a:solidFill>
                          <a:latin typeface="Courier New" pitchFamily="34" charset="0"/>
                          <a:ea typeface="Courier New" pitchFamily="34" charset="-122"/>
                          <a:cs typeface="Courier New" pitchFamily="34" charset="-120"/>
                        </a:rPr>
                        <a:t>t ^= a &amp; 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Oracle (8–9. hafta)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Kontrollü-U</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3A5F"/>
                          </a:solidFill>
                          <a:latin typeface="Courier New" pitchFamily="34" charset="0"/>
                          <a:ea typeface="Courier New" pitchFamily="34" charset="-122"/>
                          <a:cs typeface="Courier New" pitchFamily="34" charset="-120"/>
                        </a:rPr>
                        <a:t>if c: U(t)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QPE (10. hafta)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Faz geri tepmesi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Yan etkinin çağırana dönmesi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Deutsch-Jozsa (8. hafta)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Dolanıklık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Ortak olasılık tablosu</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Işınlanma, QML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Işınlanma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3A5F"/>
                          </a:solidFill>
                          <a:latin typeface="Courier New" pitchFamily="34" charset="0"/>
                          <a:ea typeface="Courier New" pitchFamily="34" charset="-122"/>
                          <a:cs typeface="Courier New" pitchFamily="34" charset="-120"/>
                        </a:rPr>
                        <a:t>std::move</a:t>
                      </a:r>
                      <a:r>
                        <a:rPr lang="en-US" sz="1600" dirty="0">
                          <a:solidFill>
                            <a:srgbClr val="1F2937"/>
                          </a:solidFill>
                          <a:latin typeface="Calibri" pitchFamily="34" charset="0"/>
                          <a:ea typeface="Calibri" pitchFamily="34" charset="-122"/>
                          <a:cs typeface="Calibri" pitchFamily="34" charset="-120"/>
                        </a:rPr>
                        <a:t> (taşıma)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Kuantum ağları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01</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CNOT: kontrollü NOT</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XOR, permütasyon, bit sırası ve dolanıklığın doğuşu</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CNOT = kontrollü NOT = XOR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6</a:t>
            </a:r>
            <a:endParaRPr lang="en-US" sz="1000" dirty="0"/>
          </a:p>
        </p:txBody>
      </p:sp>
      <p:pic>
        <p:nvPicPr>
          <p:cNvPr id="6" name="Image 0" descr="görsel">    </p:cNvPr>
          <p:cNvPicPr>
            <a:picLocks noChangeAspect="1"/>
          </p:cNvPicPr>
          <p:nvPr/>
        </p:nvPicPr>
        <p:blipFill>
          <a:blip r:embed="rId1"/>
          <a:stretch>
            <a:fillRect/>
          </a:stretch>
        </p:blipFill>
        <p:spPr>
          <a:xfrm>
            <a:off x="548640" y="1113036"/>
            <a:ext cx="6949440" cy="225448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863840" y="1188720"/>
          <a:ext cx="3779215" cy="914400"/>
        </p:xfrm>
        <a:graphic>
          <a:graphicData uri="http://schemas.openxmlformats.org/drawingml/2006/table">
            <a:tbl>
              <a:tblPr/>
              <a:tblGrid>
                <a:gridCol w="755843"/>
                <a:gridCol w="755843"/>
                <a:gridCol w="755843"/>
                <a:gridCol w="1511686"/>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 = t ⊕ c</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pic>
        <p:nvPicPr>
          <p:cNvPr id="8" name="Image 1" descr="görsel">    </p:cNvPr>
          <p:cNvPicPr>
            <a:picLocks noChangeAspect="1"/>
          </p:cNvPicPr>
          <p:nvPr/>
        </p:nvPicPr>
        <p:blipFill>
          <a:blip r:embed="rId2"/>
          <a:stretch>
            <a:fillRect/>
          </a:stretch>
        </p:blipFill>
        <p:spPr>
          <a:xfrm>
            <a:off x="892818" y="3566160"/>
            <a:ext cx="6261084" cy="2377440"/>
          </a:xfrm>
          <a:prstGeom prst="rect">
            <a:avLst/>
          </a:prstGeom>
        </p:spPr>
      </p:pic>
      <p:sp>
        <p:nvSpPr>
          <p:cNvPr id="9" name="Shape 3"/>
          <p:cNvSpPr/>
          <p:nvPr/>
        </p:nvSpPr>
        <p:spPr>
          <a:xfrm>
            <a:off x="7863840" y="3749040"/>
            <a:ext cx="3779215" cy="2103120"/>
          </a:xfrm>
          <a:prstGeom prst="roundRect">
            <a:avLst>
              <a:gd name="adj" fmla="val 3478"/>
            </a:avLst>
          </a:prstGeom>
          <a:solidFill>
            <a:srgbClr val="E8EEF6"/>
          </a:solidFill>
          <a:ln w="12700">
            <a:solidFill>
              <a:srgbClr val="E8EEF6"/>
            </a:solidFill>
            <a:prstDash val="solid"/>
          </a:ln>
        </p:spPr>
      </p:sp>
      <p:sp>
        <p:nvSpPr>
          <p:cNvPr id="10" name="Text 4"/>
          <p:cNvSpPr txBox="1"/>
          <p:nvPr/>
        </p:nvSpPr>
        <p:spPr>
          <a:xfrm>
            <a:off x="8046720" y="3858768"/>
            <a:ext cx="3413455" cy="188366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Özellikler</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Kontrol </a:t>
            </a:r>
            <a:r>
              <a:rPr lang="en-US" sz="1600" b="1" dirty="0">
                <a:solidFill>
                  <a:srgbClr val="1F2937"/>
                </a:solidFill>
                <a:latin typeface="Calibri" pitchFamily="34" charset="0"/>
                <a:ea typeface="Calibri" pitchFamily="34" charset="-122"/>
                <a:cs typeface="Calibri" pitchFamily="34" charset="-120"/>
              </a:rPr>
              <a:t>değişmez</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CX · CX = </a:t>
            </a:r>
            <a:r>
              <a:rPr lang="en-US" sz="1600" b="1" dirty="0">
                <a:solidFill>
                  <a:srgbClr val="1F2937"/>
                </a:solidFill>
                <a:latin typeface="Calibri" pitchFamily="34" charset="0"/>
                <a:ea typeface="Calibri" pitchFamily="34" charset="-122"/>
                <a:cs typeface="Calibri" pitchFamily="34" charset="-120"/>
              </a:rPr>
              <a:t>I</a:t>
            </a:r>
            <a:r>
              <a:rPr lang="en-US" sz="1600" dirty="0">
                <a:solidFill>
                  <a:srgbClr val="1F2937"/>
                </a:solidFill>
                <a:latin typeface="Calibri" pitchFamily="34" charset="0"/>
                <a:ea typeface="Calibri" pitchFamily="34" charset="-122"/>
                <a:cs typeface="Calibri" pitchFamily="34" charset="-120"/>
              </a:rPr>
              <a:t> (kendi tersi)</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Qiskit: </a:t>
            </a:r>
            <a:r>
              <a:rPr lang="en-US" sz="1600" dirty="0">
                <a:solidFill>
                  <a:srgbClr val="1F3A5F"/>
                </a:solidFill>
                <a:latin typeface="Courier New" pitchFamily="34" charset="0"/>
                <a:ea typeface="Courier New" pitchFamily="34" charset="-122"/>
                <a:cs typeface="Courier New" pitchFamily="34" charset="-120"/>
              </a:rPr>
              <a:t>qc.cx(kontrol, hedef)</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CNOT bir permütasyondur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234440"/>
            <a:ext cx="11094415" cy="2194560"/>
          </a:xfrm>
          <a:prstGeom prst="rect">
            <a:avLst/>
          </a:prstGeom>
          <a:solidFill>
            <a:srgbClr val="F7F8FA"/>
          </a:solidFill>
          <a:ln w="9525">
            <a:solidFill>
              <a:srgbClr val="D1D5DB"/>
            </a:solidFill>
            <a:prstDash val="solid"/>
          </a:ln>
        </p:spPr>
      </p:sp>
      <p:sp>
        <p:nvSpPr>
          <p:cNvPr id="7" name="Text 4"/>
          <p:cNvSpPr txBox="1"/>
          <p:nvPr/>
        </p:nvSpPr>
        <p:spPr>
          <a:xfrm>
            <a:off x="685800" y="1325880"/>
            <a:ext cx="10820095" cy="2011680"/>
          </a:xfrm>
          <a:prstGeom prst="rect">
            <a:avLst/>
          </a:prstGeom>
          <a:noFill/>
          <a:ln/>
        </p:spPr>
        <p:txBody>
          <a:bodyPr wrap="square" lIns="0" tIns="0" rIns="0" bIns="0" rtlCol="0" anchor="t"/>
          <a:lstStyle/>
          <a:p>
            <a:pPr indent="0" marL="0">
              <a:buNone/>
            </a:pPr>
            <a:r>
              <a:rPr lang="en-US" sz="1600" dirty="0">
                <a:solidFill>
                  <a:srgbClr val="1F2937"/>
                </a:solidFill>
                <a:latin typeface="Courier New" pitchFamily="34" charset="0"/>
                <a:ea typeface="Courier New" pitchFamily="34" charset="-122"/>
                <a:cs typeface="Courier New" pitchFamily="34" charset="-120"/>
              </a:rPr>
              <a:t>def cx_perm(i, c, t):</a:t>
            </a:r>
            <a:endParaRPr lang="en-US" sz="1600" dirty="0"/>
          </a:p>
          <a:p>
            <a:pPr indent="0" marL="0">
              <a:buNone/>
            </a:pPr>
            <a:r>
              <a:rPr lang="en-US" sz="1600" dirty="0">
                <a:solidFill>
                  <a:srgbClr val="1F2937"/>
                </a:solidFill>
                <a:latin typeface="Courier New" pitchFamily="34" charset="0"/>
                <a:ea typeface="Courier New" pitchFamily="34" charset="-122"/>
                <a:cs typeface="Courier New" pitchFamily="34" charset="-120"/>
              </a:rPr>
              <a:t>    """i indeksli bazın CNOT sonrası indeksi (Qiskit sırası)."""</a:t>
            </a:r>
            <a:endParaRPr lang="en-US" sz="1600" dirty="0"/>
          </a:p>
          <a:p>
            <a:pPr indent="0" marL="0">
              <a:buNone/>
            </a:pPr>
            <a:r>
              <a:rPr lang="en-US" sz="1600" dirty="0">
                <a:solidFill>
                  <a:srgbClr val="1F2937"/>
                </a:solidFill>
                <a:latin typeface="Courier New" pitchFamily="34" charset="0"/>
                <a:ea typeface="Courier New" pitchFamily="34" charset="-122"/>
                <a:cs typeface="Courier New" pitchFamily="34" charset="-120"/>
              </a:rPr>
              <a:t>    return i ^ (1 &lt;&lt; t) if (i &gt;&gt; c) &amp; 1 else i</a:t>
            </a:r>
            <a:endParaRPr lang="en-US" sz="1600" dirty="0"/>
          </a:p>
          <a:p>
            <a:pPr indent="0" marL="0">
              <a:buNone/>
            </a:pPr>
            <a:r>
              <a:rPr lang="en-US" sz="1600" dirty="0">
                <a:solidFill>
                  <a:srgbClr val="1F2937"/>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1F2937"/>
                </a:solidFill>
                <a:latin typeface="Courier New" pitchFamily="34" charset="0"/>
                <a:ea typeface="Courier New" pitchFamily="34" charset="-122"/>
                <a:cs typeface="Courier New" pitchFamily="34" charset="-120"/>
              </a:rPr>
              <a:t>[cx_perm(i, 0, 1) for i in range(4)]   </a:t>
            </a:r>
            <a:r>
              <a:rPr lang="en-US" sz="1600" dirty="0">
                <a:solidFill>
                  <a:srgbClr val="6B7F99"/>
                </a:solidFill>
                <a:latin typeface="Courier New" pitchFamily="34" charset="0"/>
                <a:ea typeface="Courier New" pitchFamily="34" charset="-122"/>
                <a:cs typeface="Courier New" pitchFamily="34" charset="-120"/>
              </a:rPr>
              <a:t># [0, 3, 2, 1] -&gt; 01 &lt;-&gt; 11</a:t>
            </a:r>
            <a:endParaRPr lang="en-US" sz="1600" dirty="0"/>
          </a:p>
          <a:p>
            <a:pPr indent="0" marL="0">
              <a:buNone/>
            </a:pPr>
            <a:r>
              <a:rPr lang="en-US" sz="1600" dirty="0">
                <a:solidFill>
                  <a:srgbClr val="1F2937"/>
                </a:solidFill>
                <a:latin typeface="Courier New" pitchFamily="34" charset="0"/>
                <a:ea typeface="Courier New" pitchFamily="34" charset="-122"/>
                <a:cs typeface="Courier New" pitchFamily="34" charset="-120"/>
              </a:rPr>
              <a:t>[cx_perm(i, 1, 0) for i in range(4)]   </a:t>
            </a:r>
            <a:r>
              <a:rPr lang="en-US" sz="1600" dirty="0">
                <a:solidFill>
                  <a:srgbClr val="6B7F99"/>
                </a:solidFill>
                <a:latin typeface="Courier New" pitchFamily="34" charset="0"/>
                <a:ea typeface="Courier New" pitchFamily="34" charset="-122"/>
                <a:cs typeface="Courier New" pitchFamily="34" charset="-120"/>
              </a:rPr>
              <a:t># [0, 1, 3, 2] -&gt; 10 &lt;-&gt; 11</a:t>
            </a:r>
            <a:endParaRPr lang="en-US" sz="1600" dirty="0"/>
          </a:p>
        </p:txBody>
      </p:sp>
      <p:sp>
        <p:nvSpPr>
          <p:cNvPr id="8" name="Shape 5"/>
          <p:cNvSpPr/>
          <p:nvPr/>
        </p:nvSpPr>
        <p:spPr>
          <a:xfrm>
            <a:off x="548640" y="3657600"/>
            <a:ext cx="5410048" cy="2194560"/>
          </a:xfrm>
          <a:prstGeom prst="roundRect">
            <a:avLst>
              <a:gd name="adj" fmla="val 3333"/>
            </a:avLst>
          </a:prstGeom>
          <a:solidFill>
            <a:srgbClr val="E8EEF6"/>
          </a:solidFill>
          <a:ln w="12700">
            <a:solidFill>
              <a:srgbClr val="E8EEF6"/>
            </a:solidFill>
            <a:prstDash val="solid"/>
          </a:ln>
        </p:spPr>
      </p:sp>
      <p:sp>
        <p:nvSpPr>
          <p:cNvPr id="9" name="Text 6"/>
          <p:cNvSpPr txBox="1"/>
          <p:nvPr/>
        </p:nvSpPr>
        <p:spPr>
          <a:xfrm>
            <a:off x="731520" y="3767328"/>
            <a:ext cx="5044288" cy="1975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(i &gt;&gt; c) &amp; 1</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i indeksinin c'inci biti</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 kontrol kübitinin değeri</a:t>
            </a:r>
            <a:endParaRPr lang="en-US" sz="1700" dirty="0"/>
          </a:p>
        </p:txBody>
      </p:sp>
      <p:sp>
        <p:nvSpPr>
          <p:cNvPr id="10" name="Shape 7"/>
          <p:cNvSpPr/>
          <p:nvPr/>
        </p:nvSpPr>
        <p:spPr>
          <a:xfrm>
            <a:off x="6233008" y="3657600"/>
            <a:ext cx="5410048" cy="2194560"/>
          </a:xfrm>
          <a:prstGeom prst="roundRect">
            <a:avLst>
              <a:gd name="adj" fmla="val 3333"/>
            </a:avLst>
          </a:prstGeom>
          <a:solidFill>
            <a:srgbClr val="E8EEF6"/>
          </a:solidFill>
          <a:ln w="12700">
            <a:solidFill>
              <a:srgbClr val="E8EEF6"/>
            </a:solidFill>
            <a:prstDash val="solid"/>
          </a:ln>
        </p:spPr>
      </p:sp>
      <p:sp>
        <p:nvSpPr>
          <p:cNvPr id="11" name="Text 8"/>
          <p:cNvSpPr txBox="1"/>
          <p:nvPr/>
        </p:nvSpPr>
        <p:spPr>
          <a:xfrm>
            <a:off x="6415888" y="3767328"/>
            <a:ext cx="5044288" cy="1975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i ^ (1 &lt;&lt; t)</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t'inci biti çevir</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 hedef kübite NOT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4×4 matris: hangi kübit kontrol?</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8</a:t>
            </a:r>
            <a:endParaRPr lang="en-US" sz="1000" dirty="0"/>
          </a:p>
        </p:txBody>
      </p:sp>
      <p:pic>
        <p:nvPicPr>
          <p:cNvPr id="6" name="Image 0" descr="görsel">    </p:cNvPr>
          <p:cNvPicPr>
            <a:picLocks noChangeAspect="1"/>
          </p:cNvPicPr>
          <p:nvPr/>
        </p:nvPicPr>
        <p:blipFill>
          <a:blip r:embed="rId1"/>
          <a:stretch>
            <a:fillRect/>
          </a:stretch>
        </p:blipFill>
        <p:spPr>
          <a:xfrm>
            <a:off x="548640" y="1853344"/>
            <a:ext cx="6766560" cy="333419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053535" cy="914400"/>
        </p:xfrm>
        <a:graphic>
          <a:graphicData uri="http://schemas.openxmlformats.org/drawingml/2006/table">
            <a:tbl>
              <a:tblPr/>
              <a:tblGrid>
                <a:gridCol w="1216061"/>
                <a:gridCol w="1418737"/>
                <a:gridCol w="1418737"/>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Girdi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cx(0,1)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cx(1,0)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b="1" dirty="0">
                          <a:solidFill>
                            <a:srgbClr val="1F2937"/>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7589520" y="4023360"/>
            <a:ext cx="4053535" cy="1737360"/>
          </a:xfrm>
          <a:prstGeom prst="roundRect">
            <a:avLst>
              <a:gd name="adj" fmla="val 4211"/>
            </a:avLst>
          </a:prstGeom>
          <a:solidFill>
            <a:srgbClr val="E8EEF6"/>
          </a:solidFill>
          <a:ln w="12700">
            <a:solidFill>
              <a:srgbClr val="E8EEF6"/>
            </a:solidFill>
            <a:prstDash val="solid"/>
          </a:ln>
        </p:spPr>
      </p:sp>
      <p:sp>
        <p:nvSpPr>
          <p:cNvPr id="9" name="Text 4"/>
          <p:cNvSpPr txBox="1"/>
          <p:nvPr/>
        </p:nvSpPr>
        <p:spPr>
          <a:xfrm>
            <a:off x="7772400" y="4133088"/>
            <a:ext cx="3687775" cy="151790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cx(0,1): [a, b, c, d] → </a:t>
            </a:r>
            <a:r>
              <a:rPr lang="en-US" sz="1700" b="1" dirty="0">
                <a:solidFill>
                  <a:srgbClr val="1F2937"/>
                </a:solidFill>
                <a:latin typeface="Calibri" pitchFamily="34" charset="0"/>
                <a:ea typeface="Calibri" pitchFamily="34" charset="-122"/>
                <a:cs typeface="Calibri" pitchFamily="34" charset="-120"/>
              </a:rPr>
              <a:t>[a, d, c, b]</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cx(1,0): [a, b, c, d] → </a:t>
            </a:r>
            <a:r>
              <a:rPr lang="en-US" sz="1700" b="1" dirty="0">
                <a:solidFill>
                  <a:srgbClr val="1F2937"/>
                </a:solidFill>
                <a:latin typeface="Calibri" pitchFamily="34" charset="0"/>
                <a:ea typeface="Calibri" pitchFamily="34" charset="-122"/>
                <a:cs typeface="Calibri" pitchFamily="34" charset="-120"/>
              </a:rPr>
              <a:t>[a, b, d, c]</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Dikkat: ders kitaplarındaki CNOT matrisi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280160"/>
            <a:ext cx="11094415" cy="1554480"/>
          </a:xfrm>
          <a:prstGeom prst="roundRect">
            <a:avLst>
              <a:gd name="adj" fmla="val 4706"/>
            </a:avLst>
          </a:prstGeom>
          <a:solidFill>
            <a:srgbClr val="FDF3E8"/>
          </a:solidFill>
          <a:ln w="12700">
            <a:solidFill>
              <a:srgbClr val="FDF3E8"/>
            </a:solidFill>
            <a:prstDash val="solid"/>
          </a:ln>
        </p:spPr>
      </p:sp>
      <p:sp>
        <p:nvSpPr>
          <p:cNvPr id="7" name="Text 4"/>
          <p:cNvSpPr txBox="1"/>
          <p:nvPr/>
        </p:nvSpPr>
        <p:spPr>
          <a:xfrm>
            <a:off x="731520" y="1389888"/>
            <a:ext cx="10728655" cy="1335024"/>
          </a:xfrm>
          <a:prstGeom prst="rect">
            <a:avLst/>
          </a:prstGeom>
          <a:noFill/>
          <a:ln/>
        </p:spPr>
        <p:txBody>
          <a:bodyPr wrap="square" lIns="0" tIns="0" rIns="0" bIns="0" rtlCol="0" anchor="t"/>
          <a:lstStyle/>
          <a:p>
            <a:pPr algn="l" indent="0" marL="0">
              <a:spcAft>
                <a:spcPts val="600"/>
              </a:spcAft>
              <a:buNone/>
            </a:pPr>
            <a:r>
              <a:rPr lang="en-US" sz="1900" b="1" dirty="0">
                <a:solidFill>
                  <a:srgbClr val="D9822B"/>
                </a:solidFill>
                <a:latin typeface="Calibri" pitchFamily="34" charset="0"/>
                <a:ea typeface="Calibri" pitchFamily="34" charset="-122"/>
                <a:cs typeface="Calibri" pitchFamily="34" charset="-120"/>
              </a:rPr>
              <a:t>Kitaptaki "CNOT, birinci kübit kontrol"</a:t>
            </a:r>
            <a:endParaRPr lang="en-US" sz="1900" dirty="0"/>
          </a:p>
          <a:p>
            <a:pPr algn="l" indent="0" marL="0">
              <a:spcAft>
                <a:spcPts val="500"/>
              </a:spcAft>
              <a:buNone/>
            </a:pPr>
            <a:r>
              <a:rPr lang="en-US" sz="2000" dirty="0">
                <a:solidFill>
                  <a:srgbClr val="1F2937"/>
                </a:solidFill>
                <a:latin typeface="Calibri" pitchFamily="34" charset="0"/>
                <a:ea typeface="Calibri" pitchFamily="34" charset="-122"/>
                <a:cs typeface="Calibri" pitchFamily="34" charset="-120"/>
              </a:rPr>
              <a:t>[[1,0,0,0], [0,1,0,0], [0,0,0,1], [0,0,1,0]]  →  Qiskit'te </a:t>
            </a:r>
            <a:r>
              <a:rPr lang="en-US" sz="2000" dirty="0">
                <a:solidFill>
                  <a:srgbClr val="1F3A5F"/>
                </a:solidFill>
                <a:latin typeface="Courier New" pitchFamily="34" charset="0"/>
                <a:ea typeface="Courier New" pitchFamily="34" charset="-122"/>
                <a:cs typeface="Courier New" pitchFamily="34" charset="-120"/>
              </a:rPr>
              <a:t>cx(1, 0)</a:t>
            </a:r>
            <a:endParaRPr lang="en-US" sz="1900" dirty="0"/>
          </a:p>
        </p:txBody>
      </p:sp>
      <p:sp>
        <p:nvSpPr>
          <p:cNvPr id="8" name="Shape 5"/>
          <p:cNvSpPr/>
          <p:nvPr/>
        </p:nvSpPr>
        <p:spPr>
          <a:xfrm>
            <a:off x="548640" y="3108960"/>
            <a:ext cx="6583680" cy="2743200"/>
          </a:xfrm>
          <a:prstGeom prst="rect">
            <a:avLst/>
          </a:prstGeom>
          <a:solidFill>
            <a:srgbClr val="F7F8FA"/>
          </a:solidFill>
          <a:ln w="9525">
            <a:solidFill>
              <a:srgbClr val="D1D5DB"/>
            </a:solidFill>
            <a:prstDash val="solid"/>
          </a:ln>
        </p:spPr>
      </p:sp>
      <p:sp>
        <p:nvSpPr>
          <p:cNvPr id="9" name="Text 6"/>
          <p:cNvSpPr txBox="1"/>
          <p:nvPr/>
        </p:nvSpPr>
        <p:spPr>
          <a:xfrm>
            <a:off x="685800" y="3200400"/>
            <a:ext cx="6309360" cy="256032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from qiskit.quantum_info import Operator</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 = QuantumCircuit(2); qc.cx(0,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Operator(qc).data.real</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[[1. 0. 0. 0.]</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[0. 0. 0. 1.]     &lt;- |01&gt; -&gt; |11&gt;</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[0. 0. 1. 0.]</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[0. 1. 0. 0.]]</a:t>
            </a:r>
            <a:endParaRPr lang="en-US" sz="1500" dirty="0"/>
          </a:p>
        </p:txBody>
      </p:sp>
      <p:sp>
        <p:nvSpPr>
          <p:cNvPr id="10" name="Shape 7"/>
          <p:cNvSpPr/>
          <p:nvPr/>
        </p:nvSpPr>
        <p:spPr>
          <a:xfrm>
            <a:off x="7406640" y="3108960"/>
            <a:ext cx="4236415" cy="2743200"/>
          </a:xfrm>
          <a:prstGeom prst="roundRect">
            <a:avLst>
              <a:gd name="adj" fmla="val 2667"/>
            </a:avLst>
          </a:prstGeom>
          <a:solidFill>
            <a:srgbClr val="E8EEF6"/>
          </a:solidFill>
          <a:ln w="12700">
            <a:solidFill>
              <a:srgbClr val="E8EEF6"/>
            </a:solidFill>
            <a:prstDash val="solid"/>
          </a:ln>
        </p:spPr>
      </p:sp>
      <p:sp>
        <p:nvSpPr>
          <p:cNvPr id="11" name="Text 8"/>
          <p:cNvSpPr txBox="1"/>
          <p:nvPr/>
        </p:nvSpPr>
        <p:spPr>
          <a:xfrm>
            <a:off x="7589520" y="3218688"/>
            <a:ext cx="3870655" cy="25237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Kural</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Matrisi </a:t>
            </a:r>
            <a:r>
              <a:rPr lang="en-US" sz="1700" b="1" dirty="0">
                <a:solidFill>
                  <a:srgbClr val="1F2937"/>
                </a:solidFill>
                <a:latin typeface="Calibri" pitchFamily="34" charset="0"/>
                <a:ea typeface="Calibri" pitchFamily="34" charset="-122"/>
                <a:cs typeface="Calibri" pitchFamily="34" charset="-120"/>
              </a:rPr>
              <a:t>ezberlemeyin</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"Her baz nereye gider?" diye kurun</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ya da </a:t>
            </a:r>
            <a:r>
              <a:rPr lang="en-US" sz="1700" dirty="0">
                <a:solidFill>
                  <a:srgbClr val="1F3A5F"/>
                </a:solidFill>
                <a:latin typeface="Courier New" pitchFamily="34" charset="0"/>
                <a:ea typeface="Courier New" pitchFamily="34" charset="-122"/>
                <a:cs typeface="Courier New" pitchFamily="34" charset="-120"/>
              </a:rPr>
              <a:t>Operator(qc).data</a:t>
            </a:r>
            <a:r>
              <a:rPr lang="en-US" sz="1700" dirty="0">
                <a:solidFill>
                  <a:srgbClr val="1F2937"/>
                </a:solidFill>
                <a:latin typeface="Calibri" pitchFamily="34" charset="0"/>
                <a:ea typeface="Calibri" pitchFamily="34" charset="-122"/>
                <a:cs typeface="Calibri" pitchFamily="34" charset="-120"/>
              </a:rPr>
              <a:t> ile yazdırın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1 · CNOT matrisini kurmak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Qiskit sırasıyla cx(0, 1) matrisini sütun sütun kurun; [a, b, c, d]'ye etkisi?</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q₀ kontrol → q₀ = 1 olan indeksler (01, 11) etkilenir</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|01⟩ → |11⟩ (sütun 1 = e₃),  |11⟩ → |01⟩ (sütun 3 = e₁)</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M = [[1,0,0,0],[0,0,0,1],[0,0,1,0],[0,1,0,0]]</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M·[a, b, c, d] = [a, d, c, b]</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b ve d genlikleri yer değiştirir</a:t>
            </a:r>
            <a:endParaRPr lang="en-US" sz="1700" dirty="0"/>
          </a:p>
        </p:txBody>
      </p:sp>
      <p:pic>
        <p:nvPicPr>
          <p:cNvPr id="11" name="Image 0" descr="görsel">    </p:cNvPr>
          <p:cNvPicPr>
            <a:picLocks noChangeAspect="1"/>
          </p:cNvPicPr>
          <p:nvPr/>
        </p:nvPicPr>
        <p:blipFill>
          <a:blip r:embed="rId1"/>
          <a:stretch>
            <a:fillRect/>
          </a:stretch>
        </p:blipFill>
        <p:spPr>
          <a:xfrm>
            <a:off x="7498080" y="1950591"/>
            <a:ext cx="4144975" cy="20424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Süperpozisyonlu girdi: dolanıklık doğuyor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11</a:t>
            </a:r>
            <a:endParaRPr lang="en-US" sz="1000" dirty="0"/>
          </a:p>
        </p:txBody>
      </p:sp>
      <p:pic>
        <p:nvPicPr>
          <p:cNvPr id="6" name="Image 0" descr="görsel">    </p:cNvPr>
          <p:cNvPicPr>
            <a:picLocks noChangeAspect="1"/>
          </p:cNvPicPr>
          <p:nvPr/>
        </p:nvPicPr>
        <p:blipFill>
          <a:blip r:embed="rId1"/>
          <a:stretch>
            <a:fillRect/>
          </a:stretch>
        </p:blipFill>
        <p:spPr>
          <a:xfrm>
            <a:off x="548640" y="1114153"/>
            <a:ext cx="11094415" cy="2983775"/>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11094415" cy="914400"/>
        </p:xfrm>
        <a:graphic>
          <a:graphicData uri="http://schemas.openxmlformats.org/drawingml/2006/table">
            <a:tbl>
              <a:tblPr/>
              <a:tblGrid>
                <a:gridCol w="2218883"/>
                <a:gridCol w="5547208"/>
                <a:gridCol w="332832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Adım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Durum [00, 01, 10, 11]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Çarpım durumu?</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başlangıç</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[1, 0, 0, 0] = |0⟩⊗|0⟩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Evet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[.707, .707, 0, 0] = |0⟩⊗|+⟩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Evet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cx(0,1)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[.707, 0, 0, .707] = |Φ⁺⟩</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1F2937"/>
                          </a:solidFill>
                          <a:latin typeface="Calibri" pitchFamily="34" charset="0"/>
                          <a:ea typeface="Calibri" pitchFamily="34" charset="-122"/>
                          <a:cs typeface="Calibri" pitchFamily="34" charset="-120"/>
                        </a:rPr>
                        <a:t>Hayır → dolanık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2 · Dolanıklığın doğuşu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|00⟩'a h(0), sonra cx(0,1). Son durumun çarpım durumu olmadığını rank testiyle gösterin.</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h(0): [1,0]⊗[.707,.707] = [.707, .707, 0, 0]</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[a,b,c,d] → [a,d,c,b] = [.707, 0, 0, .707]</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2×2 matris (satır q₁, sütun q₀): [[.707, 0], [0, .707]]</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det = 0.5 ≠ 0 → rank 2 → dolanık</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Tek tek %50/%50 rastgele; birlikte hep aynı (00 ya da 11)</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|Φ⁺⟩, dolanık</a:t>
            </a:r>
            <a:endParaRPr lang="en-US" sz="1700" dirty="0"/>
          </a:p>
        </p:txBody>
      </p:sp>
      <p:sp>
        <p:nvSpPr>
          <p:cNvPr id="11" name="Shape 8"/>
          <p:cNvSpPr/>
          <p:nvPr/>
        </p:nvSpPr>
        <p:spPr>
          <a:xfrm>
            <a:off x="7498080" y="1143000"/>
            <a:ext cx="4144975" cy="274320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56032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qc = QuantumCircuit(2)</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qc.h(0); qc.cx(0,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psi = Statevector(qc).data</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np.linalg.matrix_rank(</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psi.reshape(2, 2))</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2  -&gt; dolanık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Dolanık kübitin "kendi" Bloch vektörü</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13</a:t>
            </a:r>
            <a:endParaRPr lang="en-US" sz="1000" dirty="0"/>
          </a:p>
        </p:txBody>
      </p:sp>
      <p:pic>
        <p:nvPicPr>
          <p:cNvPr id="6" name="Image 0" descr="görsel">    </p:cNvPr>
          <p:cNvPicPr>
            <a:picLocks noChangeAspect="1"/>
          </p:cNvPicPr>
          <p:nvPr/>
        </p:nvPicPr>
        <p:blipFill>
          <a:blip r:embed="rId1"/>
          <a:stretch>
            <a:fillRect/>
          </a:stretch>
        </p:blipFill>
        <p:spPr>
          <a:xfrm>
            <a:off x="548640" y="1212809"/>
            <a:ext cx="11094415" cy="3060781"/>
          </a:xfrm>
          <a:prstGeom prst="rect">
            <a:avLst/>
          </a:prstGeom>
        </p:spPr>
      </p:pic>
      <p:sp>
        <p:nvSpPr>
          <p:cNvPr id="7" name="Shape 3"/>
          <p:cNvSpPr/>
          <p:nvPr/>
        </p:nvSpPr>
        <p:spPr>
          <a:xfrm>
            <a:off x="548640" y="4572000"/>
            <a:ext cx="7498080" cy="1188720"/>
          </a:xfrm>
          <a:prstGeom prst="rect">
            <a:avLst/>
          </a:prstGeom>
          <a:solidFill>
            <a:srgbClr val="F7F8FA"/>
          </a:solidFill>
          <a:ln w="9525">
            <a:solidFill>
              <a:srgbClr val="D1D5DB"/>
            </a:solidFill>
            <a:prstDash val="solid"/>
          </a:ln>
        </p:spPr>
      </p:sp>
      <p:sp>
        <p:nvSpPr>
          <p:cNvPr id="8" name="Text 4"/>
          <p:cNvSpPr txBox="1"/>
          <p:nvPr/>
        </p:nvSpPr>
        <p:spPr>
          <a:xfrm>
            <a:off x="685800" y="4663440"/>
            <a:ext cx="7223760" cy="100584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rho0 = partial_trace(DensityMatrix(qc), [1])  </a:t>
            </a:r>
            <a:r>
              <a:rPr lang="en-US" sz="1400" dirty="0">
                <a:solidFill>
                  <a:srgbClr val="6B7F99"/>
                </a:solidFill>
                <a:latin typeface="Courier New" pitchFamily="34" charset="0"/>
                <a:ea typeface="Courier New" pitchFamily="34" charset="-122"/>
                <a:cs typeface="Courier New" pitchFamily="34" charset="-120"/>
              </a:rPr>
              <a:t># q0'ı tut</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rho0.data.real   </a:t>
            </a:r>
            <a:r>
              <a:rPr lang="en-US" sz="1400" dirty="0">
                <a:solidFill>
                  <a:srgbClr val="6B7F99"/>
                </a:solidFill>
                <a:latin typeface="Courier New" pitchFamily="34" charset="0"/>
                <a:ea typeface="Courier New" pitchFamily="34" charset="-122"/>
                <a:cs typeface="Courier New" pitchFamily="34" charset="-120"/>
              </a:rPr>
              <a:t># [[0.5, 0], [0, 0.5]] -&gt; I/2</a:t>
            </a:r>
            <a:endParaRPr lang="en-US" sz="1400" dirty="0"/>
          </a:p>
        </p:txBody>
      </p:sp>
      <p:sp>
        <p:nvSpPr>
          <p:cNvPr id="9" name="Shape 5"/>
          <p:cNvSpPr/>
          <p:nvPr/>
        </p:nvSpPr>
        <p:spPr>
          <a:xfrm>
            <a:off x="8321040" y="4572000"/>
            <a:ext cx="3322015" cy="1188720"/>
          </a:xfrm>
          <a:prstGeom prst="roundRect">
            <a:avLst>
              <a:gd name="adj" fmla="val 6154"/>
            </a:avLst>
          </a:prstGeom>
          <a:solidFill>
            <a:srgbClr val="E8EEF6"/>
          </a:solidFill>
          <a:ln w="12700">
            <a:solidFill>
              <a:srgbClr val="E8EEF6"/>
            </a:solidFill>
            <a:prstDash val="solid"/>
          </a:ln>
        </p:spPr>
      </p:sp>
      <p:sp>
        <p:nvSpPr>
          <p:cNvPr id="10" name="Text 6"/>
          <p:cNvSpPr txBox="1"/>
          <p:nvPr/>
        </p:nvSpPr>
        <p:spPr>
          <a:xfrm>
            <a:off x="8503920" y="4681728"/>
            <a:ext cx="2956255" cy="96926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Bilgi tek kübitte değil, </a:t>
            </a:r>
            <a:r>
              <a:rPr lang="en-US" sz="1700" b="1" dirty="0">
                <a:solidFill>
                  <a:srgbClr val="1F2937"/>
                </a:solidFill>
                <a:latin typeface="Calibri" pitchFamily="34" charset="0"/>
                <a:ea typeface="Calibri" pitchFamily="34" charset="-122"/>
                <a:cs typeface="Calibri" pitchFamily="34" charset="-120"/>
              </a:rPr>
              <a:t>korelasyonda</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02</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Diğer çok kübitli kapılar</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CZ, SWAP, Toffoli, kontrollü-U ve faz geri tepmesi</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CZ: kontrollü faz, simetrik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15</a:t>
            </a:r>
            <a:endParaRPr lang="en-US" sz="1000" dirty="0"/>
          </a:p>
        </p:txBody>
      </p:sp>
      <p:pic>
        <p:nvPicPr>
          <p:cNvPr id="6" name="Image 0" descr="görsel">    </p:cNvPr>
          <p:cNvPicPr>
            <a:picLocks noChangeAspect="1"/>
          </p:cNvPicPr>
          <p:nvPr/>
        </p:nvPicPr>
        <p:blipFill>
          <a:blip r:embed="rId1"/>
          <a:stretch>
            <a:fillRect/>
          </a:stretch>
        </p:blipFill>
        <p:spPr>
          <a:xfrm>
            <a:off x="874717" y="1097280"/>
            <a:ext cx="10442261" cy="3840480"/>
          </a:xfrm>
          <a:prstGeom prst="rect">
            <a:avLst/>
          </a:prstGeom>
        </p:spPr>
      </p:pic>
      <p:sp>
        <p:nvSpPr>
          <p:cNvPr id="7" name="Shape 3"/>
          <p:cNvSpPr/>
          <p:nvPr/>
        </p:nvSpPr>
        <p:spPr>
          <a:xfrm>
            <a:off x="548640" y="5120640"/>
            <a:ext cx="11094415" cy="822960"/>
          </a:xfrm>
          <a:prstGeom prst="rect">
            <a:avLst/>
          </a:prstGeom>
          <a:solidFill>
            <a:srgbClr val="F7F8FA"/>
          </a:solidFill>
          <a:ln w="9525">
            <a:solidFill>
              <a:srgbClr val="D1D5DB"/>
            </a:solidFill>
            <a:prstDash val="solid"/>
          </a:ln>
        </p:spPr>
      </p:sp>
      <p:sp>
        <p:nvSpPr>
          <p:cNvPr id="8" name="Text 4"/>
          <p:cNvSpPr txBox="1"/>
          <p:nvPr/>
        </p:nvSpPr>
        <p:spPr>
          <a:xfrm>
            <a:off x="685800" y="5212080"/>
            <a:ext cx="10820095" cy="64008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qc.cz(0, 1)          </a:t>
            </a:r>
            <a:r>
              <a:rPr lang="en-US" sz="1500" dirty="0">
                <a:solidFill>
                  <a:srgbClr val="6B7F99"/>
                </a:solidFill>
                <a:latin typeface="Courier New" pitchFamily="34" charset="0"/>
                <a:ea typeface="Courier New" pitchFamily="34" charset="-122"/>
                <a:cs typeface="Courier New" pitchFamily="34" charset="-120"/>
              </a:rPr>
              <a:t># = qc.cz(1, 0)</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H·CX·H (hedefte) == CZ:  Operator(hxh).equiv(Operator(cz))  -&gt; True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3 · CZ = H · CX · H</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Hedef q₁'e H, cx(0,1), tekrar H uygulayan devrenin CZ olduğunu gösterin.</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b="1" dirty="0">
                <a:solidFill>
                  <a:srgbClr val="1F2937"/>
                </a:solidFill>
                <a:latin typeface="Calibri" pitchFamily="34" charset="0"/>
                <a:ea typeface="Calibri" pitchFamily="34" charset="-122"/>
                <a:cs typeface="Calibri" pitchFamily="34" charset="-120"/>
              </a:rPr>
              <a:t>1. q₀ = 0 dalı:</a:t>
            </a:r>
            <a:r>
              <a:rPr lang="en-US" sz="1900" dirty="0">
                <a:solidFill>
                  <a:srgbClr val="1F2937"/>
                </a:solidFill>
                <a:latin typeface="Calibri" pitchFamily="34" charset="0"/>
                <a:ea typeface="Calibri" pitchFamily="34" charset="-122"/>
                <a:cs typeface="Calibri" pitchFamily="34" charset="-120"/>
              </a:rPr>
              <a:t> CX etkisiz; q₁'de H·H = I</a:t>
            </a:r>
            <a:endParaRPr lang="en-US" sz="1900" dirty="0"/>
          </a:p>
          <a:p>
            <a:pPr indent="0" marL="0">
              <a:spcAft>
                <a:spcPts val="1000"/>
              </a:spcAft>
              <a:buNone/>
            </a:pPr>
            <a:r>
              <a:rPr lang="en-US" sz="1900" b="1" dirty="0">
                <a:solidFill>
                  <a:srgbClr val="1F2937"/>
                </a:solidFill>
                <a:latin typeface="Calibri" pitchFamily="34" charset="0"/>
                <a:ea typeface="Calibri" pitchFamily="34" charset="-122"/>
                <a:cs typeface="Calibri" pitchFamily="34" charset="-120"/>
              </a:rPr>
              <a:t>2. q₀ = 1 dalı:</a:t>
            </a:r>
            <a:r>
              <a:rPr lang="en-US" sz="1900" dirty="0">
                <a:solidFill>
                  <a:srgbClr val="1F2937"/>
                </a:solidFill>
                <a:latin typeface="Calibri" pitchFamily="34" charset="0"/>
                <a:ea typeface="Calibri" pitchFamily="34" charset="-122"/>
                <a:cs typeface="Calibri" pitchFamily="34" charset="-120"/>
              </a:rPr>
              <a:t> q₁'de H·X·H uygulanır</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H·X·H = [[1, 0], [0, −1]] = Z</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3. q₀ = 1 iken q₁'e Z → yalnız |11⟩ −1 ile çarpılır = </a:t>
            </a:r>
            <a:r>
              <a:rPr lang="en-US" sz="1900" b="1" dirty="0">
                <a:solidFill>
                  <a:srgbClr val="1F2937"/>
                </a:solidFill>
                <a:latin typeface="Calibri" pitchFamily="34" charset="0"/>
                <a:ea typeface="Calibri" pitchFamily="34" charset="-122"/>
                <a:cs typeface="Calibri" pitchFamily="34" charset="-120"/>
              </a:rPr>
              <a:t>CZ</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(I⊗H)·CX·(I⊗H) = CZ</a:t>
            </a:r>
            <a:endParaRPr lang="en-US" sz="1700" dirty="0"/>
          </a:p>
        </p:txBody>
      </p:sp>
      <p:sp>
        <p:nvSpPr>
          <p:cNvPr id="11" name="Shape 8"/>
          <p:cNvSpPr/>
          <p:nvPr/>
        </p:nvSpPr>
        <p:spPr>
          <a:xfrm>
            <a:off x="7498080" y="1143000"/>
            <a:ext cx="4144975" cy="329184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310896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cz = QuantumCircuit(2)</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cz.cz(0,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hxh = QuantumCircuit(2)</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hxh.h(1); hxh.cx(0,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hxh.h(1)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Operator(hxh).equiv(</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Operator(cz))</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True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SWAP = 3 CNOT = XOR takas hilesi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17</a:t>
            </a:r>
            <a:endParaRPr lang="en-US" sz="1000" dirty="0"/>
          </a:p>
        </p:txBody>
      </p:sp>
      <p:pic>
        <p:nvPicPr>
          <p:cNvPr id="6" name="Image 0" descr="görsel">    </p:cNvPr>
          <p:cNvPicPr>
            <a:picLocks noChangeAspect="1"/>
          </p:cNvPicPr>
          <p:nvPr/>
        </p:nvPicPr>
        <p:blipFill>
          <a:blip r:embed="rId1"/>
          <a:stretch>
            <a:fillRect/>
          </a:stretch>
        </p:blipFill>
        <p:spPr>
          <a:xfrm>
            <a:off x="2921289" y="1097280"/>
            <a:ext cx="6349117" cy="1920240"/>
          </a:xfrm>
          <a:prstGeom prst="rect">
            <a:avLst/>
          </a:prstGeom>
        </p:spPr>
      </p:pic>
      <p:pic>
        <p:nvPicPr>
          <p:cNvPr id="7" name="Image 1" descr="görsel">    </p:cNvPr>
          <p:cNvPicPr>
            <a:picLocks noChangeAspect="1"/>
          </p:cNvPicPr>
          <p:nvPr/>
        </p:nvPicPr>
        <p:blipFill>
          <a:blip r:embed="rId2"/>
          <a:stretch>
            <a:fillRect/>
          </a:stretch>
        </p:blipFill>
        <p:spPr>
          <a:xfrm>
            <a:off x="1135781" y="3108960"/>
            <a:ext cx="6415238" cy="2834640"/>
          </a:xfrm>
          <a:prstGeom prst="rect">
            <a:avLst/>
          </a:prstGeom>
        </p:spPr>
      </p:pic>
      <p:sp>
        <p:nvSpPr>
          <p:cNvPr id="8" name="Shape 3"/>
          <p:cNvSpPr/>
          <p:nvPr/>
        </p:nvSpPr>
        <p:spPr>
          <a:xfrm>
            <a:off x="8412480" y="3200400"/>
            <a:ext cx="3230575" cy="2651760"/>
          </a:xfrm>
          <a:prstGeom prst="rect">
            <a:avLst/>
          </a:prstGeom>
          <a:solidFill>
            <a:srgbClr val="F7F8FA"/>
          </a:solidFill>
          <a:ln w="9525">
            <a:solidFill>
              <a:srgbClr val="D1D5DB"/>
            </a:solidFill>
            <a:prstDash val="solid"/>
          </a:ln>
        </p:spPr>
      </p:sp>
      <p:sp>
        <p:nvSpPr>
          <p:cNvPr id="9" name="Text 4"/>
          <p:cNvSpPr txBox="1"/>
          <p:nvPr/>
        </p:nvSpPr>
        <p:spPr>
          <a:xfrm>
            <a:off x="8549640" y="3291840"/>
            <a:ext cx="2956255" cy="246888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a, b = 1, 0</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b ^= a    </a:t>
            </a:r>
            <a:r>
              <a:rPr lang="en-US" sz="1500" dirty="0">
                <a:solidFill>
                  <a:srgbClr val="6B7F99"/>
                </a:solidFill>
                <a:latin typeface="Courier New" pitchFamily="34" charset="0"/>
                <a:ea typeface="Courier New" pitchFamily="34" charset="-122"/>
                <a:cs typeface="Courier New" pitchFamily="34" charset="-120"/>
              </a:rPr>
              <a:t># cx(0,1)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a ^= b    </a:t>
            </a:r>
            <a:r>
              <a:rPr lang="en-US" sz="1500" dirty="0">
                <a:solidFill>
                  <a:srgbClr val="6B7F99"/>
                </a:solidFill>
                <a:latin typeface="Courier New" pitchFamily="34" charset="0"/>
                <a:ea typeface="Courier New" pitchFamily="34" charset="-122"/>
                <a:cs typeface="Courier New" pitchFamily="34" charset="-120"/>
              </a:rPr>
              <a:t># cx(1,0)</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b ^= a    </a:t>
            </a:r>
            <a:r>
              <a:rPr lang="en-US" sz="1500" dirty="0">
                <a:solidFill>
                  <a:srgbClr val="6B7F99"/>
                </a:solidFill>
                <a:latin typeface="Courier New" pitchFamily="34" charset="0"/>
                <a:ea typeface="Courier New" pitchFamily="34" charset="-122"/>
                <a:cs typeface="Courier New" pitchFamily="34" charset="-120"/>
              </a:rPr>
              <a:t># cx(0,1)</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a, b = 0, 1</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4 · Üç CNOT ile SWAP (genel durum)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18</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q₁ = [a₀, a₁], q₀ = [b₀, b₁]; üç CNOT sonrası vektör?</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Başlangıç: [a₀b₀, a₀b₁, a₁b₀, a₁b₁]</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[a₀b₀, a₁b₁, a₁b₀, a₀b₁]</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cx(1,0): [a₀b₀, a₁b₁, a₀b₁, a₁b₀]</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[a₀b₀, a₁b₀, a₀b₁, a₁b₁]</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[b₀, b₁] ⊗ [a₀, a₁] → kübitler takas edildi</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SWAP her durum için çalışır, yalnız klasik bitler için değil</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Toffoli (CCX): tersinir AND</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19</a:t>
            </a:r>
            <a:endParaRPr lang="en-US" sz="1000" dirty="0"/>
          </a:p>
        </p:txBody>
      </p:sp>
      <p:pic>
        <p:nvPicPr>
          <p:cNvPr id="6" name="Image 0" descr="görsel">    </p:cNvPr>
          <p:cNvPicPr>
            <a:picLocks noChangeAspect="1"/>
          </p:cNvPicPr>
          <p:nvPr/>
        </p:nvPicPr>
        <p:blipFill>
          <a:blip r:embed="rId1"/>
          <a:stretch>
            <a:fillRect/>
          </a:stretch>
        </p:blipFill>
        <p:spPr>
          <a:xfrm>
            <a:off x="548640" y="1464961"/>
            <a:ext cx="7315200" cy="4110958"/>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38160" y="1188720"/>
          <a:ext cx="3504895" cy="914400"/>
        </p:xfrm>
        <a:graphic>
          <a:graphicData uri="http://schemas.openxmlformats.org/drawingml/2006/table">
            <a:tbl>
              <a:tblPr/>
              <a:tblGrid>
                <a:gridCol w="1752448"/>
                <a:gridCol w="1752448"/>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q₂q₁q₀</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8138160" y="4846320"/>
            <a:ext cx="3504895" cy="914400"/>
          </a:xfrm>
          <a:prstGeom prst="rect">
            <a:avLst/>
          </a:prstGeom>
          <a:solidFill>
            <a:srgbClr val="F7F8FA"/>
          </a:solidFill>
          <a:ln w="9525">
            <a:solidFill>
              <a:srgbClr val="D1D5DB"/>
            </a:solidFill>
            <a:prstDash val="solid"/>
          </a:ln>
        </p:spPr>
      </p:sp>
      <p:sp>
        <p:nvSpPr>
          <p:cNvPr id="9" name="Text 4"/>
          <p:cNvSpPr txBox="1"/>
          <p:nvPr/>
        </p:nvSpPr>
        <p:spPr>
          <a:xfrm>
            <a:off x="8275320" y="4937760"/>
            <a:ext cx="3230575" cy="73152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qc.ccx(0, 1, 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qc.mcx([0,1,2], 3)</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Genel kontrollü-U: .control()</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20</a:t>
            </a:r>
            <a:endParaRPr lang="en-US" sz="1000" dirty="0"/>
          </a:p>
        </p:txBody>
      </p:sp>
      <p:pic>
        <p:nvPicPr>
          <p:cNvPr id="6" name="Image 0" descr="görsel">    </p:cNvPr>
          <p:cNvPicPr>
            <a:picLocks noChangeAspect="1"/>
          </p:cNvPicPr>
          <p:nvPr/>
        </p:nvPicPr>
        <p:blipFill>
          <a:blip r:embed="rId1"/>
          <a:stretch>
            <a:fillRect/>
          </a:stretch>
        </p:blipFill>
        <p:spPr>
          <a:xfrm>
            <a:off x="1767331" y="1097280"/>
            <a:ext cx="8657033" cy="2377440"/>
          </a:xfrm>
          <a:prstGeom prst="rect">
            <a:avLst/>
          </a:prstGeom>
        </p:spPr>
      </p:pic>
      <p:sp>
        <p:nvSpPr>
          <p:cNvPr id="7" name="Shape 3"/>
          <p:cNvSpPr/>
          <p:nvPr/>
        </p:nvSpPr>
        <p:spPr>
          <a:xfrm>
            <a:off x="548640" y="3657600"/>
            <a:ext cx="4389120" cy="1097280"/>
          </a:xfrm>
          <a:prstGeom prst="roundRect">
            <a:avLst>
              <a:gd name="adj" fmla="val 8333"/>
            </a:avLst>
          </a:prstGeom>
          <a:solidFill>
            <a:srgbClr val="E8EEF6"/>
          </a:solidFill>
          <a:ln w="12700">
            <a:solidFill>
              <a:srgbClr val="E8EEF6"/>
            </a:solidFill>
            <a:prstDash val="solid"/>
          </a:ln>
        </p:spPr>
      </p:sp>
      <p:sp>
        <p:nvSpPr>
          <p:cNvPr id="8" name="Text 4"/>
          <p:cNvSpPr txBox="1"/>
          <p:nvPr/>
        </p:nvSpPr>
        <p:spPr>
          <a:xfrm>
            <a:off x="548640" y="3657600"/>
            <a:ext cx="4389120" cy="1097280"/>
          </a:xfrm>
          <a:prstGeom prst="rect">
            <a:avLst/>
          </a:prstGeom>
          <a:noFill/>
          <a:ln/>
        </p:spPr>
        <p:txBody>
          <a:bodyPr wrap="square" lIns="0" tIns="0" rIns="0" bIns="0" rtlCol="0" anchor="ctr"/>
          <a:lstStyle/>
          <a:p>
            <a:pPr algn="ctr" indent="0" marL="0">
              <a:buNone/>
            </a:pPr>
            <a:r>
              <a:rPr lang="en-US" sz="2400" dirty="0">
                <a:solidFill>
                  <a:srgbClr val="1F3A5F"/>
                </a:solidFill>
                <a:latin typeface="Cambria" pitchFamily="34" charset="0"/>
                <a:ea typeface="Cambria" pitchFamily="34" charset="-122"/>
                <a:cs typeface="Cambria" pitchFamily="34" charset="-120"/>
              </a:rPr>
              <a:t>C-U = [[ I, 0 ], [ 0, U ]]</a:t>
            </a:r>
            <a:endParaRPr lang="en-US" sz="2400" dirty="0"/>
          </a:p>
        </p:txBody>
      </p:sp>
      <p:sp>
        <p:nvSpPr>
          <p:cNvPr id="9" name="Shape 5"/>
          <p:cNvSpPr/>
          <p:nvPr/>
        </p:nvSpPr>
        <p:spPr>
          <a:xfrm>
            <a:off x="5212080" y="3657600"/>
            <a:ext cx="6430975" cy="2286000"/>
          </a:xfrm>
          <a:prstGeom prst="rect">
            <a:avLst/>
          </a:prstGeom>
          <a:solidFill>
            <a:srgbClr val="F7F8FA"/>
          </a:solidFill>
          <a:ln w="9525">
            <a:solidFill>
              <a:srgbClr val="D1D5DB"/>
            </a:solidFill>
            <a:prstDash val="solid"/>
          </a:ln>
        </p:spPr>
      </p:sp>
      <p:sp>
        <p:nvSpPr>
          <p:cNvPr id="10" name="Text 6"/>
          <p:cNvSpPr txBox="1"/>
          <p:nvPr/>
        </p:nvSpPr>
        <p:spPr>
          <a:xfrm>
            <a:off x="5349240" y="3749040"/>
            <a:ext cx="6156655" cy="210312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from qiskit.circuit.library import RYGate, HGate</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qc.ch(0, 1)                </a:t>
            </a:r>
            <a:r>
              <a:rPr lang="en-US" sz="1300" dirty="0">
                <a:solidFill>
                  <a:srgbClr val="6B7F99"/>
                </a:solidFill>
                <a:latin typeface="Courier New" pitchFamily="34" charset="0"/>
                <a:ea typeface="Courier New" pitchFamily="34" charset="-122"/>
                <a:cs typeface="Courier New" pitchFamily="34" charset="-120"/>
              </a:rPr>
              <a:t># kontrollü H</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qc.cry(0.8, 0, 1)          </a:t>
            </a:r>
            <a:r>
              <a:rPr lang="en-US" sz="1300" dirty="0">
                <a:solidFill>
                  <a:srgbClr val="6B7F99"/>
                </a:solidFill>
                <a:latin typeface="Courier New" pitchFamily="34" charset="0"/>
                <a:ea typeface="Courier New" pitchFamily="34" charset="-122"/>
                <a:cs typeface="Courier New" pitchFamily="34" charset="-120"/>
              </a:rPr>
              <a:t># kontrollü Ry</a:t>
            </a:r>
            <a:endParaRPr lang="en-US" sz="1300" dirty="0"/>
          </a:p>
          <a:p>
            <a:pPr indent="0" marL="0">
              <a:buNone/>
            </a:pPr>
            <a:r>
              <a:rPr lang="en-US" sz="1300" dirty="0">
                <a:solidFill>
                  <a:srgbClr val="6B7F99"/>
                </a:solidFill>
                <a:latin typeface="Courier New" pitchFamily="34" charset="0"/>
                <a:ea typeface="Courier New" pitchFamily="34" charset="-122"/>
                <a:cs typeface="Courier New" pitchFamily="34" charset="-120"/>
              </a:rPr>
              <a:t># 2 kontrollü Ry:</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qc.append(RYGate(0.8).control(2), [0, 1, 2])</a:t>
            </a:r>
            <a:endParaRPr lang="en-US" sz="1300" dirty="0"/>
          </a:p>
          <a:p>
            <a:pPr indent="0" marL="0">
              <a:buNone/>
            </a:pPr>
            <a:r>
              <a:rPr lang="en-US" sz="1300" dirty="0">
                <a:solidFill>
                  <a:srgbClr val="6B7F99"/>
                </a:solidFill>
                <a:latin typeface="Courier New" pitchFamily="34" charset="0"/>
                <a:ea typeface="Courier New" pitchFamily="34" charset="-122"/>
                <a:cs typeface="Courier New" pitchFamily="34" charset="-120"/>
              </a:rPr>
              <a:t># kontrol 0 iken H:</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qc.append(HGate().control(1, ctrl_state=0), [0, 1])</a:t>
            </a:r>
            <a:endParaRPr lang="en-US" sz="1300" dirty="0"/>
          </a:p>
        </p:txBody>
      </p:sp>
      <p:sp>
        <p:nvSpPr>
          <p:cNvPr id="11" name="Text 7"/>
          <p:cNvSpPr txBox="1"/>
          <p:nvPr/>
        </p:nvSpPr>
        <p:spPr>
          <a:xfrm>
            <a:off x="548640" y="4937760"/>
            <a:ext cx="4389120" cy="457200"/>
          </a:xfrm>
          <a:prstGeom prst="rect">
            <a:avLst/>
          </a:prstGeom>
          <a:noFill/>
          <a:ln/>
        </p:spPr>
        <p:txBody>
          <a:bodyPr wrap="square" lIns="0" tIns="0" rIns="0" bIns="0" rtlCol="0" anchor="t"/>
          <a:lstStyle/>
          <a:p>
            <a:pPr algn="ctr" indent="0" marL="0">
              <a:spcAft>
                <a:spcPts val="600"/>
              </a:spcAft>
              <a:buNone/>
            </a:pPr>
            <a:r>
              <a:rPr lang="en-US" sz="1600" dirty="0">
                <a:solidFill>
                  <a:srgbClr val="6B7280"/>
                </a:solidFill>
                <a:latin typeface="Calibri" pitchFamily="34" charset="0"/>
                <a:ea typeface="Calibri" pitchFamily="34" charset="-122"/>
                <a:cs typeface="Calibri" pitchFamily="34" charset="-120"/>
              </a:rPr>
              <a:t>Kontrol 1 → U, kontrol 0 → I</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Faz geri tepmesi (phase kickback)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21</a:t>
            </a:r>
            <a:endParaRPr lang="en-US" sz="1000" dirty="0"/>
          </a:p>
        </p:txBody>
      </p:sp>
      <p:pic>
        <p:nvPicPr>
          <p:cNvPr id="6" name="Image 0" descr="görsel">    </p:cNvPr>
          <p:cNvPicPr>
            <a:picLocks noChangeAspect="1"/>
          </p:cNvPicPr>
          <p:nvPr/>
        </p:nvPicPr>
        <p:blipFill>
          <a:blip r:embed="rId1"/>
          <a:stretch>
            <a:fillRect/>
          </a:stretch>
        </p:blipFill>
        <p:spPr>
          <a:xfrm>
            <a:off x="548640" y="1537789"/>
            <a:ext cx="11094415" cy="2502262"/>
          </a:xfrm>
          <a:prstGeom prst="rect">
            <a:avLst/>
          </a:prstGeom>
        </p:spPr>
      </p:pic>
      <p:sp>
        <p:nvSpPr>
          <p:cNvPr id="7" name="Shape 3"/>
          <p:cNvSpPr/>
          <p:nvPr/>
        </p:nvSpPr>
        <p:spPr>
          <a:xfrm>
            <a:off x="548640" y="4663440"/>
            <a:ext cx="5410048" cy="1234440"/>
          </a:xfrm>
          <a:prstGeom prst="roundRect">
            <a:avLst>
              <a:gd name="adj" fmla="val 5926"/>
            </a:avLst>
          </a:prstGeom>
          <a:solidFill>
            <a:srgbClr val="E8EEF6"/>
          </a:solidFill>
          <a:ln w="12700">
            <a:solidFill>
              <a:srgbClr val="E8EEF6"/>
            </a:solidFill>
            <a:prstDash val="solid"/>
          </a:ln>
        </p:spPr>
      </p:sp>
      <p:sp>
        <p:nvSpPr>
          <p:cNvPr id="8" name="Text 4"/>
          <p:cNvSpPr txBox="1"/>
          <p:nvPr/>
        </p:nvSpPr>
        <p:spPr>
          <a:xfrm>
            <a:off x="731520" y="4773168"/>
            <a:ext cx="5044288" cy="101498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X|−⟩ = </a:t>
            </a:r>
            <a:r>
              <a:rPr lang="en-US" sz="1700" b="1" dirty="0">
                <a:solidFill>
                  <a:srgbClr val="1F2937"/>
                </a:solidFill>
                <a:latin typeface="Calibri" pitchFamily="34" charset="0"/>
                <a:ea typeface="Calibri" pitchFamily="34" charset="-122"/>
                <a:cs typeface="Calibri" pitchFamily="34" charset="-120"/>
              </a:rPr>
              <a:t>−|−⟩</a:t>
            </a:r>
            <a:r>
              <a:rPr lang="en-US" sz="1700" dirty="0">
                <a:solidFill>
                  <a:srgbClr val="1F2937"/>
                </a:solidFill>
                <a:latin typeface="Calibri" pitchFamily="34" charset="0"/>
                <a:ea typeface="Calibri" pitchFamily="34" charset="-122"/>
                <a:cs typeface="Calibri" pitchFamily="34" charset="-120"/>
              </a:rPr>
              <a:t> → hedef aynı kalır, </a:t>
            </a:r>
            <a:r>
              <a:rPr lang="en-US" sz="1700" b="1" dirty="0">
                <a:solidFill>
                  <a:srgbClr val="1F2937"/>
                </a:solidFill>
                <a:latin typeface="Calibri" pitchFamily="34" charset="0"/>
                <a:ea typeface="Calibri" pitchFamily="34" charset="-122"/>
                <a:cs typeface="Calibri" pitchFamily="34" charset="-120"/>
              </a:rPr>
              <a:t>faz kontrole</a:t>
            </a:r>
            <a:r>
              <a:rPr lang="en-US" sz="1700" dirty="0">
                <a:solidFill>
                  <a:srgbClr val="1F2937"/>
                </a:solidFill>
                <a:latin typeface="Calibri" pitchFamily="34" charset="0"/>
                <a:ea typeface="Calibri" pitchFamily="34" charset="-122"/>
                <a:cs typeface="Calibri" pitchFamily="34" charset="-120"/>
              </a:rPr>
              <a:t> yazılır</a:t>
            </a:r>
            <a:endParaRPr lang="en-US" sz="1700" dirty="0"/>
          </a:p>
        </p:txBody>
      </p:sp>
      <p:sp>
        <p:nvSpPr>
          <p:cNvPr id="9" name="Shape 5"/>
          <p:cNvSpPr/>
          <p:nvPr/>
        </p:nvSpPr>
        <p:spPr>
          <a:xfrm>
            <a:off x="6233008" y="4663440"/>
            <a:ext cx="5410048" cy="1234440"/>
          </a:xfrm>
          <a:prstGeom prst="roundRect">
            <a:avLst>
              <a:gd name="adj" fmla="val 5926"/>
            </a:avLst>
          </a:prstGeom>
          <a:solidFill>
            <a:srgbClr val="F3F4F6"/>
          </a:solidFill>
          <a:ln w="12700">
            <a:solidFill>
              <a:srgbClr val="F3F4F6"/>
            </a:solidFill>
            <a:prstDash val="solid"/>
          </a:ln>
        </p:spPr>
      </p:sp>
      <p:sp>
        <p:nvSpPr>
          <p:cNvPr id="10" name="Text 6"/>
          <p:cNvSpPr txBox="1"/>
          <p:nvPr/>
        </p:nvSpPr>
        <p:spPr>
          <a:xfrm>
            <a:off x="6415888" y="4773168"/>
            <a:ext cx="5044288" cy="1014984"/>
          </a:xfrm>
          <a:prstGeom prst="rect">
            <a:avLst/>
          </a:prstGeom>
          <a:noFill/>
          <a:ln/>
        </p:spPr>
        <p:txBody>
          <a:bodyPr wrap="square" lIns="0" tIns="0" rIns="0" bIns="0" rtlCol="0" anchor="ctr"/>
          <a:lstStyle/>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8. hafta: oracle'ın cevabı bu yolla </a:t>
            </a:r>
            <a:r>
              <a:rPr lang="en-US" sz="1700" b="1" dirty="0">
                <a:solidFill>
                  <a:srgbClr val="1F2937"/>
                </a:solidFill>
                <a:latin typeface="Calibri" pitchFamily="34" charset="0"/>
                <a:ea typeface="Calibri" pitchFamily="34" charset="-122"/>
                <a:cs typeface="Calibri" pitchFamily="34" charset="-120"/>
              </a:rPr>
              <a:t>girdi fazına</a:t>
            </a:r>
            <a:r>
              <a:rPr lang="en-US" sz="1700" dirty="0">
                <a:solidFill>
                  <a:srgbClr val="1F2937"/>
                </a:solidFill>
                <a:latin typeface="Calibri" pitchFamily="34" charset="0"/>
                <a:ea typeface="Calibri" pitchFamily="34" charset="-122"/>
                <a:cs typeface="Calibri" pitchFamily="34" charset="-120"/>
              </a:rPr>
              <a:t> yazılır</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5 · Faz geri tepmesi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22</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q₀ = |+⟩, q₁ = |−⟩; cx(0,1) sonrası? q₀'a H uygulayıp ölçünce?</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Dallara ayır: (1/√2)[ |−⟩|0⟩ + |−⟩|1⟩ ]  (q₁ q₀)</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q₀ = 1 dalında X|−⟩ = −|−⟩</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(1/√2)[ |−⟩|0⟩ − |−⟩|1⟩ ] = |−⟩ ⊗ |−⟩</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 = |1⟩ → q₀ %100 1</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 q₀ kesin 1</a:t>
            </a:r>
            <a:endParaRPr lang="en-US" sz="1700" dirty="0"/>
          </a:p>
        </p:txBody>
      </p:sp>
      <p:sp>
        <p:nvSpPr>
          <p:cNvPr id="11" name="Shape 8"/>
          <p:cNvSpPr/>
          <p:nvPr/>
        </p:nvSpPr>
        <p:spPr>
          <a:xfrm>
            <a:off x="7498080" y="1143000"/>
            <a:ext cx="4144975" cy="292608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74320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qc = QuantumCircuit(2)</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qc.h(0)</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qc.x(1); qc.h(1)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qc.cx(0,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qc.h(0); qc.h(1)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qc.measure_all()</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{'11': 1000}</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03</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Bell ve GHZ durumları</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Hazırlama, histogram ve korelasyon istatistiği</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Dört Bell durumu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24</a:t>
            </a:r>
            <a:endParaRPr lang="en-US" sz="1000" dirty="0"/>
          </a:p>
        </p:txBody>
      </p:sp>
      <p:pic>
        <p:nvPicPr>
          <p:cNvPr id="6" name="Image 0" descr="görsel">    </p:cNvPr>
          <p:cNvPicPr>
            <a:picLocks noChangeAspect="1"/>
          </p:cNvPicPr>
          <p:nvPr/>
        </p:nvPicPr>
        <p:blipFill>
          <a:blip r:embed="rId1"/>
          <a:stretch>
            <a:fillRect/>
          </a:stretch>
        </p:blipFill>
        <p:spPr>
          <a:xfrm>
            <a:off x="548640" y="1967889"/>
            <a:ext cx="5120640" cy="3105102"/>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43600" y="1188720"/>
          <a:ext cx="5699455" cy="914400"/>
        </p:xfrm>
        <a:graphic>
          <a:graphicData uri="http://schemas.openxmlformats.org/drawingml/2006/table">
            <a:tbl>
              <a:tblPr/>
              <a:tblGrid>
                <a:gridCol w="797924"/>
                <a:gridCol w="1481858"/>
                <a:gridCol w="3419673"/>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Ad</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Girdi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Genlikler [00,01,10,11]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Φ⁺</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[.707, 0, 0, .707]</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Φ⁻</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x(0)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[.707, 0, 0, −.707]</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Ψ⁺</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x(1)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 .707, .707, 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Ψ⁻</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x(0), x(1)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600" dirty="0">
                          <a:solidFill>
                            <a:srgbClr val="1F2937"/>
                          </a:solidFill>
                          <a:latin typeface="Calibri" pitchFamily="34" charset="0"/>
                          <a:ea typeface="Calibri" pitchFamily="34" charset="-122"/>
                          <a:cs typeface="Calibri" pitchFamily="34" charset="-120"/>
                        </a:rPr>
                        <a:t>[0, −.707, .707, 0]</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5943600" y="3931920"/>
            <a:ext cx="5699455" cy="1828800"/>
          </a:xfrm>
          <a:prstGeom prst="roundRect">
            <a:avLst>
              <a:gd name="adj" fmla="val 4000"/>
            </a:avLst>
          </a:prstGeom>
          <a:solidFill>
            <a:srgbClr val="FDF3E8"/>
          </a:solidFill>
          <a:ln w="12700">
            <a:solidFill>
              <a:srgbClr val="FDF3E8"/>
            </a:solidFill>
            <a:prstDash val="solid"/>
          </a:ln>
        </p:spPr>
      </p:sp>
      <p:sp>
        <p:nvSpPr>
          <p:cNvPr id="9" name="Text 4"/>
          <p:cNvSpPr txBox="1"/>
          <p:nvPr/>
        </p:nvSpPr>
        <p:spPr>
          <a:xfrm>
            <a:off x="6126480" y="4041648"/>
            <a:ext cx="5333695" cy="160934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Ψ⁻ işaretine dikkat</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Kitap: (|01⟩ − |10⟩)/√2, Qiskit devresi: (|10⟩ − |01⟩)/√2</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Fark: </a:t>
            </a:r>
            <a:r>
              <a:rPr lang="en-US" sz="1500" b="1" dirty="0">
                <a:solidFill>
                  <a:srgbClr val="1F2937"/>
                </a:solidFill>
                <a:latin typeface="Calibri" pitchFamily="34" charset="0"/>
                <a:ea typeface="Calibri" pitchFamily="34" charset="-122"/>
                <a:cs typeface="Calibri" pitchFamily="34" charset="-120"/>
              </a:rPr>
              <a:t>−1 global faz</a:t>
            </a:r>
            <a:r>
              <a:rPr lang="en-US" sz="1500" dirty="0">
                <a:solidFill>
                  <a:srgbClr val="1F2937"/>
                </a:solidFill>
                <a:latin typeface="Calibri" pitchFamily="34" charset="0"/>
                <a:ea typeface="Calibri" pitchFamily="34" charset="-122"/>
                <a:cs typeface="Calibri" pitchFamily="34" charset="-120"/>
              </a:rPr>
              <a:t> → aynı durum. </a:t>
            </a:r>
            <a:r>
              <a:rPr lang="en-US" sz="1500" dirty="0">
                <a:solidFill>
                  <a:srgbClr val="1F3A5F"/>
                </a:solidFill>
                <a:latin typeface="Courier New" pitchFamily="34" charset="0"/>
                <a:ea typeface="Courier New" pitchFamily="34" charset="-122"/>
                <a:cs typeface="Courier New" pitchFamily="34" charset="-120"/>
              </a:rPr>
              <a:t>Statevector.equiv()</a:t>
            </a:r>
            <a:r>
              <a:rPr lang="en-US" sz="1500" dirty="0">
                <a:solidFill>
                  <a:srgbClr val="1F2937"/>
                </a:solidFill>
                <a:latin typeface="Calibri" pitchFamily="34" charset="0"/>
                <a:ea typeface="Calibri" pitchFamily="34" charset="-122"/>
                <a:cs typeface="Calibri" pitchFamily="34" charset="-120"/>
              </a:rPr>
              <a:t> kullanın.</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Bell durumları: genlikler ve ölçüm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25</a:t>
            </a:r>
            <a:endParaRPr lang="en-US" sz="1000" dirty="0"/>
          </a:p>
        </p:txBody>
      </p:sp>
      <p:pic>
        <p:nvPicPr>
          <p:cNvPr id="6" name="Image 0" descr="görsel">    </p:cNvPr>
          <p:cNvPicPr>
            <a:picLocks noChangeAspect="1"/>
          </p:cNvPicPr>
          <p:nvPr/>
        </p:nvPicPr>
        <p:blipFill>
          <a:blip r:embed="rId1"/>
          <a:stretch>
            <a:fillRect/>
          </a:stretch>
        </p:blipFill>
        <p:spPr>
          <a:xfrm>
            <a:off x="617399" y="1097280"/>
            <a:ext cx="10956897" cy="2377440"/>
          </a:xfrm>
          <a:prstGeom prst="rect">
            <a:avLst/>
          </a:prstGeom>
        </p:spPr>
      </p:pic>
      <p:pic>
        <p:nvPicPr>
          <p:cNvPr id="7" name="Image 1" descr="görsel">    </p:cNvPr>
          <p:cNvPicPr>
            <a:picLocks noChangeAspect="1"/>
          </p:cNvPicPr>
          <p:nvPr/>
        </p:nvPicPr>
        <p:blipFill>
          <a:blip r:embed="rId2"/>
          <a:stretch>
            <a:fillRect/>
          </a:stretch>
        </p:blipFill>
        <p:spPr>
          <a:xfrm>
            <a:off x="548640" y="3549204"/>
            <a:ext cx="11094415" cy="231991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6 · Φ⁻ durumunu adım adım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26</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x(0); h(0); cx(0,1) devresinin Φ⁻ ürettiğini gösterin.</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x(0): |00⟩ → |01⟩ = [0, 1, 0, 0]</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h(0): |0⟩⊗|−⟩ = [.707, −.707, 0, 0]</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[a,b,c,d] → [a,d,c,b] = [.707, 0, 0, −.707]</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00 pozitif, 11 negatif → (|00⟩ − |11⟩)/√2 = </a:t>
            </a:r>
            <a:r>
              <a:rPr lang="en-US" sz="1900" b="1" dirty="0">
                <a:solidFill>
                  <a:srgbClr val="1F2937"/>
                </a:solidFill>
                <a:latin typeface="Calibri" pitchFamily="34" charset="0"/>
                <a:ea typeface="Calibri" pitchFamily="34" charset="-122"/>
                <a:cs typeface="Calibri" pitchFamily="34" charset="-120"/>
              </a:rPr>
              <a:t>Φ⁻</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[.707, 0, 0, −.707] = |Φ⁻⟩</a:t>
            </a:r>
            <a:endParaRPr lang="en-US" sz="1700" dirty="0"/>
          </a:p>
        </p:txBody>
      </p:sp>
      <p:sp>
        <p:nvSpPr>
          <p:cNvPr id="11" name="Shape 8"/>
          <p:cNvSpPr/>
          <p:nvPr/>
        </p:nvSpPr>
        <p:spPr>
          <a:xfrm>
            <a:off x="7498080" y="1143000"/>
            <a:ext cx="4144975" cy="237744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19456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qc = QuantumCircuit(2)</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qc.x(0); qc.h(0)</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qc.cx(0,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Statevector(qc).data.real</a:t>
            </a:r>
            <a:endParaRPr lang="en-US" sz="1500" dirty="0"/>
          </a:p>
          <a:p>
            <a:pPr indent="0" marL="0">
              <a:buNone/>
            </a:pPr>
            <a:r>
              <a:rPr lang="en-US" sz="1500" dirty="0">
                <a:solidFill>
                  <a:srgbClr val="6B7F99"/>
                </a:solidFill>
                <a:latin typeface="Courier New" pitchFamily="34" charset="0"/>
                <a:ea typeface="Courier New" pitchFamily="34" charset="-122"/>
                <a:cs typeface="Courier New" pitchFamily="34" charset="-120"/>
              </a:rPr>
              <a:t># [ 0.707  0.  0. -0.707]</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GHZ durumları ve devre derinliği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27</a:t>
            </a:r>
            <a:endParaRPr lang="en-US" sz="1000" dirty="0"/>
          </a:p>
        </p:txBody>
      </p:sp>
      <p:pic>
        <p:nvPicPr>
          <p:cNvPr id="6" name="Image 0" descr="görsel">    </p:cNvPr>
          <p:cNvPicPr>
            <a:picLocks noChangeAspect="1"/>
          </p:cNvPicPr>
          <p:nvPr/>
        </p:nvPicPr>
        <p:blipFill>
          <a:blip r:embed="rId1"/>
          <a:stretch>
            <a:fillRect/>
          </a:stretch>
        </p:blipFill>
        <p:spPr>
          <a:xfrm>
            <a:off x="1849188" y="1097280"/>
            <a:ext cx="8493318" cy="2651760"/>
          </a:xfrm>
          <a:prstGeom prst="rect">
            <a:avLst/>
          </a:prstGeom>
        </p:spPr>
      </p:pic>
      <p:pic>
        <p:nvPicPr>
          <p:cNvPr id="7" name="Image 1" descr="görsel">    </p:cNvPr>
          <p:cNvPicPr>
            <a:picLocks noChangeAspect="1"/>
          </p:cNvPicPr>
          <p:nvPr/>
        </p:nvPicPr>
        <p:blipFill>
          <a:blip r:embed="rId2"/>
          <a:stretch>
            <a:fillRect/>
          </a:stretch>
        </p:blipFill>
        <p:spPr>
          <a:xfrm>
            <a:off x="1109847" y="3840480"/>
            <a:ext cx="3815346" cy="210312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60720" y="3886200"/>
          <a:ext cx="5882335" cy="914400"/>
        </p:xfrm>
        <a:graphic>
          <a:graphicData uri="http://schemas.openxmlformats.org/drawingml/2006/table">
            <a:tbl>
              <a:tblPr/>
              <a:tblGrid>
                <a:gridCol w="705880"/>
                <a:gridCol w="2352934"/>
                <a:gridCol w="1411760"/>
                <a:gridCol w="141176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Sonuçlar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Zincir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Ağaç</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000, 111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00000, 11111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 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 1…1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GHZ ölçümü: 2ⁿ sonuçtan yalnız 2'si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28</a:t>
            </a:r>
            <a:endParaRPr lang="en-US" sz="1000" dirty="0"/>
          </a:p>
        </p:txBody>
      </p:sp>
      <p:pic>
        <p:nvPicPr>
          <p:cNvPr id="6" name="Image 0" descr="görsel">    </p:cNvPr>
          <p:cNvPicPr>
            <a:picLocks noChangeAspect="1"/>
          </p:cNvPicPr>
          <p:nvPr/>
        </p:nvPicPr>
        <p:blipFill>
          <a:blip r:embed="rId1"/>
          <a:stretch>
            <a:fillRect/>
          </a:stretch>
        </p:blipFill>
        <p:spPr>
          <a:xfrm>
            <a:off x="548640" y="1212714"/>
            <a:ext cx="11094415" cy="2420891"/>
          </a:xfrm>
          <a:prstGeom prst="rect">
            <a:avLst/>
          </a:prstGeom>
        </p:spPr>
      </p:pic>
      <p:sp>
        <p:nvSpPr>
          <p:cNvPr id="7" name="Shape 3"/>
          <p:cNvSpPr/>
          <p:nvPr/>
        </p:nvSpPr>
        <p:spPr>
          <a:xfrm>
            <a:off x="548640" y="3931920"/>
            <a:ext cx="11094415" cy="1920240"/>
          </a:xfrm>
          <a:prstGeom prst="rect">
            <a:avLst/>
          </a:prstGeom>
          <a:solidFill>
            <a:srgbClr val="F7F8FA"/>
          </a:solidFill>
          <a:ln w="9525">
            <a:solidFill>
              <a:srgbClr val="D1D5DB"/>
            </a:solidFill>
            <a:prstDash val="solid"/>
          </a:ln>
        </p:spPr>
      </p:sp>
      <p:sp>
        <p:nvSpPr>
          <p:cNvPr id="8" name="Text 4"/>
          <p:cNvSpPr txBox="1"/>
          <p:nvPr/>
        </p:nvSpPr>
        <p:spPr>
          <a:xfrm>
            <a:off x="685800" y="4023360"/>
            <a:ext cx="10820095" cy="173736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def ghz_chain(n):</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qc = QuantumCircuit(n); qc.h(0)</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for k in range(n - 1):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qc.cx(k, k + 1)          </a:t>
            </a:r>
            <a:r>
              <a:rPr lang="en-US" sz="1500" dirty="0">
                <a:solidFill>
                  <a:srgbClr val="6B7F99"/>
                </a:solidFill>
                <a:latin typeface="Courier New" pitchFamily="34" charset="0"/>
                <a:ea typeface="Courier New" pitchFamily="34" charset="-122"/>
                <a:cs typeface="Courier New" pitchFamily="34" charset="-120"/>
              </a:rPr>
              <a:t># değeri bir sonraki kübite yay</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return qc</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ghz_chain(5).depth()             </a:t>
            </a:r>
            <a:r>
              <a:rPr lang="en-US" sz="1500" dirty="0">
                <a:solidFill>
                  <a:srgbClr val="6B7F99"/>
                </a:solidFill>
                <a:latin typeface="Courier New" pitchFamily="34" charset="0"/>
                <a:ea typeface="Courier New" pitchFamily="34" charset="-122"/>
                <a:cs typeface="Courier New" pitchFamily="34" charset="-120"/>
              </a:rPr>
              <a:t># 5    (ghz_log(5).depth() -&gt; 4)</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Dolanıklığı istatistikle görmek: ZZ ve XX</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29</a:t>
            </a:r>
            <a:endParaRPr lang="en-US" sz="1000" dirty="0"/>
          </a:p>
        </p:txBody>
      </p:sp>
      <p:graphicFrame>
        <p:nvGraphicFramePr>
          <p:cNvPr id="6" name="Chart 0" descr=""/>
          <p:cNvGraphicFramePr/>
          <p:nvPr/>
        </p:nvGraphicFramePr>
        <p:xfrm>
          <a:off x="548640" y="1143000"/>
          <a:ext cx="7315200" cy="46634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8138160" y="1188720"/>
            <a:ext cx="3504895" cy="2103120"/>
          </a:xfrm>
          <a:prstGeom prst="roundRect">
            <a:avLst>
              <a:gd name="adj" fmla="val 3478"/>
            </a:avLst>
          </a:prstGeom>
          <a:solidFill>
            <a:srgbClr val="E8EEF6"/>
          </a:solidFill>
          <a:ln w="12700">
            <a:solidFill>
              <a:srgbClr val="E8EEF6"/>
            </a:solidFill>
            <a:prstDash val="solid"/>
          </a:ln>
        </p:spPr>
      </p:sp>
      <p:sp>
        <p:nvSpPr>
          <p:cNvPr id="8" name="Text 4"/>
          <p:cNvSpPr txBox="1"/>
          <p:nvPr/>
        </p:nvSpPr>
        <p:spPr>
          <a:xfrm>
            <a:off x="8321040" y="1298448"/>
            <a:ext cx="3139135" cy="188366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Ölçüm</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ZZ:</a:t>
            </a:r>
            <a:r>
              <a:rPr lang="en-US" sz="1600" dirty="0">
                <a:solidFill>
                  <a:srgbClr val="1F2937"/>
                </a:solidFill>
                <a:latin typeface="Calibri" pitchFamily="34" charset="0"/>
                <a:ea typeface="Calibri" pitchFamily="34" charset="-122"/>
                <a:cs typeface="Calibri" pitchFamily="34" charset="-120"/>
              </a:rPr>
              <a:t> doğrudan ölç</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XX:</a:t>
            </a:r>
            <a:r>
              <a:rPr lang="en-US" sz="1600" dirty="0">
                <a:solidFill>
                  <a:srgbClr val="1F2937"/>
                </a:solidFill>
                <a:latin typeface="Calibri" pitchFamily="34" charset="0"/>
                <a:ea typeface="Calibri" pitchFamily="34" charset="-122"/>
                <a:cs typeface="Calibri" pitchFamily="34" charset="-120"/>
              </a:rPr>
              <a:t> önce </a:t>
            </a:r>
            <a:r>
              <a:rPr lang="en-US" sz="1600" dirty="0">
                <a:solidFill>
                  <a:srgbClr val="1F3A5F"/>
                </a:solidFill>
                <a:latin typeface="Courier New" pitchFamily="34" charset="0"/>
                <a:ea typeface="Courier New" pitchFamily="34" charset="-122"/>
                <a:cs typeface="Courier New" pitchFamily="34" charset="-120"/>
              </a:rPr>
              <a:t>h([0,1])</a:t>
            </a:r>
            <a:r>
              <a:rPr lang="en-US" sz="1600" dirty="0">
                <a:solidFill>
                  <a:srgbClr val="1F2937"/>
                </a:solidFill>
                <a:latin typeface="Calibri" pitchFamily="34" charset="0"/>
                <a:ea typeface="Calibri" pitchFamily="34" charset="-122"/>
                <a:cs typeface="Calibri" pitchFamily="34" charset="-120"/>
              </a:rPr>
              <a:t>, sonra ölç</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Say: iki bit aynı mı?</a:t>
            </a:r>
            <a:endParaRPr lang="en-US" sz="1700" dirty="0"/>
          </a:p>
        </p:txBody>
      </p:sp>
      <p:sp>
        <p:nvSpPr>
          <p:cNvPr id="9" name="Shape 5"/>
          <p:cNvSpPr/>
          <p:nvPr/>
        </p:nvSpPr>
        <p:spPr>
          <a:xfrm>
            <a:off x="8138160" y="3474720"/>
            <a:ext cx="3504895" cy="2286000"/>
          </a:xfrm>
          <a:prstGeom prst="roundRect">
            <a:avLst>
              <a:gd name="adj" fmla="val 3200"/>
            </a:avLst>
          </a:prstGeom>
          <a:solidFill>
            <a:srgbClr val="FDF3E8"/>
          </a:solidFill>
          <a:ln w="12700">
            <a:solidFill>
              <a:srgbClr val="FDF3E8"/>
            </a:solidFill>
            <a:prstDash val="solid"/>
          </a:ln>
        </p:spPr>
      </p:sp>
      <p:sp>
        <p:nvSpPr>
          <p:cNvPr id="10" name="Text 6"/>
          <p:cNvSpPr txBox="1"/>
          <p:nvPr/>
        </p:nvSpPr>
        <p:spPr>
          <a:xfrm>
            <a:off x="8321040" y="3584448"/>
            <a:ext cx="3139135" cy="206654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Sonuç</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Klasik korelasyon en fazla </a:t>
            </a:r>
            <a:r>
              <a:rPr lang="en-US" sz="1600" b="1" dirty="0">
                <a:solidFill>
                  <a:srgbClr val="1F2937"/>
                </a:solidFill>
                <a:latin typeface="Calibri" pitchFamily="34" charset="0"/>
                <a:ea typeface="Calibri" pitchFamily="34" charset="-122"/>
                <a:cs typeface="Calibri" pitchFamily="34" charset="-120"/>
              </a:rPr>
              <a:t>tek bazda</a:t>
            </a:r>
            <a:r>
              <a:rPr lang="en-US" sz="1600" dirty="0">
                <a:solidFill>
                  <a:srgbClr val="1F2937"/>
                </a:solidFill>
                <a:latin typeface="Calibri" pitchFamily="34" charset="0"/>
                <a:ea typeface="Calibri" pitchFamily="34" charset="-122"/>
                <a:cs typeface="Calibri" pitchFamily="34" charset="-120"/>
              </a:rPr>
              <a:t> tam olur. Bell </a:t>
            </a:r>
            <a:r>
              <a:rPr lang="en-US" sz="1600" b="1" dirty="0">
                <a:solidFill>
                  <a:srgbClr val="1F2937"/>
                </a:solidFill>
                <a:latin typeface="Calibri" pitchFamily="34" charset="0"/>
                <a:ea typeface="Calibri" pitchFamily="34" charset="-122"/>
                <a:cs typeface="Calibri" pitchFamily="34" charset="-120"/>
              </a:rPr>
              <a:t>iki bazda birden</a:t>
            </a:r>
            <a:r>
              <a:rPr lang="en-US" sz="1600" dirty="0">
                <a:solidFill>
                  <a:srgbClr val="1F2937"/>
                </a:solidFill>
                <a:latin typeface="Calibri" pitchFamily="34" charset="0"/>
                <a:ea typeface="Calibri" pitchFamily="34" charset="-122"/>
                <a:cs typeface="Calibri" pitchFamily="34" charset="-120"/>
              </a:rPr>
              <a:t> → dolanık.</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7 · Φ⁺'nın XX bazında eşleşmesi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30</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Φ⁺'ya H⊗H uygulanırsa sonuç? |00⟩ için XX eşleşme?</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H⊗H|00⟩ = (|00⟩+|01⟩+|10⟩+|11⟩)/2,  H⊗H|11⟩ = (|00⟩−|01⟩−|10⟩+|11⟩)/2</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Topla, /√2: (2|00⟩ + 2|11⟩)/(2√2) = Φ⁺</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 yalnız 00/11: XX eşleşme </a:t>
            </a:r>
            <a:r>
              <a:rPr lang="en-US" sz="1900" b="1" dirty="0">
                <a:solidFill>
                  <a:srgbClr val="1F2937"/>
                </a:solidFill>
                <a:latin typeface="Calibri" pitchFamily="34" charset="0"/>
                <a:ea typeface="Calibri" pitchFamily="34" charset="-122"/>
                <a:cs typeface="Calibri" pitchFamily="34" charset="-120"/>
              </a:rPr>
              <a:t>1.00</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|00⟩: dört sonuç eşit → eşleşme 0.25 + 0.25 = 0.50</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Φ⁺: 1.00; |00⟩: 0.50</a:t>
            </a:r>
            <a:endParaRPr lang="en-US" sz="1700" dirty="0"/>
          </a:p>
        </p:txBody>
      </p:sp>
      <p:sp>
        <p:nvSpPr>
          <p:cNvPr id="11" name="Shape 8"/>
          <p:cNvSpPr/>
          <p:nvPr/>
        </p:nvSpPr>
        <p:spPr>
          <a:xfrm>
            <a:off x="7498080" y="1143000"/>
            <a:ext cx="4144975" cy="310896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92608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def match_rate(counts):</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tot = sum(counts.values())</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return sum(v for k, v</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in counts.items()</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if k[-1] == k[-2]) / tot</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Φ⁺  ZZ: 1.000  XX: 1.000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|00⟩ ZZ: 1.000  XX: 0.505</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2.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Tersinir mantık ve ışınlanma</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Kuantum kapılarıyla toplama; bir kübit durumunu taşımak</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Neden tersinir olmak zorunda?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32</a:t>
            </a:r>
            <a:endParaRPr lang="en-US" sz="1000" dirty="0"/>
          </a:p>
        </p:txBody>
      </p:sp>
      <p:pic>
        <p:nvPicPr>
          <p:cNvPr id="6" name="Image 0" descr="görsel">    </p:cNvPr>
          <p:cNvPicPr>
            <a:picLocks noChangeAspect="1"/>
          </p:cNvPicPr>
          <p:nvPr/>
        </p:nvPicPr>
        <p:blipFill>
          <a:blip r:embed="rId1"/>
          <a:stretch>
            <a:fillRect/>
          </a:stretch>
        </p:blipFill>
        <p:spPr>
          <a:xfrm>
            <a:off x="1790437" y="1097280"/>
            <a:ext cx="8610822" cy="3108960"/>
          </a:xfrm>
          <a:prstGeom prst="rect">
            <a:avLst/>
          </a:prstGeom>
        </p:spPr>
      </p:pic>
      <p:sp>
        <p:nvSpPr>
          <p:cNvPr id="7" name="Shape 3"/>
          <p:cNvSpPr/>
          <p:nvPr/>
        </p:nvSpPr>
        <p:spPr>
          <a:xfrm>
            <a:off x="548640" y="4389120"/>
            <a:ext cx="4754880" cy="1280160"/>
          </a:xfrm>
          <a:prstGeom prst="roundRect">
            <a:avLst>
              <a:gd name="adj" fmla="val 7143"/>
            </a:avLst>
          </a:prstGeom>
          <a:solidFill>
            <a:srgbClr val="E8EEF6"/>
          </a:solidFill>
          <a:ln w="12700">
            <a:solidFill>
              <a:srgbClr val="E8EEF6"/>
            </a:solidFill>
            <a:prstDash val="solid"/>
          </a:ln>
        </p:spPr>
      </p:sp>
      <p:sp>
        <p:nvSpPr>
          <p:cNvPr id="8" name="Text 4"/>
          <p:cNvSpPr txBox="1"/>
          <p:nvPr/>
        </p:nvSpPr>
        <p:spPr>
          <a:xfrm>
            <a:off x="548640" y="4389120"/>
            <a:ext cx="4754880" cy="1280160"/>
          </a:xfrm>
          <a:prstGeom prst="rect">
            <a:avLst/>
          </a:prstGeom>
          <a:noFill/>
          <a:ln/>
        </p:spPr>
        <p:txBody>
          <a:bodyPr wrap="square" lIns="0" tIns="0" rIns="0" bIns="0" rtlCol="0" anchor="ctr"/>
          <a:lstStyle/>
          <a:p>
            <a:pPr algn="ctr" indent="0" marL="0">
              <a:buNone/>
            </a:pPr>
            <a:r>
              <a:rPr lang="en-US" sz="2600" dirty="0">
                <a:solidFill>
                  <a:srgbClr val="1F3A5F"/>
                </a:solidFill>
                <a:latin typeface="Cambria" pitchFamily="34" charset="0"/>
                <a:ea typeface="Cambria" pitchFamily="34" charset="-122"/>
                <a:cs typeface="Cambria" pitchFamily="34" charset="-120"/>
              </a:rPr>
              <a:t>(x, y)  →  (x, y ⊕ f(x))</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577840" y="4297680"/>
          <a:ext cx="6065215" cy="914400"/>
        </p:xfrm>
        <a:graphic>
          <a:graphicData uri="http://schemas.openxmlformats.org/drawingml/2006/table">
            <a:tbl>
              <a:tblPr/>
              <a:tblGrid>
                <a:gridCol w="1516304"/>
                <a:gridCol w="2426086"/>
                <a:gridCol w="2122825"/>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Klasik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Tersinir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Qiskit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6576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NOT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 ← a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x(a)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XOR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 ← a ⊕ 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cx(a, 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36576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AND</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 ← t ⊕ a·b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ccx(a, b, 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Yarım toplayıcı: sum = XOR, carry = AND</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33</a:t>
            </a:r>
            <a:endParaRPr lang="en-US" sz="1000" dirty="0"/>
          </a:p>
        </p:txBody>
      </p:sp>
      <p:pic>
        <p:nvPicPr>
          <p:cNvPr id="6" name="Image 0" descr="görsel">    </p:cNvPr>
          <p:cNvPicPr>
            <a:picLocks noChangeAspect="1"/>
          </p:cNvPicPr>
          <p:nvPr/>
        </p:nvPicPr>
        <p:blipFill>
          <a:blip r:embed="rId1"/>
          <a:stretch>
            <a:fillRect/>
          </a:stretch>
        </p:blipFill>
        <p:spPr>
          <a:xfrm>
            <a:off x="2022842" y="1097280"/>
            <a:ext cx="8146012" cy="2743200"/>
          </a:xfrm>
          <a:prstGeom prst="rect">
            <a:avLst/>
          </a:prstGeom>
        </p:spPr>
      </p:pic>
      <p:sp>
        <p:nvSpPr>
          <p:cNvPr id="7" name="Shape 3"/>
          <p:cNvSpPr/>
          <p:nvPr/>
        </p:nvSpPr>
        <p:spPr>
          <a:xfrm>
            <a:off x="548640" y="4023360"/>
            <a:ext cx="7315200" cy="1828800"/>
          </a:xfrm>
          <a:prstGeom prst="rect">
            <a:avLst/>
          </a:prstGeom>
          <a:solidFill>
            <a:srgbClr val="F7F8FA"/>
          </a:solidFill>
          <a:ln w="9525">
            <a:solidFill>
              <a:srgbClr val="D1D5DB"/>
            </a:solidFill>
            <a:prstDash val="solid"/>
          </a:ln>
        </p:spPr>
      </p:sp>
      <p:sp>
        <p:nvSpPr>
          <p:cNvPr id="8" name="Text 4"/>
          <p:cNvSpPr txBox="1"/>
          <p:nvPr/>
        </p:nvSpPr>
        <p:spPr>
          <a:xfrm>
            <a:off x="685800" y="4114800"/>
            <a:ext cx="7040880" cy="164592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def half_adder():</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qc = QuantumCircuit(3)   </a:t>
            </a:r>
            <a:r>
              <a:rPr lang="en-US" sz="1500" dirty="0">
                <a:solidFill>
                  <a:srgbClr val="6B7F99"/>
                </a:solidFill>
                <a:latin typeface="Courier New" pitchFamily="34" charset="0"/>
                <a:ea typeface="Courier New" pitchFamily="34" charset="-122"/>
                <a:cs typeface="Courier New" pitchFamily="34" charset="-120"/>
              </a:rPr>
              <a:t># q0 = a, q1 = b -&gt; sum, q2 = carry</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qc.ccx(0, 1, 2)          </a:t>
            </a:r>
            <a:r>
              <a:rPr lang="en-US" sz="1500" dirty="0">
                <a:solidFill>
                  <a:srgbClr val="6B7F99"/>
                </a:solidFill>
                <a:latin typeface="Courier New" pitchFamily="34" charset="0"/>
                <a:ea typeface="Courier New" pitchFamily="34" charset="-122"/>
                <a:cs typeface="Courier New" pitchFamily="34" charset="-120"/>
              </a:rPr>
              <a:t># carry = a AND b   (ÖNCE)</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qc.cx(0, 1)              </a:t>
            </a:r>
            <a:r>
              <a:rPr lang="en-US" sz="1500" dirty="0">
                <a:solidFill>
                  <a:srgbClr val="6B7F99"/>
                </a:solidFill>
                <a:latin typeface="Courier New" pitchFamily="34" charset="0"/>
                <a:ea typeface="Courier New" pitchFamily="34" charset="-122"/>
                <a:cs typeface="Courier New" pitchFamily="34" charset="-120"/>
              </a:rPr>
              <a:t># b &lt;- a XOR b      (SONRA)</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return qc</a:t>
            </a:r>
            <a:endParaRPr lang="en-US" sz="1500" dirty="0"/>
          </a:p>
        </p:txBody>
      </p:sp>
      <p:sp>
        <p:nvSpPr>
          <p:cNvPr id="9" name="Shape 5"/>
          <p:cNvSpPr/>
          <p:nvPr/>
        </p:nvSpPr>
        <p:spPr>
          <a:xfrm>
            <a:off x="8138160" y="4023360"/>
            <a:ext cx="3504895" cy="1828800"/>
          </a:xfrm>
          <a:prstGeom prst="roundRect">
            <a:avLst>
              <a:gd name="adj" fmla="val 4000"/>
            </a:avLst>
          </a:prstGeom>
          <a:solidFill>
            <a:srgbClr val="FDF3E8"/>
          </a:solidFill>
          <a:ln w="12700">
            <a:solidFill>
              <a:srgbClr val="FDF3E8"/>
            </a:solidFill>
            <a:prstDash val="solid"/>
          </a:ln>
        </p:spPr>
      </p:sp>
      <p:sp>
        <p:nvSpPr>
          <p:cNvPr id="10" name="Text 6"/>
          <p:cNvSpPr txBox="1"/>
          <p:nvPr/>
        </p:nvSpPr>
        <p:spPr>
          <a:xfrm>
            <a:off x="8321040" y="4133088"/>
            <a:ext cx="3139135" cy="160934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Sıra hatası</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cx önce gelirse Toffoli </a:t>
            </a:r>
            <a:r>
              <a:rPr lang="en-US" sz="1500" b="1" dirty="0">
                <a:solidFill>
                  <a:srgbClr val="1F2937"/>
                </a:solidFill>
                <a:latin typeface="Calibri" pitchFamily="34" charset="0"/>
                <a:ea typeface="Calibri" pitchFamily="34" charset="-122"/>
                <a:cs typeface="Calibri" pitchFamily="34" charset="-120"/>
              </a:rPr>
              <a:t>a ⊕ b</a:t>
            </a:r>
            <a:r>
              <a:rPr lang="en-US" sz="1500" dirty="0">
                <a:solidFill>
                  <a:srgbClr val="1F2937"/>
                </a:solidFill>
                <a:latin typeface="Calibri" pitchFamily="34" charset="0"/>
                <a:ea typeface="Calibri" pitchFamily="34" charset="-122"/>
                <a:cs typeface="Calibri" pitchFamily="34" charset="-120"/>
              </a:rPr>
              <a:t>'yi görür → 1+1'de carry = 0 çıkar.</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8 · Yarım toplayıcıyı elle izlemek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34</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a = b = 1 için izleyin. a = b = |+⟩ ise sonuç?</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Girdi q₂q₁q₀ = 011</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ccx: q₀=q₁=1 → q₂ çevrilir: |011⟩ → |111⟩</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q₀ = 1 → q₁ çevrilir: |111⟩ → |101⟩</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carry = 1, sum = 0 → 10₂ = 2 ✓</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3. |+⟩|+⟩: (|000⟩+|011⟩+|001⟩+|101⟩)/2 → dört toplama bir arada; ölçüm yalnız birini verir</a:t>
            </a:r>
            <a:endParaRPr lang="en-US" sz="19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|011⟩ → |101⟩</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Tam toplayıcı (bonus): 2 Toffoli + 3 CNOT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35</a:t>
            </a:r>
            <a:endParaRPr lang="en-US" sz="1000" dirty="0"/>
          </a:p>
        </p:txBody>
      </p:sp>
      <p:pic>
        <p:nvPicPr>
          <p:cNvPr id="6" name="Image 0" descr="görsel">    </p:cNvPr>
          <p:cNvPicPr>
            <a:picLocks noChangeAspect="1"/>
          </p:cNvPicPr>
          <p:nvPr/>
        </p:nvPicPr>
        <p:blipFill>
          <a:blip r:embed="rId1"/>
          <a:stretch>
            <a:fillRect/>
          </a:stretch>
        </p:blipFill>
        <p:spPr>
          <a:xfrm>
            <a:off x="548640" y="1767840"/>
            <a:ext cx="5120640" cy="3413760"/>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43600" y="1188720"/>
          <a:ext cx="5699455" cy="914400"/>
        </p:xfrm>
        <a:graphic>
          <a:graphicData uri="http://schemas.openxmlformats.org/drawingml/2006/table">
            <a:tbl>
              <a:tblPr/>
              <a:tblGrid>
                <a:gridCol w="2564755"/>
                <a:gridCol w="31347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Kapı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Etki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ccx(a, b, cout)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cout = a·b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cx(a, 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 = a ⊕ 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ccx(b, cin, cout)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cout ^= (a⊕b)·cin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cx(b, cin)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cin = </a:t>
                      </a:r>
                      <a:r>
                        <a:rPr lang="en-US" sz="1600" b="1" dirty="0">
                          <a:solidFill>
                            <a:srgbClr val="1F2937"/>
                          </a:solidFill>
                          <a:latin typeface="Calibri" pitchFamily="34" charset="0"/>
                          <a:ea typeface="Calibri" pitchFamily="34" charset="-122"/>
                          <a:cs typeface="Calibri" pitchFamily="34" charset="-120"/>
                        </a:rPr>
                        <a:t>sum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cx(a, 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 geri alındı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5943600" y="4389120"/>
            <a:ext cx="5699455" cy="1371600"/>
          </a:xfrm>
          <a:prstGeom prst="roundRect">
            <a:avLst>
              <a:gd name="adj" fmla="val 5333"/>
            </a:avLst>
          </a:prstGeom>
          <a:solidFill>
            <a:srgbClr val="E8EEF6"/>
          </a:solidFill>
          <a:ln w="12700">
            <a:solidFill>
              <a:srgbClr val="E8EEF6"/>
            </a:solidFill>
            <a:prstDash val="solid"/>
          </a:ln>
        </p:spPr>
      </p:sp>
      <p:sp>
        <p:nvSpPr>
          <p:cNvPr id="9" name="Text 4"/>
          <p:cNvSpPr txBox="1"/>
          <p:nvPr/>
        </p:nvSpPr>
        <p:spPr>
          <a:xfrm>
            <a:off x="6126480" y="4498848"/>
            <a:ext cx="5333695" cy="115214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Örnek 9: a = b = cin = 1</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sum = 1, cout = 1 → </a:t>
            </a:r>
            <a:r>
              <a:rPr lang="en-US" sz="1600" b="1" dirty="0">
                <a:solidFill>
                  <a:srgbClr val="1F2937"/>
                </a:solidFill>
                <a:latin typeface="Calibri" pitchFamily="34" charset="0"/>
                <a:ea typeface="Calibri" pitchFamily="34" charset="-122"/>
                <a:cs typeface="Calibri" pitchFamily="34" charset="-120"/>
              </a:rPr>
              <a:t>11₂ = 3</a:t>
            </a:r>
            <a:r>
              <a:rPr lang="en-US" sz="1600" dirty="0">
                <a:solidFill>
                  <a:srgbClr val="1F2937"/>
                </a:solidFill>
                <a:latin typeface="Calibri" pitchFamily="34" charset="0"/>
                <a:ea typeface="Calibri" pitchFamily="34" charset="-122"/>
                <a:cs typeface="Calibri" pitchFamily="34" charset="-120"/>
              </a:rPr>
              <a:t> ✓, a ve b korundu</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truth_table(): kuantum devreleri için birim test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36</a:t>
            </a:r>
            <a:endParaRPr lang="en-US" sz="1000" dirty="0"/>
          </a:p>
        </p:txBody>
      </p:sp>
      <p:pic>
        <p:nvPicPr>
          <p:cNvPr id="6" name="Image 0" descr="görsel">    </p:cNvPr>
          <p:cNvPicPr>
            <a:picLocks noChangeAspect="1"/>
          </p:cNvPicPr>
          <p:nvPr/>
        </p:nvPicPr>
        <p:blipFill>
          <a:blip r:embed="rId1"/>
          <a:stretch>
            <a:fillRect/>
          </a:stretch>
        </p:blipFill>
        <p:spPr>
          <a:xfrm>
            <a:off x="2210507" y="1097280"/>
            <a:ext cx="7770681" cy="2011680"/>
          </a:xfrm>
          <a:prstGeom prst="rect">
            <a:avLst/>
          </a:prstGeom>
        </p:spPr>
      </p:pic>
      <p:sp>
        <p:nvSpPr>
          <p:cNvPr id="7" name="Shape 3"/>
          <p:cNvSpPr/>
          <p:nvPr/>
        </p:nvSpPr>
        <p:spPr>
          <a:xfrm>
            <a:off x="548640" y="3246120"/>
            <a:ext cx="7863840" cy="2697480"/>
          </a:xfrm>
          <a:prstGeom prst="rect">
            <a:avLst/>
          </a:prstGeom>
          <a:solidFill>
            <a:srgbClr val="F7F8FA"/>
          </a:solidFill>
          <a:ln w="9525">
            <a:solidFill>
              <a:srgbClr val="D1D5DB"/>
            </a:solidFill>
            <a:prstDash val="solid"/>
          </a:ln>
        </p:spPr>
      </p:sp>
      <p:sp>
        <p:nvSpPr>
          <p:cNvPr id="8" name="Text 4"/>
          <p:cNvSpPr txBox="1"/>
          <p:nvPr/>
        </p:nvSpPr>
        <p:spPr>
          <a:xfrm>
            <a:off x="685800" y="3337560"/>
            <a:ext cx="7589520" cy="2514600"/>
          </a:xfrm>
          <a:prstGeom prst="rect">
            <a:avLst/>
          </a:prstGeom>
          <a:noFill/>
          <a:ln/>
        </p:spPr>
        <p:txBody>
          <a:bodyPr wrap="square" lIns="0" tIns="0" rIns="0" bIns="0" rtlCol="0" anchor="t"/>
          <a:lstStyle/>
          <a:p>
            <a:pPr indent="0" marL="0">
              <a:buNone/>
            </a:pPr>
            <a:r>
              <a:rPr lang="en-US" sz="1200" dirty="0">
                <a:solidFill>
                  <a:srgbClr val="1F2937"/>
                </a:solidFill>
                <a:latin typeface="Courier New" pitchFamily="34" charset="0"/>
                <a:ea typeface="Courier New" pitchFamily="34" charset="-122"/>
                <a:cs typeface="Courier New" pitchFamily="34" charset="-120"/>
              </a:rPr>
              <a:t>def truth_table(circuit):</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n = circuit.num_qubits; table = {}</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i in range(2**n):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prep = QuantumCircuit(n)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q in range(n):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if (i &gt;&gt; q) &amp; 1: prep.x(q)</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probs = Statevector(prep.compose(circuit)).probabilities()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j = int(np.argmax(probs)); ok = probs[j] &gt; 1 - 1e-9</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key = format(i, f"0{n}b")</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table[key] = format(j, f"0{n}b") if ok else "?"</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return table</a:t>
            </a:r>
            <a:endParaRPr lang="en-US" sz="1200" dirty="0"/>
          </a:p>
        </p:txBody>
      </p:sp>
      <p:sp>
        <p:nvSpPr>
          <p:cNvPr id="9" name="Shape 5"/>
          <p:cNvSpPr/>
          <p:nvPr/>
        </p:nvSpPr>
        <p:spPr>
          <a:xfrm>
            <a:off x="8686800" y="3246120"/>
            <a:ext cx="2956255" cy="2651760"/>
          </a:xfrm>
          <a:prstGeom prst="roundRect">
            <a:avLst>
              <a:gd name="adj" fmla="val 2759"/>
            </a:avLst>
          </a:prstGeom>
          <a:solidFill>
            <a:srgbClr val="FDF3E8"/>
          </a:solidFill>
          <a:ln w="12700">
            <a:solidFill>
              <a:srgbClr val="FDF3E8"/>
            </a:solidFill>
            <a:prstDash val="solid"/>
          </a:ln>
        </p:spPr>
      </p:sp>
      <p:sp>
        <p:nvSpPr>
          <p:cNvPr id="10" name="Text 6"/>
          <p:cNvSpPr txBox="1"/>
          <p:nvPr/>
        </p:nvSpPr>
        <p:spPr>
          <a:xfrm>
            <a:off x="8869680" y="3355848"/>
            <a:ext cx="2590495" cy="243230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Sınırlılık</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Faz </a:t>
            </a:r>
            <a:r>
              <a:rPr lang="en-US" sz="1500" b="1" dirty="0">
                <a:solidFill>
                  <a:srgbClr val="1F2937"/>
                </a:solidFill>
                <a:latin typeface="Calibri" pitchFamily="34" charset="0"/>
                <a:ea typeface="Calibri" pitchFamily="34" charset="-122"/>
                <a:cs typeface="Calibri" pitchFamily="34" charset="-120"/>
              </a:rPr>
              <a:t>görmez</a:t>
            </a:r>
            <a:r>
              <a:rPr lang="en-US" sz="1500" dirty="0">
                <a:solidFill>
                  <a:srgbClr val="1F2937"/>
                </a:solidFill>
                <a:latin typeface="Calibri" pitchFamily="34" charset="0"/>
                <a:ea typeface="Calibri" pitchFamily="34" charset="-122"/>
                <a:cs typeface="Calibri" pitchFamily="34" charset="-120"/>
              </a:rPr>
              <a:t>:</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CZ ve I aynı tablo!</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Tam eşitlik için:</a:t>
            </a:r>
            <a:endParaRPr lang="en-US" sz="1700" dirty="0"/>
          </a:p>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Operator(a)</a:t>
            </a:r>
            <a:endParaRPr lang="en-US" sz="1700" dirty="0"/>
          </a:p>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  .equiv(Operator(b))</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Uncompute: yardımcı kübiti temizlemek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37</a:t>
            </a:r>
            <a:endParaRPr lang="en-US" sz="1000" dirty="0"/>
          </a:p>
        </p:txBody>
      </p:sp>
      <p:pic>
        <p:nvPicPr>
          <p:cNvPr id="6" name="Image 0" descr="görsel">    </p:cNvPr>
          <p:cNvPicPr>
            <a:picLocks noChangeAspect="1"/>
          </p:cNvPicPr>
          <p:nvPr/>
        </p:nvPicPr>
        <p:blipFill>
          <a:blip r:embed="rId1"/>
          <a:stretch>
            <a:fillRect/>
          </a:stretch>
        </p:blipFill>
        <p:spPr>
          <a:xfrm>
            <a:off x="548640" y="1242257"/>
            <a:ext cx="6949440" cy="2727565"/>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0" y="1280160"/>
          <a:ext cx="3870655" cy="914400"/>
        </p:xfrm>
        <a:graphic>
          <a:graphicData uri="http://schemas.openxmlformats.org/drawingml/2006/table">
            <a:tbl>
              <a:tblPr/>
              <a:tblGrid>
                <a:gridCol w="1935328"/>
                <a:gridCol w="1935328"/>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Sürüm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Yardımcı P(1)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Uncompute YOK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0.25, dolanık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Uncompute VAR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b="1" dirty="0">
                          <a:solidFill>
                            <a:srgbClr val="1F2937"/>
                          </a:solidFill>
                          <a:latin typeface="Calibri" pitchFamily="34" charset="0"/>
                          <a:ea typeface="Calibri" pitchFamily="34" charset="-122"/>
                          <a:cs typeface="Calibri" pitchFamily="34" charset="-120"/>
                        </a:rPr>
                        <a:t>0.00</a:t>
                      </a:r>
                      <a:r>
                        <a:rPr lang="en-US" sz="1600" dirty="0">
                          <a:solidFill>
                            <a:srgbClr val="1F2937"/>
                          </a:solidFill>
                          <a:latin typeface="Calibri" pitchFamily="34" charset="0"/>
                          <a:ea typeface="Calibri" pitchFamily="34" charset="-122"/>
                          <a:cs typeface="Calibri" pitchFamily="34" charset="-120"/>
                        </a:rPr>
                        <a:t>, temiz</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7772400" y="2926080"/>
            <a:ext cx="3870655" cy="1188720"/>
          </a:xfrm>
          <a:prstGeom prst="roundRect">
            <a:avLst>
              <a:gd name="adj" fmla="val 6154"/>
            </a:avLst>
          </a:prstGeom>
          <a:solidFill>
            <a:srgbClr val="E8EEF6"/>
          </a:solidFill>
          <a:ln w="12700">
            <a:solidFill>
              <a:srgbClr val="E8EEF6"/>
            </a:solidFill>
            <a:prstDash val="solid"/>
          </a:ln>
        </p:spPr>
      </p:sp>
      <p:sp>
        <p:nvSpPr>
          <p:cNvPr id="9" name="Text 4"/>
          <p:cNvSpPr txBox="1"/>
          <p:nvPr/>
        </p:nvSpPr>
        <p:spPr>
          <a:xfrm>
            <a:off x="7955280" y="3035808"/>
            <a:ext cx="3504895" cy="969264"/>
          </a:xfrm>
          <a:prstGeom prst="rect">
            <a:avLst/>
          </a:prstGeom>
          <a:noFill/>
          <a:ln/>
        </p:spPr>
        <p:txBody>
          <a:bodyPr wrap="square" lIns="0" tIns="0" rIns="0" bIns="0" rtlCol="0" anchor="ctr"/>
          <a:lstStyle/>
          <a:p>
            <a:pPr algn="ctr" indent="0" marL="0">
              <a:spcAft>
                <a:spcPts val="500"/>
              </a:spcAft>
              <a:buNone/>
            </a:pPr>
            <a:r>
              <a:rPr lang="en-US" sz="1800" dirty="0">
                <a:solidFill>
                  <a:srgbClr val="1F2937"/>
                </a:solidFill>
                <a:latin typeface="Calibri" pitchFamily="34" charset="0"/>
                <a:ea typeface="Calibri" pitchFamily="34" charset="-122"/>
                <a:cs typeface="Calibri" pitchFamily="34" charset="-120"/>
              </a:rPr>
              <a:t>hesapla → kopyala → </a:t>
            </a:r>
            <a:r>
              <a:rPr lang="en-US" sz="1800" b="1" dirty="0">
                <a:solidFill>
                  <a:srgbClr val="1F2937"/>
                </a:solidFill>
                <a:latin typeface="Calibri" pitchFamily="34" charset="0"/>
                <a:ea typeface="Calibri" pitchFamily="34" charset="-122"/>
                <a:cs typeface="Calibri" pitchFamily="34" charset="-120"/>
              </a:rPr>
              <a:t>geri al</a:t>
            </a:r>
            <a:endParaRPr lang="en-US" sz="1800" dirty="0"/>
          </a:p>
        </p:txBody>
      </p:sp>
      <p:sp>
        <p:nvSpPr>
          <p:cNvPr id="10" name="Shape 5"/>
          <p:cNvSpPr/>
          <p:nvPr/>
        </p:nvSpPr>
        <p:spPr>
          <a:xfrm>
            <a:off x="548640" y="4389120"/>
            <a:ext cx="11094415" cy="1463040"/>
          </a:xfrm>
          <a:prstGeom prst="roundRect">
            <a:avLst>
              <a:gd name="adj" fmla="val 5000"/>
            </a:avLst>
          </a:prstGeom>
          <a:solidFill>
            <a:srgbClr val="F3F4F6"/>
          </a:solidFill>
          <a:ln w="12700">
            <a:solidFill>
              <a:srgbClr val="F3F4F6"/>
            </a:solidFill>
            <a:prstDash val="solid"/>
          </a:ln>
        </p:spPr>
      </p:sp>
      <p:sp>
        <p:nvSpPr>
          <p:cNvPr id="11" name="Text 6"/>
          <p:cNvSpPr txBox="1"/>
          <p:nvPr/>
        </p:nvSpPr>
        <p:spPr>
          <a:xfrm>
            <a:off x="731520" y="4498848"/>
            <a:ext cx="10728655" cy="12435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Örnek 10 (ders notu)</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x = |+⟩|+⟩ girdisinde yardımcı kübit yalnız x = 11 dalını "işaretler" ve girdilerle dolanık kalır. İkinci ccx bu dalda a = 1 ⊕ 1 = 0 yapar → yardımcı her dalda |0⟩, çarpana ayrılır.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Işınlanma: kopyalamadan taşımak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38</a:t>
            </a:r>
            <a:endParaRPr lang="en-US" sz="1000" dirty="0"/>
          </a:p>
        </p:txBody>
      </p:sp>
      <p:pic>
        <p:nvPicPr>
          <p:cNvPr id="6" name="Image 0" descr="görsel">    </p:cNvPr>
          <p:cNvPicPr>
            <a:picLocks noChangeAspect="1"/>
          </p:cNvPicPr>
          <p:nvPr/>
        </p:nvPicPr>
        <p:blipFill>
          <a:blip r:embed="rId1"/>
          <a:stretch>
            <a:fillRect/>
          </a:stretch>
        </p:blipFill>
        <p:spPr>
          <a:xfrm>
            <a:off x="1775592" y="1097280"/>
            <a:ext cx="8640512" cy="2560320"/>
          </a:xfrm>
          <a:prstGeom prst="rect">
            <a:avLst/>
          </a:prstGeom>
        </p:spPr>
      </p:pic>
      <p:sp>
        <p:nvSpPr>
          <p:cNvPr id="7" name="Shape 3"/>
          <p:cNvSpPr/>
          <p:nvPr/>
        </p:nvSpPr>
        <p:spPr>
          <a:xfrm>
            <a:off x="548640" y="3840480"/>
            <a:ext cx="5410048" cy="2011680"/>
          </a:xfrm>
          <a:prstGeom prst="roundRect">
            <a:avLst>
              <a:gd name="adj" fmla="val 3636"/>
            </a:avLst>
          </a:prstGeom>
          <a:solidFill>
            <a:srgbClr val="FDF3E8"/>
          </a:solidFill>
          <a:ln w="12700">
            <a:solidFill>
              <a:srgbClr val="FDF3E8"/>
            </a:solidFill>
            <a:prstDash val="solid"/>
          </a:ln>
        </p:spPr>
      </p:sp>
      <p:sp>
        <p:nvSpPr>
          <p:cNvPr id="8" name="Text 4"/>
          <p:cNvSpPr txBox="1"/>
          <p:nvPr/>
        </p:nvSpPr>
        <p:spPr>
          <a:xfrm>
            <a:off x="731520" y="3950208"/>
            <a:ext cx="5044288" cy="179222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Klonlanamazlık</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U|ψ⟩|0⟩ = |ψ⟩|ψ⟩ olsaydı:</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U|+⟩|0⟩ = (|00⟩+|11⟩)/√2 (doğrusallık) ≠ |+⟩|+⟩</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 böyle bir U </a:t>
            </a:r>
            <a:r>
              <a:rPr lang="en-US" sz="1500" b="1" dirty="0">
                <a:solidFill>
                  <a:srgbClr val="1F2937"/>
                </a:solidFill>
                <a:latin typeface="Calibri" pitchFamily="34" charset="0"/>
                <a:ea typeface="Calibri" pitchFamily="34" charset="-122"/>
                <a:cs typeface="Calibri" pitchFamily="34" charset="-120"/>
              </a:rPr>
              <a:t>yok</a:t>
            </a:r>
            <a:endParaRPr lang="en-US" sz="1700" dirty="0"/>
          </a:p>
        </p:txBody>
      </p:sp>
      <p:sp>
        <p:nvSpPr>
          <p:cNvPr id="9" name="Shape 5"/>
          <p:cNvSpPr/>
          <p:nvPr/>
        </p:nvSpPr>
        <p:spPr>
          <a:xfrm>
            <a:off x="6233008" y="3840480"/>
            <a:ext cx="5410048" cy="2011680"/>
          </a:xfrm>
          <a:prstGeom prst="roundRect">
            <a:avLst>
              <a:gd name="adj" fmla="val 3636"/>
            </a:avLst>
          </a:prstGeom>
          <a:solidFill>
            <a:srgbClr val="E8EEF6"/>
          </a:solidFill>
          <a:ln w="12700">
            <a:solidFill>
              <a:srgbClr val="E8EEF6"/>
            </a:solidFill>
            <a:prstDash val="solid"/>
          </a:ln>
        </p:spPr>
      </p:sp>
      <p:sp>
        <p:nvSpPr>
          <p:cNvPr id="10" name="Text 6"/>
          <p:cNvSpPr txBox="1"/>
          <p:nvPr/>
        </p:nvSpPr>
        <p:spPr>
          <a:xfrm>
            <a:off x="6415888" y="3950208"/>
            <a:ext cx="5044288" cy="17922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Işınlanmanın maliyeti</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1 Bell çifti (tek kullanımlık)</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2 klasik bit</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Orijinal kübit ölçülür → </a:t>
            </a:r>
            <a:r>
              <a:rPr lang="en-US" sz="1500" b="1" dirty="0">
                <a:solidFill>
                  <a:srgbClr val="1F2937"/>
                </a:solidFill>
                <a:latin typeface="Calibri" pitchFamily="34" charset="0"/>
                <a:ea typeface="Calibri" pitchFamily="34" charset="-122"/>
                <a:cs typeface="Calibri" pitchFamily="34" charset="-120"/>
              </a:rPr>
              <a:t>taşıma, kopya değil</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Protokol: 4 adım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39</a:t>
            </a:r>
            <a:endParaRPr lang="en-US" sz="1000" dirty="0"/>
          </a:p>
        </p:txBody>
      </p:sp>
      <p:pic>
        <p:nvPicPr>
          <p:cNvPr id="6" name="Image 0" descr="görsel">    </p:cNvPr>
          <p:cNvPicPr>
            <a:picLocks noChangeAspect="1"/>
          </p:cNvPicPr>
          <p:nvPr/>
        </p:nvPicPr>
        <p:blipFill>
          <a:blip r:embed="rId1"/>
          <a:stretch>
            <a:fillRect/>
          </a:stretch>
        </p:blipFill>
        <p:spPr>
          <a:xfrm>
            <a:off x="2426770" y="1097280"/>
            <a:ext cx="7338156" cy="2560320"/>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4415" cy="914400"/>
        </p:xfrm>
        <a:graphic>
          <a:graphicData uri="http://schemas.openxmlformats.org/drawingml/2006/table">
            <a:tbl>
              <a:tblPr/>
              <a:tblGrid>
                <a:gridCol w="2884548"/>
                <a:gridCol w="1996995"/>
                <a:gridCol w="6212873"/>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Adım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Kim?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Qiskit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 Bell çifti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hazırlık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h(1); cx(1, 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 Bell bazında ölçüm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gönderen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cx(0, 1); h(0); measure(0→m0, 1→m1)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2 bit gönder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kanal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m₀, m₁</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 Düzeltme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alıcı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m₁ = 1 → </a:t>
                      </a:r>
                      <a:r>
                        <a:rPr lang="en-US" sz="1500" dirty="0">
                          <a:solidFill>
                            <a:srgbClr val="1F3A5F"/>
                          </a:solidFill>
                          <a:latin typeface="Courier New" pitchFamily="34" charset="0"/>
                          <a:ea typeface="Courier New" pitchFamily="34" charset="-122"/>
                          <a:cs typeface="Courier New" pitchFamily="34" charset="-120"/>
                        </a:rPr>
                        <a:t>x(2)</a:t>
                      </a:r>
                      <a:r>
                        <a:rPr lang="en-US" sz="1500" dirty="0">
                          <a:solidFill>
                            <a:srgbClr val="1F2937"/>
                          </a:solidFill>
                          <a:latin typeface="Calibri" pitchFamily="34" charset="0"/>
                          <a:ea typeface="Calibri" pitchFamily="34" charset="-122"/>
                          <a:cs typeface="Calibri" pitchFamily="34" charset="-120"/>
                        </a:rPr>
                        <a:t>;  m₀ = 1 → </a:t>
                      </a:r>
                      <a:r>
                        <a:rPr lang="en-US" sz="1500" dirty="0">
                          <a:solidFill>
                            <a:srgbClr val="1F3A5F"/>
                          </a:solidFill>
                          <a:latin typeface="Courier New" pitchFamily="34" charset="0"/>
                          <a:ea typeface="Courier New" pitchFamily="34" charset="-122"/>
                          <a:cs typeface="Courier New" pitchFamily="34" charset="-120"/>
                        </a:rPr>
                        <a:t>z(2)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Adım adım genlik tablosu (ψ = [0.6, 0.8])</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40</a:t>
            </a:r>
            <a:endParaRPr lang="en-US" sz="1000" dirty="0"/>
          </a:p>
        </p:txBody>
      </p:sp>
      <p:pic>
        <p:nvPicPr>
          <p:cNvPr id="6" name="Image 0" descr="görsel">    </p:cNvPr>
          <p:cNvPicPr>
            <a:picLocks noChangeAspect="1"/>
          </p:cNvPicPr>
          <p:nvPr/>
        </p:nvPicPr>
        <p:blipFill>
          <a:blip r:embed="rId1"/>
          <a:stretch>
            <a:fillRect/>
          </a:stretch>
        </p:blipFill>
        <p:spPr>
          <a:xfrm>
            <a:off x="548640" y="1693132"/>
            <a:ext cx="7863840" cy="3654616"/>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686800" y="1280160"/>
          <a:ext cx="2956255" cy="914400"/>
        </p:xfrm>
        <a:graphic>
          <a:graphicData uri="http://schemas.openxmlformats.org/drawingml/2006/table">
            <a:tbl>
              <a:tblPr/>
              <a:tblGrid>
                <a:gridCol w="1182502"/>
                <a:gridCol w="1773753"/>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m₁ m₀</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q₂</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0 0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[0.6, 0.8]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[0.6, −0.8]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1 0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 0.6]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 0.6]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Text 3"/>
          <p:cNvSpPr txBox="1"/>
          <p:nvPr/>
        </p:nvSpPr>
        <p:spPr>
          <a:xfrm>
            <a:off x="8686800" y="3931920"/>
            <a:ext cx="2956255" cy="822960"/>
          </a:xfrm>
          <a:prstGeom prst="rect">
            <a:avLst/>
          </a:prstGeom>
          <a:noFill/>
          <a:ln/>
        </p:spPr>
        <p:txBody>
          <a:bodyPr wrap="square" lIns="0" tIns="0" rIns="0" bIns="0" rtlCol="0" anchor="t"/>
          <a:lstStyle/>
          <a:p>
            <a:pPr algn="l" indent="0" marL="0">
              <a:spcAft>
                <a:spcPts val="600"/>
              </a:spcAft>
              <a:buNone/>
            </a:pPr>
            <a:r>
              <a:rPr lang="en-US" sz="1400" dirty="0">
                <a:solidFill>
                  <a:srgbClr val="6B7280"/>
                </a:solidFill>
                <a:latin typeface="Calibri" pitchFamily="34" charset="0"/>
                <a:ea typeface="Calibri" pitchFamily="34" charset="-122"/>
                <a:cs typeface="Calibri" pitchFamily="34" charset="-120"/>
              </a:rPr>
              <a:t>q₂'nin koşullu durumu (düzeltme öncesi, Lab çıktısı)</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11 · Işınlanmayı elle hesaplamak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|ψ⟩ = α|0⟩ + β|1⟩. h(0) sonrası durumu (m₀ m₁) sonucuna göre grupla.</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(1/2)[ |00⟩(α|0⟩+β|1⟩) + |01⟩(α|1⟩+β|0⟩) + |10⟩(α|0⟩−β|1⟩) + |11⟩(α|1⟩−β|0⟩) ]</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(q₀ q₁ | q₂ yazıldı)</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m₀m₁ = 00 → [α, β] → I;  01 → [β, α] → X</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3. 10 → [α, −β] → Z;  11 → [−β, α] → önce X, sonra Z</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4. Her sonuç 1/4 olasılıklı; düzeltme sonrası q₂ = |ψ⟩</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Düzeltmeler: I, X, Z, ZX</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Düzeltme tablosu ve Qiskit bit sırası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42</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440771"/>
                <a:gridCol w="3106436"/>
                <a:gridCol w="3106436"/>
                <a:gridCol w="2440771"/>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m₀ m₁ (kitap)</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Qiskit stringi (m1 m0)</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q₂'de kalan</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Düzeltme</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0 0</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F3A5F"/>
                          </a:solidFill>
                          <a:latin typeface="Courier New" pitchFamily="34" charset="0"/>
                          <a:ea typeface="Courier New" pitchFamily="34" charset="-122"/>
                          <a:cs typeface="Courier New" pitchFamily="34" charset="-120"/>
                        </a:rPr>
                        <a:t>0 0</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α|0⟩ + β|1⟩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0 1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dirty="0">
                          <a:solidFill>
                            <a:srgbClr val="1F3A5F"/>
                          </a:solidFill>
                          <a:latin typeface="Courier New" pitchFamily="34" charset="0"/>
                          <a:ea typeface="Courier New" pitchFamily="34" charset="-122"/>
                          <a:cs typeface="Courier New" pitchFamily="34" charset="-120"/>
                        </a:rPr>
                        <a:t>1 0</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β|0⟩ + α|1⟩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b="1" dirty="0">
                          <a:solidFill>
                            <a:srgbClr val="1F2937"/>
                          </a:solidFill>
                          <a:latin typeface="Calibri" pitchFamily="34" charset="0"/>
                          <a:ea typeface="Calibri" pitchFamily="34" charset="-122"/>
                          <a:cs typeface="Calibri" pitchFamily="34" charset="-120"/>
                        </a:rPr>
                        <a:t>X</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1 0</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F3A5F"/>
                          </a:solidFill>
                          <a:latin typeface="Courier New" pitchFamily="34" charset="0"/>
                          <a:ea typeface="Courier New" pitchFamily="34" charset="-122"/>
                          <a:cs typeface="Courier New" pitchFamily="34" charset="-120"/>
                        </a:rPr>
                        <a:t>0 1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α|0⟩ − β|1⟩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1F2937"/>
                          </a:solidFill>
                          <a:latin typeface="Calibri" pitchFamily="34" charset="0"/>
                          <a:ea typeface="Calibri" pitchFamily="34" charset="-122"/>
                          <a:cs typeface="Calibri" pitchFamily="34" charset="-120"/>
                        </a:rPr>
                        <a:t>Z</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1 1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dirty="0">
                          <a:solidFill>
                            <a:srgbClr val="1F3A5F"/>
                          </a:solidFill>
                          <a:latin typeface="Courier New" pitchFamily="34" charset="0"/>
                          <a:ea typeface="Courier New" pitchFamily="34" charset="-122"/>
                          <a:cs typeface="Courier New" pitchFamily="34" charset="-120"/>
                        </a:rPr>
                        <a:t>1 1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dirty="0">
                          <a:solidFill>
                            <a:srgbClr val="1F2937"/>
                          </a:solidFill>
                          <a:latin typeface="Calibri" pitchFamily="34" charset="0"/>
                          <a:ea typeface="Calibri" pitchFamily="34" charset="-122"/>
                          <a:cs typeface="Calibri" pitchFamily="34" charset="-120"/>
                        </a:rPr>
                        <a:t>−β|0⟩ + α|1⟩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700" b="1" dirty="0">
                          <a:solidFill>
                            <a:srgbClr val="1F2937"/>
                          </a:solidFill>
                          <a:latin typeface="Calibri" pitchFamily="34" charset="0"/>
                          <a:ea typeface="Calibri" pitchFamily="34" charset="-122"/>
                          <a:cs typeface="Calibri" pitchFamily="34" charset="-120"/>
                        </a:rPr>
                        <a:t>Z·X</a:t>
                      </a:r>
                      <a:r>
                        <a:rPr lang="en-US" sz="1700" dirty="0">
                          <a:solidFill>
                            <a:srgbClr val="1F2937"/>
                          </a:solidFill>
                          <a:latin typeface="Calibri" pitchFamily="34" charset="0"/>
                          <a:ea typeface="Calibri" pitchFamily="34" charset="-122"/>
                          <a:cs typeface="Calibri" pitchFamily="34" charset="-120"/>
                        </a:rPr>
                        <a:t> (önce X)</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548640" y="4206240"/>
            <a:ext cx="11094415" cy="1645920"/>
          </a:xfrm>
          <a:prstGeom prst="roundRect">
            <a:avLst>
              <a:gd name="adj" fmla="val 4444"/>
            </a:avLst>
          </a:prstGeom>
          <a:solidFill>
            <a:srgbClr val="FDF3E8"/>
          </a:solidFill>
          <a:ln w="12700">
            <a:solidFill>
              <a:srgbClr val="FDF3E8"/>
            </a:solidFill>
            <a:prstDash val="solid"/>
          </a:ln>
        </p:spPr>
      </p:sp>
      <p:sp>
        <p:nvSpPr>
          <p:cNvPr id="8" name="Text 4"/>
          <p:cNvSpPr txBox="1"/>
          <p:nvPr/>
        </p:nvSpPr>
        <p:spPr>
          <a:xfrm>
            <a:off x="731520" y="4315968"/>
            <a:ext cx="10728655" cy="142646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Tuzak</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Sayım anahtarı </a:t>
            </a:r>
            <a:r>
              <a:rPr lang="en-US" sz="1700" dirty="0">
                <a:solidFill>
                  <a:srgbClr val="1F3A5F"/>
                </a:solidFill>
                <a:latin typeface="Courier New" pitchFamily="34" charset="0"/>
                <a:ea typeface="Courier New" pitchFamily="34" charset="-122"/>
                <a:cs typeface="Courier New" pitchFamily="34" charset="-120"/>
              </a:rPr>
              <a:t>'1 0'</a:t>
            </a:r>
            <a:r>
              <a:rPr lang="en-US" sz="1700" dirty="0">
                <a:solidFill>
                  <a:srgbClr val="1F2937"/>
                </a:solidFill>
                <a:latin typeface="Calibri" pitchFamily="34" charset="0"/>
                <a:ea typeface="Calibri" pitchFamily="34" charset="-122"/>
                <a:cs typeface="Calibri" pitchFamily="34" charset="-120"/>
              </a:rPr>
              <a:t> → </a:t>
            </a:r>
            <a:r>
              <a:rPr lang="en-US" sz="1700" b="1" dirty="0">
                <a:solidFill>
                  <a:srgbClr val="1F2937"/>
                </a:solidFill>
                <a:latin typeface="Calibri" pitchFamily="34" charset="0"/>
                <a:ea typeface="Calibri" pitchFamily="34" charset="-122"/>
                <a:cs typeface="Calibri" pitchFamily="34" charset="-120"/>
              </a:rPr>
              <a:t>m1 = 1</a:t>
            </a:r>
            <a:r>
              <a:rPr lang="en-US" sz="1700" dirty="0">
                <a:solidFill>
                  <a:srgbClr val="1F2937"/>
                </a:solidFill>
                <a:latin typeface="Calibri" pitchFamily="34" charset="0"/>
                <a:ea typeface="Calibri" pitchFamily="34" charset="-122"/>
                <a:cs typeface="Calibri" pitchFamily="34" charset="-120"/>
              </a:rPr>
              <a:t>, m0 = 0 → </a:t>
            </a:r>
            <a:r>
              <a:rPr lang="en-US" sz="1700" b="1" dirty="0">
                <a:solidFill>
                  <a:srgbClr val="1F2937"/>
                </a:solidFill>
                <a:latin typeface="Calibri" pitchFamily="34" charset="0"/>
                <a:ea typeface="Calibri" pitchFamily="34" charset="-122"/>
                <a:cs typeface="Calibri" pitchFamily="34" charset="-120"/>
              </a:rPr>
              <a:t>X</a:t>
            </a:r>
            <a:r>
              <a:rPr lang="en-US" sz="1700" dirty="0">
                <a:solidFill>
                  <a:srgbClr val="1F2937"/>
                </a:solidFill>
                <a:latin typeface="Calibri" pitchFamily="34" charset="0"/>
                <a:ea typeface="Calibri" pitchFamily="34" charset="-122"/>
                <a:cs typeface="Calibri" pitchFamily="34" charset="-120"/>
              </a:rPr>
              <a:t> gerekir (Z değil!)</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Güvenli: </a:t>
            </a:r>
            <a:r>
              <a:rPr lang="en-US" sz="1700" dirty="0">
                <a:solidFill>
                  <a:srgbClr val="1F3A5F"/>
                </a:solidFill>
                <a:latin typeface="Courier New" pitchFamily="34" charset="0"/>
                <a:ea typeface="Courier New" pitchFamily="34" charset="-122"/>
                <a:cs typeface="Courier New" pitchFamily="34" charset="-120"/>
              </a:rPr>
              <a:t>with qc.if_test((m1[0], 1)): qc.x(2)</a:t>
            </a:r>
            <a:r>
              <a:rPr lang="en-US" sz="1700" dirty="0">
                <a:solidFill>
                  <a:srgbClr val="1F2937"/>
                </a:solidFill>
                <a:latin typeface="Calibri" pitchFamily="34" charset="0"/>
                <a:ea typeface="Calibri" pitchFamily="34" charset="-122"/>
                <a:cs typeface="Calibri" pitchFamily="34" charset="-120"/>
              </a:rPr>
              <a:t>   ve   </a:t>
            </a:r>
            <a:r>
              <a:rPr lang="en-US" sz="1700" dirty="0">
                <a:solidFill>
                  <a:srgbClr val="1F3A5F"/>
                </a:solidFill>
                <a:latin typeface="Courier New" pitchFamily="34" charset="0"/>
                <a:ea typeface="Courier New" pitchFamily="34" charset="-122"/>
                <a:cs typeface="Courier New" pitchFamily="34" charset="-120"/>
              </a:rPr>
              <a:t>with qc.if_test((m0[0], 1)): qc.z(2)</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Sürüm 1: dinamik devre (Qiskit 2.x if_test)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43</a:t>
            </a:r>
            <a:endParaRPr lang="en-US" sz="1000" dirty="0"/>
          </a:p>
        </p:txBody>
      </p:sp>
      <p:pic>
        <p:nvPicPr>
          <p:cNvPr id="6" name="Image 0" descr="görsel">    </p:cNvPr>
          <p:cNvPicPr>
            <a:picLocks noChangeAspect="1"/>
          </p:cNvPicPr>
          <p:nvPr/>
        </p:nvPicPr>
        <p:blipFill>
          <a:blip r:embed="rId1"/>
          <a:stretch>
            <a:fillRect/>
          </a:stretch>
        </p:blipFill>
        <p:spPr>
          <a:xfrm>
            <a:off x="2860439" y="1097280"/>
            <a:ext cx="6470817" cy="2194560"/>
          </a:xfrm>
          <a:prstGeom prst="rect">
            <a:avLst/>
          </a:prstGeom>
        </p:spPr>
      </p:pic>
      <p:sp>
        <p:nvSpPr>
          <p:cNvPr id="7" name="Shape 3"/>
          <p:cNvSpPr/>
          <p:nvPr/>
        </p:nvSpPr>
        <p:spPr>
          <a:xfrm>
            <a:off x="548640" y="3429000"/>
            <a:ext cx="7680960" cy="2468880"/>
          </a:xfrm>
          <a:prstGeom prst="rect">
            <a:avLst/>
          </a:prstGeom>
          <a:solidFill>
            <a:srgbClr val="F7F8FA"/>
          </a:solidFill>
          <a:ln w="9525">
            <a:solidFill>
              <a:srgbClr val="D1D5DB"/>
            </a:solidFill>
            <a:prstDash val="solid"/>
          </a:ln>
        </p:spPr>
      </p:sp>
      <p:sp>
        <p:nvSpPr>
          <p:cNvPr id="8" name="Text 4"/>
          <p:cNvSpPr txBox="1"/>
          <p:nvPr/>
        </p:nvSpPr>
        <p:spPr>
          <a:xfrm>
            <a:off x="685800" y="3520440"/>
            <a:ext cx="7406640" cy="228600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qc.measure(0, m0[0]); qc.measure(1, m1[0])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with qc.if_test((m1[0],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qc.x(2)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with qc.if_test((m0[0],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qc.z(2)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qc.save_density_matrix([2], label="rho")</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sim = AerSimulator(method="density_matrix")</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res = sim.run(transpile(qc, sim), shots=500).result()</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state_fidelity(res.data()["rho"], psi)    # 1.0</a:t>
            </a:r>
            <a:endParaRPr lang="en-US" sz="1300" dirty="0"/>
          </a:p>
        </p:txBody>
      </p:sp>
      <p:sp>
        <p:nvSpPr>
          <p:cNvPr id="9" name="Shape 5"/>
          <p:cNvSpPr/>
          <p:nvPr/>
        </p:nvSpPr>
        <p:spPr>
          <a:xfrm>
            <a:off x="8503920" y="3429000"/>
            <a:ext cx="3139135" cy="2468880"/>
          </a:xfrm>
          <a:prstGeom prst="roundRect">
            <a:avLst>
              <a:gd name="adj" fmla="val 2963"/>
            </a:avLst>
          </a:prstGeom>
          <a:solidFill>
            <a:srgbClr val="FDF3E8"/>
          </a:solidFill>
          <a:ln w="12700">
            <a:solidFill>
              <a:srgbClr val="FDF3E8"/>
            </a:solidFill>
            <a:prstDash val="solid"/>
          </a:ln>
        </p:spPr>
      </p:sp>
      <p:sp>
        <p:nvSpPr>
          <p:cNvPr id="10" name="Text 6"/>
          <p:cNvSpPr txBox="1"/>
          <p:nvPr/>
        </p:nvSpPr>
        <p:spPr>
          <a:xfrm>
            <a:off x="8686800" y="3538728"/>
            <a:ext cx="2773375" cy="224942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Qiskit 1.x → 2.x</a:t>
            </a:r>
            <a:endParaRPr lang="en-US" sz="1700" dirty="0"/>
          </a:p>
          <a:p>
            <a:pPr algn="l" indent="0" marL="0">
              <a:spcAft>
                <a:spcPts val="500"/>
              </a:spcAft>
              <a:buNone/>
            </a:pPr>
            <a:r>
              <a:rPr lang="en-US" sz="1400" dirty="0">
                <a:solidFill>
                  <a:srgbClr val="1F3A5F"/>
                </a:solidFill>
                <a:latin typeface="Courier New" pitchFamily="34" charset="0"/>
                <a:ea typeface="Courier New" pitchFamily="34" charset="-122"/>
                <a:cs typeface="Courier New" pitchFamily="34" charset="-120"/>
              </a:rPr>
              <a:t>c_if</a:t>
            </a:r>
            <a:r>
              <a:rPr lang="en-US" sz="1400" dirty="0">
                <a:solidFill>
                  <a:srgbClr val="1F2937"/>
                </a:solidFill>
                <a:latin typeface="Calibri" pitchFamily="34" charset="0"/>
                <a:ea typeface="Calibri" pitchFamily="34" charset="-122"/>
                <a:cs typeface="Calibri" pitchFamily="34" charset="-120"/>
              </a:rPr>
              <a:t> </a:t>
            </a:r>
            <a:r>
              <a:rPr lang="en-US" sz="1400" b="1" dirty="0">
                <a:solidFill>
                  <a:srgbClr val="1F2937"/>
                </a:solidFill>
                <a:latin typeface="Calibri" pitchFamily="34" charset="0"/>
                <a:ea typeface="Calibri" pitchFamily="34" charset="-122"/>
                <a:cs typeface="Calibri" pitchFamily="34" charset="-120"/>
              </a:rPr>
              <a:t>kaldırıldı</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 </a:t>
            </a:r>
            <a:r>
              <a:rPr lang="en-US" sz="1400" dirty="0">
                <a:solidFill>
                  <a:srgbClr val="1F3A5F"/>
                </a:solidFill>
                <a:latin typeface="Courier New" pitchFamily="34" charset="0"/>
                <a:ea typeface="Courier New" pitchFamily="34" charset="-122"/>
                <a:cs typeface="Courier New" pitchFamily="34" charset="-120"/>
              </a:rPr>
              <a:t>with qc.if_test(...)</a:t>
            </a:r>
            <a:endParaRPr lang="en-US" sz="1700" dirty="0"/>
          </a:p>
          <a:p>
            <a:pPr algn="l" indent="0" marL="0">
              <a:spcAft>
                <a:spcPts val="500"/>
              </a:spcAft>
              <a:buNone/>
            </a:pPr>
            <a:r>
              <a:rPr lang="en-US" sz="1400" dirty="0">
                <a:solidFill>
                  <a:srgbClr val="1F3A5F"/>
                </a:solidFill>
                <a:latin typeface="Courier New" pitchFamily="34" charset="0"/>
                <a:ea typeface="Courier New" pitchFamily="34" charset="-122"/>
                <a:cs typeface="Courier New" pitchFamily="34" charset="-120"/>
              </a:rPr>
              <a:t>execute</a:t>
            </a:r>
            <a:r>
              <a:rPr lang="en-US" sz="1400" dirty="0">
                <a:solidFill>
                  <a:srgbClr val="1F2937"/>
                </a:solidFill>
                <a:latin typeface="Calibri" pitchFamily="34" charset="0"/>
                <a:ea typeface="Calibri" pitchFamily="34" charset="-122"/>
                <a:cs typeface="Calibri" pitchFamily="34" charset="-120"/>
              </a:rPr>
              <a:t> kaldırıldı</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 </a:t>
            </a:r>
            <a:r>
              <a:rPr lang="en-US" sz="1400" dirty="0">
                <a:solidFill>
                  <a:srgbClr val="1F3A5F"/>
                </a:solidFill>
                <a:latin typeface="Courier New" pitchFamily="34" charset="0"/>
                <a:ea typeface="Courier New" pitchFamily="34" charset="-122"/>
                <a:cs typeface="Courier New" pitchFamily="34" charset="-120"/>
              </a:rPr>
              <a:t>backend.run(transpile(...))</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Sürüm 2: ertelenmiş ölçüm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44</a:t>
            </a:r>
            <a:endParaRPr lang="en-US" sz="1000" dirty="0"/>
          </a:p>
        </p:txBody>
      </p:sp>
      <p:pic>
        <p:nvPicPr>
          <p:cNvPr id="6" name="Image 0" descr="görsel">    </p:cNvPr>
          <p:cNvPicPr>
            <a:picLocks noChangeAspect="1"/>
          </p:cNvPicPr>
          <p:nvPr/>
        </p:nvPicPr>
        <p:blipFill>
          <a:blip r:embed="rId1"/>
          <a:stretch>
            <a:fillRect/>
          </a:stretch>
        </p:blipFill>
        <p:spPr>
          <a:xfrm>
            <a:off x="548640" y="1526898"/>
            <a:ext cx="5852160" cy="1701085"/>
          </a:xfrm>
          <a:prstGeom prst="rect">
            <a:avLst/>
          </a:prstGeom>
        </p:spPr>
      </p:pic>
      <p:sp>
        <p:nvSpPr>
          <p:cNvPr id="7" name="Shape 3"/>
          <p:cNvSpPr/>
          <p:nvPr/>
        </p:nvSpPr>
        <p:spPr>
          <a:xfrm>
            <a:off x="6675120" y="1188720"/>
            <a:ext cx="4967935" cy="3383280"/>
          </a:xfrm>
          <a:prstGeom prst="rect">
            <a:avLst/>
          </a:prstGeom>
          <a:solidFill>
            <a:srgbClr val="F7F8FA"/>
          </a:solidFill>
          <a:ln w="9525">
            <a:solidFill>
              <a:srgbClr val="D1D5DB"/>
            </a:solidFill>
            <a:prstDash val="solid"/>
          </a:ln>
        </p:spPr>
      </p:sp>
      <p:sp>
        <p:nvSpPr>
          <p:cNvPr id="8" name="Text 4"/>
          <p:cNvSpPr txBox="1"/>
          <p:nvPr/>
        </p:nvSpPr>
        <p:spPr>
          <a:xfrm>
            <a:off x="6812280" y="1280160"/>
            <a:ext cx="4693615" cy="320040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def teleport_deferred(psi):</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 = QuantumCircuit(3)</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qc.initialize(psi, 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qc.h(1); qc.cx(1, 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qc.cx(0, 1); qc.h(0)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qc.cx(1, 2); qc.cz(0, 2)  </a:t>
            </a:r>
            <a:r>
              <a:rPr lang="en-US" sz="1300" dirty="0">
                <a:solidFill>
                  <a:srgbClr val="6B7F99"/>
                </a:solidFill>
                <a:latin typeface="Courier New" pitchFamily="34" charset="0"/>
                <a:ea typeface="Courier New" pitchFamily="34" charset="-122"/>
                <a:cs typeface="Courier New" pitchFamily="34" charset="-120"/>
              </a:rPr>
              <a:t># düzeltme</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qc</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sv = Statevector(qc)</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rho = partial_trace(sv, [0,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state_fidelity(rho, Statevector(psi))</a:t>
            </a:r>
            <a:endParaRPr lang="en-US" sz="1300" dirty="0"/>
          </a:p>
          <a:p>
            <a:pPr indent="0" marL="0">
              <a:buNone/>
            </a:pPr>
            <a:r>
              <a:rPr lang="en-US" sz="1300" dirty="0">
                <a:solidFill>
                  <a:srgbClr val="6B7F99"/>
                </a:solidFill>
                <a:latin typeface="Courier New" pitchFamily="34" charset="0"/>
                <a:ea typeface="Courier New" pitchFamily="34" charset="-122"/>
                <a:cs typeface="Courier New" pitchFamily="34" charset="-120"/>
              </a:rPr>
              <a:t># 1.0</a:t>
            </a:r>
            <a:endParaRPr lang="en-US" sz="1300" dirty="0"/>
          </a:p>
        </p:txBody>
      </p:sp>
      <p:sp>
        <p:nvSpPr>
          <p:cNvPr id="9" name="Shape 5"/>
          <p:cNvSpPr/>
          <p:nvPr/>
        </p:nvSpPr>
        <p:spPr>
          <a:xfrm>
            <a:off x="548640" y="3931920"/>
            <a:ext cx="5852160" cy="1920240"/>
          </a:xfrm>
          <a:prstGeom prst="roundRect">
            <a:avLst>
              <a:gd name="adj" fmla="val 3810"/>
            </a:avLst>
          </a:prstGeom>
          <a:solidFill>
            <a:srgbClr val="E8EEF6"/>
          </a:solidFill>
          <a:ln w="12700">
            <a:solidFill>
              <a:srgbClr val="E8EEF6"/>
            </a:solidFill>
            <a:prstDash val="solid"/>
          </a:ln>
        </p:spPr>
      </p:sp>
      <p:sp>
        <p:nvSpPr>
          <p:cNvPr id="10" name="Text 6"/>
          <p:cNvSpPr txBox="1"/>
          <p:nvPr/>
        </p:nvSpPr>
        <p:spPr>
          <a:xfrm>
            <a:off x="731520" y="4041648"/>
            <a:ext cx="5486400" cy="17007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Ertelenmiş ölçüm ilkesi</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"Ölç, 1 ise U uygula" = "ölçmeden </a:t>
            </a:r>
            <a:r>
              <a:rPr lang="en-US" sz="1600" b="1" dirty="0">
                <a:solidFill>
                  <a:srgbClr val="1F2937"/>
                </a:solidFill>
                <a:latin typeface="Calibri" pitchFamily="34" charset="0"/>
                <a:ea typeface="Calibri" pitchFamily="34" charset="-122"/>
                <a:cs typeface="Calibri" pitchFamily="34" charset="-120"/>
              </a:rPr>
              <a:t>kontrollü-U</a:t>
            </a:r>
            <a:r>
              <a:rPr lang="en-US" sz="1600" dirty="0">
                <a:solidFill>
                  <a:srgbClr val="1F2937"/>
                </a:solidFill>
                <a:latin typeface="Calibri" pitchFamily="34" charset="0"/>
                <a:ea typeface="Calibri" pitchFamily="34" charset="-122"/>
                <a:cs typeface="Calibri" pitchFamily="34" charset="-120"/>
              </a:rPr>
              <a:t> uygula, sonra ölç"</a:t>
            </a:r>
            <a:endParaRPr lang="en-US" sz="1700" dirty="0"/>
          </a:p>
        </p:txBody>
      </p:sp>
      <p:sp>
        <p:nvSpPr>
          <p:cNvPr id="11" name="Shape 7"/>
          <p:cNvSpPr/>
          <p:nvPr/>
        </p:nvSpPr>
        <p:spPr>
          <a:xfrm>
            <a:off x="6675120" y="4754880"/>
            <a:ext cx="4967935" cy="1097280"/>
          </a:xfrm>
          <a:prstGeom prst="roundRect">
            <a:avLst>
              <a:gd name="adj" fmla="val 6667"/>
            </a:avLst>
          </a:prstGeom>
          <a:solidFill>
            <a:srgbClr val="E8EEF6"/>
          </a:solidFill>
          <a:ln w="12700">
            <a:solidFill>
              <a:srgbClr val="E8EEF6"/>
            </a:solidFill>
            <a:prstDash val="solid"/>
          </a:ln>
        </p:spPr>
      </p:sp>
      <p:sp>
        <p:nvSpPr>
          <p:cNvPr id="12" name="Text 8"/>
          <p:cNvSpPr txBox="1"/>
          <p:nvPr/>
        </p:nvSpPr>
        <p:spPr>
          <a:xfrm>
            <a:off x="6858000" y="4864608"/>
            <a:ext cx="4602175" cy="87782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10 rastgele durumda fidelity = </a:t>
            </a:r>
            <a:r>
              <a:rPr lang="en-US" sz="1600" b="1" dirty="0">
                <a:solidFill>
                  <a:srgbClr val="1F2937"/>
                </a:solidFill>
                <a:latin typeface="Calibri" pitchFamily="34" charset="0"/>
                <a:ea typeface="Calibri" pitchFamily="34" charset="-122"/>
                <a:cs typeface="Calibri" pitchFamily="34" charset="-120"/>
              </a:rPr>
              <a:t>1.000000</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Doğrulama: fidelity ve tomografi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45</a:t>
            </a:r>
            <a:endParaRPr lang="en-US" sz="1000" dirty="0"/>
          </a:p>
        </p:txBody>
      </p:sp>
      <p:pic>
        <p:nvPicPr>
          <p:cNvPr id="6" name="Image 0" descr="görsel">    </p:cNvPr>
          <p:cNvPicPr>
            <a:picLocks noChangeAspect="1"/>
          </p:cNvPicPr>
          <p:nvPr/>
        </p:nvPicPr>
        <p:blipFill>
          <a:blip r:embed="rId1"/>
          <a:stretch>
            <a:fillRect/>
          </a:stretch>
        </p:blipFill>
        <p:spPr>
          <a:xfrm>
            <a:off x="1519767" y="1097280"/>
            <a:ext cx="9152160" cy="3017520"/>
          </a:xfrm>
          <a:prstGeom prst="rect">
            <a:avLst/>
          </a:prstGeom>
        </p:spPr>
      </p:pic>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7863840" cy="914400"/>
        </p:xfrm>
        <a:graphic>
          <a:graphicData uri="http://schemas.openxmlformats.org/drawingml/2006/table">
            <a:tbl>
              <a:tblPr/>
              <a:tblGrid>
                <a:gridCol w="3302813"/>
                <a:gridCol w="1965960"/>
                <a:gridCol w="2595067"/>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Yöntem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Kullandığı</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Nerede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Ertelenmiş + partial_trace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Durum vektörü</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Simülatör: hızlı test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Dinamik + save_density_matrix</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Aer iç durumu</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Yalnız Aer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Dinamik + tomografi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Yalnız sayımlar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Simülatör ve </a:t>
                      </a:r>
                      <a:r>
                        <a:rPr lang="en-US" sz="1400" b="1" dirty="0">
                          <a:solidFill>
                            <a:srgbClr val="1F2937"/>
                          </a:solidFill>
                          <a:latin typeface="Calibri" pitchFamily="34" charset="0"/>
                          <a:ea typeface="Calibri" pitchFamily="34" charset="-122"/>
                          <a:cs typeface="Calibri" pitchFamily="34" charset="-120"/>
                        </a:rPr>
                        <a:t>gerçek donanım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8686800" y="4297680"/>
            <a:ext cx="2956255" cy="1463040"/>
          </a:xfrm>
          <a:prstGeom prst="roundRect">
            <a:avLst>
              <a:gd name="adj" fmla="val 6250"/>
            </a:avLst>
          </a:prstGeom>
          <a:solidFill>
            <a:srgbClr val="E8EEF6"/>
          </a:solidFill>
          <a:ln w="12700">
            <a:solidFill>
              <a:srgbClr val="E8EEF6"/>
            </a:solidFill>
            <a:prstDash val="solid"/>
          </a:ln>
        </p:spPr>
      </p:sp>
      <p:sp>
        <p:nvSpPr>
          <p:cNvPr id="9" name="Text 4"/>
          <p:cNvSpPr txBox="1"/>
          <p:nvPr/>
        </p:nvSpPr>
        <p:spPr>
          <a:xfrm>
            <a:off x="8686800" y="4297680"/>
            <a:ext cx="2956255" cy="1463040"/>
          </a:xfrm>
          <a:prstGeom prst="rect">
            <a:avLst/>
          </a:prstGeom>
          <a:noFill/>
          <a:ln/>
        </p:spPr>
        <p:txBody>
          <a:bodyPr wrap="square" lIns="0" tIns="0" rIns="0" bIns="0" rtlCol="0" anchor="ctr"/>
          <a:lstStyle/>
          <a:p>
            <a:pPr algn="ctr" indent="0" marL="0">
              <a:buNone/>
            </a:pPr>
            <a:r>
              <a:rPr lang="en-US" sz="2400" dirty="0">
                <a:solidFill>
                  <a:srgbClr val="1F3A5F"/>
                </a:solidFill>
                <a:latin typeface="Cambria" pitchFamily="34" charset="0"/>
                <a:ea typeface="Cambria" pitchFamily="34" charset="-122"/>
                <a:cs typeface="Cambria" pitchFamily="34" charset="-120"/>
              </a:rPr>
              <a:t>F = (1 + r·s) / 2</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Süper yoğun kodlama: 1 kübitle 2 bit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46</a:t>
            </a:r>
            <a:endParaRPr lang="en-US" sz="1000" dirty="0"/>
          </a:p>
        </p:txBody>
      </p:sp>
      <p:pic>
        <p:nvPicPr>
          <p:cNvPr id="6" name="Image 0" descr="görsel">    </p:cNvPr>
          <p:cNvPicPr>
            <a:picLocks noChangeAspect="1"/>
          </p:cNvPicPr>
          <p:nvPr/>
        </p:nvPicPr>
        <p:blipFill>
          <a:blip r:embed="rId1"/>
          <a:stretch>
            <a:fillRect/>
          </a:stretch>
        </p:blipFill>
        <p:spPr>
          <a:xfrm>
            <a:off x="1283458" y="1097280"/>
            <a:ext cx="9624779" cy="2194560"/>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6949440" cy="914400"/>
        </p:xfrm>
        <a:graphic>
          <a:graphicData uri="http://schemas.openxmlformats.org/drawingml/2006/table">
            <a:tbl>
              <a:tblPr/>
              <a:tblGrid>
                <a:gridCol w="1389888"/>
                <a:gridCol w="2084832"/>
                <a:gridCol w="1737360"/>
                <a:gridCol w="173736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Mesaj</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Gönderen (q₀)</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Bell durumu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Alıcı okur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Φ⁺</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Φ⁻</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Ψ⁺</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Z, sonra X</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Ψ⁻</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7772400" y="3474720"/>
            <a:ext cx="3870655" cy="2377440"/>
          </a:xfrm>
          <a:prstGeom prst="roundRect">
            <a:avLst>
              <a:gd name="adj" fmla="val 3077"/>
            </a:avLst>
          </a:prstGeom>
          <a:solidFill>
            <a:srgbClr val="E8EEF6"/>
          </a:solidFill>
          <a:ln w="12700">
            <a:solidFill>
              <a:srgbClr val="E8EEF6"/>
            </a:solidFill>
            <a:prstDash val="solid"/>
          </a:ln>
        </p:spPr>
      </p:sp>
      <p:sp>
        <p:nvSpPr>
          <p:cNvPr id="9" name="Text 4"/>
          <p:cNvSpPr txBox="1"/>
          <p:nvPr/>
        </p:nvSpPr>
        <p:spPr>
          <a:xfrm>
            <a:off x="7955280" y="3584448"/>
            <a:ext cx="3504895" cy="2157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İki yüz</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Işınlanma:</a:t>
            </a:r>
            <a:r>
              <a:rPr lang="en-US" sz="1600" dirty="0">
                <a:solidFill>
                  <a:srgbClr val="1F2937"/>
                </a:solidFill>
                <a:latin typeface="Calibri" pitchFamily="34" charset="0"/>
                <a:ea typeface="Calibri" pitchFamily="34" charset="-122"/>
                <a:cs typeface="Calibri" pitchFamily="34" charset="-120"/>
              </a:rPr>
              <a:t> Bell + 2 bit → 1 kübit</a:t>
            </a:r>
            <a:endParaRPr lang="en-US" sz="1700" dirty="0"/>
          </a:p>
          <a:p>
            <a:pPr algn="l" indent="0" marL="0">
              <a:spcAft>
                <a:spcPts val="500"/>
              </a:spcAft>
              <a:buNone/>
            </a:pPr>
            <a:r>
              <a:rPr lang="en-US" sz="1600" b="1" dirty="0">
                <a:solidFill>
                  <a:srgbClr val="1F2937"/>
                </a:solidFill>
                <a:latin typeface="Calibri" pitchFamily="34" charset="0"/>
                <a:ea typeface="Calibri" pitchFamily="34" charset="-122"/>
                <a:cs typeface="Calibri" pitchFamily="34" charset="-120"/>
              </a:rPr>
              <a:t>Süper yoğun:</a:t>
            </a:r>
            <a:r>
              <a:rPr lang="en-US" sz="1600" dirty="0">
                <a:solidFill>
                  <a:srgbClr val="1F2937"/>
                </a:solidFill>
                <a:latin typeface="Calibri" pitchFamily="34" charset="0"/>
                <a:ea typeface="Calibri" pitchFamily="34" charset="-122"/>
                <a:cs typeface="Calibri" pitchFamily="34" charset="-120"/>
              </a:rPr>
              <a:t> Bell + 1 kübit → 2 bit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Hiçbiri ışıktan hızlı değil</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12 · '01' mesajını çözmek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47</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Φ⁺, q₀'a Z; alıcı cx(0,1), h(0). Sonuç?</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Z q₀'a: 01 ve 11 işaret değiştirir → [.707, 0, 0, −.707] = Φ⁻</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cx(0,1): [a,d,c,b] = [.707, −.707, 0, 0] = |0⟩⊗|−⟩</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h(0): |−⟩ → |1⟩ ⇒ |01⟩</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Alıcı %100 '01' okur</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'01'</a:t>
            </a:r>
            <a:endParaRPr lang="en-US" sz="1700" dirty="0"/>
          </a:p>
        </p:txBody>
      </p:sp>
      <p:sp>
        <p:nvSpPr>
          <p:cNvPr id="11" name="Shape 8"/>
          <p:cNvSpPr/>
          <p:nvPr/>
        </p:nvSpPr>
        <p:spPr>
          <a:xfrm>
            <a:off x="7498080" y="1143000"/>
            <a:ext cx="4144975" cy="292608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74320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for m in ["00","01","10","11"]: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print(m, run_counts(</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superdense(m), 500))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00 {'00': 500}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01 {'01': 500}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10 {'10': 500}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11 {'11': 500}</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3.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Lab: Hafta06_Lab.ipynb</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Test aracı, toplayıcılar, korelasyon ve ışınlanma</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Lab akışı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49</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109442"/>
                <a:gridCol w="8320811"/>
                <a:gridCol w="1664162"/>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Bölüm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Konu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Süre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Kurulum, yardımcılar (</a:t>
                      </a:r>
                      <a:r>
                        <a:rPr lang="en-US" sz="1500" dirty="0">
                          <a:solidFill>
                            <a:srgbClr val="1F3A5F"/>
                          </a:solidFill>
                          <a:latin typeface="Courier New" pitchFamily="34" charset="0"/>
                          <a:ea typeface="Courier New" pitchFamily="34" charset="-122"/>
                          <a:cs typeface="Courier New" pitchFamily="34" charset="-120"/>
                        </a:rPr>
                        <a:t>run_counts</a:t>
                      </a:r>
                      <a:r>
                        <a:rPr lang="en-US" sz="1500" dirty="0">
                          <a:solidFill>
                            <a:srgbClr val="1F2937"/>
                          </a:solidFill>
                          <a:latin typeface="Calibri" pitchFamily="34" charset="0"/>
                          <a:ea typeface="Calibri" pitchFamily="34" charset="-122"/>
                          <a:cs typeface="Calibri" pitchFamily="34" charset="-120"/>
                        </a:rPr>
                        <a:t>, </a:t>
                      </a:r>
                      <a:r>
                        <a:rPr lang="en-US" sz="1500" dirty="0">
                          <a:solidFill>
                            <a:srgbClr val="1F3A5F"/>
                          </a:solidFill>
                          <a:latin typeface="Courier New" pitchFamily="34" charset="0"/>
                          <a:ea typeface="Courier New" pitchFamily="34" charset="-122"/>
                          <a:cs typeface="Courier New" pitchFamily="34" charset="-120"/>
                        </a:rPr>
                        <a:t>show_amps</a:t>
                      </a:r>
                      <a:r>
                        <a:rPr lang="en-US" sz="1500" dirty="0">
                          <a:solidFill>
                            <a:srgbClr val="1F2937"/>
                          </a:solidFill>
                          <a:latin typeface="Calibri" pitchFamily="34" charset="0"/>
                          <a:ea typeface="Calibri" pitchFamily="34" charset="-122"/>
                          <a:cs typeface="Calibri" pitchFamily="34" charset="-120"/>
                        </a:rPr>
                        <a:t>, </a:t>
                      </a:r>
                      <a:r>
                        <a:rPr lang="en-US" sz="1500" dirty="0">
                          <a:solidFill>
                            <a:srgbClr val="1F3A5F"/>
                          </a:solidFill>
                          <a:latin typeface="Courier New" pitchFamily="34" charset="0"/>
                          <a:ea typeface="Courier New" pitchFamily="34" charset="-122"/>
                          <a:cs typeface="Courier New" pitchFamily="34" charset="-120"/>
                        </a:rPr>
                        <a:t>plot_bloch</a:t>
                      </a:r>
                      <a:r>
                        <a:rPr lang="en-US" sz="1500" dirty="0">
                          <a:solidFill>
                            <a:srgbClr val="1F293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CNOT matrisleri, </a:t>
                      </a:r>
                      <a:r>
                        <a:rPr lang="en-US" sz="1500" b="1" dirty="0">
                          <a:solidFill>
                            <a:srgbClr val="1F2937"/>
                          </a:solidFill>
                          <a:latin typeface="Calibri" pitchFamily="34" charset="0"/>
                          <a:ea typeface="Calibri" pitchFamily="34" charset="-122"/>
                          <a:cs typeface="Calibri" pitchFamily="34" charset="-120"/>
                        </a:rPr>
                        <a:t>`truth_table()`</a:t>
                      </a:r>
                      <a:r>
                        <a:rPr lang="en-US" sz="1500" dirty="0">
                          <a:solidFill>
                            <a:srgbClr val="1F2937"/>
                          </a:solidFill>
                          <a:latin typeface="Calibri" pitchFamily="34" charset="0"/>
                          <a:ea typeface="Calibri" pitchFamily="34" charset="-122"/>
                          <a:cs typeface="Calibri" pitchFamily="34" charset="-120"/>
                        </a:rPr>
                        <a:t>, dolanıklığın doğuşu, kısmi iz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CZ, SWAP = 3 CNOT, Toffoli, </a:t>
                      </a:r>
                      <a:r>
                        <a:rPr lang="en-US" sz="1500" dirty="0">
                          <a:solidFill>
                            <a:srgbClr val="1F3A5F"/>
                          </a:solidFill>
                          <a:latin typeface="Courier New" pitchFamily="34" charset="0"/>
                          <a:ea typeface="Courier New" pitchFamily="34" charset="-122"/>
                          <a:cs typeface="Courier New" pitchFamily="34" charset="-120"/>
                        </a:rPr>
                        <a:t>.control()</a:t>
                      </a:r>
                      <a:r>
                        <a:rPr lang="en-US" sz="1500" dirty="0">
                          <a:solidFill>
                            <a:srgbClr val="1F2937"/>
                          </a:solidFill>
                          <a:latin typeface="Calibri" pitchFamily="34" charset="0"/>
                          <a:ea typeface="Calibri" pitchFamily="34" charset="-122"/>
                          <a:cs typeface="Calibri" pitchFamily="34" charset="-120"/>
                        </a:rPr>
                        <a:t>, faz geri tepmesi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Bell/GHZ üreteci, ZZ/XX eşleşme tablosu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Yarım ve tam toplayıcı testleri, uncompute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Işınlanma: adım adım, </a:t>
                      </a:r>
                      <a:r>
                        <a:rPr lang="en-US" sz="1500" dirty="0">
                          <a:solidFill>
                            <a:srgbClr val="1F3A5F"/>
                          </a:solidFill>
                          <a:latin typeface="Courier New" pitchFamily="34" charset="0"/>
                          <a:ea typeface="Courier New" pitchFamily="34" charset="-122"/>
                          <a:cs typeface="Courier New" pitchFamily="34" charset="-120"/>
                        </a:rPr>
                        <a:t>if_test</a:t>
                      </a:r>
                      <a:r>
                        <a:rPr lang="en-US" sz="1500" dirty="0">
                          <a:solidFill>
                            <a:srgbClr val="1F2937"/>
                          </a:solidFill>
                          <a:latin typeface="Calibri" pitchFamily="34" charset="0"/>
                          <a:ea typeface="Calibri" pitchFamily="34" charset="-122"/>
                          <a:cs typeface="Calibri" pitchFamily="34" charset="-120"/>
                        </a:rPr>
                        <a:t>, ertelenmiş, fidelity, tomografi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Süper yoğun kodlama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alıştırma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Ödev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Alıştırmalar (Bölüm G)</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50</a:t>
            </a:r>
            <a:endParaRPr lang="en-US" sz="1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887553"/>
                <a:gridCol w="6323817"/>
                <a:gridCol w="3883045"/>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Görev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Kazanım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cnot_matrix(c, t, 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Bit sırası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cz_from_cx()</a:t>
                      </a:r>
                      <a:r>
                        <a:rPr lang="en-US" sz="1500" dirty="0">
                          <a:solidFill>
                            <a:srgbClr val="1F2937"/>
                          </a:solidFill>
                          <a:latin typeface="Calibri" pitchFamily="34" charset="0"/>
                          <a:ea typeface="Calibri" pitchFamily="34" charset="-122"/>
                          <a:cs typeface="Calibri" pitchFamily="34" charset="-120"/>
                        </a:rPr>
                        <a:t>, </a:t>
                      </a:r>
                      <a:r>
                        <a:rPr lang="en-US" sz="1500" dirty="0">
                          <a:solidFill>
                            <a:srgbClr val="1F3A5F"/>
                          </a:solidFill>
                          <a:latin typeface="Courier New" pitchFamily="34" charset="0"/>
                          <a:ea typeface="Courier New" pitchFamily="34" charset="-122"/>
                          <a:cs typeface="Courier New" pitchFamily="34" charset="-120"/>
                        </a:rPr>
                        <a:t>cx_from_cz()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Eşdeğerlik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identify_bell(qc)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Bell bazı, global faz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ghz_log(n)</a:t>
                      </a:r>
                      <a:r>
                        <a:rPr lang="en-US" sz="1500" dirty="0">
                          <a:solidFill>
                            <a:srgbClr val="1F2937"/>
                          </a:solidFill>
                          <a:latin typeface="Calibri" pitchFamily="34" charset="0"/>
                          <a:ea typeface="Calibri" pitchFamily="34" charset="-122"/>
                          <a:cs typeface="Calibri" pitchFamily="34" charset="-120"/>
                        </a:rPr>
                        <a:t>: log derinlik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Derinlik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correlations(prep)</a:t>
                      </a:r>
                      <a:r>
                        <a:rPr lang="en-US" sz="1500" dirty="0">
                          <a:solidFill>
                            <a:srgbClr val="1F2937"/>
                          </a:solidFill>
                          <a:latin typeface="Calibri" pitchFamily="34" charset="0"/>
                          <a:ea typeface="Calibri" pitchFamily="34" charset="-122"/>
                          <a:cs typeface="Calibri" pitchFamily="34" charset="-120"/>
                        </a:rPr>
                        <a:t>: ZZ, XX</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Dolanıklık imzası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adder2()</a:t>
                      </a:r>
                      <a:r>
                        <a:rPr lang="en-US" sz="1500" dirty="0">
                          <a:solidFill>
                            <a:srgbClr val="1F2937"/>
                          </a:solidFill>
                          <a:latin typeface="Calibri" pitchFamily="34" charset="0"/>
                          <a:ea typeface="Calibri" pitchFamily="34" charset="-122"/>
                          <a:cs typeface="Calibri" pitchFamily="34" charset="-120"/>
                        </a:rPr>
                        <a:t>: 2 bitlik toplayıcı, 16 girdi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Tersinir mantık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teleport_fidelities</a:t>
                      </a:r>
                      <a:r>
                        <a:rPr lang="en-US" sz="1500" dirty="0">
                          <a:solidFill>
                            <a:srgbClr val="1F2937"/>
                          </a:solidFill>
                          <a:latin typeface="Calibri" pitchFamily="34" charset="0"/>
                          <a:ea typeface="Calibri" pitchFamily="34" charset="-122"/>
                          <a:cs typeface="Calibri" pitchFamily="34" charset="-120"/>
                        </a:rPr>
                        <a:t>, </a:t>
                      </a:r>
                      <a:r>
                        <a:rPr lang="en-US" sz="1500" dirty="0">
                          <a:solidFill>
                            <a:srgbClr val="1F3A5F"/>
                          </a:solidFill>
                          <a:latin typeface="Courier New" pitchFamily="34" charset="0"/>
                          <a:ea typeface="Courier New" pitchFamily="34" charset="-122"/>
                          <a:cs typeface="Courier New" pitchFamily="34" charset="-120"/>
                        </a:rPr>
                        <a:t>broken_teleport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Işınlanma testi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send_text("Qiskit")</a:t>
                      </a:r>
                      <a:r>
                        <a:rPr lang="en-US" sz="1500" dirty="0">
                          <a:solidFill>
                            <a:srgbClr val="1F2937"/>
                          </a:solidFill>
                          <a:latin typeface="Calibri" pitchFamily="34" charset="0"/>
                          <a:ea typeface="Calibri" pitchFamily="34" charset="-122"/>
                          <a:cs typeface="Calibri" pitchFamily="34" charset="-120"/>
                        </a:rPr>
                        <a:t>: 48 bit / 24 kübit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Süper yoğun kodlama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Haftanın özeti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51</a:t>
            </a:r>
            <a:endParaRPr lang="en-US" sz="1000" dirty="0"/>
          </a:p>
        </p:txBody>
      </p:sp>
      <p:sp>
        <p:nvSpPr>
          <p:cNvPr id="6" name="Text 3"/>
          <p:cNvSpPr txBox="1"/>
          <p:nvPr/>
        </p:nvSpPr>
        <p:spPr>
          <a:xfrm>
            <a:off x="548640" y="1280160"/>
            <a:ext cx="11094415" cy="4754880"/>
          </a:xfrm>
          <a:prstGeom prst="rect">
            <a:avLst/>
          </a:prstGeom>
          <a:noFill/>
          <a:ln/>
        </p:spPr>
        <p:txBody>
          <a:bodyPr wrap="square" lIns="0" tIns="0" rIns="0" bIns="0" rtlCol="0" anchor="t"/>
          <a:lstStyle/>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CNOT</a:t>
            </a:r>
            <a:r>
              <a:rPr lang="en-US" sz="1900" dirty="0">
                <a:solidFill>
                  <a:srgbClr val="1F2937"/>
                </a:solidFill>
                <a:latin typeface="Calibri" pitchFamily="34" charset="0"/>
                <a:ea typeface="Calibri" pitchFamily="34" charset="-122"/>
                <a:cs typeface="Calibri" pitchFamily="34" charset="-120"/>
              </a:rPr>
              <a:t> = XOR: (c, t) → (c, t ⊕ c); matris </a:t>
            </a:r>
            <a:r>
              <a:rPr lang="en-US" sz="1900" b="1" dirty="0">
                <a:solidFill>
                  <a:srgbClr val="1F2937"/>
                </a:solidFill>
                <a:latin typeface="Calibri" pitchFamily="34" charset="0"/>
                <a:ea typeface="Calibri" pitchFamily="34" charset="-122"/>
                <a:cs typeface="Calibri" pitchFamily="34" charset="-120"/>
              </a:rPr>
              <a:t>kontrol kübitine</a:t>
            </a:r>
            <a:r>
              <a:rPr lang="en-US" sz="1900" dirty="0">
                <a:solidFill>
                  <a:srgbClr val="1F2937"/>
                </a:solidFill>
                <a:latin typeface="Calibri" pitchFamily="34" charset="0"/>
                <a:ea typeface="Calibri" pitchFamily="34" charset="-122"/>
                <a:cs typeface="Calibri" pitchFamily="34" charset="-120"/>
              </a:rPr>
              <a:t> bağlı (kitaptaki = </a:t>
            </a:r>
            <a:r>
              <a:rPr lang="en-US" sz="1900" dirty="0">
                <a:solidFill>
                  <a:srgbClr val="1F3A5F"/>
                </a:solidFill>
                <a:latin typeface="Courier New" pitchFamily="34" charset="0"/>
                <a:ea typeface="Courier New" pitchFamily="34" charset="-122"/>
                <a:cs typeface="Courier New" pitchFamily="34" charset="-120"/>
              </a:rPr>
              <a:t>cx(1,0)</a:t>
            </a:r>
            <a:r>
              <a:rPr lang="en-US" sz="1900" dirty="0">
                <a:solidFill>
                  <a:srgbClr val="1F2937"/>
                </a:solidFill>
                <a:latin typeface="Calibri" pitchFamily="34" charset="0"/>
                <a:ea typeface="Calibri" pitchFamily="34" charset="-122"/>
                <a:cs typeface="Calibri" pitchFamily="34" charset="-120"/>
              </a:rPr>
              <a:t>)</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Süperpozisyonda CNOT → </a:t>
            </a:r>
            <a:r>
              <a:rPr lang="en-US" sz="1900" b="1" dirty="0">
                <a:solidFill>
                  <a:srgbClr val="1F2937"/>
                </a:solidFill>
                <a:latin typeface="Calibri" pitchFamily="34" charset="0"/>
                <a:ea typeface="Calibri" pitchFamily="34" charset="-122"/>
                <a:cs typeface="Calibri" pitchFamily="34" charset="-120"/>
              </a:rPr>
              <a:t>dolanıklık</a:t>
            </a:r>
            <a:r>
              <a:rPr lang="en-US" sz="1900" dirty="0">
                <a:solidFill>
                  <a:srgbClr val="1F2937"/>
                </a:solidFill>
                <a:latin typeface="Calibri" pitchFamily="34" charset="0"/>
                <a:ea typeface="Calibri" pitchFamily="34" charset="-122"/>
                <a:cs typeface="Calibri" pitchFamily="34" charset="-120"/>
              </a:rPr>
              <a:t>; tek kübit Bloch vektörü kısalır</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CZ</a:t>
            </a:r>
            <a:r>
              <a:rPr lang="en-US" sz="1900" dirty="0">
                <a:solidFill>
                  <a:srgbClr val="1F2937"/>
                </a:solidFill>
                <a:latin typeface="Calibri" pitchFamily="34" charset="0"/>
                <a:ea typeface="Calibri" pitchFamily="34" charset="-122"/>
                <a:cs typeface="Calibri" pitchFamily="34" charset="-120"/>
              </a:rPr>
              <a:t> simetrik (= H·CX·H), </a:t>
            </a:r>
            <a:r>
              <a:rPr lang="en-US" sz="1900" b="1" dirty="0">
                <a:solidFill>
                  <a:srgbClr val="1F2937"/>
                </a:solidFill>
                <a:latin typeface="Calibri" pitchFamily="34" charset="0"/>
                <a:ea typeface="Calibri" pitchFamily="34" charset="-122"/>
                <a:cs typeface="Calibri" pitchFamily="34" charset="-120"/>
              </a:rPr>
              <a:t>SWAP</a:t>
            </a:r>
            <a:r>
              <a:rPr lang="en-US" sz="1900" dirty="0">
                <a:solidFill>
                  <a:srgbClr val="1F2937"/>
                </a:solidFill>
                <a:latin typeface="Calibri" pitchFamily="34" charset="0"/>
                <a:ea typeface="Calibri" pitchFamily="34" charset="-122"/>
                <a:cs typeface="Calibri" pitchFamily="34" charset="-120"/>
              </a:rPr>
              <a:t> = 3 CNOT, </a:t>
            </a:r>
            <a:r>
              <a:rPr lang="en-US" sz="1900" b="1" dirty="0">
                <a:solidFill>
                  <a:srgbClr val="1F2937"/>
                </a:solidFill>
                <a:latin typeface="Calibri" pitchFamily="34" charset="0"/>
                <a:ea typeface="Calibri" pitchFamily="34" charset="-122"/>
                <a:cs typeface="Calibri" pitchFamily="34" charset="-120"/>
              </a:rPr>
              <a:t>Toffoli</a:t>
            </a:r>
            <a:r>
              <a:rPr lang="en-US" sz="1900" dirty="0">
                <a:solidFill>
                  <a:srgbClr val="1F2937"/>
                </a:solidFill>
                <a:latin typeface="Calibri" pitchFamily="34" charset="0"/>
                <a:ea typeface="Calibri" pitchFamily="34" charset="-122"/>
                <a:cs typeface="Calibri" pitchFamily="34" charset="-120"/>
              </a:rPr>
              <a:t> = tersinir AND, </a:t>
            </a:r>
            <a:r>
              <a:rPr lang="en-US" sz="1900" dirty="0">
                <a:solidFill>
                  <a:srgbClr val="1F3A5F"/>
                </a:solidFill>
                <a:latin typeface="Courier New" pitchFamily="34" charset="0"/>
                <a:ea typeface="Courier New" pitchFamily="34" charset="-122"/>
                <a:cs typeface="Courier New" pitchFamily="34" charset="-120"/>
              </a:rPr>
              <a:t>.control()</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Faz geri tepmesi</a:t>
            </a:r>
            <a:r>
              <a:rPr lang="en-US" sz="1900" dirty="0">
                <a:solidFill>
                  <a:srgbClr val="1F2937"/>
                </a:solidFill>
                <a:latin typeface="Calibri" pitchFamily="34" charset="0"/>
                <a:ea typeface="Calibri" pitchFamily="34" charset="-122"/>
                <a:cs typeface="Calibri" pitchFamily="34" charset="-120"/>
              </a:rPr>
              <a:t>: hedef |−⟩ → faz kontrole (8. hafta)</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Bell/GHZ: </a:t>
            </a:r>
            <a:r>
              <a:rPr lang="en-US" sz="1900" b="1" dirty="0">
                <a:solidFill>
                  <a:srgbClr val="1F2937"/>
                </a:solidFill>
                <a:latin typeface="Calibri" pitchFamily="34" charset="0"/>
                <a:ea typeface="Calibri" pitchFamily="34" charset="-122"/>
                <a:cs typeface="Calibri" pitchFamily="34" charset="-120"/>
              </a:rPr>
              <a:t>ZZ ve XX</a:t>
            </a:r>
            <a:r>
              <a:rPr lang="en-US" sz="1900" dirty="0">
                <a:solidFill>
                  <a:srgbClr val="1F2937"/>
                </a:solidFill>
                <a:latin typeface="Calibri" pitchFamily="34" charset="0"/>
                <a:ea typeface="Calibri" pitchFamily="34" charset="-122"/>
                <a:cs typeface="Calibri" pitchFamily="34" charset="-120"/>
              </a:rPr>
              <a:t> bazında tam korelasyon = dolanıklığın istatistik imzası</a:t>
            </a:r>
            <a:endParaRPr lang="en-US" sz="1900" dirty="0"/>
          </a:p>
          <a:p>
            <a:pPr marL="254000" indent="-254000">
              <a:spcAft>
                <a:spcPts val="1000"/>
              </a:spcAft>
              <a:buSzPct val="100000"/>
              <a:buChar char="•"/>
            </a:pPr>
            <a:r>
              <a:rPr lang="en-US" sz="1900" dirty="0">
                <a:solidFill>
                  <a:srgbClr val="1F2937"/>
                </a:solidFill>
                <a:latin typeface="Calibri" pitchFamily="34" charset="0"/>
                <a:ea typeface="Calibri" pitchFamily="34" charset="-122"/>
                <a:cs typeface="Calibri" pitchFamily="34" charset="-120"/>
              </a:rPr>
              <a:t>Tersinir toplayıcılar; yardımcı kübitleri </a:t>
            </a:r>
            <a:r>
              <a:rPr lang="en-US" sz="1900" b="1" dirty="0">
                <a:solidFill>
                  <a:srgbClr val="1F2937"/>
                </a:solidFill>
                <a:latin typeface="Calibri" pitchFamily="34" charset="0"/>
                <a:ea typeface="Calibri" pitchFamily="34" charset="-122"/>
                <a:cs typeface="Calibri" pitchFamily="34" charset="-120"/>
              </a:rPr>
              <a:t>uncompute</a:t>
            </a:r>
            <a:r>
              <a:rPr lang="en-US" sz="1900" dirty="0">
                <a:solidFill>
                  <a:srgbClr val="1F2937"/>
                </a:solidFill>
                <a:latin typeface="Calibri" pitchFamily="34" charset="0"/>
                <a:ea typeface="Calibri" pitchFamily="34" charset="-122"/>
                <a:cs typeface="Calibri" pitchFamily="34" charset="-120"/>
              </a:rPr>
              <a:t> et</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Işınlanma</a:t>
            </a:r>
            <a:r>
              <a:rPr lang="en-US" sz="1900" dirty="0">
                <a:solidFill>
                  <a:srgbClr val="1F2937"/>
                </a:solidFill>
                <a:latin typeface="Calibri" pitchFamily="34" charset="0"/>
                <a:ea typeface="Calibri" pitchFamily="34" charset="-122"/>
                <a:cs typeface="Calibri" pitchFamily="34" charset="-120"/>
              </a:rPr>
              <a:t>: Bell + 2 bit; m₁ → X, m₀ → Z; Qiskit stringi </a:t>
            </a:r>
            <a:r>
              <a:rPr lang="en-US" sz="1900" dirty="0">
                <a:solidFill>
                  <a:srgbClr val="1F3A5F"/>
                </a:solidFill>
                <a:latin typeface="Courier New" pitchFamily="34" charset="0"/>
                <a:ea typeface="Courier New" pitchFamily="34" charset="-122"/>
                <a:cs typeface="Courier New" pitchFamily="34" charset="-120"/>
              </a:rPr>
              <a:t>m1 m0</a:t>
            </a:r>
            <a:r>
              <a:rPr lang="en-US" sz="1900" dirty="0">
                <a:solidFill>
                  <a:srgbClr val="1F2937"/>
                </a:solidFill>
                <a:latin typeface="Calibri" pitchFamily="34" charset="0"/>
                <a:ea typeface="Calibri" pitchFamily="34" charset="-122"/>
                <a:cs typeface="Calibri" pitchFamily="34" charset="-120"/>
              </a:rPr>
              <a:t>; </a:t>
            </a:r>
            <a:r>
              <a:rPr lang="en-US" sz="1900" dirty="0">
                <a:solidFill>
                  <a:srgbClr val="1F3A5F"/>
                </a:solidFill>
                <a:latin typeface="Courier New" pitchFamily="34" charset="0"/>
                <a:ea typeface="Courier New" pitchFamily="34" charset="-122"/>
                <a:cs typeface="Courier New" pitchFamily="34" charset="-120"/>
              </a:rPr>
              <a:t>if_test</a:t>
            </a:r>
            <a:r>
              <a:rPr lang="en-US" sz="1900" dirty="0">
                <a:solidFill>
                  <a:srgbClr val="1F2937"/>
                </a:solidFill>
                <a:latin typeface="Calibri" pitchFamily="34" charset="0"/>
                <a:ea typeface="Calibri" pitchFamily="34" charset="-122"/>
                <a:cs typeface="Calibri" pitchFamily="34" charset="-120"/>
              </a:rPr>
              <a:t> / ertelenmiş; fidelity = 1</a:t>
            </a:r>
            <a:endParaRPr lang="en-US" sz="1900" dirty="0"/>
          </a:p>
          <a:p>
            <a:pPr marL="254000" indent="-254000">
              <a:spcAft>
                <a:spcPts val="1000"/>
              </a:spcAft>
              <a:buSzPct val="100000"/>
              <a:buChar char="•"/>
            </a:pPr>
            <a:r>
              <a:rPr lang="en-US" sz="1900" b="1" dirty="0">
                <a:solidFill>
                  <a:srgbClr val="1F2937"/>
                </a:solidFill>
                <a:latin typeface="Calibri" pitchFamily="34" charset="0"/>
                <a:ea typeface="Calibri" pitchFamily="34" charset="-122"/>
                <a:cs typeface="Calibri" pitchFamily="34" charset="-120"/>
              </a:rPr>
              <a:t>Süper yoğun kodlama</a:t>
            </a:r>
            <a:r>
              <a:rPr lang="en-US" sz="1900" dirty="0">
                <a:solidFill>
                  <a:srgbClr val="1F2937"/>
                </a:solidFill>
                <a:latin typeface="Calibri" pitchFamily="34" charset="0"/>
                <a:ea typeface="Calibri" pitchFamily="34" charset="-122"/>
                <a:cs typeface="Calibri" pitchFamily="34" charset="-120"/>
              </a:rPr>
              <a:t>: Bell + 1 kübit → 2 bit</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Ödev ve gelecek hafta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6</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52</a:t>
            </a:r>
            <a:endParaRPr lang="en-US" sz="1000" dirty="0"/>
          </a:p>
        </p:txBody>
      </p:sp>
      <p:sp>
        <p:nvSpPr>
          <p:cNvPr id="6" name="Shape 3"/>
          <p:cNvSpPr/>
          <p:nvPr/>
        </p:nvSpPr>
        <p:spPr>
          <a:xfrm>
            <a:off x="548640" y="1280160"/>
            <a:ext cx="5410048" cy="3840480"/>
          </a:xfrm>
          <a:prstGeom prst="roundRect">
            <a:avLst>
              <a:gd name="adj" fmla="val 1905"/>
            </a:avLst>
          </a:prstGeom>
          <a:solidFill>
            <a:srgbClr val="F3F4F6"/>
          </a:solidFill>
          <a:ln w="12700">
            <a:solidFill>
              <a:srgbClr val="F3F4F6"/>
            </a:solidFill>
            <a:prstDash val="solid"/>
          </a:ln>
        </p:spPr>
      </p:sp>
      <p:sp>
        <p:nvSpPr>
          <p:cNvPr id="7" name="Text 4"/>
          <p:cNvSpPr txBox="1"/>
          <p:nvPr/>
        </p:nvSpPr>
        <p:spPr>
          <a:xfrm>
            <a:off x="731520" y="1389888"/>
            <a:ext cx="5044288" cy="3621024"/>
          </a:xfrm>
          <a:prstGeom prst="rect">
            <a:avLst/>
          </a:prstGeom>
          <a:noFill/>
          <a:ln/>
        </p:spPr>
        <p:txBody>
          <a:bodyPr wrap="square" lIns="0" tIns="0" rIns="0" bIns="0" rtlCol="0" anchor="t"/>
          <a:lstStyle/>
          <a:p>
            <a:pPr algn="l" indent="0" marL="0">
              <a:spcAft>
                <a:spcPts val="600"/>
              </a:spcAft>
              <a:buNone/>
            </a:pPr>
            <a:r>
              <a:rPr lang="en-US" sz="2000" b="1" dirty="0">
                <a:solidFill>
                  <a:srgbClr val="2E6DB4"/>
                </a:solidFill>
                <a:latin typeface="Calibri" pitchFamily="34" charset="0"/>
                <a:ea typeface="Calibri" pitchFamily="34" charset="-122"/>
                <a:cs typeface="Calibri" pitchFamily="34" charset="-120"/>
              </a:rPr>
              <a:t>Ödev</a:t>
            </a:r>
            <a:endParaRPr lang="en-US" sz="2000" dirty="0"/>
          </a:p>
          <a:p>
            <a:pPr algn="l" indent="0" marL="0">
              <a:spcAft>
                <a:spcPts val="500"/>
              </a:spcAft>
              <a:buNone/>
            </a:pPr>
            <a:r>
              <a:rPr lang="en-US" sz="1900" dirty="0">
                <a:solidFill>
                  <a:srgbClr val="1F2937"/>
                </a:solidFill>
                <a:latin typeface="Calibri" pitchFamily="34" charset="0"/>
                <a:ea typeface="Calibri" pitchFamily="34" charset="-122"/>
                <a:cs typeface="Calibri" pitchFamily="34" charset="-120"/>
              </a:rPr>
              <a:t>Ders notu </a:t>
            </a:r>
            <a:r>
              <a:rPr lang="en-US" sz="1900" b="1" dirty="0">
                <a:solidFill>
                  <a:srgbClr val="1F2937"/>
                </a:solidFill>
                <a:latin typeface="Calibri" pitchFamily="34" charset="0"/>
                <a:ea typeface="Calibri" pitchFamily="34" charset="-122"/>
                <a:cs typeface="Calibri" pitchFamily="34" charset="-120"/>
              </a:rPr>
              <a:t>Bölüm 10</a:t>
            </a:r>
            <a:r>
              <a:rPr lang="en-US" sz="1900" dirty="0">
                <a:solidFill>
                  <a:srgbClr val="1F2937"/>
                </a:solidFill>
                <a:latin typeface="Calibri" pitchFamily="34" charset="0"/>
                <a:ea typeface="Calibri" pitchFamily="34" charset="-122"/>
                <a:cs typeface="Calibri" pitchFamily="34" charset="-120"/>
              </a:rPr>
              <a:t>: 10 yazılı soru</a:t>
            </a:r>
            <a:endParaRPr lang="en-US" sz="2000" dirty="0"/>
          </a:p>
          <a:p>
            <a:pPr algn="l" indent="0" marL="0">
              <a:spcAft>
                <a:spcPts val="500"/>
              </a:spcAft>
              <a:buNone/>
            </a:pPr>
            <a:r>
              <a:rPr lang="en-US" sz="1900" dirty="0">
                <a:solidFill>
                  <a:srgbClr val="1F2937"/>
                </a:solidFill>
                <a:latin typeface="Calibri" pitchFamily="34" charset="0"/>
                <a:ea typeface="Calibri" pitchFamily="34" charset="-122"/>
                <a:cs typeface="Calibri" pitchFamily="34" charset="-120"/>
              </a:rPr>
              <a:t>Lab </a:t>
            </a:r>
            <a:r>
              <a:rPr lang="en-US" sz="1900" b="1" dirty="0">
                <a:solidFill>
                  <a:srgbClr val="1F2937"/>
                </a:solidFill>
                <a:latin typeface="Calibri" pitchFamily="34" charset="0"/>
                <a:ea typeface="Calibri" pitchFamily="34" charset="-122"/>
                <a:cs typeface="Calibri" pitchFamily="34" charset="-120"/>
              </a:rPr>
              <a:t>Bölüm G</a:t>
            </a:r>
            <a:r>
              <a:rPr lang="en-US" sz="1900" dirty="0">
                <a:solidFill>
                  <a:srgbClr val="1F2937"/>
                </a:solidFill>
                <a:latin typeface="Calibri" pitchFamily="34" charset="0"/>
                <a:ea typeface="Calibri" pitchFamily="34" charset="-122"/>
                <a:cs typeface="Calibri" pitchFamily="34" charset="-120"/>
              </a:rPr>
              <a:t>: 8 kodlama alıştırması</a:t>
            </a:r>
            <a:endParaRPr lang="en-US" sz="2000" dirty="0"/>
          </a:p>
          <a:p>
            <a:pPr algn="l" indent="0" marL="0">
              <a:spcAft>
                <a:spcPts val="500"/>
              </a:spcAft>
              <a:buNone/>
            </a:pPr>
            <a:r>
              <a:rPr lang="en-US" sz="1900" dirty="0">
                <a:solidFill>
                  <a:srgbClr val="1F2937"/>
                </a:solidFill>
                <a:latin typeface="Calibri" pitchFamily="34" charset="0"/>
                <a:ea typeface="Calibri" pitchFamily="34" charset="-122"/>
                <a:cs typeface="Calibri" pitchFamily="34" charset="-120"/>
              </a:rPr>
              <a:t>Teslim: notebook + yazılı cevaplar</a:t>
            </a:r>
            <a:endParaRPr lang="en-US" sz="2000" dirty="0"/>
          </a:p>
        </p:txBody>
      </p:sp>
      <p:sp>
        <p:nvSpPr>
          <p:cNvPr id="8" name="Shape 5"/>
          <p:cNvSpPr/>
          <p:nvPr/>
        </p:nvSpPr>
        <p:spPr>
          <a:xfrm>
            <a:off x="6233008" y="1280160"/>
            <a:ext cx="5410048" cy="3840480"/>
          </a:xfrm>
          <a:prstGeom prst="roundRect">
            <a:avLst>
              <a:gd name="adj" fmla="val 1905"/>
            </a:avLst>
          </a:prstGeom>
          <a:solidFill>
            <a:srgbClr val="E8EEF6"/>
          </a:solidFill>
          <a:ln w="12700">
            <a:solidFill>
              <a:srgbClr val="E8EEF6"/>
            </a:solidFill>
            <a:prstDash val="solid"/>
          </a:ln>
        </p:spPr>
      </p:sp>
      <p:sp>
        <p:nvSpPr>
          <p:cNvPr id="9" name="Text 6"/>
          <p:cNvSpPr txBox="1"/>
          <p:nvPr/>
        </p:nvSpPr>
        <p:spPr>
          <a:xfrm>
            <a:off x="6415888" y="1389888"/>
            <a:ext cx="5044288" cy="3621024"/>
          </a:xfrm>
          <a:prstGeom prst="rect">
            <a:avLst/>
          </a:prstGeom>
          <a:noFill/>
          <a:ln/>
        </p:spPr>
        <p:txBody>
          <a:bodyPr wrap="square" lIns="0" tIns="0" rIns="0" bIns="0" rtlCol="0" anchor="t"/>
          <a:lstStyle/>
          <a:p>
            <a:pPr algn="l" indent="0" marL="0">
              <a:spcAft>
                <a:spcPts val="600"/>
              </a:spcAft>
              <a:buNone/>
            </a:pPr>
            <a:r>
              <a:rPr lang="en-US" sz="2000" b="1" dirty="0">
                <a:solidFill>
                  <a:srgbClr val="2E6DB4"/>
                </a:solidFill>
                <a:latin typeface="Calibri" pitchFamily="34" charset="0"/>
                <a:ea typeface="Calibri" pitchFamily="34" charset="-122"/>
                <a:cs typeface="Calibri" pitchFamily="34" charset="-120"/>
              </a:rPr>
              <a:t>Hafta 7: Framework'ler ve donanıma erişim</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Aynı Bell/ışınlanma devresi: Qiskit, Cirq, PennyLane, Braket</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Q# ve CUDA-Q'ya kısa bakış</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Simülatör vs gerçek donanım</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Transpile: CNOT → donanım kapıları</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Gürültü altında fidelity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2026-09-23T15:33:07Z</dcterms:created>
  <dcterms:modified xsi:type="dcterms:W3CDTF">2026-09-23T15:33:07Z</dcterms:modified>
</cp:coreProperties>
</file>