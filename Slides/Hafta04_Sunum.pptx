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charts/chart1.xml" ContentType="application/vnd.openxmlformats-officedocument.drawingml.chart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charts/chart2.xml" ContentType="application/vnd.openxmlformats-officedocument.drawingml.chart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charts/chart3.xml" ContentType="application/vnd.openxmlformats-officedocument.drawingml.chart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charts/chart4.xml" ContentType="application/vnd.openxmlformats-officedocument.drawingml.chart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</p:sldIdLst>
  <p:notesMasterIdLst>
    <p:notesMasterId r:id="rId5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notesMaster" Target="notesMasters/notesMaster1.xml"/><Relationship Id="rId56" Type="http://schemas.openxmlformats.org/officeDocument/2006/relationships/presProps" Target="presProps.xml"/><Relationship Id="rId57" Type="http://schemas.openxmlformats.org/officeDocument/2006/relationships/viewProps" Target="viewProps.xml"/><Relationship Id="rId58" Type="http://schemas.openxmlformats.org/officeDocument/2006/relationships/theme" Target="theme/theme1.xml"/><Relationship Id="rId5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F3A5F"/>
                </a:solidFill>
                <a:latin typeface="Arial"/>
              </a:defRPr>
            </a:pPr>
            <a:r>
              <a:rPr sz="1400" b="0" i="0" u="none" strike="noStrike">
                <a:solidFill>
                  <a:srgbClr val="1F3A5F"/>
                </a:solidFill>
                <a:latin typeface="Arial"/>
              </a:rPr>
              <a:t>X|0⟩, 1000 shot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Sayım</c:v>
                </c:pt>
              </c:strCache>
            </c:strRef>
          </c:tx>
          <c:spPr>
            <a:solidFill>
              <a:srgbClr val="1F3A5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0</c:v>
                  </c:pt>
                  <c:pt idx="1">
                    <c:v>1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</c:v>
                </c:pt>
                <c:pt idx="1">
                  <c:v>1000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374151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200"/>
          <c:min val="0"/>
        </c:scaling>
        <c:delete val="0"/>
        <c:axPos val="l"/>
        <c:majorGridlines>
          <c:spPr>
            <a:ln w="6350" cap="flat">
              <a:solidFill>
                <a:srgbClr val="E5E7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374151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200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F3A5F"/>
                </a:solidFill>
                <a:latin typeface="Arial"/>
              </a:defRPr>
            </a:pPr>
            <a:r>
              <a:rPr sz="1400" b="0" i="0" u="none" strike="noStrike">
                <a:solidFill>
                  <a:srgbClr val="1F3A5F"/>
                </a:solidFill>
                <a:latin typeface="Arial"/>
              </a:rPr>
              <a:t>Y|0⟩, 1000 shot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Sayım</c:v>
                </c:pt>
              </c:strCache>
            </c:strRef>
          </c:tx>
          <c:spPr>
            <a:solidFill>
              <a:srgbClr val="1F3A5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0</c:v>
                  </c:pt>
                  <c:pt idx="1">
                    <c:v>1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</c:v>
                </c:pt>
                <c:pt idx="1">
                  <c:v>1000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374151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200"/>
          <c:min val="0"/>
        </c:scaling>
        <c:delete val="0"/>
        <c:axPos val="l"/>
        <c:majorGridlines>
          <c:spPr>
            <a:ln w="6350" cap="flat">
              <a:solidFill>
                <a:srgbClr val="E5E7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374151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200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F3A5F"/>
                </a:solidFill>
                <a:latin typeface="Arial"/>
              </a:defRPr>
            </a:pPr>
            <a:r>
              <a:rPr sz="1400" b="0" i="0" u="none" strike="noStrike">
                <a:solidFill>
                  <a:srgbClr val="1F3A5F"/>
                </a:solidFill>
                <a:latin typeface="Arial"/>
              </a:rPr>
              <a:t>Z|+⟩, 1000 shot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doğrudan ölçüm</c:v>
                </c:pt>
              </c:strCache>
            </c:strRef>
          </c:tx>
          <c:spPr>
            <a:solidFill>
              <a:srgbClr val="1F3A5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0</c:v>
                  </c:pt>
                  <c:pt idx="1">
                    <c:v>1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510</c:v>
                </c:pt>
                <c:pt idx="1">
                  <c:v>490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ölçümden önce H</c:v>
                </c:pt>
              </c:strCache>
            </c:strRef>
          </c:tx>
          <c:spPr>
            <a:solidFill>
              <a:srgbClr val="D9822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0</c:v>
                  </c:pt>
                  <c:pt idx="1">
                    <c:v>1</c:v>
                  </c:pt>
                </c:lvl>
              </c:multiLvlStrCache>
            </c:multiLvl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0</c:v>
                </c:pt>
                <c:pt idx="1">
                  <c:v>1000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374151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200"/>
          <c:min val="0"/>
        </c:scaling>
        <c:delete val="0"/>
        <c:axPos val="l"/>
        <c:majorGridlines>
          <c:spPr>
            <a:ln w="6350" cap="flat">
              <a:solidFill>
                <a:srgbClr val="E5E7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374151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200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2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F3A5F"/>
                </a:solidFill>
                <a:latin typeface="Arial"/>
              </a:defRPr>
            </a:pPr>
            <a:r>
              <a:rPr sz="1400" b="0" i="0" u="none" strike="noStrike">
                <a:solidFill>
                  <a:srgbClr val="1F3A5F"/>
                </a:solidFill>
                <a:latin typeface="Arial"/>
              </a:rPr>
              <a:t>H|0⟩, 1000 shot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Sayım</c:v>
                </c:pt>
              </c:strCache>
            </c:strRef>
          </c:tx>
          <c:spPr>
            <a:solidFill>
              <a:srgbClr val="1F3A5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0</c:v>
                  </c:pt>
                  <c:pt idx="1">
                    <c:v>1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510</c:v>
                </c:pt>
                <c:pt idx="1">
                  <c:v>490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374151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200"/>
          <c:min val="0"/>
        </c:scaling>
        <c:delete val="0"/>
        <c:axPos val="l"/>
        <c:majorGridlines>
          <c:spPr>
            <a:ln w="6350" cap="flat">
              <a:solidFill>
                <a:srgbClr val="E5E7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374151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200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 hafta öğretim üyesinin özel isteği doğrultusunda her kapıyı Bloch küresi üzerinde tek tek ve koduyla birlikte gösteriyoruz. Açılışta tek cümlelik ana mesajı verin: her tek kübit kapısı küre üzerinde bir eksen etrafında bir dönüştür. Bu hafta dört kapının dördü de 180 derecelik dönüş; sadece eksenleri farklı. Derste etkileşimli HTML simülatörünü de açık tutun.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Üç saatin akışı. Birinci saat dört kapının her biri için aynı şablonu uyguluyor; öğrenciler ikinci kapıdan itibaren şablonu tanıyıp tahmin etmeye başlar, bunu teşvik edin. İkinci saat özdeşlikler ve ardışık kapılar, üçüncü saat simülatör ve lab.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Sol taraf hedefler, sağ taraf her kapıda tekrar edeceğimiz yedi adımlık şablon. Şablonu tahtaya da yazabilirsiniz; her kapıda aynı sırayla ilerleyeceğiz. Yazılımcılar için bu bir 'arayüz': her kapı aynı arayüzü uyguluyor.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Birinci bölüm: neden her kapı bir dönüştür? Sonra altı temel durumu ve şekillerin nasıl okunacağını tanıtıyoruz.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Kod, matris ve Bloch dönüşü aynı şeyin üç farklı gösterimi. Üniter matris uzunluğu korur, bu yüzden nokta küre yüzeyinde kalır; açıları da korur. Yüzeyi ve açıları koruyan hareket bir dönüştür. İspata girmeyin; lab'da kodla doğrulayacağız.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Bir fonksiyonu uç değerlerle test eder gibi kapıları bu altı durumla test edeceğiz. Bunlar kürenin üç ekseninin iki ucu. Qiskit ile hazırlama sütununda S kapısı gelecek haftanın konusu; şimdilik sadece hazırlamak için kullanıyoruz.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 haftanın tüm Bloch şekilleri aynı görsel dili kullanıyor. Turuncu yolun bir ara durum olmadığını, sadece daha küçük açılı dönüşlerin nereye götüreceğini gösterdiğini vurgulayın; gelecek haftanın Rx, Ry, Rz kapılarına köprü.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Üst şekil eksenleri, alt şekil matrisleri gösteriyor. Matris okuma kuralı: j'inci sütun U|j⟩'dir. Örneğin H'nin ilk sütunu |+⟩, yani H|0⟩ = |+⟩. Bu kural matris ezberlemeyi gereksiz kılar.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 sezgisel kapıyla başlıyoruz: klasik NOT'un kuantum karşılığı. Ama X'in yaptığı genel iş genlik takası.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Matris çarpımını tahtada satır satır yapın: birinci satır [0, 1] yeni alfa'yı eski beta yapar. Tabloda iki desen: x ekseni üzerindeki |+⟩ ve |−⟩ yerinde kalıyor; diğerleri karşıya geçiyor. −1, i, −i çarpanları global faz, ölçümü etkilemez.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Dört panel: |0⟩ yz düzleminde güney kutbuna iniyor; |+i⟩ kuzey kutbunun üzerinden |−i⟩'ye gidiyor; |+⟩ eksen üzerinde olduğu için kıpırdamıyor; genel ψ x eksenine dik bir çember çiziyor. Öğrencilere her panelde x koordinatının değişmediğini gösterin.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Film şeridi: 90 derecede |0⟩ ekvatordaki |−i⟩'ye ulaşıyor. Bu 'yarım X' gelecek haftanın Rx(π/2) kapısıdır. Tablodaki koordinatları sayıyla okuyun: z = cos(açı), y = −sin(açı).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Kodu canlı çalıştırın. Sonuç deterministik: 1000 shot'ın tamamı 1. Alt kutudaki NumPy satırı aynı sonucu matris çarpımıyla veriyor. Yazılım benzetmesi: NOT, daha genel olarak iki genliğin takası.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Öğrencilere 2 dakika verin. Kuralın (x, −y, −z) olduğunu hatırlatın ve Bloch koordinat formülüyle kontrol ettirin.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Y, X gibi takas yapar ama i ve −i faz çarpanları ekler. Ölçüm istatistiği X ile aynıdır; fark Bloch küresinde görünür.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Y'nin matrisinde karmaşık sayılar var. Tabloda bu kez y ekseni üzerindeki |+i⟩ ve |−i⟩ sabit. Y hem |0⟩ ↔ |1⟩ hem |+⟩ ↔ |−⟩ takası yapıyor; bu Y = iXZ olmasından.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Dönüş ekseni sağa uzanan y ekseni. |0⟩ bu kez xz düzleminde, x tarafından güney kutbuna iniyor; X'te yz düzlemindeydi. Aynı başlangıç ve bitiş, farklı yol. |+⟩ kuzey kutbunun üzerinden |−⟩'ye gidiyor.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Y'nin film şeridinde 90 derecede nokta |+⟩'ya ulaşıyor; X'te |−i⟩'ye ulaşıyordu. Bu fark gelecek hafta Rx ile Ry'yi ayırt etmenin anahtarı: |0⟩'dan |+⟩'ya varmak için Ry(π/2) gerekir.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Statevector'da genlik sanal: i. Histogram X ile aynı; ölçüm X ile Y'yi ayırt edemez. NumPy satırında Y = iXZ özdeşliğini gösterin.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X'in sonucu (0.96, 0, 0.28) idi, Y'ninki (−0.96, 0, 0.28). Olasılıklar aynı olduğu halde durumlar farklı; ölçüm bu farkı göremez.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Z olasılıkları hiç değiştirmez ama durumu değiştirir. 2. haftadaki göreli fazın en basit örneği.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Z köşegen: genlikleri karıştırmaz, sadece |1⟩ genliğinin işaretini çevirir. Tabloda kutuplar sabit, ekvatordaki dört durum karşıya geçiyor. z koordinatı değişmediği için P(0) = (1 + z)/2 de değişmez.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Dikey eksen. Ekvatordaki noktalar ekvator boyunca yarım tur atıyor. Kutup sabit. Genel ψ sabit enlemde dönüyor: dünya küresini çevirmek gibi.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Film şeridi |+⟩'dan başlıyor. 90 derecede |+i⟩: bu gelecek haftanın S kapısı; 45 derece T kapısı. Tüm karelerde olasılıklar %50/%50.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Z'yi |0⟩'a uygulamak bir şey göstermez, bu yüzden devre H, Z, H. İki histogram: doğrudan ölçüm yaklaşık yarı yarıya, ölçümden önce H ile hep 1. Bu, Deutsch-Jozsa'nın temel hilesi; 8. haftada geri döneceğiz.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Göreli fazın gücünü gösteren en basit örnek. Z tek başına ölçümde görünmüyordu ama H ile sarılınca sonucu tamamen değiştirdi.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 çok kullanılan kapı. Ekseni çapraz olduğu için en ilginç dönüş yolu H'de.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 toplam ve farkı alır, 1/√2 ile ölçekler. Tabloda z eksenindekiler x eksenine, x eksenindekiler z eksenine gidiyor: baz değiştirici. Altı temel durumdan hiçbiri H ekseni üzerinde değil; sabit satırı yok. |+i⟩ için global faz e^(iπ/4).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Çapraz eksen, |+⟩ ile |0⟩ arasında. |0⟩ bu eksen etrafında 180 derece dönüp |+⟩'ya varıyor; yol −y tarafına kabarıyor. Üçüncü panelde eksen üzerindeki durum sabit; bu durum altı temel durumdan biri değil.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 film şeridi yaygın bir yanlışı düzeltiyor: H, |0⟩'ı |+⟩'ya 90 derecelik kısa yoldan götürmüyor; 180 derecelik bir dönüşle −y tarafından dolaşarak götürüyor. 90 derecelik bir dönüş kendi tersi olamazdı; H kendi tersi.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H|0⟩ ölçümü rastgele: 1000 shot'ta yaklaşık 500/500, sapma yaklaşık 16. 1. haftadaki kuantum yazı-tura. Benzetme: kodlama değiştirici; tek kübit için kuantum Fourier dönüşümü tam olarak H'dir (10. hafta).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Aynı başlangıç durumu, dört eksen, dört farklı varış. Tabloyu birlikte doldurabilirsiniz: öğrencilere boş tabloyu gösterip tahmin ettirin. Birinci saat burada biter.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İkinci saat. Önce birkaç çözümlü örnek, sonra kapı özdeşlikleri ve Bloch üzerinde yolculuk.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Global faz ile durum değişimini ayırt etmek bu haftanın kilit becerisi. Kural: çarpanı dışarı alabiliyorsan global fazdır.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H'nin x yönündeki bilgiyi ölçülebilir hale getirdiğine dikkat çekin: önceki x = 0.96 şimdi z oldu, yani P(0) = 0.98.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Global fazın bazen 45 derece gibi alışılmadık bir değer olabileceğini gösterin. Geometri: eksene dik her vektör 180 derecede tam tersine döner.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Her kapı altı temel durumu farklı bir desenle eşliyor. Bu desen kapıyı tek başına tanımlar; global faz fark etmez. Lab'daki kapı dedektifi alıştırmasının temeli bu.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Önce öğrencilere tahmin ettirin. Eleme mantığı: hangi durum sabit kalıyorsa eksen odur.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Derleyiciler bu özdeşlikleri kullanarak devreleri sadeleştirir. Global faz sütununa dikkat: −1, i gibi çarpanlar tek kübitte ölçülemez. Hepsini lab'da Operator.equiv ile doğrulayacağız.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HXH = Z yazılımcılar için tanıdık bir kalıp: veriyi başka gösterime çevir, orada işle, geri çevir; FFT ile filtreleme gibi. Sağdaki kodda equiv ile == farkına dikkat: HYH ile Y equiv ama eşit değil.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Önce sağdaki iki matrisi çarpın. Sonra Bloch yorumunu verin: x etrafında dönüş H ile sarılınca z etrafında dönüş olur.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XZ ile ZX matris olarak farklı (işaret), ama Bloch'ta aynı noktaya varıyorlar; fark global faz. Üstelik ikisi de tek başına Y ile aynı dönüş. Şekildeki turuncu ve lacivert yolları takip ettirin.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Sıra kuralını tekrar hatırlatın. equiv True, == False olacak.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Devre = art arda dönüşler. Her adımda eksen değişiyor. Son panelde üç parçalı yol ve aynı işi tek adımda yapan X'in yolu: farklı yollar, aynı varış. Simülatörde de canlı gösterin.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Her kapı üniter, tersi var. Bu dört kapı kendi tersi. Dizi ters sırada geri alınır: git revert ya da undo yığını. Aynı sırayla tekrar etmek genelde işe yaramaz: H, X için HXHX = ZX, I değil. Ölçüm geri alınamaz.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Qiskit'in qc.inverse() fonksiyonunun aynı diziyi ürettiğini gösterin.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Lab'a geçiş. İlk 10 dakika HTML simülatörü ile keşif, sonra notebook.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HTML dosyasını tarayıcıda açın; kurulum ve internet gerekmez. Küreyi fareyle döndürün, kapı butonlarına basın. Durum her zaman üniter matrisle güncelleniyor, animasyon eksen-açı dönüşünün ara adımlarını çiziyor. Sağ panelde Qiskit kodu oluşuyor; kopyalayıp notebook'ta çalıştırabilirler.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bloch_rotation fonksiyonu matristen ekseni ve açıyı çıkarıyor; rotate Rodrigues formülü. Lab'ın ilk hücresi dört kapı için matris sonucunun eksen etrafında döndürme ile aynı olduğunu altı durumda test ediyor: haftanın ana iddiasının kodla ispatı.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Bölüm B–E her kapı için yedi adımlık şablonu kodla tekrar ediyor. Alıştırmaların hepsi assert ile kendini kontrol ediyor.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Kapı dedektifi ve en kısa yol en sevilen alıştırmalar. Sekizinci alıştırmada |0⟩'dan |+i⟩'ye ulaşılamadığını görecekler; bu gelecek haftanın S kapısına doğal bir köprü.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Özeti birlikte tekrar edin; her maddede simülatörde bir örnek gösterebilirsiniz.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Gelecek hafta istediğimiz açıyla dönüş: S, T, Rx, Ry, Rz ve genel U kapısı; transpile ve hedef duruma ulaşma bulmacaları. Bu haftanın film şeritleri o kapıların ön izlemesiydi.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1.xml"/><Relationship Id="rId1" Type="http://schemas.openxmlformats.org/officeDocument/2006/relationships/image" Target="../media/image-13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2.xml"/><Relationship Id="rId1" Type="http://schemas.openxmlformats.org/officeDocument/2006/relationships/image" Target="../media/image-19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3.xml"/><Relationship Id="rId1" Type="http://schemas.openxmlformats.org/officeDocument/2006/relationships/image" Target="../media/image-25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4.xml"/><Relationship Id="rId1" Type="http://schemas.openxmlformats.org/officeDocument/2006/relationships/image" Target="../media/image-31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4630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C7D2E3"/>
                </a:solidFill>
              </a:rPr>
              <a:t>KUANTUM HESAPLAMA VE UYGULAMALARI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201168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</a:rPr>
              <a:t>Hafta 4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2560320"/>
            <a:ext cx="109728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</a:rPr>
              <a:t>Tek Kübit Kapıları I: X, Y, Z ve H</a:t>
            </a:r>
            <a:endParaRPr lang="en-US" sz="42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4297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C7D2E3"/>
                </a:solidFill>
              </a:rPr>
              <a:t>Kapı = üniter matris = Bloch küresinde dönüş · her kapı tek tek: matris, tablo, Bloch yolu, film şeridi, Qiskit kodu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 haftanın planı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Kuantum Hesaplama ve Uygulamaları · Hafta 4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548640" y="1280160"/>
            <a:ext cx="3423818" cy="3931920"/>
          </a:xfrm>
          <a:prstGeom prst="roundRect">
            <a:avLst>
              <a:gd name="adj" fmla="val 2671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22960" y="1508760"/>
            <a:ext cx="287517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saat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1874520"/>
            <a:ext cx="287517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26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Teori</a:t>
            </a:r>
            <a:endParaRPr lang="en-US" sz="2600" dirty="0"/>
          </a:p>
        </p:txBody>
      </p:sp>
      <p:sp>
        <p:nvSpPr>
          <p:cNvPr id="9" name="Text 6"/>
          <p:cNvSpPr txBox="1"/>
          <p:nvPr/>
        </p:nvSpPr>
        <p:spPr>
          <a:xfrm>
            <a:off x="822960" y="2651760"/>
            <a:ext cx="2875178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Kapı = dönüş fikri</a:t>
            </a:r>
            <a:endParaRPr lang="en-US" sz="1900" dirty="0"/>
          </a:p>
          <a:p>
            <a:pPr marL="254000" indent="-2540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Altı temel durum</a:t>
            </a:r>
            <a:endParaRPr lang="en-US" sz="1900" dirty="0"/>
          </a:p>
          <a:p>
            <a:pPr marL="254000" indent="-2540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X, Y, Z, H tek tek</a:t>
            </a:r>
            <a:endParaRPr lang="en-US" sz="1900" dirty="0"/>
          </a:p>
          <a:p>
            <a:pPr marL="254000" indent="-2540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(slayt 1–32)</a:t>
            </a:r>
            <a:endParaRPr lang="en-US" sz="1900" dirty="0"/>
          </a:p>
        </p:txBody>
      </p:sp>
      <p:sp>
        <p:nvSpPr>
          <p:cNvPr id="10" name="Shape 7"/>
          <p:cNvSpPr/>
          <p:nvPr/>
        </p:nvSpPr>
        <p:spPr>
          <a:xfrm>
            <a:off x="4246778" y="1280160"/>
            <a:ext cx="3423818" cy="3931920"/>
          </a:xfrm>
          <a:prstGeom prst="roundRect">
            <a:avLst>
              <a:gd name="adj" fmla="val 2671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4521098" y="1508760"/>
            <a:ext cx="287517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saat</a:t>
            </a:r>
            <a:endParaRPr lang="en-US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4521098" y="1874520"/>
            <a:ext cx="287517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26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Çözümlü örnekler</a:t>
            </a:r>
            <a:endParaRPr lang="en-US" sz="2600" dirty="0"/>
          </a:p>
        </p:txBody>
      </p:sp>
      <p:sp>
        <p:nvSpPr>
          <p:cNvPr id="13" name="Text 10"/>
          <p:cNvSpPr txBox="1"/>
          <p:nvPr/>
        </p:nvSpPr>
        <p:spPr>
          <a:xfrm>
            <a:off x="4521098" y="2651760"/>
            <a:ext cx="2875178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Kapı parmak izi</a:t>
            </a:r>
            <a:endParaRPr lang="en-US" sz="1900" dirty="0"/>
          </a:p>
          <a:p>
            <a:pPr marL="254000" indent="-2540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Özdeşlikler: HXH = Z …</a:t>
            </a:r>
            <a:endParaRPr lang="en-US" sz="1900" dirty="0"/>
          </a:p>
          <a:p>
            <a:pPr marL="254000" indent="-2540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Ardışık kapılar, geri alma</a:t>
            </a:r>
            <a:endParaRPr lang="en-US" sz="1900" dirty="0"/>
          </a:p>
          <a:p>
            <a:pPr marL="254000" indent="-2540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(slayt 33–46)</a:t>
            </a:r>
            <a:endParaRPr lang="en-US" sz="1900" dirty="0"/>
          </a:p>
        </p:txBody>
      </p:sp>
      <p:sp>
        <p:nvSpPr>
          <p:cNvPr id="14" name="Shape 11"/>
          <p:cNvSpPr/>
          <p:nvPr/>
        </p:nvSpPr>
        <p:spPr>
          <a:xfrm>
            <a:off x="7944917" y="1280160"/>
            <a:ext cx="3423818" cy="3931920"/>
          </a:xfrm>
          <a:prstGeom prst="roundRect">
            <a:avLst>
              <a:gd name="adj" fmla="val 2671"/>
            </a:avLst>
          </a:prstGeom>
          <a:solidFill>
            <a:srgbClr val="E8EEF6"/>
          </a:solidFill>
          <a:ln w="12700">
            <a:solidFill>
              <a:srgbClr val="E8EEF6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8219237" y="1508760"/>
            <a:ext cx="287517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saat</a:t>
            </a:r>
            <a:endParaRPr lang="en-US" sz="1500" dirty="0"/>
          </a:p>
        </p:txBody>
      </p:sp>
      <p:sp>
        <p:nvSpPr>
          <p:cNvPr id="16" name="Text 13"/>
          <p:cNvSpPr txBox="1"/>
          <p:nvPr/>
        </p:nvSpPr>
        <p:spPr>
          <a:xfrm>
            <a:off x="8219237" y="1874520"/>
            <a:ext cx="287517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26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+ simülatör</a:t>
            </a:r>
            <a:endParaRPr lang="en-US" sz="2600" dirty="0"/>
          </a:p>
        </p:txBody>
      </p:sp>
      <p:sp>
        <p:nvSpPr>
          <p:cNvPr id="17" name="Text 14"/>
          <p:cNvSpPr txBox="1"/>
          <p:nvPr/>
        </p:nvSpPr>
        <p:spPr>
          <a:xfrm>
            <a:off x="8219237" y="2651760"/>
            <a:ext cx="2875178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Bloch simülatörü (HTML)</a:t>
            </a:r>
            <a:endParaRPr lang="en-US" sz="1900" dirty="0"/>
          </a:p>
          <a:p>
            <a:pPr marL="254000" indent="-2540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plot_gate_on_bloch</a:t>
            </a:r>
            <a:endParaRPr lang="en-US" sz="1900" dirty="0"/>
          </a:p>
          <a:p>
            <a:pPr marL="254000" indent="-2540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Kapı dedektifi, BFS</a:t>
            </a:r>
            <a:endParaRPr lang="en-US" sz="1900" dirty="0"/>
          </a:p>
          <a:p>
            <a:pPr marL="254000" indent="-2540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(slayt 47–53)</a:t>
            </a:r>
            <a:endParaRPr lang="en-US" sz="1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Öğrenme hedefleri ve her kapı için şablon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Kuantum Hesaplama ve Uygulamaları · Hafta 4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280160"/>
            <a:ext cx="585216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Kapıyı </a:t>
            </a: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matris</a:t>
            </a: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ve </a:t>
            </a: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Bloch dönüşü</a:t>
            </a: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olarak açıklamak</a:t>
            </a:r>
            <a:endParaRPr lang="en-US" sz="1800" dirty="0"/>
          </a:p>
          <a:p>
            <a:pPr marL="254000" indent="-2540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X, Y, Z, H'yi elle uygulamak ve sonucu </a:t>
            </a: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altı temel durumla</a:t>
            </a: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eşleştirmek</a:t>
            </a:r>
            <a:endParaRPr lang="en-US" sz="1800" dirty="0"/>
          </a:p>
          <a:p>
            <a:pPr marL="254000" indent="-2540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Dönüş eksenini ve </a:t>
            </a: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dönüş yolunu</a:t>
            </a: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çizebilmek</a:t>
            </a:r>
            <a:endParaRPr lang="en-US" sz="1800" dirty="0"/>
          </a:p>
          <a:p>
            <a:pPr marL="254000" indent="-2540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Qiskit </a:t>
            </a:r>
            <a:r>
              <a:rPr lang="en-US" sz="1800" dirty="0">
                <a:solidFill>
                  <a:srgbClr val="1F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Statevector</a:t>
            </a: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+ histogram ile doğrulamak</a:t>
            </a:r>
            <a:endParaRPr lang="en-US" sz="1800" dirty="0"/>
          </a:p>
          <a:p>
            <a:pPr marL="254000" indent="-2540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Özdeşlikleri </a:t>
            </a:r>
            <a:r>
              <a:rPr lang="en-US" sz="1800" dirty="0">
                <a:solidFill>
                  <a:srgbClr val="1F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Operator.equiv</a:t>
            </a: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ile test etmek</a:t>
            </a:r>
            <a:endParaRPr lang="en-US" sz="1800" dirty="0"/>
          </a:p>
          <a:p>
            <a:pPr marL="254000" indent="-2540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Kapı dizisini </a:t>
            </a: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ters sırada</a:t>
            </a: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geri almak</a:t>
            </a:r>
            <a:endParaRPr lang="en-US" sz="18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766560" y="1280160"/>
          <a:ext cx="4876495" cy="914400"/>
        </p:xfrm>
        <a:graphic>
          <a:graphicData uri="http://schemas.openxmlformats.org/drawingml/2006/table">
            <a:tbl>
              <a:tblPr/>
              <a:tblGrid>
                <a:gridCol w="585179"/>
                <a:gridCol w="4291316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Her kapı için şablon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Matris ve matris × vektör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Altı temel durum tablosu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Devre sembolü (Qiskit mpl)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Bloch öncesi/sonrası + dönüş yolu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Film şeridi: 0°, 45°, 90°, 135°, 180°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Qiskit: Statevector + histogram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NumPy doğrulaması + yazılım benzetmesi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F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011680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5B84B8"/>
                </a:solidFill>
              </a:rPr>
              <a:t>01</a:t>
            </a:r>
            <a:endParaRPr lang="en-US" sz="72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310896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</a:rPr>
              <a:t>Kapı = dönüş</a:t>
            </a:r>
            <a:endParaRPr lang="en-US" sz="38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397764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C7D2E3"/>
                </a:solidFill>
              </a:rPr>
              <a:t>Üniter matrisin Bloch küresindeki resmi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Aynı kapının üç görünümü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Kuantum Hesaplama ve Uygulamaları · Hafta 4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pic>
        <p:nvPicPr>
          <p:cNvPr id="6" name="Image 0" descr="görse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4745" y="1143000"/>
            <a:ext cx="10462204" cy="301752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548640" y="4297680"/>
            <a:ext cx="11094415" cy="822960"/>
          </a:xfrm>
          <a:prstGeom prst="roundRect">
            <a:avLst>
              <a:gd name="adj" fmla="val 11111"/>
            </a:avLst>
          </a:prstGeom>
          <a:solidFill>
            <a:srgbClr val="E8EEF6"/>
          </a:solidFill>
          <a:ln w="12700">
            <a:solidFill>
              <a:srgbClr val="E8EEF6"/>
            </a:solidFill>
            <a:prstDash val="solid"/>
          </a:ln>
        </p:spPr>
      </p:sp>
      <p:sp>
        <p:nvSpPr>
          <p:cNvPr id="8" name="Text 4"/>
          <p:cNvSpPr txBox="1"/>
          <p:nvPr/>
        </p:nvSpPr>
        <p:spPr>
          <a:xfrm>
            <a:off x="548640" y="429768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Tek kübit kapısı  ⇔  eksen n etrafında θ açısı kadar dönüş</a:t>
            </a:r>
            <a:endParaRPr lang="en-US" sz="2400" dirty="0"/>
          </a:p>
        </p:txBody>
      </p:sp>
      <p:sp>
        <p:nvSpPr>
          <p:cNvPr id="9" name="Shape 5"/>
          <p:cNvSpPr/>
          <p:nvPr/>
        </p:nvSpPr>
        <p:spPr>
          <a:xfrm>
            <a:off x="548640" y="5257800"/>
            <a:ext cx="11094415" cy="731520"/>
          </a:xfrm>
          <a:prstGeom prst="roundRect">
            <a:avLst>
              <a:gd name="adj" fmla="val 10000"/>
            </a:avLst>
          </a:prstGeom>
          <a:solidFill>
            <a:srgbClr val="E8EEF6"/>
          </a:solidFill>
          <a:ln w="12700">
            <a:solidFill>
              <a:srgbClr val="E8EEF6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731520" y="5367528"/>
            <a:ext cx="1072865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 hafta: </a:t>
            </a:r>
            <a:r>
              <a:rPr lang="en-US" sz="1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X, Y, Z, H</a:t>
            </a: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'nin dördü de </a:t>
            </a:r>
            <a:r>
              <a:rPr lang="en-US" sz="1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180°</a:t>
            </a: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'lik dönüş, sadece </a:t>
            </a:r>
            <a:r>
              <a:rPr lang="en-US" sz="1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eksenleri</a:t>
            </a: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farklı. Gelecek hafta: istediğimiz açıyla dönüş (Rx, Ry, Rz).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Altı temel durum: test girdilerimiz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Kuantum Hesaplama ve Uygulamaları · Hafta 4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pic>
        <p:nvPicPr>
          <p:cNvPr id="6" name="Image 0" descr="görse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158547"/>
            <a:ext cx="4572000" cy="4723787"/>
          </a:xfrm>
          <a:prstGeom prst="rect">
            <a:avLst/>
          </a:prstGeom>
        </p:spPr>
      </p:pic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394960" y="1234440"/>
          <a:ext cx="6248095" cy="914400"/>
        </p:xfrm>
        <a:graphic>
          <a:graphicData uri="http://schemas.openxmlformats.org/drawingml/2006/table">
            <a:tbl>
              <a:tblPr/>
              <a:tblGrid>
                <a:gridCol w="999695"/>
                <a:gridCol w="1749467"/>
                <a:gridCol w="1749467"/>
                <a:gridCol w="1749467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Durum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Vektör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Bloch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Qiskit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|0⟩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[1, 0]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(0, 0, 1)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|1⟩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[0, 1]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(0, 0, −1)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3A5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x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|+⟩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[1, 1]/√2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(1, 0, 0)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3A5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h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|−⟩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[1, −1]/√2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(−1, 0, 0)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3A5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x</a:t>
                      </a: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, </a:t>
                      </a:r>
                      <a:r>
                        <a:rPr lang="en-US" sz="1500" dirty="0">
                          <a:solidFill>
                            <a:srgbClr val="1F3A5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h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|+i⟩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[1, i]/√2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(0, 1, 0)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3A5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h</a:t>
                      </a: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, </a:t>
                      </a:r>
                      <a:r>
                        <a:rPr lang="en-US" sz="1500" dirty="0">
                          <a:solidFill>
                            <a:srgbClr val="1F3A5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|−i⟩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[1, −i]/√2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(0, −1, 0)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3A5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h</a:t>
                      </a: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, </a:t>
                      </a:r>
                      <a:r>
                        <a:rPr lang="en-US" sz="1500" dirty="0">
                          <a:solidFill>
                            <a:srgbClr val="1F3A5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sdg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</a:tbl>
          </a:graphicData>
        </a:graphic>
      </p:graphicFrame>
      <p:sp>
        <p:nvSpPr>
          <p:cNvPr id="8" name="Text 3"/>
          <p:cNvSpPr txBox="1"/>
          <p:nvPr/>
        </p:nvSpPr>
        <p:spPr>
          <a:xfrm>
            <a:off x="5394960" y="5120640"/>
            <a:ext cx="62480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Hatırlatma: x = 2Re(α*β), y = 2Im(α*β), z = |α|² − |β|²  ·  P(0) = (1 + z)/2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Şekilleri okuma kılavuzu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Kuantum Hesaplama ve Uygulamaları · Hafta 4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pic>
        <p:nvPicPr>
          <p:cNvPr id="6" name="Image 0" descr="görse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9706" y="1097280"/>
            <a:ext cx="4915627" cy="489204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5760720" y="1234440"/>
            <a:ext cx="5882335" cy="2194560"/>
          </a:xfrm>
          <a:prstGeom prst="roundRect">
            <a:avLst>
              <a:gd name="adj" fmla="val 3333"/>
            </a:avLst>
          </a:prstGeom>
          <a:solidFill>
            <a:srgbClr val="E8EEF6"/>
          </a:solidFill>
          <a:ln w="12700">
            <a:solidFill>
              <a:srgbClr val="E8EEF6"/>
            </a:solidFill>
            <a:prstDash val="solid"/>
          </a:ln>
        </p:spPr>
      </p:sp>
      <p:sp>
        <p:nvSpPr>
          <p:cNvPr id="8" name="Text 4"/>
          <p:cNvSpPr txBox="1"/>
          <p:nvPr/>
        </p:nvSpPr>
        <p:spPr>
          <a:xfrm>
            <a:off x="5943600" y="1344168"/>
            <a:ext cx="5516575" cy="1975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700" b="1" dirty="0">
                <a:solidFill>
                  <a:srgbClr val="2E6D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Görsel dil</a:t>
            </a:r>
            <a:endParaRPr lang="en-US" sz="17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</a:t>
            </a: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ok: kapıdan önce</a:t>
            </a:r>
            <a:endParaRPr lang="en-US" sz="17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Mavi</a:t>
            </a: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ok: kapıdan sonra</a:t>
            </a:r>
            <a:endParaRPr lang="en-US" sz="17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Turuncu</a:t>
            </a: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noktalı: dönüş yolu</a:t>
            </a:r>
            <a:endParaRPr lang="en-US" sz="17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Lacivert</a:t>
            </a: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kesikli: dönüş ekseni (+ yön halkası)</a:t>
            </a:r>
            <a:endParaRPr lang="en-US" sz="1700" dirty="0"/>
          </a:p>
        </p:txBody>
      </p:sp>
      <p:sp>
        <p:nvSpPr>
          <p:cNvPr id="9" name="Shape 5"/>
          <p:cNvSpPr/>
          <p:nvPr/>
        </p:nvSpPr>
        <p:spPr>
          <a:xfrm>
            <a:off x="5760720" y="3611880"/>
            <a:ext cx="5882335" cy="2286000"/>
          </a:xfrm>
          <a:prstGeom prst="roundRect">
            <a:avLst>
              <a:gd name="adj" fmla="val 3200"/>
            </a:avLst>
          </a:prstGeom>
          <a:solidFill>
            <a:srgbClr val="FDF3E8"/>
          </a:solidFill>
          <a:ln w="12700">
            <a:solidFill>
              <a:srgbClr val="FDF3E8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5943600" y="3721608"/>
            <a:ext cx="5516575" cy="2066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700" b="1" dirty="0">
                <a:solidFill>
                  <a:srgbClr val="D98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Dönüş yolu gerçek bir ara durum mu?</a:t>
            </a:r>
            <a:endParaRPr lang="en-US" sz="17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Hayır: kapı tek bir matris çarpımıdır.</a:t>
            </a:r>
            <a:endParaRPr lang="en-US" sz="17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Yol, aynı eksen etrafında </a:t>
            </a:r>
            <a:r>
              <a:rPr lang="en-US" sz="1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daha küçük açılarla</a:t>
            </a: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dönen kapıların (5. hafta: Rx, Ry, Rz) nereye götüreceğini gösterir.</a:t>
            </a:r>
            <a:endParaRPr lang="en-US" sz="1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Dört kapı, dört eksen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Kuantum Hesaplama ve Uygulamaları · Hafta 4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pic>
        <p:nvPicPr>
          <p:cNvPr id="6" name="Image 0" descr="görse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103316"/>
            <a:ext cx="11094415" cy="2959727"/>
          </a:xfrm>
          <a:prstGeom prst="rect">
            <a:avLst/>
          </a:prstGeom>
        </p:spPr>
      </p:pic>
      <p:pic>
        <p:nvPicPr>
          <p:cNvPr id="7" name="Image 1" descr="görsel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9796" y="4023360"/>
            <a:ext cx="7565666" cy="2011680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>
            <a:off x="8758507" y="4114800"/>
            <a:ext cx="2884548" cy="1828800"/>
          </a:xfrm>
          <a:prstGeom prst="roundRect">
            <a:avLst>
              <a:gd name="adj" fmla="val 4000"/>
            </a:avLst>
          </a:prstGeom>
          <a:solidFill>
            <a:srgbClr val="E8EEF6"/>
          </a:solidFill>
          <a:ln w="12700">
            <a:solidFill>
              <a:srgbClr val="E8EEF6"/>
            </a:solidFill>
            <a:prstDash val="solid"/>
          </a:ln>
        </p:spPr>
      </p:sp>
      <p:sp>
        <p:nvSpPr>
          <p:cNvPr id="9" name="Text 4"/>
          <p:cNvSpPr txBox="1"/>
          <p:nvPr/>
        </p:nvSpPr>
        <p:spPr>
          <a:xfrm>
            <a:off x="8941387" y="4224528"/>
            <a:ext cx="2518788" cy="1609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700" b="1" dirty="0">
                <a:solidFill>
                  <a:srgbClr val="2E6D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Okuma kuralı</a:t>
            </a:r>
            <a:endParaRPr lang="en-US" sz="17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Sütun j = </a:t>
            </a:r>
            <a:r>
              <a:rPr lang="en-US" sz="1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U|j⟩</a:t>
            </a:r>
            <a:endParaRPr lang="en-US" sz="17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H'nin 1. sütunu = |+⟩</a:t>
            </a:r>
            <a:endParaRPr lang="en-US" sz="1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F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011680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5B84B8"/>
                </a:solidFill>
              </a:rPr>
              <a:t>02</a:t>
            </a:r>
            <a:endParaRPr lang="en-US" sz="72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310896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</a:rPr>
              <a:t>X kapısı</a:t>
            </a:r>
            <a:endParaRPr lang="en-US" sz="38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397764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C7D2E3"/>
                </a:solidFill>
              </a:rPr>
              <a:t>x ekseni etrafında 180° · kuantum NOT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X: matris, matris × vektör ve altı durum tablosu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Kuantum Hesaplama ve Uygulamaları · Hafta 4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548640" y="1188720"/>
            <a:ext cx="4754880" cy="822960"/>
          </a:xfrm>
          <a:prstGeom prst="roundRect">
            <a:avLst>
              <a:gd name="adj" fmla="val 11111"/>
            </a:avLst>
          </a:prstGeom>
          <a:solidFill>
            <a:srgbClr val="E8EEF6"/>
          </a:solidFill>
          <a:ln w="12700">
            <a:solidFill>
              <a:srgbClr val="E8EEF6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48640" y="1188720"/>
            <a:ext cx="475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 = [[0, 1], [1, 0]]</a:t>
            </a:r>
            <a:endParaRPr lang="en-US" sz="2400" dirty="0"/>
          </a:p>
        </p:txBody>
      </p:sp>
      <p:sp>
        <p:nvSpPr>
          <p:cNvPr id="8" name="Shape 5"/>
          <p:cNvSpPr/>
          <p:nvPr/>
        </p:nvSpPr>
        <p:spPr>
          <a:xfrm>
            <a:off x="548640" y="2148840"/>
            <a:ext cx="4754880" cy="822960"/>
          </a:xfrm>
          <a:prstGeom prst="roundRect">
            <a:avLst>
              <a:gd name="adj" fmla="val 11111"/>
            </a:avLst>
          </a:prstGeom>
          <a:solidFill>
            <a:srgbClr val="E8EEF6"/>
          </a:solidFill>
          <a:ln w="12700">
            <a:solidFill>
              <a:srgbClr val="E8EEF6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548640" y="2148840"/>
            <a:ext cx="475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 · [α, β] = [β, α]</a:t>
            </a:r>
            <a:endParaRPr lang="en-US" sz="2200" dirty="0"/>
          </a:p>
        </p:txBody>
      </p:sp>
      <p:sp>
        <p:nvSpPr>
          <p:cNvPr id="10" name="Shape 7"/>
          <p:cNvSpPr/>
          <p:nvPr/>
        </p:nvSpPr>
        <p:spPr>
          <a:xfrm>
            <a:off x="548640" y="3108960"/>
            <a:ext cx="4754880" cy="2834640"/>
          </a:xfrm>
          <a:prstGeom prst="roundRect">
            <a:avLst>
              <a:gd name="adj" fmla="val 2581"/>
            </a:avLst>
          </a:prstGeom>
          <a:solidFill>
            <a:srgbClr val="E8EEF6"/>
          </a:solidFill>
          <a:ln w="12700">
            <a:solidFill>
              <a:srgbClr val="E8EEF6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731520" y="3218688"/>
            <a:ext cx="4389120" cy="2615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700" b="1" dirty="0">
                <a:solidFill>
                  <a:srgbClr val="2E6D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· kimlik kartı</a:t>
            </a:r>
            <a:endParaRPr lang="en-US" sz="17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5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Eksen:</a:t>
            </a: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x   </a:t>
            </a:r>
            <a:r>
              <a:rPr lang="en-US" sz="15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Açı:</a:t>
            </a: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180°</a:t>
            </a:r>
            <a:endParaRPr lang="en-US" sz="17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5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Etki:</a:t>
            </a: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genlik takası, P(0) ↔ P(1)</a:t>
            </a:r>
            <a:endParaRPr lang="en-US" sz="17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5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Bloch:</a:t>
            </a: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(x, y, z) → (x, −y, −z)</a:t>
            </a:r>
            <a:endParaRPr lang="en-US" sz="17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5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Qiskit:</a:t>
            </a: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500" dirty="0">
                <a:solidFill>
                  <a:srgbClr val="1F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qc.x(0)</a:t>
            </a: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</a:t>
            </a:r>
            <a:r>
              <a:rPr lang="en-US" sz="15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Tersi:</a:t>
            </a: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X</a:t>
            </a:r>
            <a:endParaRPr lang="en-US" sz="17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577840" y="1188720"/>
          <a:ext cx="6065215" cy="914400"/>
        </p:xfrm>
        <a:graphic>
          <a:graphicData uri="http://schemas.openxmlformats.org/drawingml/2006/table">
            <a:tbl>
              <a:tblPr/>
              <a:tblGrid>
                <a:gridCol w="970434"/>
                <a:gridCol w="1819565"/>
                <a:gridCol w="1576956"/>
                <a:gridCol w="1698260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Girdi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Çıktı vektörü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Çıktı durumu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Bloch sonra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|0⟩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[0, 1]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|1⟩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(0, 0, −1)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|1⟩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[1, 0]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|0⟩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(0, 0, 1)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|+⟩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[1, 1]/√2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|+⟩ sabit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(1, 0, 0)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|−⟩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[−1, 1]/√2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−|−⟩ sabit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(−1, 0, 0)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|+i⟩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[i, 1]/√2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i·|−i⟩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(0, −1, 0)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|−i⟩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[−i, 1]/√2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−i·|+i⟩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(0, 1, 0)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</a:tbl>
          </a:graphicData>
        </a:graphic>
      </p:graphicFrame>
      <p:sp>
        <p:nvSpPr>
          <p:cNvPr id="13" name="Text 9"/>
          <p:cNvSpPr txBox="1"/>
          <p:nvPr/>
        </p:nvSpPr>
        <p:spPr>
          <a:xfrm>
            <a:off x="5577840" y="5349240"/>
            <a:ext cx="60652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Önündeki −1, i, −i çarpanları </a:t>
            </a:r>
            <a:r>
              <a:rPr lang="en-US" sz="14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faz</a:t>
            </a: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ölçümü ve Bloch noktasını değiştirmez.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Bloch küresinde: öncesi, sonrası, dönüş yolu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Kuantum Hesaplama ve Uygulamaları · Hafta 4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pic>
        <p:nvPicPr>
          <p:cNvPr id="6" name="Image 0" descr="görse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158430"/>
            <a:ext cx="11094415" cy="321526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548640" y="4526280"/>
            <a:ext cx="3515258" cy="1417320"/>
          </a:xfrm>
          <a:prstGeom prst="roundRect">
            <a:avLst>
              <a:gd name="adj" fmla="val 5161"/>
            </a:avLst>
          </a:prstGeom>
          <a:solidFill>
            <a:srgbClr val="E8EEF6"/>
          </a:solidFill>
          <a:ln w="12700">
            <a:solidFill>
              <a:srgbClr val="E8EEF6"/>
            </a:solidFill>
            <a:prstDash val="solid"/>
          </a:ln>
        </p:spPr>
      </p:sp>
      <p:sp>
        <p:nvSpPr>
          <p:cNvPr id="8" name="Text 4"/>
          <p:cNvSpPr txBox="1"/>
          <p:nvPr/>
        </p:nvSpPr>
        <p:spPr>
          <a:xfrm>
            <a:off x="731520" y="4636008"/>
            <a:ext cx="3149498" cy="1197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2E6D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Kutuplar yer değiştirir</a:t>
            </a:r>
            <a:endParaRPr lang="en-US" sz="16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|0⟩ ↔ |1⟩: yol </a:t>
            </a:r>
            <a:r>
              <a:rPr lang="en-US" sz="15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yz düzleminde</a:t>
            </a:r>
            <a:endParaRPr lang="en-US" sz="1600" dirty="0"/>
          </a:p>
        </p:txBody>
      </p:sp>
      <p:sp>
        <p:nvSpPr>
          <p:cNvPr id="9" name="Shape 5"/>
          <p:cNvSpPr/>
          <p:nvPr/>
        </p:nvSpPr>
        <p:spPr>
          <a:xfrm>
            <a:off x="4246778" y="4526280"/>
            <a:ext cx="3515258" cy="1417320"/>
          </a:xfrm>
          <a:prstGeom prst="roundRect">
            <a:avLst>
              <a:gd name="adj" fmla="val 5161"/>
            </a:avLst>
          </a:prstGeom>
          <a:solidFill>
            <a:srgbClr val="E8EEF6"/>
          </a:solidFill>
          <a:ln w="12700">
            <a:solidFill>
              <a:srgbClr val="E8EEF6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4429658" y="4636008"/>
            <a:ext cx="3149498" cy="1197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2E6D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Eksen üzerindekiler sabit</a:t>
            </a:r>
            <a:endParaRPr lang="en-US" sz="16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|+⟩ ve |−⟩ kıpırdamaz</a:t>
            </a:r>
            <a:endParaRPr lang="en-US" sz="1600" dirty="0"/>
          </a:p>
        </p:txBody>
      </p:sp>
      <p:sp>
        <p:nvSpPr>
          <p:cNvPr id="11" name="Shape 7"/>
          <p:cNvSpPr/>
          <p:nvPr/>
        </p:nvSpPr>
        <p:spPr>
          <a:xfrm>
            <a:off x="7944917" y="4526280"/>
            <a:ext cx="3515258" cy="1417320"/>
          </a:xfrm>
          <a:prstGeom prst="roundRect">
            <a:avLst>
              <a:gd name="adj" fmla="val 5161"/>
            </a:avLst>
          </a:prstGeom>
          <a:solidFill>
            <a:srgbClr val="E8EEF6"/>
          </a:solidFill>
          <a:ln w="12700">
            <a:solidFill>
              <a:srgbClr val="E8EEF6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8127797" y="4636008"/>
            <a:ext cx="3149498" cy="1197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2E6D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koordinatı korunur</a:t>
            </a:r>
            <a:endParaRPr lang="en-US" sz="16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ve z işaret değiştirir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film şeridi: dönüşü kare kare izlemek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Kuantum Hesaplama ve Uygulamaları · Hafta 4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  <p:pic>
        <p:nvPicPr>
          <p:cNvPr id="6" name="Image 0" descr="görse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189644"/>
            <a:ext cx="11094415" cy="2741353"/>
          </a:xfrm>
          <a:prstGeom prst="rect">
            <a:avLst/>
          </a:prstGeom>
        </p:spPr>
      </p:pic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4206240"/>
          <a:ext cx="11094415" cy="914400"/>
        </p:xfrm>
        <a:graphic>
          <a:graphicData uri="http://schemas.openxmlformats.org/drawingml/2006/table">
            <a:tbl>
              <a:tblPr/>
              <a:tblGrid>
                <a:gridCol w="1775106"/>
                <a:gridCol w="1863862"/>
                <a:gridCol w="1863862"/>
                <a:gridCol w="1863862"/>
                <a:gridCol w="1863862"/>
                <a:gridCol w="1863862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Açı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0°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45°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90°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135°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180°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Bloch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(0, 0, 1)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(0, −0.71, 0.71)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(0, −1, 0) = |−i⟩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(0, −0.71, −0.71)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(0, 0, −1) = |1⟩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Shape 3"/>
          <p:cNvSpPr/>
          <p:nvPr/>
        </p:nvSpPr>
        <p:spPr>
          <a:xfrm>
            <a:off x="548640" y="5074920"/>
            <a:ext cx="11094415" cy="868680"/>
          </a:xfrm>
          <a:prstGeom prst="roundRect">
            <a:avLst>
              <a:gd name="adj" fmla="val 8421"/>
            </a:avLst>
          </a:prstGeom>
          <a:solidFill>
            <a:srgbClr val="E8EEF6"/>
          </a:solidFill>
          <a:ln w="12700">
            <a:solidFill>
              <a:srgbClr val="E8EEF6"/>
            </a:solidFill>
            <a:prstDash val="solid"/>
          </a:ln>
        </p:spPr>
      </p:sp>
      <p:sp>
        <p:nvSpPr>
          <p:cNvPr id="9" name="Text 4"/>
          <p:cNvSpPr txBox="1"/>
          <p:nvPr/>
        </p:nvSpPr>
        <p:spPr>
          <a:xfrm>
            <a:off x="731520" y="5184648"/>
            <a:ext cx="10728655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90°'de |0⟩ → |−i⟩: bu "yarım X" gelecek hafta </a:t>
            </a:r>
            <a:r>
              <a:rPr lang="en-US" sz="1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Rx(π/2)</a:t>
            </a: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adıyla karşımıza çıkacak.</a:t>
            </a:r>
            <a:endParaRPr lang="en-US" sz="1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Qiskit'te: kod, Statevector, histogram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Kuantum Hesaplama ve Uygulamaları · Hafta 4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548640" y="1188720"/>
            <a:ext cx="5669280" cy="3246120"/>
          </a:xfrm>
          <a:prstGeom prst="rect">
            <a:avLst/>
          </a:prstGeom>
          <a:solidFill>
            <a:srgbClr val="F7F8FA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85800" y="1280160"/>
            <a:ext cx="5394960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qiskit import QuantumCircuit, transpile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qiskit.quantum_info import Statevector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qiskit_aer import AerSimulator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qc = QuantumCircuit(1)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qc.x(0)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print(Statevector(qc))     </a:t>
            </a:r>
            <a:r>
              <a:rPr lang="en-US" sz="1400" dirty="0">
                <a:solidFill>
                  <a:srgbClr val="6B7F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[0, 1]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qc.measure_all()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aer = AerSimulator(seed_simulator=2026)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aer.run(transpile(qc, aer), shots=1000) \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.result().get_counts()  </a:t>
            </a:r>
            <a:r>
              <a:rPr lang="en-US" sz="1400" dirty="0">
                <a:solidFill>
                  <a:srgbClr val="6B7F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{'1': 1000}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548640" y="4572000"/>
            <a:ext cx="5669280" cy="1371600"/>
          </a:xfrm>
          <a:prstGeom prst="rect">
            <a:avLst/>
          </a:prstGeom>
          <a:solidFill>
            <a:srgbClr val="F7F8FA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85800" y="4663440"/>
            <a:ext cx="5394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 = np.array([[0, 1], [1, 0]])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 @ [1, 0]               </a:t>
            </a:r>
            <a:r>
              <a:rPr lang="en-US" sz="1300" dirty="0">
                <a:solidFill>
                  <a:srgbClr val="6B7F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[0, 1]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state_to_bloch(X @ [0.6, 0.8])   </a:t>
            </a:r>
            <a:r>
              <a:rPr lang="en-US" sz="1300" dirty="0">
                <a:solidFill>
                  <a:srgbClr val="6B7F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(0.96, 0, 0.28)</a:t>
            </a:r>
            <a:endParaRPr lang="en-US" sz="1300" dirty="0"/>
          </a:p>
        </p:txBody>
      </p:sp>
      <p:pic>
        <p:nvPicPr>
          <p:cNvPr id="10" name="Image 0" descr="görse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0" y="1178437"/>
            <a:ext cx="2377440" cy="1209286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9052560" y="1143000"/>
            <a:ext cx="2590495" cy="1325880"/>
          </a:xfrm>
          <a:prstGeom prst="roundRect">
            <a:avLst>
              <a:gd name="adj" fmla="val 5517"/>
            </a:avLst>
          </a:prstGeom>
          <a:solidFill>
            <a:srgbClr val="E8EEF6"/>
          </a:solidFill>
          <a:ln w="12700">
            <a:solidFill>
              <a:srgbClr val="E8EEF6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9235440" y="1252728"/>
            <a:ext cx="2224735" cy="1106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2E6D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Statevector</a:t>
            </a:r>
            <a:endParaRPr lang="en-US" sz="15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[0, 1] = |1⟩</a:t>
            </a:r>
            <a:endParaRPr lang="en-US" sz="15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P(1) = 1</a:t>
            </a:r>
            <a:endParaRPr lang="en-US" sz="1500" dirty="0"/>
          </a:p>
        </p:txBody>
      </p:sp>
      <p:graphicFrame>
        <p:nvGraphicFramePr>
          <p:cNvPr id="13" name="Chart 0" descr=""/>
          <p:cNvGraphicFramePr/>
          <p:nvPr/>
        </p:nvGraphicFramePr>
        <p:xfrm>
          <a:off x="6492240" y="2606040"/>
          <a:ext cx="5150815" cy="2377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4" name="Shape 9"/>
          <p:cNvSpPr/>
          <p:nvPr/>
        </p:nvSpPr>
        <p:spPr>
          <a:xfrm>
            <a:off x="6492240" y="5074920"/>
            <a:ext cx="5150815" cy="868680"/>
          </a:xfrm>
          <a:prstGeom prst="roundRect">
            <a:avLst>
              <a:gd name="adj" fmla="val 8421"/>
            </a:avLst>
          </a:prstGeom>
          <a:solidFill>
            <a:srgbClr val="E8EEF6"/>
          </a:solidFill>
          <a:ln w="12700">
            <a:solidFill>
              <a:srgbClr val="E8EEF6"/>
            </a:solidFill>
            <a:prstDash val="solid"/>
          </a:ln>
        </p:spPr>
      </p:sp>
      <p:sp>
        <p:nvSpPr>
          <p:cNvPr id="15" name="Text 10"/>
          <p:cNvSpPr txBox="1"/>
          <p:nvPr/>
        </p:nvSpPr>
        <p:spPr>
          <a:xfrm>
            <a:off x="6675120" y="5184648"/>
            <a:ext cx="4785055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Yazılım benzetmesi: </a:t>
            </a:r>
            <a:r>
              <a:rPr lang="en-US" sz="15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</a:t>
            </a: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</a:t>
            </a:r>
            <a:r>
              <a:rPr lang="en-US" sz="1500" dirty="0">
                <a:solidFill>
                  <a:srgbClr val="1F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 ^= 1</a:t>
            </a: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); genel hâli </a:t>
            </a:r>
            <a:r>
              <a:rPr lang="en-US" sz="15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takas</a:t>
            </a: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</a:t>
            </a:r>
            <a:r>
              <a:rPr lang="en-US" sz="1500" dirty="0">
                <a:solidFill>
                  <a:srgbClr val="1F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a, b = b, a</a:t>
            </a:r>
            <a:endParaRPr lang="en-US" sz="1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Çözümlü Örnek 1 · X'i genel duruma uygulamak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Kuantum Hesaplama ve Uygulamaları · Hafta 4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548640" y="1143000"/>
            <a:ext cx="6675120" cy="960120"/>
          </a:xfrm>
          <a:prstGeom prst="roundRect">
            <a:avLst>
              <a:gd name="adj" fmla="val 7619"/>
            </a:avLst>
          </a:prstGeom>
          <a:solidFill>
            <a:srgbClr val="E8EEF6"/>
          </a:solidFill>
          <a:ln w="12700">
            <a:solidFill>
              <a:srgbClr val="E8EEF6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31520" y="1252728"/>
            <a:ext cx="630936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2E6D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Soru</a:t>
            </a:r>
            <a:endParaRPr lang="en-US" sz="16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= [0.6, 0.8] durumuna X uygulayın. Olasılıklar ve Bloch koordinatları nasıl değişir?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2286000"/>
            <a:ext cx="66751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lvl="1" indent="0" marL="0">
              <a:spcAft>
                <a:spcPts val="1000"/>
              </a:spcAft>
              <a:buNone/>
            </a:pPr>
            <a:r>
              <a:rPr lang="en-US" sz="2200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 · [0.6, 0.8] = [0.8, 0.6]</a:t>
            </a:r>
            <a:endParaRPr lang="en-US" sz="2200" dirty="0"/>
          </a:p>
          <a:p>
            <a:pPr lvl="1" indent="0" marL="0">
              <a:spcAft>
                <a:spcPts val="1000"/>
              </a:spcAft>
              <a:buNone/>
            </a:pPr>
            <a:r>
              <a:rPr lang="en-US" sz="2200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P: 0.36 / 0.64  →  0.64 / 0.36</a:t>
            </a:r>
            <a:endParaRPr lang="en-US" sz="2200" dirty="0"/>
          </a:p>
          <a:p>
            <a:pPr lvl="1" indent="0" marL="0">
              <a:spcAft>
                <a:spcPts val="1000"/>
              </a:spcAft>
              <a:buNone/>
            </a:pPr>
            <a:r>
              <a:rPr lang="en-US" sz="2200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Bloch: (0.96, 0, −0.28) → (0.96, 0, 0.28)</a:t>
            </a:r>
            <a:endParaRPr lang="en-US" sz="22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x sabit, z işaret değiştirdi: (x, −y, −z) kuralı ✓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548640" y="5623560"/>
            <a:ext cx="6675120" cy="685800"/>
          </a:xfrm>
          <a:prstGeom prst="roundRect">
            <a:avLst>
              <a:gd name="adj" fmla="val 10667"/>
            </a:avLst>
          </a:prstGeom>
          <a:solidFill>
            <a:srgbClr val="E8EEF6"/>
          </a:solidFill>
          <a:ln w="12700">
            <a:solidFill>
              <a:srgbClr val="E8EEF6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31520" y="5733288"/>
            <a:ext cx="630936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7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Cevap:</a:t>
            </a: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[0.8, 0.6]; olasılıklar takas edilir</a:t>
            </a:r>
            <a:endParaRPr lang="en-US" sz="1700" dirty="0"/>
          </a:p>
        </p:txBody>
      </p:sp>
      <p:sp>
        <p:nvSpPr>
          <p:cNvPr id="11" name="Shape 8"/>
          <p:cNvSpPr/>
          <p:nvPr/>
        </p:nvSpPr>
        <p:spPr>
          <a:xfrm>
            <a:off x="7498080" y="1143000"/>
            <a:ext cx="4144975" cy="2743200"/>
          </a:xfrm>
          <a:prstGeom prst="rect">
            <a:avLst/>
          </a:prstGeom>
          <a:solidFill>
            <a:srgbClr val="F7F8FA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7635240" y="1234440"/>
            <a:ext cx="3870655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 = np.array([[0, 1],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[1, 0]])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 = np.array([0.6, 0.8])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 @ q                  </a:t>
            </a:r>
            <a:r>
              <a:rPr lang="en-US" sz="1400" dirty="0">
                <a:solidFill>
                  <a:srgbClr val="6B7F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[0.8, 0.6]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state_to_bloch(q)      </a:t>
            </a:r>
            <a:r>
              <a:rPr lang="en-US" sz="1400" dirty="0">
                <a:solidFill>
                  <a:srgbClr val="6B7F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[0.96, 0, -0.28]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state_to_bloch(X @ q)  </a:t>
            </a:r>
            <a:r>
              <a:rPr lang="en-US" sz="1400" dirty="0">
                <a:solidFill>
                  <a:srgbClr val="6B7F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[0.96, 0,  0.28]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F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011680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5B84B8"/>
                </a:solidFill>
              </a:rPr>
              <a:t>03</a:t>
            </a:r>
            <a:endParaRPr lang="en-US" sz="72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310896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</a:rPr>
              <a:t>Y kapısı</a:t>
            </a:r>
            <a:endParaRPr lang="en-US" sz="38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397764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C7D2E3"/>
                </a:solidFill>
              </a:rPr>
              <a:t>y ekseni etrafında 180° · takas + faz etiketi</a:t>
            </a:r>
            <a:endParaRPr lang="en-US" sz="1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Y: matris, matris × vektör ve altı durum tablosu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Kuantum Hesaplama ve Uygulamaları · Hafta 4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548640" y="1188720"/>
            <a:ext cx="4754880" cy="822960"/>
          </a:xfrm>
          <a:prstGeom prst="roundRect">
            <a:avLst>
              <a:gd name="adj" fmla="val 11111"/>
            </a:avLst>
          </a:prstGeom>
          <a:solidFill>
            <a:srgbClr val="E8EEF6"/>
          </a:solidFill>
          <a:ln w="12700">
            <a:solidFill>
              <a:srgbClr val="E8EEF6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48640" y="1188720"/>
            <a:ext cx="475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 = [[0, −i], [i, 0]]</a:t>
            </a:r>
            <a:endParaRPr lang="en-US" sz="2400" dirty="0"/>
          </a:p>
        </p:txBody>
      </p:sp>
      <p:sp>
        <p:nvSpPr>
          <p:cNvPr id="8" name="Shape 5"/>
          <p:cNvSpPr/>
          <p:nvPr/>
        </p:nvSpPr>
        <p:spPr>
          <a:xfrm>
            <a:off x="548640" y="2148840"/>
            <a:ext cx="4754880" cy="822960"/>
          </a:xfrm>
          <a:prstGeom prst="roundRect">
            <a:avLst>
              <a:gd name="adj" fmla="val 11111"/>
            </a:avLst>
          </a:prstGeom>
          <a:solidFill>
            <a:srgbClr val="E8EEF6"/>
          </a:solidFill>
          <a:ln w="12700">
            <a:solidFill>
              <a:srgbClr val="E8EEF6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548640" y="2148840"/>
            <a:ext cx="475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 · [α, β] = [−iβ, iα]</a:t>
            </a:r>
            <a:endParaRPr lang="en-US" sz="2200" dirty="0"/>
          </a:p>
        </p:txBody>
      </p:sp>
      <p:sp>
        <p:nvSpPr>
          <p:cNvPr id="10" name="Shape 7"/>
          <p:cNvSpPr/>
          <p:nvPr/>
        </p:nvSpPr>
        <p:spPr>
          <a:xfrm>
            <a:off x="548640" y="3108960"/>
            <a:ext cx="4754880" cy="2834640"/>
          </a:xfrm>
          <a:prstGeom prst="roundRect">
            <a:avLst>
              <a:gd name="adj" fmla="val 2581"/>
            </a:avLst>
          </a:prstGeom>
          <a:solidFill>
            <a:srgbClr val="E8EEF6"/>
          </a:solidFill>
          <a:ln w="12700">
            <a:solidFill>
              <a:srgbClr val="E8EEF6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731520" y="3218688"/>
            <a:ext cx="4389120" cy="2615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700" b="1" dirty="0">
                <a:solidFill>
                  <a:srgbClr val="2E6D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· kimlik kartı</a:t>
            </a:r>
            <a:endParaRPr lang="en-US" sz="17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5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Eksen:</a:t>
            </a: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y   </a:t>
            </a:r>
            <a:r>
              <a:rPr lang="en-US" sz="15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Açı:</a:t>
            </a: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180°</a:t>
            </a:r>
            <a:endParaRPr lang="en-US" sz="17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5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Etki:</a:t>
            </a: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takas + ±i faz</a:t>
            </a:r>
            <a:endParaRPr lang="en-US" sz="17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5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Bloch:</a:t>
            </a: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(x, y, z) → (−x, y, −z)</a:t>
            </a:r>
            <a:endParaRPr lang="en-US" sz="17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5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Qiskit:</a:t>
            </a: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500" dirty="0">
                <a:solidFill>
                  <a:srgbClr val="1F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qc.y(0)</a:t>
            </a: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</a:t>
            </a:r>
            <a:r>
              <a:rPr lang="en-US" sz="15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Tersi:</a:t>
            </a: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Y</a:t>
            </a:r>
            <a:endParaRPr lang="en-US" sz="17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577840" y="1188720"/>
          <a:ext cx="6065215" cy="914400"/>
        </p:xfrm>
        <a:graphic>
          <a:graphicData uri="http://schemas.openxmlformats.org/drawingml/2006/table">
            <a:tbl>
              <a:tblPr/>
              <a:tblGrid>
                <a:gridCol w="970434"/>
                <a:gridCol w="1819565"/>
                <a:gridCol w="1576956"/>
                <a:gridCol w="1698260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Girdi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Çıktı vektörü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Çıktı durumu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Bloch sonra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|0⟩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[0, i]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i·|1⟩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(0, 0, −1)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|1⟩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[−i, 0]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−i·|0⟩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(0, 0, 1)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|+⟩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[−i, i]/√2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−i·|−⟩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(−1, 0, 0)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|−⟩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[i, i]/√2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i·|+⟩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(1, 0, 0)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|+i⟩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[1, i]/√2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|+i⟩ sabit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(0, 1, 0)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|−i⟩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[−1, i]/√2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−|−i⟩ sabit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(0, −1, 0)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</a:tbl>
          </a:graphicData>
        </a:graphic>
      </p:graphicFrame>
      <p:sp>
        <p:nvSpPr>
          <p:cNvPr id="13" name="Text 9"/>
          <p:cNvSpPr txBox="1"/>
          <p:nvPr/>
        </p:nvSpPr>
        <p:spPr>
          <a:xfrm>
            <a:off x="5577840" y="5349240"/>
            <a:ext cx="60652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= i·X·Z: X'in takasını ve Z'nin işaret çevirmesini birlikte yapar (global faz i ile).</a:t>
            </a:r>
            <a:endParaRPr lang="en-US" sz="1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Bloch küresinde: öncesi, sonrası, dönüş yolu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Kuantum Hesaplama ve Uygulamaları · Hafta 4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  <p:pic>
        <p:nvPicPr>
          <p:cNvPr id="6" name="Image 0" descr="görse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158430"/>
            <a:ext cx="11094415" cy="321526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548640" y="4526280"/>
            <a:ext cx="3515258" cy="1417320"/>
          </a:xfrm>
          <a:prstGeom prst="roundRect">
            <a:avLst>
              <a:gd name="adj" fmla="val 5161"/>
            </a:avLst>
          </a:prstGeom>
          <a:solidFill>
            <a:srgbClr val="E8EEF6"/>
          </a:solidFill>
          <a:ln w="12700">
            <a:solidFill>
              <a:srgbClr val="E8EEF6"/>
            </a:solidFill>
            <a:prstDash val="solid"/>
          </a:ln>
        </p:spPr>
      </p:sp>
      <p:sp>
        <p:nvSpPr>
          <p:cNvPr id="8" name="Text 4"/>
          <p:cNvSpPr txBox="1"/>
          <p:nvPr/>
        </p:nvSpPr>
        <p:spPr>
          <a:xfrm>
            <a:off x="731520" y="4636008"/>
            <a:ext cx="3149498" cy="1197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2E6D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ile aynı varış</a:t>
            </a:r>
            <a:endParaRPr lang="en-US" sz="16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|0⟩ → |1⟩, ama yol </a:t>
            </a:r>
            <a:r>
              <a:rPr lang="en-US" sz="15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xz düzleminde</a:t>
            </a:r>
            <a:endParaRPr lang="en-US" sz="1600" dirty="0"/>
          </a:p>
        </p:txBody>
      </p:sp>
      <p:sp>
        <p:nvSpPr>
          <p:cNvPr id="9" name="Shape 5"/>
          <p:cNvSpPr/>
          <p:nvPr/>
        </p:nvSpPr>
        <p:spPr>
          <a:xfrm>
            <a:off x="4246778" y="4526280"/>
            <a:ext cx="3515258" cy="1417320"/>
          </a:xfrm>
          <a:prstGeom prst="roundRect">
            <a:avLst>
              <a:gd name="adj" fmla="val 5161"/>
            </a:avLst>
          </a:prstGeom>
          <a:solidFill>
            <a:srgbClr val="E8EEF6"/>
          </a:solidFill>
          <a:ln w="12700">
            <a:solidFill>
              <a:srgbClr val="E8EEF6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4429658" y="4636008"/>
            <a:ext cx="3149498" cy="1197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2E6D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Ekvatorda da takas</a:t>
            </a:r>
            <a:endParaRPr lang="en-US" sz="16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|+⟩ → |−⟩ (X bunu yapmaz)</a:t>
            </a:r>
            <a:endParaRPr lang="en-US" sz="1600" dirty="0"/>
          </a:p>
        </p:txBody>
      </p:sp>
      <p:sp>
        <p:nvSpPr>
          <p:cNvPr id="11" name="Shape 7"/>
          <p:cNvSpPr/>
          <p:nvPr/>
        </p:nvSpPr>
        <p:spPr>
          <a:xfrm>
            <a:off x="7944917" y="4526280"/>
            <a:ext cx="3515258" cy="1417320"/>
          </a:xfrm>
          <a:prstGeom prst="roundRect">
            <a:avLst>
              <a:gd name="adj" fmla="val 5161"/>
            </a:avLst>
          </a:prstGeom>
          <a:solidFill>
            <a:srgbClr val="E8EEF6"/>
          </a:solidFill>
          <a:ln w="12700">
            <a:solidFill>
              <a:srgbClr val="E8EEF6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8127797" y="4636008"/>
            <a:ext cx="3149498" cy="1197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2E6D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koordinatı korunur</a:t>
            </a:r>
            <a:endParaRPr lang="en-US" sz="16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|+i⟩, |−i⟩ sabit</a:t>
            </a:r>
            <a:endParaRPr lang="en-US" sz="16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film şeridi: dönüşü kare kare izlemek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Kuantum Hesaplama ve Uygulamaları · Hafta 4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000" dirty="0"/>
          </a:p>
        </p:txBody>
      </p:sp>
      <p:pic>
        <p:nvPicPr>
          <p:cNvPr id="6" name="Image 0" descr="görse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189644"/>
            <a:ext cx="11094415" cy="2741353"/>
          </a:xfrm>
          <a:prstGeom prst="rect">
            <a:avLst/>
          </a:prstGeom>
        </p:spPr>
      </p:pic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4206240"/>
          <a:ext cx="11094415" cy="914400"/>
        </p:xfrm>
        <a:graphic>
          <a:graphicData uri="http://schemas.openxmlformats.org/drawingml/2006/table">
            <a:tbl>
              <a:tblPr/>
              <a:tblGrid>
                <a:gridCol w="1775106"/>
                <a:gridCol w="1863862"/>
                <a:gridCol w="1863862"/>
                <a:gridCol w="1863862"/>
                <a:gridCol w="1863862"/>
                <a:gridCol w="1863862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Açı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0°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45°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90°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135°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180°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Bloch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(0, 0, 1)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(0.71, 0, 0.71)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(1, 0, 0) = |+⟩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(0.71, 0, −0.71)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(0, 0, −1) = |1⟩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Shape 3"/>
          <p:cNvSpPr/>
          <p:nvPr/>
        </p:nvSpPr>
        <p:spPr>
          <a:xfrm>
            <a:off x="548640" y="5074920"/>
            <a:ext cx="11094415" cy="868680"/>
          </a:xfrm>
          <a:prstGeom prst="roundRect">
            <a:avLst>
              <a:gd name="adj" fmla="val 8421"/>
            </a:avLst>
          </a:prstGeom>
          <a:solidFill>
            <a:srgbClr val="E8EEF6"/>
          </a:solidFill>
          <a:ln w="12700">
            <a:solidFill>
              <a:srgbClr val="E8EEF6"/>
            </a:solidFill>
            <a:prstDash val="solid"/>
          </a:ln>
        </p:spPr>
      </p:sp>
      <p:sp>
        <p:nvSpPr>
          <p:cNvPr id="9" name="Text 4"/>
          <p:cNvSpPr txBox="1"/>
          <p:nvPr/>
        </p:nvSpPr>
        <p:spPr>
          <a:xfrm>
            <a:off x="731520" y="5184648"/>
            <a:ext cx="10728655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90°'de |0⟩ → |+⟩ (X'te |−i⟩ idi). Aynı uç noktalar, </a:t>
            </a:r>
            <a:r>
              <a:rPr lang="en-US" sz="1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farklı yol</a:t>
            </a: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→ 5. haftada </a:t>
            </a:r>
            <a:r>
              <a:rPr lang="en-US" sz="1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Ry(π/2)</a:t>
            </a: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6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Qiskit'te: kod, Statevector, histogram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Kuantum Hesaplama ve Uygulamaları · Hafta 4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548640" y="1188720"/>
            <a:ext cx="5669280" cy="3246120"/>
          </a:xfrm>
          <a:prstGeom prst="rect">
            <a:avLst/>
          </a:prstGeom>
          <a:solidFill>
            <a:srgbClr val="F7F8FA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85800" y="1280160"/>
            <a:ext cx="5394960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qc = QuantumCircuit(1)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qc.y(0)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print(Statevector(qc))     </a:t>
            </a:r>
            <a:r>
              <a:rPr lang="en-US" sz="1400" dirty="0">
                <a:solidFill>
                  <a:srgbClr val="6B7F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[0, 1j]  = i|1⟩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qc.measure_all()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aer.run(transpile(qc, aer), shots=1000) \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.result().get_counts()  </a:t>
            </a:r>
            <a:r>
              <a:rPr lang="en-US" sz="1400" dirty="0">
                <a:solidFill>
                  <a:srgbClr val="6B7F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{'1': 1000}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6B7F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Ölçüm, X ile Y'yi ayırt edemez!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548640" y="4572000"/>
            <a:ext cx="5669280" cy="1371600"/>
          </a:xfrm>
          <a:prstGeom prst="rect">
            <a:avLst/>
          </a:prstGeom>
          <a:solidFill>
            <a:srgbClr val="F7F8FA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85800" y="4663440"/>
            <a:ext cx="5394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 = np.array([[0, -1j], [1j, 0]])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 @ [1, 0]                    </a:t>
            </a:r>
            <a:r>
              <a:rPr lang="en-US" sz="1300" dirty="0">
                <a:solidFill>
                  <a:srgbClr val="6B7F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[0, 1j]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np.allclose(Y, 1j * X @ Z)    </a:t>
            </a:r>
            <a:r>
              <a:rPr lang="en-US" sz="1300" dirty="0">
                <a:solidFill>
                  <a:srgbClr val="6B7F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True</a:t>
            </a:r>
            <a:endParaRPr lang="en-US" sz="1300" dirty="0"/>
          </a:p>
        </p:txBody>
      </p:sp>
      <p:pic>
        <p:nvPicPr>
          <p:cNvPr id="10" name="Image 0" descr="görse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0" y="1178437"/>
            <a:ext cx="2377440" cy="1209286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9052560" y="1143000"/>
            <a:ext cx="2590495" cy="1325880"/>
          </a:xfrm>
          <a:prstGeom prst="roundRect">
            <a:avLst>
              <a:gd name="adj" fmla="val 5517"/>
            </a:avLst>
          </a:prstGeom>
          <a:solidFill>
            <a:srgbClr val="E8EEF6"/>
          </a:solidFill>
          <a:ln w="12700">
            <a:solidFill>
              <a:srgbClr val="E8EEF6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9235440" y="1252728"/>
            <a:ext cx="2224735" cy="1106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2E6D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Statevector</a:t>
            </a:r>
            <a:endParaRPr lang="en-US" sz="15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[0, i] = i·|1⟩</a:t>
            </a:r>
            <a:endParaRPr lang="en-US" sz="15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|i|² = 1 → P(1) = 1</a:t>
            </a:r>
            <a:endParaRPr lang="en-US" sz="1500" dirty="0"/>
          </a:p>
        </p:txBody>
      </p:sp>
      <p:graphicFrame>
        <p:nvGraphicFramePr>
          <p:cNvPr id="13" name="Chart 0" descr=""/>
          <p:cNvGraphicFramePr/>
          <p:nvPr/>
        </p:nvGraphicFramePr>
        <p:xfrm>
          <a:off x="6492240" y="2606040"/>
          <a:ext cx="5150815" cy="2377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4" name="Shape 9"/>
          <p:cNvSpPr/>
          <p:nvPr/>
        </p:nvSpPr>
        <p:spPr>
          <a:xfrm>
            <a:off x="6492240" y="5074920"/>
            <a:ext cx="5150815" cy="868680"/>
          </a:xfrm>
          <a:prstGeom prst="roundRect">
            <a:avLst>
              <a:gd name="adj" fmla="val 8421"/>
            </a:avLst>
          </a:prstGeom>
          <a:solidFill>
            <a:srgbClr val="E8EEF6"/>
          </a:solidFill>
          <a:ln w="12700">
            <a:solidFill>
              <a:srgbClr val="E8EEF6"/>
            </a:solidFill>
            <a:prstDash val="solid"/>
          </a:ln>
        </p:spPr>
      </p:sp>
      <p:sp>
        <p:nvSpPr>
          <p:cNvPr id="15" name="Text 10"/>
          <p:cNvSpPr txBox="1"/>
          <p:nvPr/>
        </p:nvSpPr>
        <p:spPr>
          <a:xfrm>
            <a:off x="6675120" y="5184648"/>
            <a:ext cx="4785055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Yazılım benzetmesi: </a:t>
            </a:r>
            <a:r>
              <a:rPr lang="en-US" sz="15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etiketli NOT</a:t>
            </a: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değeri çevir, yanına görünmez bir faz etiketi yapıştır</a:t>
            </a:r>
            <a:endParaRPr lang="en-US" sz="15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Çözümlü Örnek 2 · Y'yi gerçek genlikli duruma uygulamak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Kuantum Hesaplama ve Uygulamaları · Hafta 4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548640" y="1143000"/>
            <a:ext cx="6675120" cy="960120"/>
          </a:xfrm>
          <a:prstGeom prst="roundRect">
            <a:avLst>
              <a:gd name="adj" fmla="val 7619"/>
            </a:avLst>
          </a:prstGeom>
          <a:solidFill>
            <a:srgbClr val="E8EEF6"/>
          </a:solidFill>
          <a:ln w="12700">
            <a:solidFill>
              <a:srgbClr val="E8EEF6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31520" y="1252728"/>
            <a:ext cx="630936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2E6D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Soru</a:t>
            </a:r>
            <a:endParaRPr lang="en-US" sz="16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= [0.6, 0.8] için Y·q, olasılıklar ve Bloch koordinatları?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2286000"/>
            <a:ext cx="66751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lvl="1" indent="0" marL="0">
              <a:spcAft>
                <a:spcPts val="1000"/>
              </a:spcAft>
              <a:buNone/>
            </a:pPr>
            <a:r>
              <a:rPr lang="en-US" sz="2200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 · [0.6, 0.8] = [−0.8i, 0.6i]</a:t>
            </a:r>
            <a:endParaRPr lang="en-US" sz="2200" dirty="0"/>
          </a:p>
          <a:p>
            <a:pPr lvl="1" indent="0" marL="0">
              <a:spcAft>
                <a:spcPts val="1000"/>
              </a:spcAft>
              <a:buNone/>
            </a:pPr>
            <a:r>
              <a:rPr lang="en-US" sz="2200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P(0) = 0.64, P(1) = 0.36  (X ile aynı)</a:t>
            </a:r>
            <a:endParaRPr lang="en-US" sz="22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α*β = (0.8i)(0.6i) = −0.48  →  x = −0.96</a:t>
            </a:r>
            <a:endParaRPr lang="en-US" sz="2200" dirty="0"/>
          </a:p>
          <a:p>
            <a:pPr lvl="1" indent="0" marL="0">
              <a:spcAft>
                <a:spcPts val="1000"/>
              </a:spcAft>
              <a:buNone/>
            </a:pPr>
            <a:r>
              <a:rPr lang="en-US" sz="2200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Bloch: (0.96, 0, −0.28) → (−0.96, 0, 0.28)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548640" y="5623560"/>
            <a:ext cx="6675120" cy="685800"/>
          </a:xfrm>
          <a:prstGeom prst="roundRect">
            <a:avLst>
              <a:gd name="adj" fmla="val 10667"/>
            </a:avLst>
          </a:prstGeom>
          <a:solidFill>
            <a:srgbClr val="E8EEF6"/>
          </a:solidFill>
          <a:ln w="12700">
            <a:solidFill>
              <a:srgbClr val="E8EEF6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31520" y="5733288"/>
            <a:ext cx="630936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7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Cevap:</a:t>
            </a: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Olasılıklar X ile aynı, Bloch noktası farklı</a:t>
            </a:r>
            <a:endParaRPr lang="en-US" sz="1700" dirty="0"/>
          </a:p>
        </p:txBody>
      </p:sp>
      <p:sp>
        <p:nvSpPr>
          <p:cNvPr id="11" name="Shape 8"/>
          <p:cNvSpPr/>
          <p:nvPr/>
        </p:nvSpPr>
        <p:spPr>
          <a:xfrm>
            <a:off x="7498080" y="1143000"/>
            <a:ext cx="4144975" cy="3017520"/>
          </a:xfrm>
          <a:prstGeom prst="rect">
            <a:avLst/>
          </a:prstGeom>
          <a:solidFill>
            <a:srgbClr val="F7F8FA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7635240" y="1234440"/>
            <a:ext cx="3870655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 = np.array([[0, -1j],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[1j,  0]])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 = np.array([0.6, 0.8])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 @ q                  </a:t>
            </a:r>
            <a:r>
              <a:rPr lang="en-US" sz="1400" dirty="0">
                <a:solidFill>
                  <a:srgbClr val="6B7F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[-0.8j, 0.6j]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abs(Y @ q)**2          </a:t>
            </a:r>
            <a:r>
              <a:rPr lang="en-US" sz="1400" dirty="0">
                <a:solidFill>
                  <a:srgbClr val="6B7F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[0.64, 0.36]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state_to_bloch(Y @ q)  </a:t>
            </a:r>
            <a:r>
              <a:rPr lang="en-US" sz="1400" dirty="0">
                <a:solidFill>
                  <a:srgbClr val="6B7F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[-0.96, 0, 0.28]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state_to_bloch(X @ q)  </a:t>
            </a:r>
            <a:r>
              <a:rPr lang="en-US" sz="1400" dirty="0">
                <a:solidFill>
                  <a:srgbClr val="6B7F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[ 0.96, 0, 0.28]</a:t>
            </a:r>
            <a:endParaRPr lang="en-US" sz="14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F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011680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5B84B8"/>
                </a:solidFill>
              </a:rPr>
              <a:t>04</a:t>
            </a:r>
            <a:endParaRPr lang="en-US" sz="72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310896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</a:rPr>
              <a:t>Z kapısı</a:t>
            </a:r>
            <a:endParaRPr lang="en-US" sz="38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397764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C7D2E3"/>
                </a:solidFill>
              </a:rPr>
              <a:t>z ekseni etrafında 180° · işaret çevirme</a:t>
            </a:r>
            <a:endParaRPr lang="en-US" sz="18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Z: matris, matris × vektör ve altı durum tablosu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Kuantum Hesaplama ve Uygulamaları · Hafta 4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548640" y="1188720"/>
            <a:ext cx="4754880" cy="822960"/>
          </a:xfrm>
          <a:prstGeom prst="roundRect">
            <a:avLst>
              <a:gd name="adj" fmla="val 11111"/>
            </a:avLst>
          </a:prstGeom>
          <a:solidFill>
            <a:srgbClr val="E8EEF6"/>
          </a:solidFill>
          <a:ln w="12700">
            <a:solidFill>
              <a:srgbClr val="E8EEF6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48640" y="1188720"/>
            <a:ext cx="475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 = [[1, 0], [0, −1]]</a:t>
            </a:r>
            <a:endParaRPr lang="en-US" sz="2400" dirty="0"/>
          </a:p>
        </p:txBody>
      </p:sp>
      <p:sp>
        <p:nvSpPr>
          <p:cNvPr id="8" name="Shape 5"/>
          <p:cNvSpPr/>
          <p:nvPr/>
        </p:nvSpPr>
        <p:spPr>
          <a:xfrm>
            <a:off x="548640" y="2148840"/>
            <a:ext cx="4754880" cy="822960"/>
          </a:xfrm>
          <a:prstGeom prst="roundRect">
            <a:avLst>
              <a:gd name="adj" fmla="val 11111"/>
            </a:avLst>
          </a:prstGeom>
          <a:solidFill>
            <a:srgbClr val="E8EEF6"/>
          </a:solidFill>
          <a:ln w="12700">
            <a:solidFill>
              <a:srgbClr val="E8EEF6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548640" y="2148840"/>
            <a:ext cx="475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 · [α, β] = [α, −β]</a:t>
            </a:r>
            <a:endParaRPr lang="en-US" sz="2200" dirty="0"/>
          </a:p>
        </p:txBody>
      </p:sp>
      <p:sp>
        <p:nvSpPr>
          <p:cNvPr id="10" name="Shape 7"/>
          <p:cNvSpPr/>
          <p:nvPr/>
        </p:nvSpPr>
        <p:spPr>
          <a:xfrm>
            <a:off x="548640" y="3108960"/>
            <a:ext cx="4754880" cy="2834640"/>
          </a:xfrm>
          <a:prstGeom prst="roundRect">
            <a:avLst>
              <a:gd name="adj" fmla="val 2581"/>
            </a:avLst>
          </a:prstGeom>
          <a:solidFill>
            <a:srgbClr val="E8EEF6"/>
          </a:solidFill>
          <a:ln w="12700">
            <a:solidFill>
              <a:srgbClr val="E8EEF6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731520" y="3218688"/>
            <a:ext cx="4389120" cy="2615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700" b="1" dirty="0">
                <a:solidFill>
                  <a:srgbClr val="2E6D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 · kimlik kartı</a:t>
            </a:r>
            <a:endParaRPr lang="en-US" sz="17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5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Eksen:</a:t>
            </a: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z   </a:t>
            </a:r>
            <a:r>
              <a:rPr lang="en-US" sz="15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Açı:</a:t>
            </a: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180°</a:t>
            </a:r>
            <a:endParaRPr lang="en-US" sz="17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5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Etki:</a:t>
            </a: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|1⟩ kolunda işaret çevirme</a:t>
            </a:r>
            <a:endParaRPr lang="en-US" sz="17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5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Bloch:</a:t>
            </a: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(x, y, z) → (−x, −y, z)</a:t>
            </a:r>
            <a:endParaRPr lang="en-US" sz="17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5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Qiskit:</a:t>
            </a: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500" dirty="0">
                <a:solidFill>
                  <a:srgbClr val="1F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qc.z(0)</a:t>
            </a: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</a:t>
            </a:r>
            <a:r>
              <a:rPr lang="en-US" sz="15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Tersi:</a:t>
            </a: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Z</a:t>
            </a:r>
            <a:endParaRPr lang="en-US" sz="170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577840" y="1188720"/>
          <a:ext cx="6065215" cy="914400"/>
        </p:xfrm>
        <a:graphic>
          <a:graphicData uri="http://schemas.openxmlformats.org/drawingml/2006/table">
            <a:tbl>
              <a:tblPr/>
              <a:tblGrid>
                <a:gridCol w="970434"/>
                <a:gridCol w="1819565"/>
                <a:gridCol w="1576956"/>
                <a:gridCol w="1698260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Girdi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Çıktı vektörü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Çıktı durumu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Bloch sonra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|0⟩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[1, 0]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|0⟩ sabit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(0, 0, 1)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|1⟩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[0, −1]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−|1⟩ sabit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(0, 0, −1)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|+⟩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[1, −1]/√2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|−⟩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(−1, 0, 0)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|−⟩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[1, 1]/√2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|+⟩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(1, 0, 0)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|+i⟩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[1, −i]/√2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|−i⟩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(0, −1, 0)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|−i⟩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[1, i]/√2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|+i⟩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(0, 1, 0)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</a:tbl>
          </a:graphicData>
        </a:graphic>
      </p:graphicFrame>
      <p:sp>
        <p:nvSpPr>
          <p:cNvPr id="13" name="Text 9"/>
          <p:cNvSpPr txBox="1"/>
          <p:nvPr/>
        </p:nvSpPr>
        <p:spPr>
          <a:xfrm>
            <a:off x="5577840" y="5349240"/>
            <a:ext cx="60652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 değişmez → </a:t>
            </a:r>
            <a:r>
              <a:rPr lang="en-US" sz="14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olasılıklar değişmez</a:t>
            </a: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Z'nin etkisi doğrudan ölçümle görülmez.</a:t>
            </a:r>
            <a:endParaRPr lang="en-US" sz="14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 Bloch küresinde: öncesi, sonrası, dönüş yolu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Kuantum Hesaplama ve Uygulamaları · Hafta 4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1000" dirty="0"/>
          </a:p>
        </p:txBody>
      </p:sp>
      <p:pic>
        <p:nvPicPr>
          <p:cNvPr id="6" name="Image 0" descr="görse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158430"/>
            <a:ext cx="11094415" cy="321526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548640" y="4526280"/>
            <a:ext cx="3515258" cy="1417320"/>
          </a:xfrm>
          <a:prstGeom prst="roundRect">
            <a:avLst>
              <a:gd name="adj" fmla="val 5161"/>
            </a:avLst>
          </a:prstGeom>
          <a:solidFill>
            <a:srgbClr val="E8EEF6"/>
          </a:solidFill>
          <a:ln w="12700">
            <a:solidFill>
              <a:srgbClr val="E8EEF6"/>
            </a:solidFill>
            <a:prstDash val="solid"/>
          </a:ln>
        </p:spPr>
      </p:sp>
      <p:sp>
        <p:nvSpPr>
          <p:cNvPr id="8" name="Text 4"/>
          <p:cNvSpPr txBox="1"/>
          <p:nvPr/>
        </p:nvSpPr>
        <p:spPr>
          <a:xfrm>
            <a:off x="731520" y="4636008"/>
            <a:ext cx="3149498" cy="1197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2E6D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Ekvatorda yarım tur</a:t>
            </a:r>
            <a:endParaRPr lang="en-US" sz="16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|+⟩ → |−⟩, |+i⟩ → |−i⟩</a:t>
            </a:r>
            <a:endParaRPr lang="en-US" sz="1600" dirty="0"/>
          </a:p>
        </p:txBody>
      </p:sp>
      <p:sp>
        <p:nvSpPr>
          <p:cNvPr id="9" name="Shape 5"/>
          <p:cNvSpPr/>
          <p:nvPr/>
        </p:nvSpPr>
        <p:spPr>
          <a:xfrm>
            <a:off x="4246778" y="4526280"/>
            <a:ext cx="3515258" cy="1417320"/>
          </a:xfrm>
          <a:prstGeom prst="roundRect">
            <a:avLst>
              <a:gd name="adj" fmla="val 5161"/>
            </a:avLst>
          </a:prstGeom>
          <a:solidFill>
            <a:srgbClr val="E8EEF6"/>
          </a:solidFill>
          <a:ln w="12700">
            <a:solidFill>
              <a:srgbClr val="E8EEF6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4429658" y="4636008"/>
            <a:ext cx="3149498" cy="1197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2E6D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Kutuplar sabit</a:t>
            </a:r>
            <a:endParaRPr lang="en-US" sz="16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|0⟩ ve |1⟩ kıpırdamaz</a:t>
            </a:r>
            <a:endParaRPr lang="en-US" sz="1600" dirty="0"/>
          </a:p>
        </p:txBody>
      </p:sp>
      <p:sp>
        <p:nvSpPr>
          <p:cNvPr id="11" name="Shape 7"/>
          <p:cNvSpPr/>
          <p:nvPr/>
        </p:nvSpPr>
        <p:spPr>
          <a:xfrm>
            <a:off x="7944917" y="4526280"/>
            <a:ext cx="3515258" cy="1417320"/>
          </a:xfrm>
          <a:prstGeom prst="roundRect">
            <a:avLst>
              <a:gd name="adj" fmla="val 5161"/>
            </a:avLst>
          </a:prstGeom>
          <a:solidFill>
            <a:srgbClr val="FDF3E8"/>
          </a:solidFill>
          <a:ln w="12700">
            <a:solidFill>
              <a:srgbClr val="FDF3E8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8127797" y="4636008"/>
            <a:ext cx="3149498" cy="1197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D98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Olasılık aynı, durum farklı!</a:t>
            </a:r>
            <a:endParaRPr lang="en-US" sz="16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|+⟩ ile |−⟩ birbirine </a:t>
            </a:r>
            <a:r>
              <a:rPr lang="en-US" sz="15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dik</a:t>
            </a:r>
            <a:endParaRPr lang="en-US" sz="16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 film şeridi: dönüşü kare kare izlemek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Kuantum Hesaplama ve Uygulamaları · Hafta 4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1000" dirty="0"/>
          </a:p>
        </p:txBody>
      </p:sp>
      <p:pic>
        <p:nvPicPr>
          <p:cNvPr id="6" name="Image 0" descr="görse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189644"/>
            <a:ext cx="11094415" cy="2741353"/>
          </a:xfrm>
          <a:prstGeom prst="rect">
            <a:avLst/>
          </a:prstGeom>
        </p:spPr>
      </p:pic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4206240"/>
          <a:ext cx="11094415" cy="914400"/>
        </p:xfrm>
        <a:graphic>
          <a:graphicData uri="http://schemas.openxmlformats.org/drawingml/2006/table">
            <a:tbl>
              <a:tblPr/>
              <a:tblGrid>
                <a:gridCol w="1775106"/>
                <a:gridCol w="1863862"/>
                <a:gridCol w="1863862"/>
                <a:gridCol w="1863862"/>
                <a:gridCol w="1863862"/>
                <a:gridCol w="1863862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Açı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0°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45°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90°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135°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180°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Bloch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(1, 0, 0) = |+⟩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(0.71, 0.71, 0)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(0, 1, 0) = |+i⟩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(−0.71, 0.71, 0)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(−1, 0, 0) = |−⟩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Shape 3"/>
          <p:cNvSpPr/>
          <p:nvPr/>
        </p:nvSpPr>
        <p:spPr>
          <a:xfrm>
            <a:off x="548640" y="5074920"/>
            <a:ext cx="11094415" cy="868680"/>
          </a:xfrm>
          <a:prstGeom prst="roundRect">
            <a:avLst>
              <a:gd name="adj" fmla="val 8421"/>
            </a:avLst>
          </a:prstGeom>
          <a:solidFill>
            <a:srgbClr val="E8EEF6"/>
          </a:solidFill>
          <a:ln w="12700">
            <a:solidFill>
              <a:srgbClr val="E8EEF6"/>
            </a:solidFill>
            <a:prstDash val="solid"/>
          </a:ln>
        </p:spPr>
      </p:sp>
      <p:sp>
        <p:nvSpPr>
          <p:cNvPr id="9" name="Text 4"/>
          <p:cNvSpPr txBox="1"/>
          <p:nvPr/>
        </p:nvSpPr>
        <p:spPr>
          <a:xfrm>
            <a:off x="731520" y="5184648"/>
            <a:ext cx="10728655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90° = </a:t>
            </a:r>
            <a:r>
              <a:rPr lang="en-US" sz="1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 kapısı</a:t>
            </a: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45° = </a:t>
            </a:r>
            <a:r>
              <a:rPr lang="en-US" sz="1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 kapısı</a:t>
            </a: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(5. hafta). Tüm karelerde P(0) = P(1) = 0.5.</a:t>
            </a:r>
            <a:endParaRPr lang="en-US" sz="16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 Qiskit'te: kod, Statevector, histogram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Kuantum Hesaplama ve Uygulamaları · Hafta 4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548640" y="1188720"/>
            <a:ext cx="5669280" cy="3246120"/>
          </a:xfrm>
          <a:prstGeom prst="rect">
            <a:avLst/>
          </a:prstGeom>
          <a:solidFill>
            <a:srgbClr val="F7F8FA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85800" y="1280160"/>
            <a:ext cx="5394960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qc = QuantumCircuit(1)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qc.h(0)                    </a:t>
            </a:r>
            <a:r>
              <a:rPr lang="en-US" sz="1400" dirty="0">
                <a:solidFill>
                  <a:srgbClr val="6B7F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|+⟩ hazırla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qc.z(0)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print(Statevector(qc))     </a:t>
            </a:r>
            <a:r>
              <a:rPr lang="en-US" sz="1400" dirty="0">
                <a:solidFill>
                  <a:srgbClr val="6B7F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[0.707, -0.707] = |−⟩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direct = qc.copy(); direct.measure_all()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wrapped = qc.copy(); wrapped.h(0)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wrapped.measure_all()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6B7F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direct : {'0': 510, '1': 490}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6B7F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wrapped: {'1': 1000}   &lt;- H farkı görünür yaptı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548640" y="4572000"/>
            <a:ext cx="5669280" cy="1371600"/>
          </a:xfrm>
          <a:prstGeom prst="rect">
            <a:avLst/>
          </a:prstGeom>
          <a:solidFill>
            <a:srgbClr val="F7F8FA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85800" y="4663440"/>
            <a:ext cx="5394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 @ plus                 </a:t>
            </a:r>
            <a:r>
              <a:rPr lang="en-US" sz="1300" dirty="0">
                <a:solidFill>
                  <a:srgbClr val="6B7F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[0.707, -0.707]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abs(Z @ plus)**2         </a:t>
            </a:r>
            <a:r>
              <a:rPr lang="en-US" sz="1300" dirty="0">
                <a:solidFill>
                  <a:srgbClr val="6B7F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[0.5, 0.5]  aynı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abs(H @ Z @ plus)**2     </a:t>
            </a:r>
            <a:r>
              <a:rPr lang="en-US" sz="1300" dirty="0">
                <a:solidFill>
                  <a:srgbClr val="6B7F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[0, 1]</a:t>
            </a:r>
            <a:endParaRPr lang="en-US" sz="1300" dirty="0"/>
          </a:p>
        </p:txBody>
      </p:sp>
      <p:pic>
        <p:nvPicPr>
          <p:cNvPr id="10" name="Image 0" descr="görse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0" y="1346589"/>
            <a:ext cx="2377440" cy="872982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9052560" y="1143000"/>
            <a:ext cx="2590495" cy="1325880"/>
          </a:xfrm>
          <a:prstGeom prst="roundRect">
            <a:avLst>
              <a:gd name="adj" fmla="val 5517"/>
            </a:avLst>
          </a:prstGeom>
          <a:solidFill>
            <a:srgbClr val="E8EEF6"/>
          </a:solidFill>
          <a:ln w="12700">
            <a:solidFill>
              <a:srgbClr val="E8EEF6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9235440" y="1252728"/>
            <a:ext cx="2224735" cy="1106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2E6D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Statevector</a:t>
            </a:r>
            <a:endParaRPr lang="en-US" sz="15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[0.707, −0.707] = |−⟩</a:t>
            </a:r>
            <a:endParaRPr lang="en-US" sz="15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= 0.5 / 0.5</a:t>
            </a:r>
            <a:endParaRPr lang="en-US" sz="1500" dirty="0"/>
          </a:p>
        </p:txBody>
      </p:sp>
      <p:graphicFrame>
        <p:nvGraphicFramePr>
          <p:cNvPr id="13" name="Chart 0" descr=""/>
          <p:cNvGraphicFramePr/>
          <p:nvPr/>
        </p:nvGraphicFramePr>
        <p:xfrm>
          <a:off x="6492240" y="2606040"/>
          <a:ext cx="5150815" cy="2377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4" name="Shape 9"/>
          <p:cNvSpPr/>
          <p:nvPr/>
        </p:nvSpPr>
        <p:spPr>
          <a:xfrm>
            <a:off x="6492240" y="5074920"/>
            <a:ext cx="5150815" cy="868680"/>
          </a:xfrm>
          <a:prstGeom prst="roundRect">
            <a:avLst>
              <a:gd name="adj" fmla="val 8421"/>
            </a:avLst>
          </a:prstGeom>
          <a:solidFill>
            <a:srgbClr val="E8EEF6"/>
          </a:solidFill>
          <a:ln w="12700">
            <a:solidFill>
              <a:srgbClr val="E8EEF6"/>
            </a:solidFill>
            <a:prstDash val="solid"/>
          </a:ln>
        </p:spPr>
      </p:sp>
      <p:sp>
        <p:nvSpPr>
          <p:cNvPr id="15" name="Text 10"/>
          <p:cNvSpPr txBox="1"/>
          <p:nvPr/>
        </p:nvSpPr>
        <p:spPr>
          <a:xfrm>
            <a:off x="6675120" y="5184648"/>
            <a:ext cx="4785055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Yazılım benzetmesi: </a:t>
            </a:r>
            <a:r>
              <a:rPr lang="en-US" sz="15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işaret çevirme</a:t>
            </a: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yalnız "1" dalında: </a:t>
            </a:r>
            <a:r>
              <a:rPr lang="en-US" sz="1500" dirty="0">
                <a:solidFill>
                  <a:srgbClr val="1F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bit: amp = -amp</a:t>
            </a:r>
            <a:endParaRPr lang="en-US" sz="15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Çözümlü Örnek 3 · Z'nin etkisini görünür yapmak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Kuantum Hesaplama ve Uygulamaları · Hafta 4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548640" y="1143000"/>
            <a:ext cx="6675120" cy="960120"/>
          </a:xfrm>
          <a:prstGeom prst="roundRect">
            <a:avLst>
              <a:gd name="adj" fmla="val 7619"/>
            </a:avLst>
          </a:prstGeom>
          <a:solidFill>
            <a:srgbClr val="E8EEF6"/>
          </a:solidFill>
          <a:ln w="12700">
            <a:solidFill>
              <a:srgbClr val="E8EEF6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31520" y="1252728"/>
            <a:ext cx="630936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2E6D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Soru</a:t>
            </a:r>
            <a:endParaRPr lang="en-US" sz="16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|0⟩ → H → Z → H devresinin sonucu? Z olmasaydı ne olurdu?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2286000"/>
            <a:ext cx="66751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lvl="1" indent="0" marL="0">
              <a:spcAft>
                <a:spcPts val="1000"/>
              </a:spcAft>
              <a:buNone/>
            </a:pPr>
            <a:r>
              <a:rPr lang="en-US" sz="2200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H|0⟩ = |+⟩</a:t>
            </a:r>
            <a:endParaRPr lang="en-US" sz="2200" dirty="0"/>
          </a:p>
          <a:p>
            <a:pPr lvl="1" indent="0" marL="0">
              <a:spcAft>
                <a:spcPts val="1000"/>
              </a:spcAft>
              <a:buNone/>
            </a:pPr>
            <a:r>
              <a:rPr lang="en-US" sz="2200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Z|+⟩ = |−⟩   (olasılıklar hâlâ 0.5 / 0.5)</a:t>
            </a:r>
            <a:endParaRPr lang="en-US" sz="2200" dirty="0"/>
          </a:p>
          <a:p>
            <a:pPr lvl="1" indent="0" marL="0">
              <a:spcAft>
                <a:spcPts val="1000"/>
              </a:spcAft>
              <a:buNone/>
            </a:pPr>
            <a:r>
              <a:rPr lang="en-US" sz="2200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H|−⟩ = [0, 1] = |1⟩  → ölçüm hep 1</a:t>
            </a:r>
            <a:endParaRPr lang="en-US" sz="22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Z olmadan: H·H|0⟩ = |0⟩ → ölçüm hep 0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548640" y="5623560"/>
            <a:ext cx="6675120" cy="685800"/>
          </a:xfrm>
          <a:prstGeom prst="roundRect">
            <a:avLst>
              <a:gd name="adj" fmla="val 10667"/>
            </a:avLst>
          </a:prstGeom>
          <a:solidFill>
            <a:srgbClr val="E8EEF6"/>
          </a:solidFill>
          <a:ln w="12700">
            <a:solidFill>
              <a:srgbClr val="E8EEF6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31520" y="5733288"/>
            <a:ext cx="630936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7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Cevap:</a:t>
            </a: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Z sonucu 0'dan 1'e çevirdi</a:t>
            </a:r>
            <a:endParaRPr lang="en-US" sz="1700" dirty="0"/>
          </a:p>
        </p:txBody>
      </p:sp>
      <p:pic>
        <p:nvPicPr>
          <p:cNvPr id="11" name="Image 0" descr="görse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0" y="1250675"/>
            <a:ext cx="4144975" cy="1522010"/>
          </a:xfrm>
          <a:prstGeom prst="rect">
            <a:avLst/>
          </a:prstGeom>
        </p:spPr>
      </p:pic>
      <p:graphicFrame>
        <p:nvGraphicFramePr>
          <p:cNvPr id="2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498080" y="3154680"/>
          <a:ext cx="4144975" cy="914400"/>
        </p:xfrm>
        <a:graphic>
          <a:graphicData uri="http://schemas.openxmlformats.org/drawingml/2006/table">
            <a:tbl>
              <a:tblPr/>
              <a:tblGrid>
                <a:gridCol w="2486985"/>
                <a:gridCol w="165799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Devre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Ölçüm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 → H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hep 0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 → Z → H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hep 1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1F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011680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5B84B8"/>
                </a:solidFill>
              </a:rPr>
              <a:t>05</a:t>
            </a:r>
            <a:endParaRPr lang="en-US" sz="72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310896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</a:rPr>
              <a:t>H (Hadamard) kapısı</a:t>
            </a:r>
            <a:endParaRPr lang="en-US" sz="38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397764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C7D2E3"/>
                </a:solidFill>
              </a:rPr>
              <a:t>(x + z)/√2 ekseni etrafında 180° · baz değiştirici</a:t>
            </a:r>
            <a:endParaRPr lang="en-US" sz="18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H: matris, matris × vektör ve altı durum tablosu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Kuantum Hesaplama ve Uygulamaları · Hafta 4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548640" y="1188720"/>
            <a:ext cx="4754880" cy="822960"/>
          </a:xfrm>
          <a:prstGeom prst="roundRect">
            <a:avLst>
              <a:gd name="adj" fmla="val 11111"/>
            </a:avLst>
          </a:prstGeom>
          <a:solidFill>
            <a:srgbClr val="E8EEF6"/>
          </a:solidFill>
          <a:ln w="12700">
            <a:solidFill>
              <a:srgbClr val="E8EEF6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48640" y="1188720"/>
            <a:ext cx="475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 = (1/√2)·[[1, 1], [1, −1]]</a:t>
            </a:r>
            <a:endParaRPr lang="en-US" sz="2400" dirty="0"/>
          </a:p>
        </p:txBody>
      </p:sp>
      <p:sp>
        <p:nvSpPr>
          <p:cNvPr id="8" name="Shape 5"/>
          <p:cNvSpPr/>
          <p:nvPr/>
        </p:nvSpPr>
        <p:spPr>
          <a:xfrm>
            <a:off x="548640" y="2148840"/>
            <a:ext cx="4754880" cy="822960"/>
          </a:xfrm>
          <a:prstGeom prst="roundRect">
            <a:avLst>
              <a:gd name="adj" fmla="val 11111"/>
            </a:avLst>
          </a:prstGeom>
          <a:solidFill>
            <a:srgbClr val="E8EEF6"/>
          </a:solidFill>
          <a:ln w="12700">
            <a:solidFill>
              <a:srgbClr val="E8EEF6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548640" y="2148840"/>
            <a:ext cx="475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 · [α, β] = [α + β, α − β] / √2</a:t>
            </a:r>
            <a:endParaRPr lang="en-US" sz="2200" dirty="0"/>
          </a:p>
        </p:txBody>
      </p:sp>
      <p:sp>
        <p:nvSpPr>
          <p:cNvPr id="10" name="Shape 7"/>
          <p:cNvSpPr/>
          <p:nvPr/>
        </p:nvSpPr>
        <p:spPr>
          <a:xfrm>
            <a:off x="548640" y="3108960"/>
            <a:ext cx="4754880" cy="2834640"/>
          </a:xfrm>
          <a:prstGeom prst="roundRect">
            <a:avLst>
              <a:gd name="adj" fmla="val 2581"/>
            </a:avLst>
          </a:prstGeom>
          <a:solidFill>
            <a:srgbClr val="E8EEF6"/>
          </a:solidFill>
          <a:ln w="12700">
            <a:solidFill>
              <a:srgbClr val="E8EEF6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731520" y="3218688"/>
            <a:ext cx="4389120" cy="2615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700" b="1" dirty="0">
                <a:solidFill>
                  <a:srgbClr val="2E6D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 · kimlik kartı</a:t>
            </a:r>
            <a:endParaRPr lang="en-US" sz="17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5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Eksen:</a:t>
            </a: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(x + z)/√2   </a:t>
            </a:r>
            <a:r>
              <a:rPr lang="en-US" sz="15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Açı:</a:t>
            </a: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180°</a:t>
            </a:r>
            <a:endParaRPr lang="en-US" sz="17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5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Etki:</a:t>
            </a: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toplam ve fark</a:t>
            </a:r>
            <a:endParaRPr lang="en-US" sz="17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5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Bloch:</a:t>
            </a: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(x, y, z) → (z, −y, x)</a:t>
            </a:r>
            <a:endParaRPr lang="en-US" sz="17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5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Qiskit:</a:t>
            </a: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500" dirty="0">
                <a:solidFill>
                  <a:srgbClr val="1F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qc.h(0)</a:t>
            </a: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</a:t>
            </a:r>
            <a:r>
              <a:rPr lang="en-US" sz="15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Tersi:</a:t>
            </a: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H</a:t>
            </a:r>
            <a:endParaRPr lang="en-US" sz="1700" dirty="0"/>
          </a:p>
        </p:txBody>
      </p:sp>
      <p:graphicFrame>
        <p:nvGraphicFramePr>
          <p:cNvPr id="2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577840" y="1188720"/>
          <a:ext cx="6065215" cy="914400"/>
        </p:xfrm>
        <a:graphic>
          <a:graphicData uri="http://schemas.openxmlformats.org/drawingml/2006/table">
            <a:tbl>
              <a:tblPr/>
              <a:tblGrid>
                <a:gridCol w="970434"/>
                <a:gridCol w="1819565"/>
                <a:gridCol w="1576956"/>
                <a:gridCol w="1698260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Girdi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Çıktı vektörü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Çıktı durumu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Bloch sonra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|0⟩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[1, 1]/√2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|+⟩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(1, 0, 0)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|1⟩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[1, −1]/√2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|−⟩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(−1, 0, 0)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|+⟩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[1, 0]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|0⟩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(0, 0, 1)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|−⟩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[0, 1]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|1⟩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(0, 0, −1)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|+i⟩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[1+i, 1−i]/2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e^(iπ/4)|−i⟩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(0, −1, 0)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|−i⟩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[1−i, 1+i]/2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e^(−iπ/4)|+i⟩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(0, 1, 0)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</a:tbl>
          </a:graphicData>
        </a:graphic>
      </p:graphicFrame>
      <p:sp>
        <p:nvSpPr>
          <p:cNvPr id="13" name="Text 9"/>
          <p:cNvSpPr txBox="1"/>
          <p:nvPr/>
        </p:nvSpPr>
        <p:spPr>
          <a:xfrm>
            <a:off x="5577840" y="5349240"/>
            <a:ext cx="60652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 ↔ x takası: 3. haftadaki "x bazında ölçüm = önce H" kuralının nedeni.</a:t>
            </a:r>
            <a:endParaRPr lang="en-US" sz="14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 Bloch küresinde: öncesi, sonrası, dönüş yolu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Kuantum Hesaplama ve Uygulamaları · Hafta 4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1000" dirty="0"/>
          </a:p>
        </p:txBody>
      </p:sp>
      <p:pic>
        <p:nvPicPr>
          <p:cNvPr id="6" name="Image 0" descr="görse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158430"/>
            <a:ext cx="11094415" cy="321526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548640" y="4526280"/>
            <a:ext cx="3515258" cy="1417320"/>
          </a:xfrm>
          <a:prstGeom prst="roundRect">
            <a:avLst>
              <a:gd name="adj" fmla="val 5161"/>
            </a:avLst>
          </a:prstGeom>
          <a:solidFill>
            <a:srgbClr val="E8EEF6"/>
          </a:solidFill>
          <a:ln w="12700">
            <a:solidFill>
              <a:srgbClr val="E8EEF6"/>
            </a:solidFill>
            <a:prstDash val="solid"/>
          </a:ln>
        </p:spPr>
      </p:sp>
      <p:sp>
        <p:nvSpPr>
          <p:cNvPr id="8" name="Text 4"/>
          <p:cNvSpPr txBox="1"/>
          <p:nvPr/>
        </p:nvSpPr>
        <p:spPr>
          <a:xfrm>
            <a:off x="731520" y="4636008"/>
            <a:ext cx="3149498" cy="1197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2E6D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 ↔ x takası</a:t>
            </a:r>
            <a:endParaRPr lang="en-US" sz="16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|0⟩ ↔ |+⟩, |1⟩ ↔ |−⟩</a:t>
            </a:r>
            <a:endParaRPr lang="en-US" sz="1600" dirty="0"/>
          </a:p>
        </p:txBody>
      </p:sp>
      <p:sp>
        <p:nvSpPr>
          <p:cNvPr id="9" name="Shape 5"/>
          <p:cNvSpPr/>
          <p:nvPr/>
        </p:nvSpPr>
        <p:spPr>
          <a:xfrm>
            <a:off x="4246778" y="4526280"/>
            <a:ext cx="3515258" cy="1417320"/>
          </a:xfrm>
          <a:prstGeom prst="roundRect">
            <a:avLst>
              <a:gd name="adj" fmla="val 5161"/>
            </a:avLst>
          </a:prstGeom>
          <a:solidFill>
            <a:srgbClr val="E8EEF6"/>
          </a:solidFill>
          <a:ln w="12700">
            <a:solidFill>
              <a:srgbClr val="E8EEF6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4429658" y="4636008"/>
            <a:ext cx="3149498" cy="1197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2E6D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ters döner</a:t>
            </a:r>
            <a:endParaRPr lang="en-US" sz="16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|+i⟩ → |−i⟩ (y, eksene dik)</a:t>
            </a:r>
            <a:endParaRPr lang="en-US" sz="1600" dirty="0"/>
          </a:p>
        </p:txBody>
      </p:sp>
      <p:sp>
        <p:nvSpPr>
          <p:cNvPr id="11" name="Shape 7"/>
          <p:cNvSpPr/>
          <p:nvPr/>
        </p:nvSpPr>
        <p:spPr>
          <a:xfrm>
            <a:off x="7944917" y="4526280"/>
            <a:ext cx="3515258" cy="1417320"/>
          </a:xfrm>
          <a:prstGeom prst="roundRect">
            <a:avLst>
              <a:gd name="adj" fmla="val 5161"/>
            </a:avLst>
          </a:prstGeom>
          <a:solidFill>
            <a:srgbClr val="E8EEF6"/>
          </a:solidFill>
          <a:ln w="12700">
            <a:solidFill>
              <a:srgbClr val="E8EEF6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8127797" y="4636008"/>
            <a:ext cx="3149498" cy="1197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2E6D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Sabit durum yok</a:t>
            </a:r>
            <a:endParaRPr lang="en-US" sz="16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altı temel durumdan hiçbiri eksende değil</a:t>
            </a:r>
            <a:endParaRPr lang="en-US" sz="16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 film şeridi: dönüşü kare kare izlemek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Kuantum Hesaplama ve Uygulamaları · Hafta 4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1000" dirty="0"/>
          </a:p>
        </p:txBody>
      </p:sp>
      <p:pic>
        <p:nvPicPr>
          <p:cNvPr id="6" name="Image 0" descr="görse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189644"/>
            <a:ext cx="11094415" cy="2741353"/>
          </a:xfrm>
          <a:prstGeom prst="rect">
            <a:avLst/>
          </a:prstGeom>
        </p:spPr>
      </p:pic>
      <p:graphicFrame>
        <p:nvGraphicFramePr>
          <p:cNvPr id="3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4206240"/>
          <a:ext cx="11094415" cy="914400"/>
        </p:xfrm>
        <a:graphic>
          <a:graphicData uri="http://schemas.openxmlformats.org/drawingml/2006/table">
            <a:tbl>
              <a:tblPr/>
              <a:tblGrid>
                <a:gridCol w="1775106"/>
                <a:gridCol w="1863862"/>
                <a:gridCol w="1863862"/>
                <a:gridCol w="1863862"/>
                <a:gridCol w="1863862"/>
                <a:gridCol w="1863862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Açı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0°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45°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90°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135°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180°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Bloch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(0, 0, 1)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(0.15, −0.5, 0.85)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(0.5, −0.71, 0.5)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(0.85, −0.5, 0.15)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(1, 0, 0) = |+⟩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Shape 3"/>
          <p:cNvSpPr/>
          <p:nvPr/>
        </p:nvSpPr>
        <p:spPr>
          <a:xfrm>
            <a:off x="548640" y="5074920"/>
            <a:ext cx="11094415" cy="868680"/>
          </a:xfrm>
          <a:prstGeom prst="roundRect">
            <a:avLst>
              <a:gd name="adj" fmla="val 8421"/>
            </a:avLst>
          </a:prstGeom>
          <a:solidFill>
            <a:srgbClr val="E8EEF6"/>
          </a:solidFill>
          <a:ln w="12700">
            <a:solidFill>
              <a:srgbClr val="E8EEF6"/>
            </a:solidFill>
            <a:prstDash val="solid"/>
          </a:ln>
        </p:spPr>
      </p:sp>
      <p:sp>
        <p:nvSpPr>
          <p:cNvPr id="9" name="Text 4"/>
          <p:cNvSpPr txBox="1"/>
          <p:nvPr/>
        </p:nvSpPr>
        <p:spPr>
          <a:xfrm>
            <a:off x="731520" y="5184648"/>
            <a:ext cx="10728655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 </a:t>
            </a:r>
            <a:r>
              <a:rPr lang="en-US" sz="1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90° değil 180°</a:t>
            </a: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'lik dönüştür: |0⟩'dan |+⟩'ya kısa yoldan değil, </a:t>
            </a:r>
            <a:r>
              <a:rPr lang="en-US" sz="1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−y tarafından</a:t>
            </a: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dolaşarak gider.</a:t>
            </a:r>
            <a:endParaRPr lang="en-US" sz="16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 Qiskit'te: kod, Statevector, histogram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Kuantum Hesaplama ve Uygulamaları · Hafta 4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548640" y="1188720"/>
            <a:ext cx="5669280" cy="3246120"/>
          </a:xfrm>
          <a:prstGeom prst="rect">
            <a:avLst/>
          </a:prstGeom>
          <a:solidFill>
            <a:srgbClr val="F7F8FA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85800" y="1280160"/>
            <a:ext cx="5394960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qc = QuantumCircuit(1)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qc.h(0)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print(Statevector(qc))     </a:t>
            </a:r>
            <a:r>
              <a:rPr lang="en-US" sz="1400" dirty="0">
                <a:solidFill>
                  <a:srgbClr val="6B7F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[0.707, 0.707] = |+⟩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qc.measure_all()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aer.run(transpile(qc, aer), shots=1000) \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.result().get_counts()  </a:t>
            </a:r>
            <a:r>
              <a:rPr lang="en-US" sz="1400" dirty="0">
                <a:solidFill>
                  <a:srgbClr val="6B7F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{'0': 510, '1': 490}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6B7F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sapma ≈ √(1000·0.5·0.5) ≈ 16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548640" y="4572000"/>
            <a:ext cx="5669280" cy="1371600"/>
          </a:xfrm>
          <a:prstGeom prst="rect">
            <a:avLst/>
          </a:prstGeom>
          <a:solidFill>
            <a:srgbClr val="F7F8FA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85800" y="4663440"/>
            <a:ext cx="5394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 = np.array([[1, 1], [1, -1]]) / np.sqrt(2)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 @ [1, 0]                   </a:t>
            </a:r>
            <a:r>
              <a:rPr lang="en-US" sz="1300" dirty="0">
                <a:solidFill>
                  <a:srgbClr val="6B7F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[0.707, 0.707]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np.allclose(H @ H, np.eye(2))  </a:t>
            </a:r>
            <a:r>
              <a:rPr lang="en-US" sz="1300" dirty="0">
                <a:solidFill>
                  <a:srgbClr val="6B7F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True</a:t>
            </a:r>
            <a:endParaRPr lang="en-US" sz="1300" dirty="0"/>
          </a:p>
        </p:txBody>
      </p:sp>
      <p:pic>
        <p:nvPicPr>
          <p:cNvPr id="10" name="Image 0" descr="görse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0" y="1178437"/>
            <a:ext cx="2377440" cy="1209286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9052560" y="1143000"/>
            <a:ext cx="2590495" cy="1325880"/>
          </a:xfrm>
          <a:prstGeom prst="roundRect">
            <a:avLst>
              <a:gd name="adj" fmla="val 5517"/>
            </a:avLst>
          </a:prstGeom>
          <a:solidFill>
            <a:srgbClr val="E8EEF6"/>
          </a:solidFill>
          <a:ln w="12700">
            <a:solidFill>
              <a:srgbClr val="E8EEF6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9235440" y="1252728"/>
            <a:ext cx="2224735" cy="1106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2E6D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Statevector</a:t>
            </a:r>
            <a:endParaRPr lang="en-US" sz="15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[0.707, 0.707] = |+⟩</a:t>
            </a:r>
            <a:endParaRPr lang="en-US" sz="15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= 0.5 / 0.5</a:t>
            </a:r>
            <a:endParaRPr lang="en-US" sz="1500" dirty="0"/>
          </a:p>
        </p:txBody>
      </p:sp>
      <p:graphicFrame>
        <p:nvGraphicFramePr>
          <p:cNvPr id="13" name="Chart 0" descr=""/>
          <p:cNvGraphicFramePr/>
          <p:nvPr/>
        </p:nvGraphicFramePr>
        <p:xfrm>
          <a:off x="6492240" y="2606040"/>
          <a:ext cx="5150815" cy="2377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4" name="Shape 9"/>
          <p:cNvSpPr/>
          <p:nvPr/>
        </p:nvSpPr>
        <p:spPr>
          <a:xfrm>
            <a:off x="6492240" y="5074920"/>
            <a:ext cx="5150815" cy="868680"/>
          </a:xfrm>
          <a:prstGeom prst="roundRect">
            <a:avLst>
              <a:gd name="adj" fmla="val 8421"/>
            </a:avLst>
          </a:prstGeom>
          <a:solidFill>
            <a:srgbClr val="E8EEF6"/>
          </a:solidFill>
          <a:ln w="12700">
            <a:solidFill>
              <a:srgbClr val="E8EEF6"/>
            </a:solidFill>
            <a:prstDash val="solid"/>
          </a:ln>
        </p:spPr>
      </p:sp>
      <p:sp>
        <p:nvSpPr>
          <p:cNvPr id="15" name="Text 10"/>
          <p:cNvSpPr txBox="1"/>
          <p:nvPr/>
        </p:nvSpPr>
        <p:spPr>
          <a:xfrm>
            <a:off x="6675120" y="5184648"/>
            <a:ext cx="4785055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Yazılım benzetmesi: </a:t>
            </a:r>
            <a:r>
              <a:rPr lang="en-US" sz="15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baz (kodlama) değiştirici</a:t>
            </a: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; encode∘decode = kimlik → H·H = I</a:t>
            </a:r>
            <a:endParaRPr lang="en-US" sz="15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Dört kapının karşılaştırması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Kuantum Hesaplama ve Uygulamaları · Hafta 4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</a:t>
            </a:r>
            <a:endParaRPr lang="en-US" sz="1000" dirty="0"/>
          </a:p>
        </p:txBody>
      </p:sp>
      <p:pic>
        <p:nvPicPr>
          <p:cNvPr id="6" name="Image 0" descr="görse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47393" y="1097280"/>
            <a:ext cx="9296910" cy="2743200"/>
          </a:xfrm>
          <a:prstGeom prst="rect">
            <a:avLst/>
          </a:prstGeom>
        </p:spPr>
      </p:pic>
      <p:graphicFrame>
        <p:nvGraphicFramePr>
          <p:cNvPr id="3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977640"/>
          <a:ext cx="11094415" cy="914400"/>
        </p:xfrm>
        <a:graphic>
          <a:graphicData uri="http://schemas.openxmlformats.org/drawingml/2006/table">
            <a:tbl>
              <a:tblPr/>
              <a:tblGrid>
                <a:gridCol w="3106436"/>
                <a:gridCol w="1996995"/>
                <a:gridCol w="1996995"/>
                <a:gridCol w="1996995"/>
                <a:gridCol w="1996995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Eksen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(x+z)/√2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Olasılıkları değiştirir mi?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evet (takas)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evet (takas)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hayır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evet (karıştırır)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Sabit temel durumlar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|+⟩, |−⟩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|+i⟩, |−i⟩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|0⟩, |1⟩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yok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Benzetme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etiketli NOT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işaret çevirme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baz değiştirici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1F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011680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5B84B8"/>
                </a:solidFill>
              </a:rPr>
              <a:t>2. saat</a:t>
            </a:r>
            <a:endParaRPr lang="en-US" sz="72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310896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</a:rPr>
              <a:t>Çözümlü örnekler ve özdeşlikler</a:t>
            </a:r>
            <a:endParaRPr lang="en-US" sz="38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397764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C7D2E3"/>
                </a:solidFill>
              </a:rPr>
              <a:t>Parmak izi, eşdeğer devreler, ardışık kapılar, geri alma</a:t>
            </a:r>
            <a:endParaRPr lang="en-US" sz="18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Çözümlü Örnek 4 · X ve eksen üzerindeki durumlar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Kuantum Hesaplama ve Uygulamaları · Hafta 4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548640" y="1143000"/>
            <a:ext cx="6675120" cy="960120"/>
          </a:xfrm>
          <a:prstGeom prst="roundRect">
            <a:avLst>
              <a:gd name="adj" fmla="val 7619"/>
            </a:avLst>
          </a:prstGeom>
          <a:solidFill>
            <a:srgbClr val="E8EEF6"/>
          </a:solidFill>
          <a:ln w="12700">
            <a:solidFill>
              <a:srgbClr val="E8EEF6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31520" y="1252728"/>
            <a:ext cx="630936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2E6D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Soru</a:t>
            </a:r>
            <a:endParaRPr lang="en-US" sz="16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X|−⟩ ve X|+i⟩ nedir? Hangi durum yerinde kalır? Bulunan çarpanlar ölçümü etkiler mi?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2286000"/>
            <a:ext cx="66751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lvl="1" indent="0" marL="0">
              <a:spcAft>
                <a:spcPts val="1000"/>
              </a:spcAft>
              <a:buNone/>
            </a:pPr>
            <a:r>
              <a:rPr lang="en-US" sz="2200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X·[1, −1]/√2 = [−1, 1]/√2 = −|−⟩</a:t>
            </a:r>
            <a:endParaRPr lang="en-US" sz="22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−1 tüm vektörü çarpar → </a:t>
            </a:r>
            <a:r>
              <a:rPr lang="en-US" sz="19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faz</a:t>
            </a:r>
            <a:r>
              <a:rPr lang="en-US" sz="1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; durum aynı (Bloch sabit)</a:t>
            </a:r>
            <a:endParaRPr lang="en-US" sz="2200" dirty="0"/>
          </a:p>
          <a:p>
            <a:pPr lvl="1" indent="0" marL="0">
              <a:spcAft>
                <a:spcPts val="1000"/>
              </a:spcAft>
              <a:buNone/>
            </a:pPr>
            <a:r>
              <a:rPr lang="en-US" sz="2200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X·[1, i]/√2 = [i, 1]/√2 = i·|−i⟩</a:t>
            </a:r>
            <a:endParaRPr lang="en-US" sz="22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Durum değişti: |+i⟩ → |−i⟩ (i yine global faz)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548640" y="5623560"/>
            <a:ext cx="6675120" cy="685800"/>
          </a:xfrm>
          <a:prstGeom prst="roundRect">
            <a:avLst>
              <a:gd name="adj" fmla="val 10667"/>
            </a:avLst>
          </a:prstGeom>
          <a:solidFill>
            <a:srgbClr val="E8EEF6"/>
          </a:solidFill>
          <a:ln w="12700">
            <a:solidFill>
              <a:srgbClr val="E8EEF6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31520" y="5733288"/>
            <a:ext cx="630936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7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Cevap:</a:t>
            </a: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|−⟩ yerinde kalır; |+i⟩ → |−i⟩</a:t>
            </a:r>
            <a:endParaRPr lang="en-US" sz="1700" dirty="0"/>
          </a:p>
        </p:txBody>
      </p:sp>
      <p:sp>
        <p:nvSpPr>
          <p:cNvPr id="11" name="Shape 8"/>
          <p:cNvSpPr/>
          <p:nvPr/>
        </p:nvSpPr>
        <p:spPr>
          <a:xfrm>
            <a:off x="7498080" y="1143000"/>
            <a:ext cx="4144975" cy="3017520"/>
          </a:xfrm>
          <a:prstGeom prst="rect">
            <a:avLst/>
          </a:prstGeom>
          <a:solidFill>
            <a:srgbClr val="F7F8FA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7635240" y="1234440"/>
            <a:ext cx="3870655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same_state(a, b):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np.isclose(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abs(np.vdot(a, b)), 1)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same_state(X @ minus, minus)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6B7F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True  -&gt; aynı durum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same_state(X @ plus_i, minus_i)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6B7F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True</a:t>
            </a:r>
            <a:endParaRPr lang="en-US" sz="14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Çözümlü Örnek 5 · H'yi genel duruma uygulamak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Kuantum Hesaplama ve Uygulamaları · Hafta 4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548640" y="1143000"/>
            <a:ext cx="6675120" cy="960120"/>
          </a:xfrm>
          <a:prstGeom prst="roundRect">
            <a:avLst>
              <a:gd name="adj" fmla="val 7619"/>
            </a:avLst>
          </a:prstGeom>
          <a:solidFill>
            <a:srgbClr val="E8EEF6"/>
          </a:solidFill>
          <a:ln w="12700">
            <a:solidFill>
              <a:srgbClr val="E8EEF6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31520" y="1252728"/>
            <a:ext cx="630936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2E6D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Soru</a:t>
            </a:r>
            <a:endParaRPr lang="en-US" sz="16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= [0.6, 0.8] için H·q? (x, y, z) → (z, −y, x) kuralını doğrulayın.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2286000"/>
            <a:ext cx="66751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lvl="1" indent="0" marL="0">
              <a:spcAft>
                <a:spcPts val="1000"/>
              </a:spcAft>
              <a:buNone/>
            </a:pPr>
            <a:r>
              <a:rPr lang="en-US" sz="2200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H·q = [1.4, −0.2]/√2 ≈ [0.990, −0.141]</a:t>
            </a:r>
            <a:endParaRPr lang="en-US" sz="22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Önce: (0.96, 0, −0.28)</a:t>
            </a:r>
            <a:endParaRPr lang="en-US" sz="2200" dirty="0"/>
          </a:p>
          <a:p>
            <a:pPr lvl="1" indent="0" marL="0">
              <a:spcAft>
                <a:spcPts val="1000"/>
              </a:spcAft>
              <a:buNone/>
            </a:pPr>
            <a:r>
              <a:rPr lang="en-US" sz="2200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Sonra: (−0.28, 0, 0.96)</a:t>
            </a:r>
            <a:endParaRPr lang="en-US" sz="22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x ile z yer değiştirdi ✓ · olasılıklar 0.36/0.64 → 0.98/0.02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548640" y="5623560"/>
            <a:ext cx="6675120" cy="685800"/>
          </a:xfrm>
          <a:prstGeom prst="roundRect">
            <a:avLst>
              <a:gd name="adj" fmla="val 10667"/>
            </a:avLst>
          </a:prstGeom>
          <a:solidFill>
            <a:srgbClr val="E8EEF6"/>
          </a:solidFill>
          <a:ln w="12700">
            <a:solidFill>
              <a:srgbClr val="E8EEF6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31520" y="5733288"/>
            <a:ext cx="630936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7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Cevap:</a:t>
            </a: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[0.990, −0.141]</a:t>
            </a:r>
            <a:endParaRPr lang="en-US" sz="1700" dirty="0"/>
          </a:p>
        </p:txBody>
      </p:sp>
      <p:sp>
        <p:nvSpPr>
          <p:cNvPr id="11" name="Shape 8"/>
          <p:cNvSpPr/>
          <p:nvPr/>
        </p:nvSpPr>
        <p:spPr>
          <a:xfrm>
            <a:off x="7498080" y="1143000"/>
            <a:ext cx="4144975" cy="2194560"/>
          </a:xfrm>
          <a:prstGeom prst="rect">
            <a:avLst/>
          </a:prstGeom>
          <a:solidFill>
            <a:srgbClr val="F7F8FA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7635240" y="1234440"/>
            <a:ext cx="3870655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 = np.array([0.6, 0.8])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 @ q                 </a:t>
            </a:r>
            <a:r>
              <a:rPr lang="en-US" sz="1400" dirty="0">
                <a:solidFill>
                  <a:srgbClr val="6B7F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[0.99, -0.141]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state_to_bloch(q)     </a:t>
            </a:r>
            <a:r>
              <a:rPr lang="en-US" sz="1400" dirty="0">
                <a:solidFill>
                  <a:srgbClr val="6B7F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[0.96, 0, -0.28]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state_to_bloch(H @ q) </a:t>
            </a:r>
            <a:r>
              <a:rPr lang="en-US" sz="1400" dirty="0">
                <a:solidFill>
                  <a:srgbClr val="6B7F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[-0.28, 0, 0.96]</a:t>
            </a:r>
            <a:endParaRPr lang="en-US" sz="14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Çözümlü Örnek 6 · H ve y ekseni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Kuantum Hesaplama ve Uygulamaları · Hafta 4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548640" y="1143000"/>
            <a:ext cx="11094415" cy="960120"/>
          </a:xfrm>
          <a:prstGeom prst="roundRect">
            <a:avLst>
              <a:gd name="adj" fmla="val 7619"/>
            </a:avLst>
          </a:prstGeom>
          <a:solidFill>
            <a:srgbClr val="E8EEF6"/>
          </a:solidFill>
          <a:ln w="12700">
            <a:solidFill>
              <a:srgbClr val="E8EEF6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31520" y="1252728"/>
            <a:ext cx="10728655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2E6D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Soru</a:t>
            </a:r>
            <a:endParaRPr lang="en-US" sz="16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H|+i⟩ nedir? |+i⟩ neden yerinde kalmıyor?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2286000"/>
            <a:ext cx="11094415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lvl="1" indent="0" marL="0">
              <a:spcAft>
                <a:spcPts val="1000"/>
              </a:spcAft>
              <a:buNone/>
            </a:pPr>
            <a:r>
              <a:rPr lang="en-US" sz="2200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H·[1, i]/√2 = [1 + i, 1 − i]/2</a:t>
            </a:r>
            <a:endParaRPr lang="en-US" sz="22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1 + i = √2·e^(iπ/4),  1 − i = √2·e^(−iπ/4)</a:t>
            </a:r>
            <a:endParaRPr lang="en-US" sz="2200" dirty="0"/>
          </a:p>
          <a:p>
            <a:pPr lvl="1" indent="0" marL="0">
              <a:spcAft>
                <a:spcPts val="1000"/>
              </a:spcAft>
              <a:buNone/>
            </a:pPr>
            <a:r>
              <a:rPr lang="en-US" sz="2200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H|+i⟩ = e^(iπ/4) · [1, −i]/√2 = e^(iπ/4)·|−i⟩</a:t>
            </a:r>
            <a:endParaRPr lang="en-US" sz="22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y ekseni H eksenine </a:t>
            </a:r>
            <a:r>
              <a:rPr lang="en-US" sz="19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dik</a:t>
            </a:r>
            <a:r>
              <a:rPr lang="en-US" sz="1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→ 180° dönüş onu tersine çevirir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548640" y="5623560"/>
            <a:ext cx="11094415" cy="685800"/>
          </a:xfrm>
          <a:prstGeom prst="roundRect">
            <a:avLst>
              <a:gd name="adj" fmla="val 10667"/>
            </a:avLst>
          </a:prstGeom>
          <a:solidFill>
            <a:srgbClr val="E8EEF6"/>
          </a:solidFill>
          <a:ln w="12700">
            <a:solidFill>
              <a:srgbClr val="E8EEF6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31520" y="5733288"/>
            <a:ext cx="10728655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7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Cevap:</a:t>
            </a: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e^(iπ/4)·|−i⟩</a:t>
            </a:r>
            <a:endParaRPr lang="en-US" sz="17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Kapının parmak izi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Kuantum Hesaplama ve Uygulamaları · Hafta 4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</a:t>
            </a:r>
            <a:endParaRPr lang="en-US" sz="1000" dirty="0"/>
          </a:p>
        </p:txBody>
      </p:sp>
      <p:pic>
        <p:nvPicPr>
          <p:cNvPr id="6" name="Image 0" descr="görse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141753"/>
            <a:ext cx="11094415" cy="3431494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548640" y="4709160"/>
            <a:ext cx="11094415" cy="1234440"/>
          </a:xfrm>
          <a:prstGeom prst="rect">
            <a:avLst/>
          </a:prstGeom>
          <a:solidFill>
            <a:srgbClr val="F7F8FA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8" name="Text 4"/>
          <p:cNvSpPr txBox="1"/>
          <p:nvPr/>
        </p:nvSpPr>
        <p:spPr>
          <a:xfrm>
            <a:off x="685800" y="4800600"/>
            <a:ext cx="1082009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effect_map(U):                       </a:t>
            </a:r>
            <a:r>
              <a:rPr lang="en-US" sz="1300" dirty="0">
                <a:solidFill>
                  <a:srgbClr val="6B7F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parmak izi: girdi adı -&gt; çıktı adı (global faz yok sayılır)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{k: [m for m, t in STATES.items() if same_state(U @ s, t)][0] for k, s in STATES.items()}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identify = lambda U: [g for g in "XYZH" if effect_map(GATES[g]) == effect_map(U)]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identify(np.exp(0.7j) * Z)               </a:t>
            </a:r>
            <a:r>
              <a:rPr lang="en-US" sz="1300" dirty="0">
                <a:solidFill>
                  <a:srgbClr val="6B7F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['Z']</a:t>
            </a:r>
            <a:endParaRPr lang="en-US" sz="13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Çözümlü Örnek 7 · Kapı dedektifi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Kuantum Hesaplama ve Uygulamaları · Hafta 4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548640" y="1143000"/>
            <a:ext cx="11094415" cy="960120"/>
          </a:xfrm>
          <a:prstGeom prst="roundRect">
            <a:avLst>
              <a:gd name="adj" fmla="val 7619"/>
            </a:avLst>
          </a:prstGeom>
          <a:solidFill>
            <a:srgbClr val="E8EEF6"/>
          </a:solidFill>
          <a:ln w="12700">
            <a:solidFill>
              <a:srgbClr val="E8EEF6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31520" y="1252728"/>
            <a:ext cx="10728655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2E6D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Soru</a:t>
            </a:r>
            <a:endParaRPr lang="en-US" sz="16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Bilinmeyen U: U|0⟩ = |0⟩, U|+⟩ = |−⟩, U|+i⟩ = |−i⟩ (global faz hariç). U hangi kapı?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2286000"/>
            <a:ext cx="11094415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|0⟩ yerinde → eksen z (kutuplardan geçer)</a:t>
            </a:r>
            <a:endParaRPr lang="en-US" sz="19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|+⟩ → |−⟩ → ekvatorda yarım tur → açı 180°</a:t>
            </a:r>
            <a:endParaRPr lang="en-US" sz="19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X, Y |0⟩'ı çevirir; H |0⟩'ı |+⟩'ya götürür → elenir</a:t>
            </a:r>
            <a:endParaRPr lang="en-US" sz="19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z ekseni etrafında 180° = </a:t>
            </a:r>
            <a:r>
              <a:rPr lang="en-US" sz="19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</a:t>
            </a:r>
            <a:endParaRPr lang="en-US" sz="1900" dirty="0"/>
          </a:p>
        </p:txBody>
      </p:sp>
      <p:sp>
        <p:nvSpPr>
          <p:cNvPr id="9" name="Shape 6"/>
          <p:cNvSpPr/>
          <p:nvPr/>
        </p:nvSpPr>
        <p:spPr>
          <a:xfrm>
            <a:off x="548640" y="5623560"/>
            <a:ext cx="11094415" cy="685800"/>
          </a:xfrm>
          <a:prstGeom prst="roundRect">
            <a:avLst>
              <a:gd name="adj" fmla="val 10667"/>
            </a:avLst>
          </a:prstGeom>
          <a:solidFill>
            <a:srgbClr val="E8EEF6"/>
          </a:solidFill>
          <a:ln w="12700">
            <a:solidFill>
              <a:srgbClr val="E8EEF6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31520" y="5733288"/>
            <a:ext cx="10728655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7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Cevap:</a:t>
            </a: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U = Z (global faz dışında)</a:t>
            </a:r>
            <a:endParaRPr lang="en-US" sz="17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Kapı özdeşlikleri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Kuantum Hesaplama ve Uygulamaları · Hafta 4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</a:t>
            </a:r>
            <a:endParaRPr lang="en-US" sz="1000" dirty="0"/>
          </a:p>
        </p:txBody>
      </p:sp>
      <p:graphicFrame>
        <p:nvGraphicFramePr>
          <p:cNvPr id="4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188720"/>
          <a:ext cx="11094415" cy="914400"/>
        </p:xfrm>
        <a:graphic>
          <a:graphicData uri="http://schemas.openxmlformats.org/drawingml/2006/table">
            <a:tbl>
              <a:tblPr/>
              <a:tblGrid>
                <a:gridCol w="2662660"/>
                <a:gridCol w="6656649"/>
                <a:gridCol w="1775106"/>
              </a:tblGrid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Özdeşlik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Bloch yorumu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Global faz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X² = Y² = Z² = H² = I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180° + 180° = 360° = hiç dönmemek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yok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HXH = Z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 ile x ↔ z değiştir, x'te dön, geri değiştir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yok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HZH = X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aynı mantık, ters yönde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yok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HYH = −Y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y, H eksenine dik → y etrafında dönüş yine y etrafında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−1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XZ = −ZX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farklı yol, aynı varış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−1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XY = iZ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dik iki eksende 180° = üçüncü eksende 180°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 = i·X·Z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 sonra X (devre) = Y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3"/>
          <p:cNvSpPr txBox="1"/>
          <p:nvPr/>
        </p:nvSpPr>
        <p:spPr>
          <a:xfrm>
            <a:off x="548640" y="557784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Hatırlatma: matris çarpımı </a:t>
            </a:r>
            <a:r>
              <a:rPr lang="en-US" sz="16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sağdan sola</a:t>
            </a:r>
            <a:r>
              <a:rPr lang="en-US" sz="1600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devre </a:t>
            </a:r>
            <a:r>
              <a:rPr lang="en-US" sz="16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soldan sağa</a:t>
            </a:r>
            <a:r>
              <a:rPr lang="en-US" sz="1600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okunur (2. hafta).</a:t>
            </a:r>
            <a:endParaRPr lang="en-US" sz="16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 sandviçi: çevir → uygula → geri çevir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Kuantum Hesaplama ve Uygulamaları · Hafta 4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</a:t>
            </a:r>
            <a:endParaRPr lang="en-US" sz="1000" dirty="0"/>
          </a:p>
        </p:txBody>
      </p:sp>
      <p:pic>
        <p:nvPicPr>
          <p:cNvPr id="6" name="Image 0" descr="görse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213052"/>
            <a:ext cx="5852160" cy="3243177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6583680" y="1188720"/>
            <a:ext cx="5059375" cy="3383280"/>
          </a:xfrm>
          <a:prstGeom prst="rect">
            <a:avLst/>
          </a:prstGeom>
          <a:solidFill>
            <a:srgbClr val="F7F8FA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8" name="Text 4"/>
          <p:cNvSpPr txBox="1"/>
          <p:nvPr/>
        </p:nvSpPr>
        <p:spPr>
          <a:xfrm>
            <a:off x="6720840" y="1280160"/>
            <a:ext cx="4785055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qiskit.quantum_info import Operator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= QuantumCircuit(1); a.h(0); a.x(0); a.h(0)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 = QuantumCircuit(1); b.z(0)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Operator(a).equiv(Operator(b))   </a:t>
            </a:r>
            <a:r>
              <a:rPr lang="en-US" sz="1300" dirty="0">
                <a:solidFill>
                  <a:srgbClr val="6B7F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True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Operator(a) == Operator(b)       </a:t>
            </a:r>
            <a:r>
              <a:rPr lang="en-US" sz="1300" dirty="0">
                <a:solidFill>
                  <a:srgbClr val="6B7F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True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 = QuantumCircuit(1); c.h(0); c.y(0); c.h(0)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 = QuantumCircuit(1); e.y(0)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Operator(c).equiv(Operator(e))   </a:t>
            </a:r>
            <a:r>
              <a:rPr lang="en-US" sz="1300" dirty="0">
                <a:solidFill>
                  <a:srgbClr val="6B7F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True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Operator(c) == Operator(e)       </a:t>
            </a:r>
            <a:r>
              <a:rPr lang="en-US" sz="1300" dirty="0">
                <a:solidFill>
                  <a:srgbClr val="6B7F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False (−Y)</a:t>
            </a:r>
            <a:endParaRPr lang="en-US" sz="1300" dirty="0"/>
          </a:p>
        </p:txBody>
      </p:sp>
      <p:sp>
        <p:nvSpPr>
          <p:cNvPr id="9" name="Shape 5"/>
          <p:cNvSpPr/>
          <p:nvPr/>
        </p:nvSpPr>
        <p:spPr>
          <a:xfrm>
            <a:off x="548640" y="4754880"/>
            <a:ext cx="11094415" cy="1188720"/>
          </a:xfrm>
          <a:prstGeom prst="roundRect">
            <a:avLst>
              <a:gd name="adj" fmla="val 6154"/>
            </a:avLst>
          </a:prstGeom>
          <a:solidFill>
            <a:srgbClr val="E8EEF6"/>
          </a:solidFill>
          <a:ln w="12700">
            <a:solidFill>
              <a:srgbClr val="E8EEF6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731520" y="4864608"/>
            <a:ext cx="10728655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700" b="1" dirty="0">
                <a:solidFill>
                  <a:srgbClr val="2E6D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`equiv` ile `==` farkı</a:t>
            </a:r>
            <a:endParaRPr lang="en-US" sz="17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600" dirty="0">
                <a:solidFill>
                  <a:srgbClr val="1F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==</a:t>
            </a: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matrisler birebir aynı mı (global faz dahil)?   </a:t>
            </a:r>
            <a:r>
              <a:rPr lang="en-US" sz="1600" dirty="0">
                <a:solidFill>
                  <a:srgbClr val="1F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equiv</a:t>
            </a: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</a:t>
            </a:r>
            <a:r>
              <a:rPr lang="en-US" sz="1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faz dışında</a:t>
            </a: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aynı mı? Tek kübit devre karşılaştırmasında </a:t>
            </a:r>
            <a:r>
              <a:rPr lang="en-US" sz="1600" dirty="0">
                <a:solidFill>
                  <a:srgbClr val="1F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equiv</a:t>
            </a: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kullanın.</a:t>
            </a:r>
            <a:endParaRPr lang="en-US" sz="17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Çözümlü Örnek 8 · HXH = Z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Kuantum Hesaplama ve Uygulamaları · Hafta 4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548640" y="1143000"/>
            <a:ext cx="6675120" cy="960120"/>
          </a:xfrm>
          <a:prstGeom prst="roundRect">
            <a:avLst>
              <a:gd name="adj" fmla="val 7619"/>
            </a:avLst>
          </a:prstGeom>
          <a:solidFill>
            <a:srgbClr val="E8EEF6"/>
          </a:solidFill>
          <a:ln w="12700">
            <a:solidFill>
              <a:srgbClr val="E8EEF6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31520" y="1252728"/>
            <a:ext cx="630936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2E6D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Soru</a:t>
            </a:r>
            <a:endParaRPr lang="en-US" sz="16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H·X·H çarpımını adım adım hesaplayın.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2286000"/>
            <a:ext cx="66751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lvl="1" indent="0" marL="0">
              <a:spcAft>
                <a:spcPts val="1000"/>
              </a:spcAft>
              <a:buNone/>
            </a:pPr>
            <a:r>
              <a:rPr lang="en-US" sz="2200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X·H = (1/√2)[[1, −1], [1, 1]]</a:t>
            </a:r>
            <a:endParaRPr lang="en-US" sz="2200" dirty="0"/>
          </a:p>
          <a:p>
            <a:pPr lvl="1" indent="0" marL="0">
              <a:spcAft>
                <a:spcPts val="1000"/>
              </a:spcAft>
              <a:buNone/>
            </a:pPr>
            <a:r>
              <a:rPr lang="en-US" sz="2200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H·(X·H) = (1/2)[[1,1],[1,−1]]·[[1,−1],[1,1]]</a:t>
            </a:r>
            <a:endParaRPr lang="en-US" sz="2200" dirty="0"/>
          </a:p>
          <a:p>
            <a:pPr lvl="1" indent="0" marL="0">
              <a:spcAft>
                <a:spcPts val="1000"/>
              </a:spcAft>
              <a:buNone/>
            </a:pPr>
            <a:r>
              <a:rPr lang="en-US" sz="2200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(1/2)[[2, 0], [0, −2]] = [[1, 0], [0, −1]] = Z</a:t>
            </a:r>
            <a:endParaRPr lang="en-US" sz="22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Global faz yok → </a:t>
            </a:r>
            <a:r>
              <a:rPr lang="en-US" sz="1900" dirty="0">
                <a:solidFill>
                  <a:srgbClr val="1F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equiv</a:t>
            </a:r>
            <a:r>
              <a:rPr lang="en-US" sz="1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ve </a:t>
            </a:r>
            <a:r>
              <a:rPr lang="en-US" sz="1900" dirty="0">
                <a:solidFill>
                  <a:srgbClr val="1F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==</a:t>
            </a:r>
            <a:r>
              <a:rPr lang="en-US" sz="1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ikisi de True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548640" y="5623560"/>
            <a:ext cx="6675120" cy="685800"/>
          </a:xfrm>
          <a:prstGeom prst="roundRect">
            <a:avLst>
              <a:gd name="adj" fmla="val 10667"/>
            </a:avLst>
          </a:prstGeom>
          <a:solidFill>
            <a:srgbClr val="E8EEF6"/>
          </a:solidFill>
          <a:ln w="12700">
            <a:solidFill>
              <a:srgbClr val="E8EEF6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31520" y="5733288"/>
            <a:ext cx="630936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7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Cevap:</a:t>
            </a: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HXH = Z</a:t>
            </a:r>
            <a:endParaRPr lang="en-US" sz="1700" dirty="0"/>
          </a:p>
        </p:txBody>
      </p:sp>
      <p:sp>
        <p:nvSpPr>
          <p:cNvPr id="11" name="Shape 8"/>
          <p:cNvSpPr/>
          <p:nvPr/>
        </p:nvSpPr>
        <p:spPr>
          <a:xfrm>
            <a:off x="7498080" y="1143000"/>
            <a:ext cx="4144975" cy="2560320"/>
          </a:xfrm>
          <a:prstGeom prst="rect">
            <a:avLst/>
          </a:prstGeom>
          <a:solidFill>
            <a:srgbClr val="F7F8FA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7635240" y="1234440"/>
            <a:ext cx="3870655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np.allclose(H @ X @ H, Z)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6B7F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True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np.allclose(H @ Z @ H, X)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6B7F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True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np.allclose(H @ Y @ H, -Y)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6B7F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True</a:t>
            </a:r>
            <a:endParaRPr lang="en-US" sz="15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Sıra değişince: farklı yol, aynı varış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Kuantum Hesaplama ve Uygulamaları · Hafta 4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</a:t>
            </a:r>
            <a:endParaRPr lang="en-US" sz="1000" dirty="0"/>
          </a:p>
        </p:txBody>
      </p:sp>
      <p:pic>
        <p:nvPicPr>
          <p:cNvPr id="6" name="Image 0" descr="görse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174653"/>
            <a:ext cx="11094415" cy="3594295"/>
          </a:xfrm>
          <a:prstGeom prst="rect">
            <a:avLst/>
          </a:prstGeom>
        </p:spPr>
      </p:pic>
      <p:graphicFrame>
        <p:nvGraphicFramePr>
          <p:cNvPr id="4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4892040"/>
          <a:ext cx="6858000" cy="914400"/>
        </p:xfrm>
        <a:graphic>
          <a:graphicData uri="http://schemas.openxmlformats.org/drawingml/2006/table">
            <a:tbl>
              <a:tblPr/>
              <a:tblGrid>
                <a:gridCol w="2057400"/>
                <a:gridCol w="2400300"/>
                <a:gridCol w="240030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Devre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Matris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Sonuç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 → X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X·Z = −iY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 ile eşdeğer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 → Z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Z·X = iY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 ile eşdeğer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</a:tbl>
          </a:graphicData>
        </a:graphic>
      </p:graphicFrame>
      <p:sp>
        <p:nvSpPr>
          <p:cNvPr id="8" name="Shape 3"/>
          <p:cNvSpPr/>
          <p:nvPr/>
        </p:nvSpPr>
        <p:spPr>
          <a:xfrm>
            <a:off x="7680960" y="4892040"/>
            <a:ext cx="3962095" cy="1051560"/>
          </a:xfrm>
          <a:prstGeom prst="roundRect">
            <a:avLst>
              <a:gd name="adj" fmla="val 6957"/>
            </a:avLst>
          </a:prstGeom>
          <a:solidFill>
            <a:srgbClr val="E8EEF6"/>
          </a:solidFill>
          <a:ln w="12700">
            <a:solidFill>
              <a:srgbClr val="E8EEF6"/>
            </a:solidFill>
            <a:prstDash val="solid"/>
          </a:ln>
        </p:spPr>
      </p:sp>
      <p:sp>
        <p:nvSpPr>
          <p:cNvPr id="9" name="Text 4"/>
          <p:cNvSpPr txBox="1"/>
          <p:nvPr/>
        </p:nvSpPr>
        <p:spPr>
          <a:xfrm>
            <a:off x="7863840" y="5001768"/>
            <a:ext cx="3596335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XZ = −ZX: tek kübitte ölçülemez bir global faz farkı.</a:t>
            </a:r>
            <a:endParaRPr lang="en-US" sz="15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Çözümlü Örnek 9 · XY = iZ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Kuantum Hesaplama ve Uygulamaları · Hafta 4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548640" y="1143000"/>
            <a:ext cx="6675120" cy="960120"/>
          </a:xfrm>
          <a:prstGeom prst="roundRect">
            <a:avLst>
              <a:gd name="adj" fmla="val 7619"/>
            </a:avLst>
          </a:prstGeom>
          <a:solidFill>
            <a:srgbClr val="E8EEF6"/>
          </a:solidFill>
          <a:ln w="12700">
            <a:solidFill>
              <a:srgbClr val="E8EEF6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31520" y="1252728"/>
            <a:ext cx="630936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2E6D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Soru</a:t>
            </a:r>
            <a:endParaRPr lang="en-US" sz="16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Devrede önce Y, sonra X. Matematikte hangi çarpım? Sonuç hangi kapı?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2286000"/>
            <a:ext cx="66751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Sıra kuralı → X·Y (sağdaki önce)</a:t>
            </a:r>
            <a:endParaRPr lang="en-US" sz="1900" dirty="0"/>
          </a:p>
          <a:p>
            <a:pPr lvl="1" indent="0" marL="0">
              <a:spcAft>
                <a:spcPts val="1000"/>
              </a:spcAft>
              <a:buNone/>
            </a:pPr>
            <a:r>
              <a:rPr lang="en-US" sz="2200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X·Y = [[i, 0], [0, −i]] = i·Z</a:t>
            </a:r>
            <a:endParaRPr lang="en-US" sz="19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i global faz → devre </a:t>
            </a:r>
            <a:r>
              <a:rPr lang="en-US" sz="19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 ile eşdeğer</a:t>
            </a:r>
            <a:endParaRPr lang="en-US" sz="19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Bloch: x'te 180° + y'de 180° = z'de 180°</a:t>
            </a:r>
            <a:endParaRPr lang="en-US" sz="1900" dirty="0"/>
          </a:p>
        </p:txBody>
      </p:sp>
      <p:sp>
        <p:nvSpPr>
          <p:cNvPr id="9" name="Shape 6"/>
          <p:cNvSpPr/>
          <p:nvPr/>
        </p:nvSpPr>
        <p:spPr>
          <a:xfrm>
            <a:off x="548640" y="5623560"/>
            <a:ext cx="6675120" cy="685800"/>
          </a:xfrm>
          <a:prstGeom prst="roundRect">
            <a:avLst>
              <a:gd name="adj" fmla="val 10667"/>
            </a:avLst>
          </a:prstGeom>
          <a:solidFill>
            <a:srgbClr val="E8EEF6"/>
          </a:solidFill>
          <a:ln w="12700">
            <a:solidFill>
              <a:srgbClr val="E8EEF6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31520" y="5733288"/>
            <a:ext cx="630936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7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Cevap:</a:t>
            </a: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X·Y = iZ; Z ile eşdeğer</a:t>
            </a:r>
            <a:endParaRPr lang="en-US" sz="1700" dirty="0"/>
          </a:p>
        </p:txBody>
      </p:sp>
      <p:pic>
        <p:nvPicPr>
          <p:cNvPr id="11" name="Image 0" descr="görse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0" y="1505319"/>
            <a:ext cx="4144975" cy="3207282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Bloch üzerinde yolculuk: H → Z → H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Kuantum Hesaplama ve Uygulamaları · Hafta 4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</a:t>
            </a:r>
            <a:endParaRPr lang="en-US" sz="1000" dirty="0"/>
          </a:p>
        </p:txBody>
      </p:sp>
      <p:pic>
        <p:nvPicPr>
          <p:cNvPr id="6" name="Image 0" descr="görse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193818"/>
            <a:ext cx="11094415" cy="2458684"/>
          </a:xfrm>
          <a:prstGeom prst="rect">
            <a:avLst/>
          </a:prstGeom>
        </p:spPr>
      </p:pic>
      <p:graphicFrame>
        <p:nvGraphicFramePr>
          <p:cNvPr id="4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886200"/>
          <a:ext cx="6949440" cy="914400"/>
        </p:xfrm>
        <a:graphic>
          <a:graphicData uri="http://schemas.openxmlformats.org/drawingml/2006/table">
            <a:tbl>
              <a:tblPr/>
              <a:tblGrid>
                <a:gridCol w="833933"/>
                <a:gridCol w="972922"/>
                <a:gridCol w="1667866"/>
                <a:gridCol w="1389888"/>
                <a:gridCol w="2084832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Adım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Kapı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Eksen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Durum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Bloch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|0⟩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(0, 0, 1)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(x+z)/√2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|+⟩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(1, 0, 0)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|−⟩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(−1, 0, 0)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(x+z)/√2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|1⟩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(0, 0, −1)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</a:tbl>
          </a:graphicData>
        </a:graphic>
      </p:graphicFrame>
      <p:sp>
        <p:nvSpPr>
          <p:cNvPr id="8" name="Shape 3"/>
          <p:cNvSpPr/>
          <p:nvPr/>
        </p:nvSpPr>
        <p:spPr>
          <a:xfrm>
            <a:off x="7772400" y="3886200"/>
            <a:ext cx="3870655" cy="2057400"/>
          </a:xfrm>
          <a:prstGeom prst="rect">
            <a:avLst/>
          </a:prstGeom>
          <a:solidFill>
            <a:srgbClr val="F7F8FA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9" name="Text 4"/>
          <p:cNvSpPr txBox="1"/>
          <p:nvPr/>
        </p:nvSpPr>
        <p:spPr>
          <a:xfrm>
            <a:off x="7909560" y="3977640"/>
            <a:ext cx="3596335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psi = np.array([1, 0])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g in ["H", "Z", "H"]: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psi = GATES[g] @ psi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print(g, state_to_bloch(psi))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B7F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toplam etki: HZH = X</a:t>
            </a:r>
            <a:endParaRPr lang="en-US" sz="13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Tersinirlik: kapıları geri almak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Kuantum Hesaplama ve Uygulamaları · Hafta 4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</a:t>
            </a:r>
            <a:endParaRPr lang="en-US" sz="1000" dirty="0"/>
          </a:p>
        </p:txBody>
      </p:sp>
      <p:pic>
        <p:nvPicPr>
          <p:cNvPr id="6" name="Image 0" descr="görse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104213"/>
            <a:ext cx="11094415" cy="3186533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548640" y="4434840"/>
            <a:ext cx="4937760" cy="822960"/>
          </a:xfrm>
          <a:prstGeom prst="roundRect">
            <a:avLst>
              <a:gd name="adj" fmla="val 11111"/>
            </a:avLst>
          </a:prstGeom>
          <a:solidFill>
            <a:srgbClr val="E8EEF6"/>
          </a:solidFill>
          <a:ln w="12700">
            <a:solidFill>
              <a:srgbClr val="E8EEF6"/>
            </a:solidFill>
            <a:prstDash val="solid"/>
          </a:ln>
        </p:spPr>
      </p:sp>
      <p:sp>
        <p:nvSpPr>
          <p:cNvPr id="8" name="Text 4"/>
          <p:cNvSpPr txBox="1"/>
          <p:nvPr/>
        </p:nvSpPr>
        <p:spPr>
          <a:xfrm>
            <a:off x="548640" y="4434840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(U₃·U₂·U₁)⁻¹ = U₁†·U₂†·U₃†</a:t>
            </a:r>
            <a:endParaRPr lang="en-US" sz="2200" dirty="0"/>
          </a:p>
        </p:txBody>
      </p:sp>
      <p:sp>
        <p:nvSpPr>
          <p:cNvPr id="9" name="Shape 5"/>
          <p:cNvSpPr/>
          <p:nvPr/>
        </p:nvSpPr>
        <p:spPr>
          <a:xfrm>
            <a:off x="5669280" y="4434840"/>
            <a:ext cx="5973775" cy="822960"/>
          </a:xfrm>
          <a:prstGeom prst="rect">
            <a:avLst/>
          </a:prstGeom>
          <a:solidFill>
            <a:srgbClr val="F7F8FA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5806440" y="4526280"/>
            <a:ext cx="569945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undo = qc.inverse()          </a:t>
            </a:r>
            <a:r>
              <a:rPr lang="en-US" sz="1300" dirty="0">
                <a:solidFill>
                  <a:srgbClr val="6B7F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ters sıra, ters kapılar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Operator(qc.compose(undo)).equiv(Operator(QuantumCircuit(1)))   </a:t>
            </a:r>
            <a:r>
              <a:rPr lang="en-US" sz="1300" dirty="0">
                <a:solidFill>
                  <a:srgbClr val="6B7F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True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548640" y="5394960"/>
            <a:ext cx="11094415" cy="566928"/>
          </a:xfrm>
          <a:prstGeom prst="roundRect">
            <a:avLst>
              <a:gd name="adj" fmla="val 12903"/>
            </a:avLst>
          </a:prstGeom>
          <a:solidFill>
            <a:srgbClr val="FDF3E8"/>
          </a:solidFill>
          <a:ln w="12700">
            <a:solidFill>
              <a:srgbClr val="FDF3E8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731520" y="5504688"/>
            <a:ext cx="1072865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Yazılım benzetmesi: </a:t>
            </a:r>
            <a:r>
              <a:rPr lang="en-US" sz="15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undo yığını</a:t>
            </a: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</a:t>
            </a:r>
            <a:r>
              <a:rPr lang="en-US" sz="1500" dirty="0">
                <a:solidFill>
                  <a:srgbClr val="1F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revert</a:t>
            </a: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en son yapılan önce geri alınır. </a:t>
            </a:r>
            <a:r>
              <a:rPr lang="en-US" sz="15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Ölçüm geri alınamaz.</a:t>
            </a:r>
            <a:endParaRPr lang="en-US" sz="15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Çözümlü Örnek 10 · Bir diziyi geri almak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Kuantum Hesaplama ve Uygulamaları · Hafta 4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548640" y="1143000"/>
            <a:ext cx="6675120" cy="960120"/>
          </a:xfrm>
          <a:prstGeom prst="roundRect">
            <a:avLst>
              <a:gd name="adj" fmla="val 7619"/>
            </a:avLst>
          </a:prstGeom>
          <a:solidFill>
            <a:srgbClr val="E8EEF6"/>
          </a:solidFill>
          <a:ln w="12700">
            <a:solidFill>
              <a:srgbClr val="E8EEF6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31520" y="1252728"/>
            <a:ext cx="630936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2E6D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Soru</a:t>
            </a:r>
            <a:endParaRPr lang="en-US" sz="16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Devre H → Z → X (başlangıç |0⟩). Son durum? Geri alan dizi?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2286000"/>
            <a:ext cx="66751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lvl="1" indent="0" marL="0">
              <a:spcAft>
                <a:spcPts val="1000"/>
              </a:spcAft>
              <a:buNone/>
            </a:pPr>
            <a:r>
              <a:rPr lang="en-US" sz="2200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H|0⟩ = |+⟩,  Z|+⟩ = |−⟩,  X|−⟩ = −|−⟩</a:t>
            </a:r>
            <a:endParaRPr lang="en-US" sz="22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Son durum |−⟩ (global faz −1)</a:t>
            </a:r>
            <a:endParaRPr lang="en-US" sz="22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Geri alma: ters sıra → X → Z → H</a:t>
            </a:r>
            <a:endParaRPr lang="en-US" sz="2200" dirty="0"/>
          </a:p>
          <a:p>
            <a:pPr lvl="1" indent="0" marL="0">
              <a:spcAft>
                <a:spcPts val="1000"/>
              </a:spcAft>
              <a:buNone/>
            </a:pPr>
            <a:r>
              <a:rPr lang="en-US" sz="2200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X(−|−⟩) = |−⟩ → Z → |+⟩ → H → |0⟩ ✓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548640" y="5623560"/>
            <a:ext cx="6675120" cy="685800"/>
          </a:xfrm>
          <a:prstGeom prst="roundRect">
            <a:avLst>
              <a:gd name="adj" fmla="val 10667"/>
            </a:avLst>
          </a:prstGeom>
          <a:solidFill>
            <a:srgbClr val="E8EEF6"/>
          </a:solidFill>
          <a:ln w="12700">
            <a:solidFill>
              <a:srgbClr val="E8EEF6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31520" y="5733288"/>
            <a:ext cx="630936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7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Cevap:</a:t>
            </a: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Geri alma dizisi X → Z → H</a:t>
            </a:r>
            <a:endParaRPr lang="en-US" sz="1700" dirty="0"/>
          </a:p>
        </p:txBody>
      </p:sp>
      <p:sp>
        <p:nvSpPr>
          <p:cNvPr id="11" name="Shape 8"/>
          <p:cNvSpPr/>
          <p:nvPr/>
        </p:nvSpPr>
        <p:spPr>
          <a:xfrm>
            <a:off x="7498080" y="1143000"/>
            <a:ext cx="4144975" cy="2194560"/>
          </a:xfrm>
          <a:prstGeom prst="rect">
            <a:avLst/>
          </a:prstGeom>
          <a:solidFill>
            <a:srgbClr val="F7F8FA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7635240" y="1234440"/>
            <a:ext cx="3870655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qc = QuantumCircuit(1)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qc.h(0); qc.z(0); qc.x(0)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print(qc.inverse())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6B7F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x, z, h  (ters sıra)</a:t>
            </a:r>
            <a:endParaRPr lang="en-US" sz="15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1F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011680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5B84B8"/>
                </a:solidFill>
              </a:rPr>
              <a:t>3. saat</a:t>
            </a:r>
            <a:endParaRPr lang="en-US" sz="72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310896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</a:rPr>
              <a:t>Lab: Bloch simülatörü ve notebook</a:t>
            </a:r>
            <a:endParaRPr lang="en-US" sz="38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397764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C7D2E3"/>
                </a:solidFill>
              </a:rPr>
              <a:t>Hafta04_Bloch_Simulatoru.html · Hafta04_Lab.ipynb</a:t>
            </a:r>
            <a:endParaRPr lang="en-US" sz="18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Etkileşimli Bloch simülatörü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Kuantum Hesaplama ve Uygulamaları · Hafta 4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</a:t>
            </a:r>
            <a:endParaRPr lang="en-US" sz="1000" dirty="0"/>
          </a:p>
        </p:txBody>
      </p:sp>
      <p:pic>
        <p:nvPicPr>
          <p:cNvPr id="6" name="Image 0" descr="görse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119418"/>
            <a:ext cx="6400800" cy="3247564"/>
          </a:xfrm>
          <a:prstGeom prst="rect">
            <a:avLst/>
          </a:prstGeom>
        </p:spPr>
      </p:pic>
      <p:graphicFrame>
        <p:nvGraphicFramePr>
          <p:cNvPr id="4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223760" y="1188720"/>
          <a:ext cx="4419295" cy="914400"/>
        </p:xfrm>
        <a:graphic>
          <a:graphicData uri="http://schemas.openxmlformats.org/drawingml/2006/table">
            <a:tbl>
              <a:tblPr/>
              <a:tblGrid>
                <a:gridCol w="1988683"/>
                <a:gridCol w="2430612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Bileşen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Hesap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Kapı butonu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3A5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state = U @ state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Animasyon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Rodrigues dönüşü (eksen, açı)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Bloch paneli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2Re(α*β), 2Im(α*β), |α|²−|β|²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P(0)/P(1)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|α|², |β|²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Qiskit kodu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geçmişten üretilir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Shape 3"/>
          <p:cNvSpPr/>
          <p:nvPr/>
        </p:nvSpPr>
        <p:spPr>
          <a:xfrm>
            <a:off x="548640" y="4526280"/>
            <a:ext cx="11094415" cy="1417320"/>
          </a:xfrm>
          <a:prstGeom prst="roundRect">
            <a:avLst>
              <a:gd name="adj" fmla="val 5161"/>
            </a:avLst>
          </a:prstGeom>
          <a:solidFill>
            <a:srgbClr val="E8EEF6"/>
          </a:solidFill>
          <a:ln w="12700">
            <a:solidFill>
              <a:srgbClr val="E8EEF6"/>
            </a:solidFill>
            <a:prstDash val="solid"/>
          </a:ln>
        </p:spPr>
      </p:sp>
      <p:sp>
        <p:nvSpPr>
          <p:cNvPr id="9" name="Text 4"/>
          <p:cNvSpPr txBox="1"/>
          <p:nvPr/>
        </p:nvSpPr>
        <p:spPr>
          <a:xfrm>
            <a:off x="731520" y="4636008"/>
            <a:ext cx="10728655" cy="1197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700" b="1" dirty="0">
                <a:solidFill>
                  <a:srgbClr val="2E6D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Keşif görevleri (10 dk)</a:t>
            </a:r>
            <a:endParaRPr lang="en-US" sz="17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1) |0⟩: X ile Y'nin yollarını karşılaştır   2) |+⟩'ya X uygula: neden kıpırdamıyor?   3) H → Z → H → kodu notebook'ta çalıştır</a:t>
            </a:r>
            <a:endParaRPr lang="en-US" sz="17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4) Z→X ve X→Z: aynı nokta, farklı α, β?   5) Sadece X, Y, Z, H ile |0⟩'dan |+i⟩'ye ulaşmayı dene (bonus: S)</a:t>
            </a:r>
            <a:endParaRPr lang="en-US" sz="17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Lab'ın ana fonksiyonu: plot_gate_on_bloch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Kuantum Hesaplama ve Uygulamaları · Hafta 4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548640" y="1188720"/>
            <a:ext cx="11094415" cy="4754880"/>
          </a:xfrm>
          <a:prstGeom prst="rect">
            <a:avLst/>
          </a:prstGeom>
          <a:solidFill>
            <a:srgbClr val="F7F8FA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85800" y="1280160"/>
            <a:ext cx="10820095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rotate(v, n, a):                       </a:t>
            </a:r>
            <a:r>
              <a:rPr lang="en-US" sz="1400" dirty="0">
                <a:solidFill>
                  <a:srgbClr val="6B7F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Rodrigues: n ekseni etrafında a radyan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v, n = np.asarray(v, float), np.asarray(n, float) / np.linalg.norm(n)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v*np.cos(a) + np.cross(n, v)*np.sin(a) + n*np.dot(n, v)*(1 - np.cos(a))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plot_gate_on_bloch(U, start_states, name="U"):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n, th = bloch_rotation(U)                   </a:t>
            </a:r>
            <a:r>
              <a:rPr lang="en-US" sz="1400" dirty="0">
                <a:solidFill>
                  <a:srgbClr val="6B7F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matristen eksen ve açı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lab, psi in start_states: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v0, v1 = state_to_bloch(psi), state_to_bloch(U @ psi)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path = [rotate(v0, n, a) for a in np.linspace(0, th, 60)]    </a:t>
            </a:r>
            <a:r>
              <a:rPr lang="en-US" sz="1400" dirty="0">
                <a:solidFill>
                  <a:srgbClr val="6B7F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turuncu yol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...                                     </a:t>
            </a:r>
            <a:r>
              <a:rPr lang="en-US" sz="1400" dirty="0">
                <a:solidFill>
                  <a:srgbClr val="6B7F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küre + gri/mavi ok + yol + eksen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6B7F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matris = dönüş testi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g in "XYZH":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n, th = bloch_rotation(GATES[g])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all(np.allclose(state_to_bloch(GATES[g] @ s), rotate(state_to_bloch(s), n, th)) for s in STATES.values())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6B7F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X: eksen [1 0 0], 180°, True    ...    H: eksen [0.707 0 0.707], 180°, True</a:t>
            </a:r>
            <a:endParaRPr lang="en-US" sz="14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akışı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Kuantum Hesaplama ve Uygulamaları · Hafta 4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</a:t>
            </a:r>
            <a:endParaRPr lang="en-US" sz="1000" dirty="0"/>
          </a:p>
        </p:txBody>
      </p:sp>
      <p:graphicFrame>
        <p:nvGraphicFramePr>
          <p:cNvPr id="5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34440"/>
          <a:ext cx="11094415" cy="914400"/>
        </p:xfrm>
        <a:graphic>
          <a:graphicData uri="http://schemas.openxmlformats.org/drawingml/2006/table">
            <a:tbl>
              <a:tblPr/>
              <a:tblGrid>
                <a:gridCol w="1331330"/>
                <a:gridCol w="8098923"/>
                <a:gridCol w="1664162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Bölüm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Konu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Süre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Kurulum; </a:t>
                      </a:r>
                      <a:r>
                        <a:rPr lang="en-US" sz="1500" dirty="0">
                          <a:solidFill>
                            <a:srgbClr val="1F3A5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plot_gate_on_bloch</a:t>
                      </a: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, </a:t>
                      </a:r>
                      <a:r>
                        <a:rPr lang="en-US" sz="1500" dirty="0">
                          <a:solidFill>
                            <a:srgbClr val="1F3A5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plot_film</a:t>
                      </a: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, </a:t>
                      </a:r>
                      <a:r>
                        <a:rPr lang="en-US" sz="1500" dirty="0">
                          <a:solidFill>
                            <a:srgbClr val="1F3A5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gate_table</a:t>
                      </a: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; matris ↔ dönüş testi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 dk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Kapı = dönüş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dk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B–E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X, Y, Z, H: matris → tablo → devre → Bloch → film → Qiskit → NumPy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 dk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Özdeşlikler, </a:t>
                      </a:r>
                      <a:r>
                        <a:rPr lang="en-US" sz="1500" dirty="0">
                          <a:solidFill>
                            <a:srgbClr val="1F3A5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Operator.equiv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 dk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 → Z → H yolculuğu (</a:t>
                      </a:r>
                      <a:r>
                        <a:rPr lang="en-US" sz="1500" dirty="0">
                          <a:solidFill>
                            <a:srgbClr val="1F3A5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plot_sequence</a:t>
                      </a: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dk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Tersinirlik, </a:t>
                      </a:r>
                      <a:r>
                        <a:rPr lang="en-US" sz="1500" dirty="0">
                          <a:solidFill>
                            <a:srgbClr val="1F3A5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qc.inverse()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dk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 alıştırma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ödev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Alıştırmalar (assert ile kendini kontrol)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Kuantum Hesaplama ve Uygulamaları · Hafta 4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</a:t>
            </a:r>
            <a:endParaRPr lang="en-US" sz="1000" dirty="0"/>
          </a:p>
        </p:txBody>
      </p:sp>
      <p:graphicFrame>
        <p:nvGraphicFramePr>
          <p:cNvPr id="5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34440"/>
          <a:ext cx="11094415" cy="914400"/>
        </p:xfrm>
        <a:graphic>
          <a:graphicData uri="http://schemas.openxmlformats.org/drawingml/2006/table">
            <a:tbl>
              <a:tblPr/>
              <a:tblGrid>
                <a:gridCol w="887553"/>
                <a:gridCol w="6323817"/>
                <a:gridCol w="3883045"/>
              </a:tblGrid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Görev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Kazanım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3A5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effect_map(U)</a:t>
                      </a: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: altı durum eşlemesi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Temel durum tablosu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3A5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identify(U)</a:t>
                      </a: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: </a:t>
                      </a:r>
                      <a:r>
                        <a:rPr lang="en-US" sz="15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kapı dedektifi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Parmak izi, global faz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3A5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fixed_axis(U)</a:t>
                      </a: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: özvektörden eksen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Eksen = sabit durum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Dönüş yolunu tahmin et</a:t>
                      </a: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(önce kalemle)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Bloch sezgisi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3A5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rotation_frames</a:t>
                      </a: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: film şeridi kareleri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Ara açılar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3A5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check(lhs, rhs)</a:t>
                      </a: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: equiv ve ==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Eşdeğer devreler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3A5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undo_ops</a:t>
                      </a: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: geri alma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Tersinirlik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3A5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shortest</a:t>
                      </a: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: BFS ile en kısa kapı dizisi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Arama; 5. haftaya köprü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Haftanın özeti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Kuantum Hesaplama ve Uygulamaları · Hafta 4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280160"/>
            <a:ext cx="11094415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Tek kübit kapısı = </a:t>
            </a:r>
            <a:r>
              <a:rPr lang="en-US" sz="2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üniter 2×2 matris</a:t>
            </a:r>
            <a:r>
              <a:rPr lang="en-US" sz="2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Bloch'ta </a:t>
            </a:r>
            <a:r>
              <a:rPr lang="en-US" sz="2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eksen etrafında dönüş</a:t>
            </a:r>
            <a:endParaRPr lang="en-US" sz="2000" dirty="0"/>
          </a:p>
          <a:p>
            <a:pPr marL="254000" indent="-254000"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X: x 180° (NOT) · Y: y 180° · Z: z 180° (işaret) · H: (x+z)/√2 180° (baz değiştirici)</a:t>
            </a:r>
            <a:endParaRPr lang="en-US" sz="2000" dirty="0"/>
          </a:p>
          <a:p>
            <a:pPr marL="254000" indent="-254000"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Eksen üzerindeki durumlar </a:t>
            </a:r>
            <a:r>
              <a:rPr lang="en-US" sz="2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yerinde kalır</a:t>
            </a:r>
            <a:r>
              <a:rPr lang="en-US" sz="2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; eksene dik olanlar karşıya geçer</a:t>
            </a:r>
            <a:endParaRPr lang="en-US" sz="2000" dirty="0"/>
          </a:p>
          <a:p>
            <a:pPr marL="254000" indent="-254000"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 olasılıkları değiştirmez; etkisi </a:t>
            </a:r>
            <a:r>
              <a:rPr lang="en-US" sz="2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 ile görünür</a:t>
            </a:r>
            <a:r>
              <a:rPr lang="en-US" sz="2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olur</a:t>
            </a:r>
            <a:endParaRPr lang="en-US" sz="2000" dirty="0"/>
          </a:p>
          <a:p>
            <a:pPr marL="254000" indent="-254000"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X² = Y² = Z² = H² = I · HXH = Z · HZH = X · XY = iZ · HYH = −Y</a:t>
            </a:r>
            <a:endParaRPr lang="en-US" sz="2000" dirty="0"/>
          </a:p>
          <a:p>
            <a:pPr marL="254000" indent="-254000"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rgbClr val="1F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equiv</a:t>
            </a:r>
            <a:r>
              <a:rPr lang="en-US" sz="2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global fazı yok sayar, </a:t>
            </a:r>
            <a:r>
              <a:rPr lang="en-US" sz="2000" dirty="0">
                <a:solidFill>
                  <a:srgbClr val="1F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==</a:t>
            </a:r>
            <a:r>
              <a:rPr lang="en-US" sz="2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saymaz</a:t>
            </a:r>
            <a:endParaRPr lang="en-US" sz="2000" dirty="0"/>
          </a:p>
          <a:p>
            <a:pPr marL="254000" indent="-254000"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Dizi </a:t>
            </a:r>
            <a:r>
              <a:rPr lang="en-US" sz="2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ters sırada</a:t>
            </a:r>
            <a:r>
              <a:rPr lang="en-US" sz="2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geri alınır; ölçüm geri alınamaz</a:t>
            </a:r>
            <a:endParaRPr lang="en-US" sz="200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Ödev ve gelecek hafta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Kuantum Hesaplama ve Uygulamaları · Hafta 4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53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548640" y="1280160"/>
            <a:ext cx="5410048" cy="3840480"/>
          </a:xfrm>
          <a:prstGeom prst="roundRect">
            <a:avLst>
              <a:gd name="adj" fmla="val 1905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31520" y="1389888"/>
            <a:ext cx="5044288" cy="3621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2000" b="1" dirty="0">
                <a:solidFill>
                  <a:srgbClr val="2E6D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Ödev</a:t>
            </a:r>
            <a:endParaRPr lang="en-US" sz="20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Ders notu </a:t>
            </a:r>
            <a:r>
              <a:rPr lang="en-US" sz="19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Bölüm 12</a:t>
            </a:r>
            <a:r>
              <a:rPr lang="en-US" sz="1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10 yazılı soru</a:t>
            </a:r>
            <a:endParaRPr lang="en-US" sz="20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</a:t>
            </a:r>
            <a:r>
              <a:rPr lang="en-US" sz="19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Bölüm I</a:t>
            </a:r>
            <a:r>
              <a:rPr lang="en-US" sz="1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8 kodlama alıştırması</a:t>
            </a:r>
            <a:endParaRPr lang="en-US" sz="20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Simülatörde 5 keşif görevi</a:t>
            </a:r>
            <a:endParaRPr lang="en-US" sz="20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Teslim: notebook + yazılı cevaplar</a:t>
            </a:r>
            <a:endParaRPr lang="en-US" sz="2000" dirty="0"/>
          </a:p>
        </p:txBody>
      </p:sp>
      <p:sp>
        <p:nvSpPr>
          <p:cNvPr id="8" name="Shape 5"/>
          <p:cNvSpPr/>
          <p:nvPr/>
        </p:nvSpPr>
        <p:spPr>
          <a:xfrm>
            <a:off x="6233008" y="1280160"/>
            <a:ext cx="5410048" cy="3840480"/>
          </a:xfrm>
          <a:prstGeom prst="roundRect">
            <a:avLst>
              <a:gd name="adj" fmla="val 1905"/>
            </a:avLst>
          </a:prstGeom>
          <a:solidFill>
            <a:srgbClr val="E8EEF6"/>
          </a:solidFill>
          <a:ln w="12700">
            <a:solidFill>
              <a:srgbClr val="E8EEF6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415888" y="1389888"/>
            <a:ext cx="5044288" cy="3621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2000" b="1" dirty="0">
                <a:solidFill>
                  <a:srgbClr val="2E6D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Hafta 5: Tek kübit kapıları II</a:t>
            </a:r>
            <a:endParaRPr lang="en-US" sz="20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9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S, T</a:t>
            </a:r>
            <a:r>
              <a:rPr lang="en-US" sz="1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z etrafında 90° ve 45°</a:t>
            </a:r>
            <a:endParaRPr lang="en-US" sz="20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9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Rx, Ry, Rz</a:t>
            </a:r>
            <a:r>
              <a:rPr lang="en-US" sz="1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istediğin açıyla dönüş</a:t>
            </a:r>
            <a:endParaRPr lang="en-US" sz="20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9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</a:t>
            </a:r>
            <a:r>
              <a:rPr lang="en-US" sz="1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kapısı: her tek kübit kapısı</a:t>
            </a:r>
            <a:endParaRPr lang="en-US" sz="20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Birleştirme, derinlik, </a:t>
            </a:r>
            <a:r>
              <a:rPr lang="en-US" sz="1900" dirty="0">
                <a:solidFill>
                  <a:srgbClr val="1F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transpile</a:t>
            </a:r>
            <a:endParaRPr lang="en-US" sz="20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"Hedef duruma ulaş" bulmacaları</a:t>
            </a:r>
            <a:endParaRPr lang="en-US" sz="200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534924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 haftanın film şeritlerindeki 45° ve 90° kareleri, gelecek haftanın kapılarıdır.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53</Slides>
  <Notes>53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53</vt:i4>
      </vt:variant>
    </vt:vector>
  </HeadingPairs>
  <TitlesOfParts>
    <vt:vector size="5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2026-09-23T15:34:17Z</dcterms:created>
  <dcterms:modified xsi:type="dcterms:W3CDTF">2026-09-23T15:34:17Z</dcterms:modified>
</cp:coreProperties>
</file>