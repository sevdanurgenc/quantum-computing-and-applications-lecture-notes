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5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6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7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charts/chart8.xml" ContentType="application/vnd.openxmlformats-officedocument.drawingml.chart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Z bazında ölçüm olasılıkları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P(0)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|+⟩</c:v>
                  </c:pt>
                  <c:pt idx="1">
                    <c:v>|−⟩</c:v>
                  </c:pt>
                  <c:pt idx="2">
                    <c:v>|+i⟩</c:v>
                  </c:pt>
                  <c:pt idx="3">
                    <c:v>|−i⟩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P(1)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|+⟩</c:v>
                  </c:pt>
                  <c:pt idx="1">
                    <c:v>|−⟩</c:v>
                  </c:pt>
                  <c:pt idx="2">
                    <c:v>|+i⟩</c:v>
                  </c:pt>
                  <c:pt idx="3">
                    <c:v>|−i⟩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q = [0.6, 0.8]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P(0)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Z bazı</c:v>
                  </c:pt>
                  <c:pt idx="1">
                    <c:v>X bazı</c:v>
                  </c:pt>
                  <c:pt idx="2">
                    <c:v>Y bazı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0.36</c:v>
                </c:pt>
                <c:pt idx="1">
                  <c:v>0.98</c:v>
                </c:pt>
                <c:pt idx="2">
                  <c:v>0.5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P(1)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Z bazı</c:v>
                  </c:pt>
                  <c:pt idx="1">
                    <c:v>X bazı</c:v>
                  </c:pt>
                  <c:pt idx="2">
                    <c:v>Y bazı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0.64</c:v>
                </c:pt>
                <c:pt idx="1">
                  <c:v>0.02</c:v>
                </c:pt>
                <c:pt idx="2">
                  <c:v>0.5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q = [1/√2, (1+i)/2]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P(0)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Z bazı</c:v>
                  </c:pt>
                  <c:pt idx="1">
                    <c:v>X bazı</c:v>
                  </c:pt>
                  <c:pt idx="2">
                    <c:v>Y bazı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0.854</c:v>
                </c:pt>
                <c:pt idx="2">
                  <c:v>0.854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P(1)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Z bazı</c:v>
                  </c:pt>
                  <c:pt idx="1">
                    <c:v>X bazı</c:v>
                  </c:pt>
                  <c:pt idx="2">
                    <c:v>Y bazı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</c:v>
                </c:pt>
                <c:pt idx="1">
                  <c:v>0.146</c:v>
                </c:pt>
                <c:pt idx="2">
                  <c:v>0.146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Sayımlar (2000 shot, q = [0.6, 0.8])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'0'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Z</c:v>
                  </c:pt>
                  <c:pt idx="1">
                    <c:v>X</c:v>
                  </c:pt>
                  <c:pt idx="2">
                    <c:v>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722</c:v>
                </c:pt>
                <c:pt idx="1">
                  <c:v>1949</c:v>
                </c:pt>
                <c:pt idx="2">
                  <c:v>1016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'1'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Z</c:v>
                  </c:pt>
                  <c:pt idx="1">
                    <c:v>X</c:v>
                  </c:pt>
                  <c:pt idx="2">
                    <c:v>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1278</c:v>
                </c:pt>
                <c:pt idx="1">
                  <c:v>51</c:v>
                </c:pt>
                <c:pt idx="2">
                  <c:v>984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Ölçüm bazı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Sayımlar (1000 shot / baz)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'0'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Z</c:v>
                  </c:pt>
                  <c:pt idx="1">
                    <c:v>X</c:v>
                  </c:pt>
                  <c:pt idx="2">
                    <c:v>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752</c:v>
                </c:pt>
                <c:pt idx="1">
                  <c:v>812</c:v>
                </c:pt>
                <c:pt idx="2">
                  <c:v>798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'1'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Z</c:v>
                  </c:pt>
                  <c:pt idx="1">
                    <c:v>X</c:v>
                  </c:pt>
                  <c:pt idx="2">
                    <c:v>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248</c:v>
                </c:pt>
                <c:pt idx="1">
                  <c:v>188</c:v>
                </c:pt>
                <c:pt idx="2">
                  <c:v>202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%95 GA yarı genişliği = 1.96·SE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⟨Z⟩ = 0</c:v>
                </c:pt>
              </c:strCache>
            </c:strRef>
          </c:tx>
          <c:spPr>
            <a:solidFill>
              <a:srgbClr val="1F3A5F"/>
            </a:solidFill>
            <a:ln w="25400" cap="flat">
              <a:solidFill>
                <a:srgbClr val="1F3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3A5F"/>
              </a:solidFill>
              <a:ln w="9525" cap="flat">
                <a:solidFill>
                  <a:srgbClr val="1F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100</c:v>
                  </c:pt>
                  <c:pt idx="1">
                    <c:v>300</c:v>
                  </c:pt>
                  <c:pt idx="2">
                    <c:v>1k</c:v>
                  </c:pt>
                  <c:pt idx="3">
                    <c:v>3k</c:v>
                  </c:pt>
                  <c:pt idx="4">
                    <c:v>10k</c:v>
                  </c:pt>
                  <c:pt idx="5">
                    <c:v>30k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0.196</c:v>
                </c:pt>
                <c:pt idx="1">
                  <c:v>0.1132</c:v>
                </c:pt>
                <c:pt idx="2">
                  <c:v>0.062</c:v>
                </c:pt>
                <c:pt idx="3">
                  <c:v>0.0358</c:v>
                </c:pt>
                <c:pt idx="4">
                  <c:v>0.0196</c:v>
                </c:pt>
                <c:pt idx="5">
                  <c:v>0.0113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⟨Z⟩ = 0.5</c:v>
                </c:pt>
              </c:strCache>
            </c:strRef>
          </c:tx>
          <c:spPr>
            <a:solidFill>
              <a:srgbClr val="2E6DB4"/>
            </a:solidFill>
            <a:ln w="25400" cap="flat">
              <a:solidFill>
                <a:srgbClr val="2E6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6DB4"/>
              </a:solidFill>
              <a:ln w="9525" cap="flat">
                <a:solidFill>
                  <a:srgbClr val="2E6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100</c:v>
                  </c:pt>
                  <c:pt idx="1">
                    <c:v>300</c:v>
                  </c:pt>
                  <c:pt idx="2">
                    <c:v>1k</c:v>
                  </c:pt>
                  <c:pt idx="3">
                    <c:v>3k</c:v>
                  </c:pt>
                  <c:pt idx="4">
                    <c:v>10k</c:v>
                  </c:pt>
                  <c:pt idx="5">
                    <c:v>30k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0.1697</c:v>
                </c:pt>
                <c:pt idx="1">
                  <c:v>0.098</c:v>
                </c:pt>
                <c:pt idx="2">
                  <c:v>0.0537</c:v>
                </c:pt>
                <c:pt idx="3">
                  <c:v>0.031</c:v>
                </c:pt>
                <c:pt idx="4">
                  <c:v>0.017</c:v>
                </c:pt>
                <c:pt idx="5">
                  <c:v>0.0098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⟨Z⟩ = 0.9</c:v>
                </c:pt>
              </c:strCache>
            </c:strRef>
          </c:tx>
          <c:spPr>
            <a:solidFill>
              <a:srgbClr val="D9822B"/>
            </a:solidFill>
            <a:ln w="25400" cap="flat">
              <a:solidFill>
                <a:srgbClr val="D982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822B"/>
              </a:solidFill>
              <a:ln w="9525" cap="flat">
                <a:solidFill>
                  <a:srgbClr val="D982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100</c:v>
                  </c:pt>
                  <c:pt idx="1">
                    <c:v>300</c:v>
                  </c:pt>
                  <c:pt idx="2">
                    <c:v>1k</c:v>
                  </c:pt>
                  <c:pt idx="3">
                    <c:v>3k</c:v>
                  </c:pt>
                  <c:pt idx="4">
                    <c:v>10k</c:v>
                  </c:pt>
                  <c:pt idx="5">
                    <c:v>30k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0.0854</c:v>
                </c:pt>
                <c:pt idx="1">
                  <c:v>0.0493</c:v>
                </c:pt>
                <c:pt idx="2">
                  <c:v>0.027</c:v>
                </c:pt>
                <c:pt idx="3">
                  <c:v>0.0156</c:v>
                </c:pt>
                <c:pt idx="4">
                  <c:v>0.0085</c:v>
                </c:pt>
                <c:pt idx="5">
                  <c:v>0.0049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Shot sayısı 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P(0)'ı ±ε ile bilmek için gereken shot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Gerekli shot (p = 0.5)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ε = 0.10</c:v>
                  </c:pt>
                  <c:pt idx="1">
                    <c:v>0.05</c:v>
                  </c:pt>
                  <c:pt idx="2">
                    <c:v>0.03</c:v>
                  </c:pt>
                  <c:pt idx="3">
                    <c:v>0.02</c:v>
                  </c:pt>
                  <c:pt idx="4">
                    <c:v>0.01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</c:v>
                </c:pt>
                <c:pt idx="1">
                  <c:v>385</c:v>
                </c:pt>
                <c:pt idx="2">
                  <c:v>1068</c:v>
                </c:pt>
                <c:pt idx="3">
                  <c:v>2401</c:v>
                </c:pt>
                <c:pt idx="4">
                  <c:v>9604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Hata payı ε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Koşullu olasılık P(q₁ | q₀)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q₀ = 0 çıktıysa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q₁ = 0</c:v>
                  </c:pt>
                  <c:pt idx="1">
                    <c:v>q₁ = 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0.962</c:v>
                </c:pt>
                <c:pt idx="1">
                  <c:v>0.038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q₀ = 1 çıktıysa</c:v>
                </c:pt>
              </c:strCache>
            </c:strRef>
          </c:tx>
          <c:spPr>
            <a:solidFill>
              <a:srgbClr val="D982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q₁ = 0</c:v>
                  </c:pt>
                  <c:pt idx="1">
                    <c:v>q₁ = 1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0.338</c:v>
                </c:pt>
                <c:pt idx="1">
                  <c:v>0.662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haftanın ana sorusu: bir kübitin içinde ne olduğunu yalnızca ölçüm sonuçlarıyla nasıl öğreniriz? Gerçek donanımda Statevector yok; tek bilgi kaynağımız sayımlar. Haftanın sonunda öğrenciler bilinmeyen bir kübiti ölçümlerden geri kurabilecek ve sonucun ne kadar güvenilir olduğunu söyleyebilecek.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saatin akışı. Birinci saat kavramlar (baz, baz değiştirme, Bloch koordinatları), ikinci saat tomografi + istatistik + çok kübit, üçüncü saat lab ve oyun. İstatistik kısmında hızlı gitmeyin; güven aralığı yorumu öğrencilerin sık karıştırdığı bir konu.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Hedefleri kısaca okuyun. Her hedef bir lab fonksiyonuna karşılık geliyor; sağdaki sütunu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Dört kavram: kübit vektörü, genel olasılık kuralı |⟨φ|q⟩|², ⟨Z⟩ = P(0) − P(1) = Bloch z ve tensör çarpımı. Bu hafta bu zinciri X ve Y yönlerine genişletiyoruz.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Dört durumun Z histogramı birebir aynı. Hafta 2'de bunun göreli faz olduğunu görmüştük. Soru: bu durumları ölçümle nasıl ayırt ederiz? Cevap: ölçümü başka bir bazda yaparak. Bu slayt haftanın motivasyonu.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Baz kavramını geometrik olarak Bloch küresinde, sezgisel olarak da veritabanı görünümü benzetmesiyle anlatın.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Bir bazda ölçmek kübite 'b0 mısın, b1 misin?' diye sormaktır. Olasılıklar Hafta 2'deki genel kuraldan geliyor. Diklik, olasılıkların toplamının 1 olmasını sağlar. ⟨+i| bra'sında eşleniğe dikkat çekin.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Dik vektörler Bloch küresinde zıt uçlara düşer. X bazında ölçmek, kübit x ekseninin hangi ucuna daha yakın sorusudur. Uca yakınlık = o sonucun olasılığı.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view benzetmesi: veri aynı, görünüm farklı. q = [0.6, 0.8] Z görünümünde neredeyse yazı-tura, X görünümünde neredeyse kesin. Benzetmenin sınırını mutlaka söyleyin: ölçüm veriyi değiştirir, bu yüzden her baz için yeniden hazırlık gerekir.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 = [0.6, 0.8]'i X bazında ölçünce %98 |+⟩, %2 |−⟩. Orijinal 0.6 ve 0.8 sayıları kaybolur. Bu yüzden aynı kübiti üç bazda sırayla ölçemeyiz; tomografinin maliyeti buradan gelir.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Önce Z ve X'i hesaplatın, Y'de eşlenik tuzağına dikkat çekin. Sağdaki grafik native: aynı durumun üç bazdaki üç farklı dağılımı.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durum ekvatorda, x ile y'nin tam ortasında (φ = 45°). Z ölçümünün faz hakkında hiçbir şey söylemediğini vurgulayın.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Yazılımcı benzetmesi: elimizde sadece read_z() var. Veriyi okuyucunun anladığı formata çevirip okuyoruz.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Qiskit'te ve donanımda measure her zaman Z bazında. X ve Y için ölçümden hemen önce bir dönüşüm kapısı ekliyoruz. Üç devreyi yan yana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H'nin satırları tam olarak ⟨+| ve ⟨−|. Matris-vektör çarpımının ilk elemanı ilk satırla iç çarpım, yani ⟨+|q⟩. Genel kuralı verin: baz değiştirme matrisinin satırları bazın bra'larıdır. Y için H·S† matrisini de bu kuralla doğrulayın.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S† ekvatorda −90° döndürür: y ucu x ucuna gelir. Sonra H, x ucunu z ucuna taşır. Bloch'taki turuncu yollar bu dönüşleri gösteriyor. Sıra hatası en sık hata: S kullanılırsa y koordinatının işareti ters çıkar.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Lab'daki ana fonksiyon. prep ölçümsüz bir hazırlık devresi. ry ile [0.6, 0.8] hazırlıyoruz; Ry 5. haftada. Sağdaki sayımlar 2000 shot'luk gerçek simülatör çıktısı; Örnek 1'deki olasılıklarla karşılaştırın.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Hafta 2 Örnek 4'te H + ölçüm = X bazı demiştik; şimdi genel kuralı görüyorlar.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−i·i = 1 adımında öğrenciler sık hata yapar; tahtada yavaşça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Tablo 1.2'deki ayırt edilemeyen durumlar artık ayrılıyor. Üç bazdaki P(0) değerleri birlikte kübiti tamamen belirler (global faz hariç). Bu tomografinin temel fikri; ikinci saate köprü.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Olasılıkları koordinata, koordinatları açılara çeviriyoruz. GPS benzetmesi bu bölümde.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Hafta 2'de ⟨Z⟩ = z demiştik; aynısı x ve y için geçerli, yalnızca olasılıklar ilgili bazda hesaplanıyor. Her koordinat 2P(0) − 1. Sayımlardan: (n0 − n1)/N. Saf durum için x² + y² + z² =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durum ikinci saatteki tomografi örneklerinin gerçek durumu (θ = 60°, φ = 45°). Şimdiden tanıtın.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Dört gerçek sayıdan normalizasyon ve global faz ikisini götürür, geriye iki açı kalır. θ kuzey kutbundan, φ ekvatorda +x'ten ölçülür. θ olasılıkları, φ göreli fazı belirler.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konum enlem ve boylamla; her kübit θ ve φ ile. Kutuplarda boylam anlamsızdır: |0⟩ ve |1⟩ için φ tanımsız. Sağ görsel: θ değişince meridyen, φ değişince ekvator boyunca hareket.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Tomografide ve oyunda sürekli kullanılacak. Kod notlarını vurgulayın: clip, arctan2 aralığı, global fazın atılması (arg β − arg α).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Kontrol olarak P_Z(0) = cos²(60°) = 0.25'i sorun.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fazı atmayı unutan öğrenci üçüncüde φ = 0 bulur. Lab Alıştırma 3 bunu test ediyor.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İkinci saat. Önce tomografi algoritması, sonra istatistik: standart hata, güven aralığı, gerekli 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Kaynağı görmediğimiz bir fonksiyonu girdi-çıktı istatistiğiyle anlamaya benzer. 3 bazda N'er shot, her shot yeni bir hazırlık. Tomografi gerçek donanımda devrenin istenen durumu hazırlayıp hazırlamadığını test etmenin (debug) yoludur.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Bölüm E. Üç bazın beklenen değerleri, ham boy, normalize etme ve açılar. Bu fonksiyon 4. haftada kapıları ölçümle doğrulamak için tekrar kullanılacak.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Hesabı adım adım yapın; atan2'nin neden arctan yerine kullanıldığını sorun (dört çeyrek).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Aynı durum için 25'er bağımsız tomografi. Bulut 1/√N hızında daralıyor: 10 kat shot, yaklaşık 3.2 kat daha küçük hata. 1000 shot/baz ders ve lab için yeterli.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x, y, z bağımsız hatalar içerdiği için tahminlerin yarısı kadarı ‖r̂‖ &gt; 1 çıkıyor. Böyle bir vektör hiçbir kübit durumu değildir. Basit çözüm: boyuna bölmek (yön korunur). İleri yöntemler: maximum likelihood, Qiskit Experiments StateTomography.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 shot ile bu tür taşmalar sık. Öğrencilere normalize etmeden θ hesaplarsa arccos'a 1'den büyük sayı gidebileceğini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Sadakat Hafta 2'deki genel olasılık kuralının kendisi: gerçek durum q iken q̂ sorusuna evet cevabı olasılığı. Bloch dilinde (1 + r·r̂)/2 = cos²(Δ/2). Sağ grafik: açı hatası 1/√N, sadakat kaybı 1/N ile azalıyor.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shot bir yazı-tura (binom). Koordinat = 2p − 1 olduğundan SE iki katına çıkar: √((1 − z²)/N). Hata en çok ekvatorda (z = 0), kutuplarda sıfıra gider. Grafik native: üç farklı ⟨Z⟩ için %95 GA yarı genişliği.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Doğru yorum: deneyi çok kez tekrarlasak aralıkların yaklaşık %95'i gerçeği kapsar. Grafikte 30 deneyden 29'u kapsıyor, 1'i kaçırıyor (turuncu). Uç durum: p̂ = 0 ya da 1 ise SE = 0 çıkar; bu yaklaşımın bozulduğunu gösterir.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SE(ẑ) = 2·SE(p̂) kontrolünü yaptırın.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Soru genelde tersten sorulur: ±ε hassasiyet için N kaç? Yarı genişliği ε'a eşitleyip çözüyoruz. p bilinmiyorsa en kötü durum p = 0.5. Bulut servislerinde kullanım genellikle süre ya da shot üzerinden ücretlendirilir veya kotaya tabidir; bütçe planlaması için önemli.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(a) ile (c)'nin aynı çıkması: ⟨Z⟩ = 2p − 1 ölçeği iki kat geniş. Lab Alıştırma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Kısmi ölçüm = filtrele + yeniden normalize et. Koşullu olasılıkla bağlantıyı kurun. Işınlanma (6. hafta) buna dayanıyor.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Tüm kübitler: P(i) = |ψi|². Tek kübit: üç adım. GROUP BY ile marjinal, WHERE ile filtre, bölme ile normalize. Yeniden normalize etme, koşullu olasılık formülünün aynısı.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Bağımsız kübitlerde birini ölçmek diğerini etkilemez. Bir sonraki örnekle karşılaştırın.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Sinyal gönderilemeyeceğini (no-signaling) bir sonraki slaytta tartışın.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Kilit fark: bağımsız kübitlerde koşullu olasılık = marjinal olasılık. Dolanık durumda farklı. Yanlış anlama: q0'ı ölçmek q1'e sinyal göndermez; q1'i tutan kişi hâlâ %50/%50 görür. Seed benzetmesi kısmi, 6. haftada devam.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Qiskit: Statevector(psi).probabilities([0]) = [0.26, 0.74]. Lab'da 20 000 shot ile koşullu olasılığı sayımlardan da görecekler (≈ 0.961).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Lab'a geçiş. C ve E bölümlerini birlikte yapın; oyunu sınıfta kısa bir yarışma olarak oynatabilirsiniz.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Alıştırmaların hepsi assert ile otomatik kontrol ediliyor. Bu haftanın fonksiyonları 4. ve 5. haftada tekrar kullanılacak.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 rastgele bir durum seçer, black_box ile yalnızca sayımlar alınır, bütçe 3000 shot. Puan = sadakat. Strateji tartışması: eşit dağıtım iyi başlangıç; kutba yakın eksene daha az shot yeter.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Özeti birlikte tekrar edin; her maddeyi lab fonksiyonuyla eşleyin.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Gelecek hafta X, Y, Z ve H kapılarını Bloch küresinde tek tek göreceğiz; her kapı bir eksen etrafında dönüş. Bu haftanın tomography fonksiyonu ile kapıların etkisini ölçümle doğrulayacağız.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7D2E3"/>
                </a:solidFill>
              </a:rPr>
              <a:t>KUANTUM HESAPLAMA VE UYGULAMALARI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Hafta 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603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Kübit, Ölçüm ve Bloch Küresi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Farklı bazlarda ölçüm · Bloch küresinde durum okuma · durum tomografisi · shot istatistiği ve güven aralıkları · kısmi ölçüm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planı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saat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1–2 tekrarı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bazı: Z, X, Y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 değiştirme: H, S†H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koordinatları, θ ve φ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4246778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1098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saat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21098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örnekler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521098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 tomografisi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etkisi, normalize etme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hata, %95 GA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Kısmi ölçüm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7944917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19237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saat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219237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(Colab)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219237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measure_in_basis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tomography()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 aralığı deneyleri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Oyun: gizli durumu bul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hedefleri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6878537"/>
                <a:gridCol w="4215878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 sonunda öğrenci…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karşılığı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Z, X, Y bazlarında olasılıkları elle hesaplar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prob_in_basis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ve Y ölçümü için baz değiştirme devresi kurar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measure_in_basis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Bloch koordinatlarını sayımlardan bulur; θ, φ ↔ vektör dönüşümü yapar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bloch_from_counts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angles_from_state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Tomografi ile bilinmeyen durumu geri kurar, sadakatle değerlendirir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tomography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fidelity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Standart hata, %95 GA ve gerekli shot sayısını hesaplar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ci95_expval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shots_needed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 kübit ölçümünden sonra kalan durumu hesaplar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measure_qubit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1–2'den kısa tekrar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8883" y="1143000"/>
            <a:ext cx="7613928" cy="201168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11094415" cy="914400"/>
        </p:xfrm>
        <a:graphic>
          <a:graphicData uri="http://schemas.openxmlformats.org/drawingml/2006/table">
            <a:tbl>
              <a:tblPr/>
              <a:tblGrid>
                <a:gridCol w="2440771"/>
                <a:gridCol w="4881543"/>
                <a:gridCol w="3772101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Kavram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Hatırlatma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Kübit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 = [α, β], |α|² + |β|² =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np.array([a, b])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olasılık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P(φ) = |⟨φ|q⟩|²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abs(np.vdot(phi, q))**2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Beklenen değer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⟨Z⟩ = P(0) − P(1) = Bloch 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np.vdot(q, Z @ q).real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Tensör çarpımı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 sırası: q₀ en sağda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np.kron(q1, q0)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Z ölçümü dört farklı durumu ayıramaz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188720"/>
          <a:ext cx="640080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280160"/>
          <a:ext cx="4419295" cy="914400"/>
        </p:xfrm>
        <a:graphic>
          <a:graphicData uri="http://schemas.openxmlformats.org/drawingml/2006/table">
            <a:tbl>
              <a:tblPr/>
              <a:tblGrid>
                <a:gridCol w="1060631"/>
                <a:gridCol w="1679332"/>
                <a:gridCol w="16793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Vektör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1]/√2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(1, 0, 0)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−1]/√2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(−1, 0,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|+i⟩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i]/√2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(0, 1, 0)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|−i⟩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−i]/√2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(0, −1, 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7223760" y="3840480"/>
            <a:ext cx="4419295" cy="2011680"/>
          </a:xfrm>
          <a:prstGeom prst="roundRect">
            <a:avLst>
              <a:gd name="adj" fmla="val 3636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406640" y="3950208"/>
            <a:ext cx="4053535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soru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histogram,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farklı durum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Bunları ölçümle nasıl ayırırız? →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Başka bir bazda ölçerek.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Ölçüm bazı kavramı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Aynı veriye farklı görünüm: Z, X ve Y bazları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bazı = iki dik birim vektör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P(0) = |⟨b₀|q⟩|²        P(1) = |⟨b₁|q⟩|²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11094415" cy="914400"/>
        </p:xfrm>
        <a:graphic>
          <a:graphicData uri="http://schemas.openxmlformats.org/drawingml/2006/table">
            <a:tbl>
              <a:tblPr/>
              <a:tblGrid>
                <a:gridCol w="2440771"/>
                <a:gridCol w="3106436"/>
                <a:gridCol w="3106436"/>
                <a:gridCol w="2440771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Baz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Sonuç 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Sonuç 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Bloch ekseni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(hesaplama)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|0⟩ = [1, 0]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|1⟩ = [0, 1]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(kutuplar)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|+⟩ = [1, 1]/√2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|−⟩ = [1, −1]/√2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|+i⟩ = [1, i]/√2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|−i⟩ = [1, −i]/√2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846320"/>
            <a:ext cx="5410048" cy="1051560"/>
          </a:xfrm>
          <a:prstGeom prst="roundRect">
            <a:avLst>
              <a:gd name="adj" fmla="val 695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4956048"/>
            <a:ext cx="504428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sonrası kübit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|b₀⟩ ya da |b₁⟩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olur (yıkıcı okuma).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233008" y="4846320"/>
            <a:ext cx="5410048" cy="1051560"/>
          </a:xfrm>
          <a:prstGeom prst="roundRect">
            <a:avLst>
              <a:gd name="adj" fmla="val 6957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15888" y="4956048"/>
            <a:ext cx="504428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⟨+i| = [1,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−i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]/√2 : bra'da eşlenik! </a:t>
            </a:r>
            <a:r>
              <a:rPr lang="en-US" sz="17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np.vdot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bunu yapar.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baz, Bloch küresinde üç zıt nokta çifti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3840" y="1097280"/>
            <a:ext cx="4238879" cy="4846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92240" y="1280160"/>
            <a:ext cx="5150815" cy="1371600"/>
          </a:xfrm>
          <a:prstGeom prst="roundRect">
            <a:avLst>
              <a:gd name="adj" fmla="val 5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675120" y="1389888"/>
            <a:ext cx="4785055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bazı (lacivert)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Kuzey kutbu |0⟩, güney kutbu |1⟩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492240" y="2788920"/>
            <a:ext cx="5150815" cy="1371600"/>
          </a:xfrm>
          <a:prstGeom prst="roundRect">
            <a:avLst>
              <a:gd name="adj" fmla="val 5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675120" y="2898648"/>
            <a:ext cx="4785055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bazı (mavi)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+x ucu |+⟩, −x ucu |−⟩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492240" y="4297680"/>
            <a:ext cx="5150815" cy="1371600"/>
          </a:xfrm>
          <a:prstGeom prst="roundRect">
            <a:avLst>
              <a:gd name="adj" fmla="val 5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675120" y="4407408"/>
            <a:ext cx="4785055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bazı (turuncu)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+y ucu |+i⟩, −y ucu |−i⟩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Yazılım benzetmesi: aynı veriye farklı görünüm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8539"/>
            <a:ext cx="7315200" cy="3555083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1280160"/>
          <a:ext cx="3504895" cy="914400"/>
        </p:xfrm>
        <a:graphic>
          <a:graphicData uri="http://schemas.openxmlformats.org/drawingml/2006/table">
            <a:tbl>
              <a:tblPr/>
              <a:tblGrid>
                <a:gridCol w="1752448"/>
                <a:gridCol w="175244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Yazılım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Kuantum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 vektörü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/ projeksiyon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Ölçüm bazı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Sorgu sonucu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ya da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8138160" y="3291840"/>
            <a:ext cx="3504895" cy="2560320"/>
          </a:xfrm>
          <a:prstGeom prst="roundRect">
            <a:avLst>
              <a:gd name="adj" fmla="val 2857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8321040" y="3401568"/>
            <a:ext cx="3139135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Benzetmenin sınırı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view veriyi değiştirmez. Ölçüm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değiştirir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kübit ölçülen bazın bir vektörüne geçer. Her baz için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yeniden hazırlık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gerekir.</a:t>
            </a:r>
            <a:endParaRPr lang="en-US" sz="17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5029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görünümü: 0.36 / 0.64   ·   X görünümü: 0.98 / 0.02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yıkıcıdır: ölçümden sonra kübit eksenin ucuna geçer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25338"/>
            <a:ext cx="11094415" cy="396724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2578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536752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kübiti art arda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 bazlarda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ölçmek, ilk ölçümün sonucunu ölçmek olur → her baz için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hazırlık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 · Tek durum, üç baz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[0.6, 0.8] durumunun Z, X ve Y bazlarındaki sonuç olasılıkları?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Z: P(0) = 0.36,  P(1) = 0.64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X: ⟨+|q⟩ = 1.4/√2 = 0.990 → P(0) = 0.98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Y: ⟨+i|q⟩ = (0.6 − 0.8i)/√2 → P(0) = 0.5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Genlikler gerçek → Bloch noktası xz düzleminde, y = 0.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Z: 0.36/0.64 · X: 0.98/0.02 · Y: 0.5/0.5</a:t>
            </a:r>
            <a:endParaRPr lang="en-US" sz="17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498080" y="1143000"/>
          <a:ext cx="4144975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2 · Karmaşık genlikli durum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[1/√2, (1 + i)/2] geçerli mi? Üç bazdaki olasılıklar?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|1/√2|² + |(1 + i)/2|² = 0.5 + 0.5 = 1 ✓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Z: 0.5 / 0.5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⟨+|q⟩ ≈ 0.854 + 0.354i → P_X(0) ≈ 0.854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⟨+i|q⟩ ≈ 0.854 − 0.354i → P_Y(0) ≈ 0.854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Z'de |+⟩ ile aynı görünür; X ve Y fazı ortaya çıkarır.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Z: 0.5/0.5 · X: 0.854/0.146 · Y: 0.854/0.146</a:t>
            </a:r>
            <a:endParaRPr lang="en-US" sz="17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498080" y="1143000"/>
          <a:ext cx="4144975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Baz değiştirme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Donanım yalnızca Z bazında ölçer: X için H, Y için S† sonra H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Elimizde yalnızca read_z() var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996995"/>
                <a:gridCol w="3772101"/>
                <a:gridCol w="5325319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İstenen baz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Dönüşüm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|0⟩ → |0⟩, |1⟩ → |1⟩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measure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|+⟩ → |0⟩, |−⟩ → |1⟩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S†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</a:t>
                      </a:r>
                      <a:r>
                        <a:rPr lang="en-US" sz="17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→ measure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|+i⟩ → |+⟩ → |0⟩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Z baz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349" y="3474720"/>
            <a:ext cx="1661782" cy="17830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48640" y="52852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Z bazı</a:t>
            </a:r>
            <a:endParaRPr lang="en-US" sz="1100" dirty="0"/>
          </a:p>
        </p:txBody>
      </p:sp>
      <p:pic>
        <p:nvPicPr>
          <p:cNvPr id="9" name="Image 1" descr="X bazı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6456" y="3474720"/>
            <a:ext cx="2337007" cy="17830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3657600" y="52852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X bazı</a:t>
            </a:r>
            <a:endParaRPr lang="en-US" sz="1100" dirty="0"/>
          </a:p>
        </p:txBody>
      </p:sp>
      <p:pic>
        <p:nvPicPr>
          <p:cNvPr id="11" name="Image 2" descr="Y bazı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430" y="3474720"/>
            <a:ext cx="3016276" cy="178308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7498080" y="5285232"/>
            <a:ext cx="414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Y bazı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bazı: neden H? Satırlar = bra'lar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P(0) = |⟨0| H |q⟩|² = |⟨+|q⟩|²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5410048" cy="2194560"/>
          </a:xfrm>
          <a:prstGeom prst="roundRect">
            <a:avLst>
              <a:gd name="adj" fmla="val 3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487168"/>
            <a:ext cx="504428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bazı: U = H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(1/√2) [[1, 1], [1, −1]]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satır = ⟨+|,  2. satır = ⟨−|  ✓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33008" y="2377440"/>
            <a:ext cx="5410048" cy="2194560"/>
          </a:xfrm>
          <a:prstGeom prst="roundRect">
            <a:avLst>
              <a:gd name="adj" fmla="val 3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15888" y="2487168"/>
            <a:ext cx="504428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bazı: U = H·S†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H·S† = (1/√2) [[1, −i], [1, i]]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satır = ⟨+i|,  2. satır = ⟨−i|  ✓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48640" y="4800600"/>
            <a:ext cx="11094415" cy="1097280"/>
          </a:xfrm>
          <a:prstGeom prst="roundRect">
            <a:avLst>
              <a:gd name="adj" fmla="val 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4910328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kural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{|b₀⟩, |b₁⟩} bazında ölçmek için satırları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⟨b₀| ve ⟨b₁|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olan üniter U uygula, sonra Z bazında ölç.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bazı: önce S†, sonra H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75" y="1097280"/>
            <a:ext cx="10483545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00600"/>
            <a:ext cx="5410048" cy="1097280"/>
          </a:xfrm>
          <a:prstGeom prst="roundRect">
            <a:avLst>
              <a:gd name="adj" fmla="val 6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4910328"/>
            <a:ext cx="50442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S†|+i⟩ = [1, −i·i]/√2 = [1, 1]/√2 =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|+⟩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sonra H|+⟩ =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233008" y="4800600"/>
            <a:ext cx="5410048" cy="1097280"/>
          </a:xfrm>
          <a:prstGeom prst="roundRect">
            <a:avLst>
              <a:gd name="adj" fmla="val 6667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15888" y="4910328"/>
            <a:ext cx="50442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S† yerine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|+i⟩ → |−⟩ → hep '1':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y'nin işareti ters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çıkar!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Qiskit: measure_in_basis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6400800" cy="475488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6126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measure_in_basis(prep, basis, shots=1000, seed=None):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 = QuantumCircuit(1, 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qc.compose(prep, inplace=True)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basis == "X":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qc.h(0)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basis == "Y":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qc.sdg(0); qc.h(0)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önce S†, sonra 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qc.measure(0, 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sim = AerSimulator(seed_simulator=seed)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sim.run(transpile(qc, sim),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shots=shots).result().get_counts()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 = QuantumCircuit(1)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prep.ry(2*np.arccos(0.6), 0)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[0.6, 0.8]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7223760" y="1188720"/>
          <a:ext cx="4419295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3 · Baz değiştirmeyi elle doğrulamak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[0.6, 0.8]'e X için H, Y için S† ve H uygula; Z ölçüm olasılıkları Örnek 1 ile aynı mı?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H·q = [0.990, −0.141] → P(0) = 0.98 ✓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S†·q = [0.6, −0.8i]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H·S†q = (1/√2)[0.6 − 0.8i, 0.6 + 0.8i]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P(0) = (0.36 + 0.64)/2 = 0.5 ✓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Baz değiştirme + Z ölçümü = o bazda ölçüm</a:t>
            </a:r>
            <a:endParaRPr lang="en-US" sz="1700" dirty="0"/>
          </a:p>
        </p:txBody>
      </p:sp>
      <p:pic>
        <p:nvPicPr>
          <p:cNvPr id="11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2332" y="1143000"/>
            <a:ext cx="2756470" cy="2103120"/>
          </a:xfrm>
          <a:prstGeom prst="rect">
            <a:avLst/>
          </a:prstGeom>
        </p:spPr>
      </p:pic>
      <p:pic>
        <p:nvPicPr>
          <p:cNvPr id="12" name="Image 1" descr="gör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398" y="3520440"/>
            <a:ext cx="371234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4 · Karmaşık durumda Y devresi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[1/√2, (1 + i)/2] için S† ve H sonrası vektör ve P(0)?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S†·q = [1/√2, −i(1 + i)/2] = [1/√2, (1 − i)/2]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H·S†q ilk eleman = 1/2 + (1 − i)/(2√2)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0.854 − 0.354i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P(0) = 0.729 + 0.125 ≈ 0.854 ✓ (Örnek 2 ile aynı)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P(0) ≈ 0.854, P(1) ≈ 0.146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92608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= 1/np.sqrt(2)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np.array([r2, (1+1j)/2])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Sdg = np.diag([1, -1j])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r2*np.array([[1, 1],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[1,-1]])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H @ Sdg @ q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abs(v)**2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[0.854, 0.146]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sayı bir kübiti belirler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680960" cy="914400"/>
        </p:xfrm>
        <a:graphic>
          <a:graphicData uri="http://schemas.openxmlformats.org/drawingml/2006/table">
            <a:tbl>
              <a:tblPr/>
              <a:tblGrid>
                <a:gridCol w="1843430"/>
                <a:gridCol w="1075334"/>
                <a:gridCol w="1075334"/>
                <a:gridCol w="1075334"/>
                <a:gridCol w="2611526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Z: P(0)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X: P(0)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Y: P(0)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Yorum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Kuzey kutbu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+x ucu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−x ucu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|+i⟩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+y ucu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|−i⟩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−y ucu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[0.6, 0.8]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xz düzleminde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[1/√2, (1+i)/2]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ekvator, x–y arası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503920" y="1280160"/>
            <a:ext cx="3139135" cy="4480560"/>
          </a:xfrm>
          <a:prstGeom prst="roundRect">
            <a:avLst>
              <a:gd name="adj" fmla="val 233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686800" y="1389888"/>
            <a:ext cx="2773375" cy="4261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tek başına fazı göremez.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ve Y ölçümleri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göreli fazı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ortaya çıkarır.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baz birlikte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kübiti tamamen belirler →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tomografi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Bloch koordinatları ve iki açı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(⟨X⟩, ⟨Y⟩, ⟨Z⟩) ve [cos(θ/2), e^(iφ) sin(θ/2)]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koordinatları = üç bazdaki beklenen değerler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838" y="1097280"/>
            <a:ext cx="4645364" cy="48463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60720" y="1234440"/>
            <a:ext cx="5882335" cy="868680"/>
          </a:xfrm>
          <a:prstGeom prst="roundRect">
            <a:avLst>
              <a:gd name="adj" fmla="val 1052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760720" y="1234440"/>
            <a:ext cx="5882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⟨X⟩    y = ⟨Y⟩    z = ⟨Z⟩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331720"/>
          <a:ext cx="5882335" cy="914400"/>
        </p:xfrm>
        <a:graphic>
          <a:graphicData uri="http://schemas.openxmlformats.org/drawingml/2006/table">
            <a:tbl>
              <a:tblPr/>
              <a:tblGrid>
                <a:gridCol w="2235287"/>
                <a:gridCol w="3647048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Kaynak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Formül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Olasılıktan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koordinat = 2·P(0) − 1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Sayımlardan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(n₀ − n₁) / 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Vektörden x, 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2·Re(α*β), 2·Im(α*β)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Vektörden 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|α|² − |β|²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760720" y="4846320"/>
            <a:ext cx="5882335" cy="1005840"/>
          </a:xfrm>
          <a:prstGeom prst="roundRect">
            <a:avLst>
              <a:gd name="adj" fmla="val 727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5943600" y="4956048"/>
            <a:ext cx="551657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 durum: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x² + y² + z² = 1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(nokta küre yüzeyinde).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5 · Vektörden Bloch koordinatları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[cos(π/6), e^(iπ/4)·sin(π/6)] için (x, y, z)? Küre yüzeyinde mi?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 = 0.866,  β = 0.354 + 0.354i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α*β = 0.306 + 0.306i → x = 0.612, y = 0.612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 = 0.75 − 0.25 = 0.5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x² + y² + z² = 0.375 + 0.375 + 0.25 = 1 ✓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(0.612, 0.612, 0.5)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84048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bloch_from_state(q):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a, b = q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ab = np.conj(a)*b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 = abs(a)**2 - abs(b)**2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np.array(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[2*ab.real, 2*ab.imag, z])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t, p = np.pi/3, np.pi/4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[np.cos(t/2),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np.exp(1j*p)*np.sin(t/2)]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bloch_from_state(q)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[0.612, 0.612, 0.5]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açıyla her kübit: θ ve φ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23908"/>
            <a:ext cx="4937760" cy="459306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760720" y="1234440"/>
            <a:ext cx="5882335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760720" y="1234440"/>
            <a:ext cx="58823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= [ cos(θ/2) ,  e^(iφ)·sin(θ/2) ]</a:t>
            </a:r>
            <a:endParaRPr lang="en-US" sz="2600" dirty="0"/>
          </a:p>
        </p:txBody>
      </p:sp>
      <p:sp>
        <p:nvSpPr>
          <p:cNvPr id="9" name="Shape 5"/>
          <p:cNvSpPr/>
          <p:nvPr/>
        </p:nvSpPr>
        <p:spPr>
          <a:xfrm>
            <a:off x="5760720" y="2331720"/>
            <a:ext cx="5882335" cy="822960"/>
          </a:xfrm>
          <a:prstGeom prst="roundRect">
            <a:avLst>
              <a:gd name="adj" fmla="val 1111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760720" y="2331720"/>
            <a:ext cx="5882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(x, y, z) = (sin θ cos φ, sin θ sin φ, cos θ)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5760720" y="3383280"/>
            <a:ext cx="2849728" cy="2468880"/>
          </a:xfrm>
          <a:prstGeom prst="roundRect">
            <a:avLst>
              <a:gd name="adj" fmla="val 296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943600" y="3493008"/>
            <a:ext cx="248396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∈ [0, π]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Kutuptan açı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P_Z(0) = cos²(θ/2)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Olasılıkları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belirler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8793328" y="3383280"/>
            <a:ext cx="2849728" cy="2468880"/>
          </a:xfrm>
          <a:prstGeom prst="roundRect">
            <a:avLst>
              <a:gd name="adj" fmla="val 296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976208" y="3493008"/>
            <a:ext cx="2483968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∈ [0, 2π)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Ekvatorda açı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Göreli faz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Z'de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görünmez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X/Y'de görünür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benzetmesi: enlem ve boylam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035" y="1097280"/>
            <a:ext cx="6889626" cy="2011680"/>
          </a:xfrm>
          <a:prstGeom prst="rect">
            <a:avLst/>
          </a:prstGeom>
        </p:spPr>
      </p:pic>
      <p:pic>
        <p:nvPicPr>
          <p:cNvPr id="7" name="Image 1" descr="gör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254" y="3200400"/>
            <a:ext cx="5843333" cy="274320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589520" y="3291840"/>
            <a:ext cx="4053535" cy="2560320"/>
          </a:xfrm>
          <a:prstGeom prst="roundRect">
            <a:avLst>
              <a:gd name="adj" fmla="val 2857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772400" y="3401568"/>
            <a:ext cx="3687775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Kutup özel durumu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Kuzey Kutbu'nda tüm boylamlar aynı nokta.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0 ya da π ise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tanımsız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kodda φ = 0 döndür.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Dönüşüm formülleri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2440771"/>
                <a:gridCol w="4881543"/>
                <a:gridCol w="3772101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Dönüşüm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Formül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(θ, φ) → vektör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[cos(θ/2), e^(iφ) sin(θ/2)]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state_from_angles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Bloch → (θ, φ)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 = arccos z,  φ = atan2(y, x)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np.arccos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np.arctan2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vektör → (θ, φ)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 = 2·arccos|α|,  φ = arg β − arg 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angles_from_state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74904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3858768"/>
            <a:ext cx="10728655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yazarken dikkat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np.arccos(np.clip(z, -1, 1))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sayısal hata 1.0000000002 verebilir.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np.arctan2(y, x) % (2*np.pi)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sonuç [0, 2π) aralığına alınır.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|α| ≈ 0 ya da |β| ≈ 0 ise φ = 0 (sözleşme).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6 · Açılardan vektöre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θ = π/2, φ = π/2  (b) θ = 2π/3, φ = π için vektör ve Bloch noktası?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(a) q = [0.707, 0.707i] = |+i⟩ → (0, 1, 0)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(b) cos(π/3) = 0.5,  sin(π/3) = 0.866,  e^(iπ) = −1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= [0.5, −0.866]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Bloch = (sin 120°·cos 180°, 0, cos 120°) = (−0.866, 0, −0.5)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(a) |+i⟩  (b) [0.5, −0.866], (−0.866, 0, −0.5)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7 · Vektörden açılara (global faz)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[0.6, 0.8], [0.6, 0.8i], [0.6i, 0.8] için (θ, φ)?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 = 2·arccos(0.6) = 106.26° (üçü için aynı)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[0.6, 0.8]: φ = 0°       [0.6, 0.8i]: φ = 90°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[0.6i, 0.8]: önce global fazı at → [0.6, −0.8i]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 = arg β − arg α = 0 − 90° = −90° ≡ 270°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(106.26°, 0°), (106.26°, 90°), (106.26°, 270°)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1089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angles_from_state(q):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a, b = np.asarray(q, complex)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 = 2*np.arccos(abs(a))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 = np.angle(b) - np.angle(a)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th, d % (2*np.pi)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np.degrees(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angles_from_state([0.6j, 0.8]))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[106.26, 270.]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2. saat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Tomografi ve shot istatistiği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Vektörü ölçümlerden geri kurmak ve sonuca ne kadar güveneceğimizi bilmek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 tomografisi: kara kutu testi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145" y="1097280"/>
            <a:ext cx="9797405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00600"/>
            <a:ext cx="5410048" cy="1097280"/>
          </a:xfrm>
          <a:prstGeom prst="roundRect">
            <a:avLst>
              <a:gd name="adj" fmla="val 6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4910328"/>
            <a:ext cx="50442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Adımlar: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baz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x̂, ŷ, ẑ → (normalize) → θ̂, φ̂ → q̂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233008" y="4800600"/>
            <a:ext cx="5410048" cy="1097280"/>
          </a:xfrm>
          <a:prstGeom prst="roundRect">
            <a:avLst>
              <a:gd name="adj" fmla="val 6667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15888" y="4910328"/>
            <a:ext cx="504428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Maliyet: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N shot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her shot kübit sıfırdan hazırlanır.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tomography() fonksiyonu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94415" cy="475488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1082009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tomography(prep, shots=1000, seed=None):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[]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b in "XYZ":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 = measure_in_basis(prep, b, shots, seed)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r.append((c.get("0", 0) - c.get("1", 0)) / shots)   # (n0 - n1)/N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np.array(r)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np.linalg.norm(r) &gt; 1:         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fiziksel olmayan tahmin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 = r / np.linalg.norm(r)     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küre yüzeyine çek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theta = np.arccos(np.clip(r[2] / np.linalg.norm(r), -1, 1))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phi = np.arctan2(r[1], r[0]) % (2*np.pi)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r, theta, phi, state_from_angles(theta, phi)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fidelity(q, q_hat):               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 = |⟨q|q̂⟩|²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abs(np.vdot(q, q_hat))**2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8 · Tam bir tomografi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shot/baz, '0' sayıları: Z 752, X 812, Y 798. Bloch vektörü, açılar, durum?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ẑ = 0.504    x̂ = 0.624    ŷ = 0.596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‖r̂‖ = √0.9986 ≈ 0.999 → küreye çek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θ̂ = arccos(0.504) ≈ 59.7°    φ̂ = atan2(0.596, 0.624) ≈ 43.7°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q̂ ≈ [0.867, 0.360 + 0.344i]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Gerçek: θ = 60°, φ = 45° → hata &lt; 1°, F ≈ 0.9999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θ̂ ≈ 59.7°, φ̂ ≈ 43.7°</a:t>
            </a:r>
            <a:endParaRPr lang="en-US" sz="17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498080" y="1143000"/>
          <a:ext cx="4144975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sayısının etkisi: 100 / 1000 / 10 000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473" y="1097280"/>
            <a:ext cx="9372749" cy="3383280"/>
          </a:xfrm>
          <a:prstGeom prst="rect">
            <a:avLst/>
          </a:prstGeom>
        </p:spPr>
      </p:pic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11094415" cy="914400"/>
        </p:xfrm>
        <a:graphic>
          <a:graphicData uri="http://schemas.openxmlformats.org/drawingml/2006/table">
            <a:tbl>
              <a:tblPr/>
              <a:tblGrid>
                <a:gridCol w="1664162"/>
                <a:gridCol w="1664162"/>
                <a:gridCol w="2218883"/>
                <a:gridCol w="1886051"/>
                <a:gridCol w="3661157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/ baz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Ort. ‖r̂ − r‖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 hatası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Yorum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7°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Kaba fikir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0.04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Ders/lab için yeterli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0.012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0.7°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Hassas doğrulama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 kürenin dışına taşabilir → normalize et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25817"/>
            <a:ext cx="6766560" cy="35090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589520" y="1234440"/>
            <a:ext cx="4053535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589520" y="1234440"/>
            <a:ext cx="4053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r̂ ← r̂ / ‖r̂‖</a:t>
            </a:r>
            <a:endParaRPr lang="en-US" sz="2800" dirty="0"/>
          </a:p>
        </p:txBody>
      </p:sp>
      <p:sp>
        <p:nvSpPr>
          <p:cNvPr id="9" name="Shape 5"/>
          <p:cNvSpPr/>
          <p:nvPr/>
        </p:nvSpPr>
        <p:spPr>
          <a:xfrm>
            <a:off x="7589520" y="2377440"/>
            <a:ext cx="4053535" cy="2286000"/>
          </a:xfrm>
          <a:prstGeom prst="roundRect">
            <a:avLst>
              <a:gd name="adj" fmla="val 3200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0" y="2487168"/>
            <a:ext cx="3687775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Neden?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‖r̂‖ &gt; 1 → hiçbir kuantum durumuna karşılık gelmez (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fiziksel değil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Yönü koru, boyu 1 yap.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84632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1520" y="4956048"/>
            <a:ext cx="107286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büyüdükçe taşma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miktarı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küçülür (0.06 → 0.007) ama taşma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sıklığı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≈ %50 kalır.</a:t>
            </a:r>
            <a:endParaRPr lang="en-US" sz="1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9 · Boyu 1'i aşan tahmin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shot/baz; '0' sayıları: Z 81, X 90, Y 52. Tahmin, normalize, θ̂ ve φ̂?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ẑ = 0.62    x̂ = 0.80    ŷ = 0.04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‖r̂‖ = √1.026 ≈ 1.013 &gt; 1 → fiziksel değil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normalize: (0.790, 0.039, 0.612)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θ̂ ≈ 52.3°    φ̂ ≈ 2.9°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‖r̂‖ ≈ 1.013 → (0.790, 0.039, 0.612)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 ne kadar iyi? Sadakat (fidelity)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|⟨q|q̂⟩|² = (1 + r·r̂)/2 = cos²(Δ/2)</a:t>
            </a:r>
            <a:endParaRPr lang="en-US" sz="2600" dirty="0"/>
          </a:p>
        </p:txBody>
      </p:sp>
      <p:pic>
        <p:nvPicPr>
          <p:cNvPr id="8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80572"/>
            <a:ext cx="5410048" cy="2577015"/>
          </a:xfrm>
          <a:prstGeom prst="rect">
            <a:avLst/>
          </a:prstGeom>
        </p:spPr>
      </p:pic>
      <p:pic>
        <p:nvPicPr>
          <p:cNvPr id="9" name="Image 1" descr="görs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8" y="2673688"/>
            <a:ext cx="5410048" cy="279078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hata: tahmin ne kadar oynak?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4937760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SE(p̂) = √( p̂(1 − p̂)/N )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2331720"/>
            <a:ext cx="4937760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3317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SE(ẑ) = √( (1 − ẑ²)/N )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3474720"/>
            <a:ext cx="4937760" cy="2377440"/>
          </a:xfrm>
          <a:prstGeom prst="roundRect">
            <a:avLst>
              <a:gd name="adj" fmla="val 307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584448"/>
            <a:ext cx="4572000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sonuç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1/√N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azalır → yarıya indirmek için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kat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shot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 en çok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0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 = 0.5) iken; kutuplarda belirsizlik yok</a:t>
            </a:r>
            <a:endParaRPr lang="en-US" sz="17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760720" y="1188720"/>
          <a:ext cx="5882335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%95 güven aralığı: tahmin ± 1.96·SE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200" y="1097280"/>
            <a:ext cx="6930399" cy="3291840"/>
          </a:xfrm>
          <a:prstGeom prst="rect">
            <a:avLst/>
          </a:prstGeom>
        </p:spPr>
      </p:pic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12480" y="1280160"/>
          <a:ext cx="3230575" cy="914400"/>
        </p:xfrm>
        <a:graphic>
          <a:graphicData uri="http://schemas.openxmlformats.org/drawingml/2006/table">
            <a:tbl>
              <a:tblPr/>
              <a:tblGrid>
                <a:gridCol w="904561"/>
                <a:gridCol w="904561"/>
                <a:gridCol w="1421453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Düzey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Aralık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%68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1·SE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%90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1.645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1.645·SE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%95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1.96·SE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%99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2.576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2.576·SE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4572000"/>
            <a:ext cx="7589520" cy="1280160"/>
          </a:xfrm>
          <a:prstGeom prst="roundRect">
            <a:avLst>
              <a:gd name="adj" fmla="val 571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31520" y="4681728"/>
            <a:ext cx="7223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yorum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tekrarda üretilen aralıkların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~%95'i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gerçek değeri kapsar. (30 deneyde ~1–2 kaçırma beklenir.)</a:t>
            </a:r>
            <a:endParaRPr lang="en-US" sz="1700" dirty="0"/>
          </a:p>
        </p:txBody>
      </p:sp>
      <p:sp>
        <p:nvSpPr>
          <p:cNvPr id="10" name="Shape 5"/>
          <p:cNvSpPr/>
          <p:nvPr/>
        </p:nvSpPr>
        <p:spPr>
          <a:xfrm>
            <a:off x="8412480" y="3840480"/>
            <a:ext cx="3230575" cy="2011680"/>
          </a:xfrm>
          <a:prstGeom prst="roundRect">
            <a:avLst>
              <a:gd name="adj" fmla="val 3636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595360" y="3950208"/>
            <a:ext cx="2864815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 durum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p̂ = 0 ya da 1 → SE = 0 ama belirsizlik var. Kaba kural: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3/N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10 · Güven aralığı hesabı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bazında 1000 shot, 820 kez '0'. P(0) ve ⟨Z⟩ için SE ve %95 GA?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p̂ = 0.82    SE = √(0.82·0.18/1000) ≈ 0.0122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GA(p) = 0.82 ± 0.024 → [0.796, 0.844]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ẑ = 0.64    SE(ẑ) = √((1 − 0.4096)/1000) ≈ 0.0243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GA(⟨Z⟩) = 0.64 ± 0.048 → [0.592, 0.688]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P(0) ∈ [0.796, 0.844], ⟨Z⟩ ∈ [0.592, 0.688]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40233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ci95_expval(counts):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n0 = counts.get("0", 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n1 = counts.get("1", 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n0 + n1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 = (n0 - n1) / 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 = np.sqrt((1-e**2)/N)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 = 1.96*se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e, e - h, e + 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ci95_expval({"0": 820,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"1": 180})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(0.64, 0.592, 0.688)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 shot gerekir?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5120640" cy="1005840"/>
          </a:xfrm>
          <a:prstGeom prst="roundRect">
            <a:avLst>
              <a:gd name="adj" fmla="val 909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≥ 1.96² · p(1 − p) / ε²</a:t>
            </a:r>
            <a:endParaRPr lang="en-US" sz="28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5120640" cy="914400"/>
        </p:xfrm>
        <a:graphic>
          <a:graphicData uri="http://schemas.openxmlformats.org/drawingml/2006/table">
            <a:tbl>
              <a:tblPr/>
              <a:tblGrid>
                <a:gridCol w="1536192"/>
                <a:gridCol w="1792224"/>
                <a:gridCol w="1792224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P(0) için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⟨Z⟩ için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1 537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1 068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4 269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2 401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9 604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9 604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38 416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5943600" y="1188720"/>
          <a:ext cx="5699455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11 · Gerekli shot hesabı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11094415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1072865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P(0) ±0.01, p bilinmiyor  (b) p ≈ 0.1 biliniyor  (c) ⟨Z⟩ ±0.02, en kötü durum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11094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(a) N ≥ 3.8416 · 0.25 / 0.0001 = 9604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(b) N ≥ 3.8416 · 0.09 / 0.0001 ≈ 3458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(b) kutba yakın p → daha az belirsizlik, ~2.8 kat daha az shot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(c) N ≥ 3.8416 / 0.0004 = 9604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1072865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(a) 9604  (b) ≈ 3458  (c) 9604</a:t>
            </a:r>
            <a:endParaRPr lang="en-US" sz="17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04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Çok kübitte ölçüm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Tüm kübitleri ya da yalnızca birini ölçmek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Kısmi ölçüm: filtrele ve yeniden normalize et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3515258" cy="1554480"/>
          </a:xfrm>
          <a:prstGeom prst="roundRect">
            <a:avLst>
              <a:gd name="adj" fmla="val 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44168"/>
            <a:ext cx="314949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Marjinal</a:t>
            </a:r>
            <a:endParaRPr lang="en-US" sz="18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k'ıncı biti m olan indekslerin olasılık toplamı: P(qₖ = m)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246778" y="1234440"/>
            <a:ext cx="3515258" cy="1554480"/>
          </a:xfrm>
          <a:prstGeom prst="roundRect">
            <a:avLst>
              <a:gd name="adj" fmla="val 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29658" y="1344168"/>
            <a:ext cx="314949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Filtrele</a:t>
            </a:r>
            <a:endParaRPr lang="en-US" sz="18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biti m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olmayan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genlikleri sıfırla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944917" y="1234440"/>
            <a:ext cx="3515258" cy="1554480"/>
          </a:xfrm>
          <a:prstGeom prst="roundRect">
            <a:avLst>
              <a:gd name="adj" fmla="val 4706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27797" y="1344168"/>
            <a:ext cx="3149498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Normalize</a:t>
            </a:r>
            <a:endParaRPr lang="en-US" sz="18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kalanları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√P(qₖ = m)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'ye böl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017520"/>
            <a:ext cx="11094415" cy="17373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108960"/>
            <a:ext cx="108200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measure_qubit(state, k, outcome):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mask = ((np.arange(len(state)) &gt;&gt; k) &amp; 1) == outcome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k'ıncı bit == outcome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 = np.sum(abs(state[mask])**2)                  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marjinal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= np.where(mask, state, 0)                   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filtrele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p, new / np.sqrt(p)                               </a:t>
            </a: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normalize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48640" y="493776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5047488"/>
            <a:ext cx="1072865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Yeniden normalize etme =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koşullu olasılık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P(A | B) = P(A ve B) / P(B)</a:t>
            </a:r>
            <a:endParaRPr lang="en-US" sz="1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12 · Çarpım durumunda kısmi ölçüm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 = [0.6, 0.8] ⊗ |+⟩; yalnızca q₀ ölçülüyor, sonuç 0. P(q₀ = 0)? Sonra q₁?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 = [0.424, 0.424, 0.566, 0.566]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P(q₀ = 0) = P(00) + P(10) = 0.18 + 0.32 = 0.5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Filtrele: [0.424, 0, 0.566, 0]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 √0.5 → [0.6, 0, 0.8, 0] = [0.6, 0.8] ⊗ |0⟩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q₁ hâlâ [0.6, 0.8]: değişmedi</a:t>
            </a:r>
            <a:endParaRPr lang="en-US" sz="1700" dirty="0"/>
          </a:p>
        </p:txBody>
      </p:sp>
      <p:pic>
        <p:nvPicPr>
          <p:cNvPr id="11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8076" y="1143000"/>
            <a:ext cx="1844984" cy="1828800"/>
          </a:xfrm>
          <a:prstGeom prst="rect">
            <a:avLst/>
          </a:prstGeom>
        </p:spPr>
      </p:pic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3154680"/>
          <a:ext cx="4144975" cy="914400"/>
        </p:xfrm>
        <a:graphic>
          <a:graphicData uri="http://schemas.openxmlformats.org/drawingml/2006/table">
            <a:tbl>
              <a:tblPr/>
              <a:tblGrid>
                <a:gridCol w="911895"/>
                <a:gridCol w="1077694"/>
                <a:gridCol w="1077694"/>
                <a:gridCol w="1077694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q₁q₀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ψ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÷√0.5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13 · Bell durumunda kısmi ölçüm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|Φ⁺⟩ = [1/√2, 0, 0, 1/√2]; yalnızca q₀ ölçülüyor. Sonuçlar ve kalan durum?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P(q₀ = 0) = 0.5 → [0.707, 0, 0, 0] → |00⟩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P(q₀ = 1) = 0.5 → [0, 0, 0, 0.707] → |11⟩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q₁ artık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kesin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q₀ ile aynı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Önce q₁ %50/%50 idi → dolanıklığın ölçümdeki yüzü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 → |00⟩, 1 → |11⟩</a:t>
            </a:r>
            <a:endParaRPr lang="en-US" sz="1700" dirty="0"/>
          </a:p>
        </p:txBody>
      </p:sp>
      <p:pic>
        <p:nvPicPr>
          <p:cNvPr id="11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7222" y="1143000"/>
            <a:ext cx="2346690" cy="1828800"/>
          </a:xfrm>
          <a:prstGeom prst="rect">
            <a:avLst/>
          </a:prstGeom>
        </p:spPr>
      </p:pic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3154680"/>
          <a:ext cx="4144975" cy="914400"/>
        </p:xfrm>
        <a:graphic>
          <a:graphicData uri="http://schemas.openxmlformats.org/drawingml/2006/table">
            <a:tbl>
              <a:tblPr/>
              <a:tblGrid>
                <a:gridCol w="828995"/>
                <a:gridCol w="994794"/>
                <a:gridCol w="1326392"/>
                <a:gridCol w="994794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q₁q₀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ψ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q₀=0 filtre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÷√0.5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Çarpım durumu vs dolanık durum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949440" cy="914400"/>
        </p:xfrm>
        <a:graphic>
          <a:graphicData uri="http://schemas.openxmlformats.org/drawingml/2006/table">
            <a:tbl>
              <a:tblPr/>
              <a:tblGrid>
                <a:gridCol w="2779776"/>
                <a:gridCol w="2084832"/>
                <a:gridCol w="208483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[0.6, 0.8] ⊗ |+⟩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 |Φ⁺⟩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P(q₀ = 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Önce P(q₁ = 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q₀ = 0 sonrası P(q₁ = 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 (aynı)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(kesin)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q₀ = 1 sonrası P(q₁ = 0)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 (aynı)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(kesin)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772400" y="1280160"/>
            <a:ext cx="3870655" cy="2194560"/>
          </a:xfrm>
          <a:prstGeom prst="roundRect">
            <a:avLst>
              <a:gd name="adj" fmla="val 3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955280" y="1389888"/>
            <a:ext cx="3504895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Bağımsız: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koşullu = marjinal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Dolanık: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koşullu ≠ marjinal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48640" y="4206240"/>
            <a:ext cx="11094415" cy="1645920"/>
          </a:xfrm>
          <a:prstGeom prst="roundRect">
            <a:avLst>
              <a:gd name="adj" fmla="val 4444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4315968"/>
            <a:ext cx="10728655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anlama: "q₀'ı ölçmek q₁'e sinyal gönderir"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q₁'i tutan kişi kendi ölçümünde hâlâ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%50 / %50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görür; q₀'ın sonucunu klasik kanalla öğrenmeden fark algılayamaz → dolanıklıkla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gönderilemez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14 · Genel durum: marjinal ve koşullu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 = [0.5, 0.5, 0.1, 0.7]. P(q₀)? Her sonuç için kalan durum ve P(q₁ | q₀)?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P(q₀ = 0) = 0.25 + 0.01 = 0.26    P(q₀ = 1) = 0.74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q₀ = 0 → [0.981, 0, 0.196, 0], P(q₁ = 0 | q₀ = 0) = 0.962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q₀ = 1 → [0, 0.581, 0, 0.814], P(q₁ = 1 | q₀ = 1) = 0.662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Marjinal P(q₁ = 0) = 0.5 ≠ koşullu → kısmen dolanık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P(q₀=0) = 0.26; koşullu 0.962 / 0.662</a:t>
            </a:r>
            <a:endParaRPr lang="en-US" sz="17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498080" y="1143000"/>
          <a:ext cx="4144975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3. saat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Lab: ölçüm ve tomografi araç kutusu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measure_in_basis · tomography · güven aralıkları · kısmi ölçüm · oyun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akışı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109442"/>
                <a:gridCol w="4659654"/>
                <a:gridCol w="3772101"/>
                <a:gridCol w="1553218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Bölüm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Fonksiyon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Kurulum, tekrar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plot_bloch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Ölçüm bazları (NumPy)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prob_in_basis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Baz değiştirme (Qiskit)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measure_in_basis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Bloch koordinatları, θ ve φ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state_from_angles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Tomografi, shot etkisi, normalize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tomography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fidelity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Güven aralıkları, kapsama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ci95_expval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 ve kısmi ölçüm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measure_qubit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H–I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Oyun + 8 alıştırma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hidden_state_game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Ödev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Oyun: gizli durumu bul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6949440" cy="32918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280160"/>
            <a:ext cx="6675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black_box, score = hidden_state_game(seed=42)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[]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b in "XYZ":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black_box(b, 1000)   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bütçe: 3000 shot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r.append((c.get("0",0) - c.get("1",0)) / 1000)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np.array(r) / np.linalg.norm(r)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score(np.arccos(r[2]), np.arctan2(r[1], r[0]) % (2*np.pi))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Sadakat F = 0.99976 -&gt; ★★★</a:t>
            </a:r>
            <a:endParaRPr lang="en-US" sz="14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0" y="1280160"/>
          <a:ext cx="3870655" cy="914400"/>
        </p:xfrm>
        <a:graphic>
          <a:graphicData uri="http://schemas.openxmlformats.org/drawingml/2006/table">
            <a:tbl>
              <a:tblPr/>
              <a:tblGrid>
                <a:gridCol w="2128860"/>
                <a:gridCol w="174179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Sadakat 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0.999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0.99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0.95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0.95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tekrar dene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6634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4773168"/>
            <a:ext cx="1072865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Tartışma soruları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Bütçeyi bazlara nasıl dağıtmalı? Normalize etmek puanı neden artırır? Sadakat neden 1/N, açı hatası neden 1/√N ile düzelir?</a:t>
            </a:r>
            <a:endParaRPr lang="en-US" sz="17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Haftanın özeti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bazı = iki dik vektör;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|⟨b|q⟩|²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Z, X, Y = Bloch'un üç ekseni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Donanım yalnızca Z'de ölçer: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 H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→ S† sonra H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=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(⟨X⟩, ⟨Y⟩, ⟨Z⟩)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her koordinat = 2·P(0) − 1 = (n₀ − n₁)/N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kübit =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[cos(θ/2), e^(iφ) sin(θ/2)]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θ olasılık, φ göreli faz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Tomografi: 3 baz × N shot → r̂ →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θ̂, φ̂; kalite =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sadakat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%95 GA = tahmin ± 1.96·SE</a:t>
            </a: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hata ~1/√N; N ≥ 1.96²·p(1−p)/ε²</a:t>
            </a:r>
            <a:endParaRPr lang="en-US" sz="2000" dirty="0"/>
          </a:p>
          <a:p>
            <a:pPr marL="254000" indent="-2540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Kısmi ölçüm = marjinal + filtrele + normalize; dolanık durumda diğer kübit kesinleşebilir</a:t>
            </a:r>
            <a:endParaRPr lang="en-US" sz="2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ve gelecek hafta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5410048" cy="3566160"/>
          </a:xfrm>
          <a:prstGeom prst="roundRect">
            <a:avLst>
              <a:gd name="adj" fmla="val 205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89888"/>
            <a:ext cx="5044288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notu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10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10 yazılı soru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I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8 kodlama alıştırması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Oyunu en az 3 farklı gizli durumla oynayın; F değerlerinizi raporlayın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33008" y="1280160"/>
            <a:ext cx="5410048" cy="3566160"/>
          </a:xfrm>
          <a:prstGeom prst="roundRect">
            <a:avLst>
              <a:gd name="adj" fmla="val 205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5888" y="1389888"/>
            <a:ext cx="5044288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4: Tek kübit kapıları I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Y, Z, H kapıları Bloch küresinde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tek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kapı = bir eksen etrafında dönüş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Etkileşimli HTML Bloch simülatörü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Kapıları tomografi ile doğrulama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2026-09-23T15:33:38Z</dcterms:created>
  <dcterms:modified xsi:type="dcterms:W3CDTF">2026-09-23T15:33:38Z</dcterms:modified>
</cp:coreProperties>
</file>