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2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Ry(θ)|0⟩ ölçüm olasılıkları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P(1) = sin²(θ/2)</c:v>
                </c:pt>
              </c:strCache>
            </c:strRef>
          </c:tx>
          <c:spPr>
            <a:solidFill>
              <a:srgbClr val="2E6DB4"/>
            </a:solidFill>
            <a:ln w="31750" cap="flat">
              <a:solidFill>
                <a:srgbClr val="2E6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6DB4"/>
              </a:solidFill>
              <a:ln w="9525" cap="flat">
                <a:solidFill>
                  <a:srgbClr val="2E6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π/4</c:v>
                  </c:pt>
                  <c:pt idx="2">
                    <c:v>π/2</c:v>
                  </c:pt>
                  <c:pt idx="3">
                    <c:v>3π/4</c:v>
                  </c:pt>
                  <c:pt idx="4">
                    <c:v>π</c:v>
                  </c:pt>
                  <c:pt idx="5">
                    <c:v>5π/4</c:v>
                  </c:pt>
                  <c:pt idx="6">
                    <c:v>3π/2</c:v>
                  </c:pt>
                  <c:pt idx="7">
                    <c:v>7π/4</c:v>
                  </c:pt>
                  <c:pt idx="8">
                    <c:v>2π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0.14644660940672624</c:v>
                </c:pt>
                <c:pt idx="2">
                  <c:v>0.4999999999999999</c:v>
                </c:pt>
                <c:pt idx="3">
                  <c:v>0.8535533905932737</c:v>
                </c:pt>
                <c:pt idx="4">
                  <c:v>1</c:v>
                </c:pt>
                <c:pt idx="5">
                  <c:v>0.8535533905932737</c:v>
                </c:pt>
                <c:pt idx="6">
                  <c:v>0.5000000000000001</c:v>
                </c:pt>
                <c:pt idx="7">
                  <c:v>0.14644660940672632</c:v>
                </c:pt>
                <c:pt idx="8">
                  <c:v>1.4997597826618576e-32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P(0) = cos²(θ/2)</c:v>
                </c:pt>
              </c:strCache>
            </c:strRef>
          </c:tx>
          <c:spPr>
            <a:solidFill>
              <a:srgbClr val="1F3A5F"/>
            </a:solidFill>
            <a:ln w="3175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π/4</c:v>
                  </c:pt>
                  <c:pt idx="2">
                    <c:v>π/2</c:v>
                  </c:pt>
                  <c:pt idx="3">
                    <c:v>3π/4</c:v>
                  </c:pt>
                  <c:pt idx="4">
                    <c:v>π</c:v>
                  </c:pt>
                  <c:pt idx="5">
                    <c:v>5π/4</c:v>
                  </c:pt>
                  <c:pt idx="6">
                    <c:v>3π/2</c:v>
                  </c:pt>
                  <c:pt idx="7">
                    <c:v>7π/4</c:v>
                  </c:pt>
                  <c:pt idx="8">
                    <c:v>2π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0.8535533905932737</c:v>
                </c:pt>
                <c:pt idx="2">
                  <c:v>0.5000000000000001</c:v>
                </c:pt>
                <c:pt idx="3">
                  <c:v>0.1464466094067263</c:v>
                </c:pt>
                <c:pt idx="4">
                  <c:v>3.749399456654644e-33</c:v>
                </c:pt>
                <c:pt idx="5">
                  <c:v>0.1464466094067262</c:v>
                </c:pt>
                <c:pt idx="6">
                  <c:v>0.4999999999999999</c:v>
                </c:pt>
                <c:pt idx="7">
                  <c:v>0.8535533905932737</c:v>
                </c:pt>
                <c:pt idx="8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optimization_level karşılaştırması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Derinlik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Seviye 0</c:v>
                  </c:pt>
                  <c:pt idx="1">
                    <c:v>Seviye 1</c:v>
                  </c:pt>
                  <c:pt idx="2">
                    <c:v>Seviye 2</c:v>
                  </c:pt>
                  <c:pt idx="3">
                    <c:v>Seviye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27</c:v>
                </c:pt>
                <c:pt idx="2">
                  <c:v>24</c:v>
                </c:pt>
                <c:pt idx="3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Kapı sayısı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Seviye 0</c:v>
                  </c:pt>
                  <c:pt idx="1">
                    <c:v>Seviye 1</c:v>
                  </c:pt>
                  <c:pt idx="2">
                    <c:v>Seviye 2</c:v>
                  </c:pt>
                  <c:pt idx="3">
                    <c:v>Seviye 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</c:v>
                </c:pt>
                <c:pt idx="1">
                  <c:v>43</c:v>
                </c:pt>
                <c:pt idx="2">
                  <c:v>40</c:v>
                </c:pt>
                <c:pt idx="3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CX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Seviye 0</c:v>
                  </c:pt>
                  <c:pt idx="1">
                    <c:v>Seviye 1</c:v>
                  </c:pt>
                  <c:pt idx="2">
                    <c:v>Seviye 2</c:v>
                  </c:pt>
                  <c:pt idx="3">
                    <c:v>Seviye 3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</c:v>
                </c:pt>
                <c:pt idx="1">
                  <c:v>9</c:v>
                </c:pt>
                <c:pt idx="2">
                  <c:v>7</c:v>
                </c:pt>
                <c:pt idx="3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haftanın şablonuyla devam ediyoruz: her kapı için matris, elle hesap, Bloch'taki dönüş ve Qiskit kodu. Haftanın ikinci yarısında tek kapıdan devreye geçip devreyi ölçmeyi ve derleyiciyle küçültmeyi göreceğiz. Açılışta şu soruyu sorun: 'Donanım sadece birkaç kapı biliyorsa, bizim yazdığımız h, t, ry kapıları nasıl çalışıyor?' Cevabı haftanın sonunda transpile ile vereceğiz.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Birinci saat tamamen Bloch üzerinde kapılar; ikinci saat birleştirme, durum hazırlama bulmacaları ve transpile; üçüncü saat lab. Bulmacalar öğrencilerin en çok keyif aldığı kısım; oraya zaman bırakın.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okuyun; her birinin lab'da bir alıştırmayla ölçüldüğünü söyleyin (sağdaki sütun).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haftadaki kapıların hepsi 180 derecelik sabit dönüşlerdi. Bu hafta iki yönde genelleştiriyoruz: daha küçük sabit açılar (S, T) ve açısı parametre olan kapılar. Ağaç şeklini 'temel sınıf ve alt sınıflar' benzetmesiyle anlatın.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 kapılarının tamamı aynı fikir: |1⟩ genliğine faz çarpanı. Göreli faz 2. haftadan tanıdık.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 kapısının tek yaptığı şey ikinci genliği faz çarpanıyla çarpmak. Büyüklük değişmediği için olasılıklar değişmez; Bloch'ta boylam değişir. Tablodaki Qiskit adlarına dikkat: S† için sdg, T† için tdg.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Soluk gri ok başlangıç, mavi ok sonuç, turuncu noktalı çizgi dönüş yolu. S |+⟩'yı |+i⟩'ye, S† |−i⟩'ye götürüyor. T ve T† yarım yol. Dagger'ın tersi verdiğini hatırlatın: S† S'yi geri alır.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λ arttıkça nokta saat ibresi gibi ekvatorda dönüyor. 2π'de başa dönülüyor: P(2π) = I. Kodda olasılıkların her satırda 0.5/0.5 kaldığını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Köşegen matrislerin çarpımında köşegen elemanlar çarpılır, e üzeri açılar toplanır. Faz kapıları bir açı sayacına ekleme yapar ve sayaç 2π'de sıfırlanır; yazılımcılar için mod aritmetiği benzetmesi işe yarar.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Ekvatora yukarıdan bakış. Sekiz T tam tur. T'nin neden özel olduğunu tek cümleyle söyleyin: Clifford kapılarına (H, S, CNOT) eklenince evrensel küme oluşur ve hata düzeltmeli donanımlarda T sayısı bir maliyet ölçütüdür. Fizik detayına girmeyin.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Bloch formülünü (x = 2Re(α*β), y = 2Im(α*β)) 3. haftadan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Alıştırma 1'de aynı eşitlikleri kodla doğrulayacaklar.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Parametreli kapılar. QML haftalarında öğrenilen ağırlıklar tam olarak bu açılar olacak; bunu motivasyon olarak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matrisi yazın. Ortak formül cos(θ/2)·I − i·sin(θ/2)·σ; lab Alıştırma 2 bu formülle. Sağdaki şekilde turuncu ok dönüş ekseni, noktalı çizgi tam turda izlenen yol.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haftanın en önemli sezgisi. |0⟩ ve |1⟩ genlik düzleminde 90 derece, Bloch'ta 180 derece ayrık. Yani Bloch'ta θ dönmek için genlikte θ/2 dönmek gerekiyor. Ry, genlik düzleminde sıradan bir 2B döndürme matrisi; bilgisayar grafiğinden tanıdıkları matris.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Nokta yz düzleminde dönüyor: π/2'de |−i⟩, π'de |1⟩, 3π/2'de |+i⟩. Olasılıklar Ry ile aynı ama boylam farklı.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 genlikleri gerçek tutar: [cos(θ/2), sin(θ/2)]. Durum hazırlamada ilk adım hep Ry olacak çünkü tam olarak enlemi (ölçüm olasılıklarını) ayarlıyor.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Rz |0⟩'ı değiştirmez, çünkü kutup eksen üzerinde. Bu yüzden eğik bir durumdan başladık: Ry(π/3)|0⟩. Nokta aynı yükseklikte kalıyor: olasılıklar değişmiyor. Faz kapılarıyla aynı davranış.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native; θ = π/2'de yarı yarıya, π'de kesin 1. Tabloda Rx ile Ry'nin aynı olasılığı verdiğini, Rz'nin |0⟩'da hiç değiştirmediğini gösterin. Bu formül 12. haftadaki açı kodlamasının temeli.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Aer simülatöründe 2000 shot ile teori karşılaştırması. Shot gürültüsünü (±0.01 civarı) 3. haftadaki standart hata ile ilişkilendirin.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Rz(λ) = e^(−iλ/2)·P(λ). Fark global faz; 2. haftadaki kural. np.allclose False verir, Operator.equiv True verir. Kontrollü sürümlerde farkın önemli olacağını not edin (6. ve 10. hafta). IBM donanımında Rz sanal ve süresizdir.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Ters problemi (olasılıktan açıya) öğrencilere yaptırın; lab Alıştırma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Ölçümün bu iki durumu ayırt edemediğini, ama sonraki bir H'nin ayırt edebileceğini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Karşılaştırmada np.allclose yerine fidelity veya Operator.equiv kullanılması gerektiğini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bölüm transpile'ın neden işe yaradığının teorik temeli.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U|0⟩'ın ilk sütunu tam olarak 3. haftadaki Bloch parametrizasyonu: θ enlem, φ boylam. λ |0⟩'da etkisiz ama başka durumlarda devreye giriyor. Şekilde iz önce meridyen boyunca aşağı, sonra ekvatora paralel.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 Qiskit'in OneQubitEulerDecomposer('U') çıktısı. Parametrelerin tek olmadığını söyleyin: X için (π, 0, π) de doğru; tıpkı 0.5 = 1/2 gibi. Önemli olan matrisin (global faz hariç) aynı olması.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Sağdan sola: önce Rz(λ), sonra Ry(θ), sonra Rz(φ). Yaw-pitch-yaw benzetmesi. Şekilde H kapısının genel bir durum üzerinde iki adımda (son Rz açısı 0) nasıl oluştuğu görülüyor. Pratik sonuç: z ve y dönüşü yapabilen donanım her tek kübit kapısını çalıştırabilir.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ZSX biçimi IBM donanımının kullandığı biçim: Rz ve √X. SX iki kez uygulanınca X eder. Her tek kübit kapısı en fazla rz·sx·rz·sx·rz, yani 5 temel kapı. Bu bilgi transpile sonuçlarını yorumlarken lazım.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Matris elemanlarını formüle tek tek yerleştirerek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Qiskit'in ZYZ çıktısı farklı işaretli açılar verebilir; ikisi de doğru, eşdeğerliği equiv ile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Önce kapıları birleştirmeyi, sonra hedef duruma ulaşmayı, en son devreleri ölçmeyi ve derleyiciyle küçültmeyi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Sol: aynı eksende iki dönüş tek dönüşe eşit ve değişmeli. Sağ: Rx ve Ry'nin sırası değişince varılan nokta değişiyor. Kitap çevirme benzetmesi: önce yatay sonra dikey çevirmek ile tersi aynı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Bölüm E'de iki yolun Bloch çizimini çalıştırsınlar.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operatörü veren daha kısa devre = optimizasyon. Kuralları peephole optimizasyonu olarak anlatın: derleyici küçük bir pencere gezdirip tanıdık kalıbı kısa eşdeğeriyle değiştirir. Doğrulama her zaman Operator.equiv; refactoring sonrası birim testi gibi.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Donanım her kübiti |0⟩'da başlatır; hedefe giden devreyi bulmak her algoritmanın ilk adımı. Tarif iki satır: Ry ile enlem, P ile boylam. Global faz atlanır.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Kodu satır satır okuyun. np.clip sayısal hatalarda arccos'un NaN vermesini önlüyor. Şekilde [0.6, 0.8i] hedefine iki adımda varış.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Fidelity 2. haftadaki genel olasılık kuralının aynısı. Global fazı otomatik yok saydığı için karşılaştırmada np.allclose'dan daha doğru. Lab'da 200 rastgele hedefte en kötü fidelity 0.9999999999; assert eşiği 0.999.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faz içeren hedef [−0.6i, 0.8] için de aynı devrenin çıktığını sorun (ders notu Örnek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Oyun gibi sunun: kısıtlı kapı setiyle hedefe ulaşmak, derleme probleminin küçük modeli. Öğrencilere 5 dakika verin, çiftler halinde çözsünler. B2 en zevklisi: X yasak ama |1⟩'e ulaşılacak.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Bloch yolunu tahtada çizin: kutup → ekvator → yarım tur → kutup.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prepare() tarifinin ta kendisi: Ry enlem, T boylam. H gereksiz; bunu fark edenleri övün.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Derinlik bir iş planlama problemi: farklı kübitlerdeki kapılar paralel çalışabilir. Tek kübit devresinde derinlik = kapı sayısı. İki kübitlik kapılar en pahalı olanlar; CX sayısını ayrı izleyin.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Katmanları şekildeki renkli şeritlerle eşleştirin (önceki slayt).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gcc benzetmesi: kaynak kod → derleyici → makine kodu. Donanım yalnız rz, sx, x, cx biliyor; transpile çevirir ve optimize eder. Seviyeler -O0..-O3 gibi. Yerleşim ve yönlendirme aşamalarını 7. haftaya bırakın.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Seviye 0'da her kapı ayrı ayrı açılır (H → rz·sx·rz) ve devre büyür. Seviye 3 bütün devrenin tek bir U olduğunu fark eder ve en fazla 5 temel kapıyla yazar: Euler ayrıştırmasının pratikteki karşılığı. Global phase satırı: global faz devrede ayrı saklanıyor.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zsx(H) çıktısını gösterin (Euler slaytı).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demo_circuit: 3 kübit, 33 kapı, derinlik 19; içinde bilerek birleştirilebilir ve iptal edilebilir kapılar var. CX'i 6. haftada göreceğiz; şimdilik pahalı iki kübitlik kapı. Seviye 1 kapıları azaltıyor ama CX'e dokunmuyor; seviye 2-3 CX'i 9'dan 7'ye indiriyor. Sayılar Qiskit sürümüne göre az değişebilir.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Colab'da ilk hücreyi (pip install) hemen çalıştırmalarını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C opsiyonel: Colab'da ipywidgets hazır, kaydırıcı açılır; başka ortamda hücre hata vermez, statik çizim gösterir. Bölüm F'deki bulmacalar ve G'deki transpile tablosu derste birlikte; alıştırmalar ödev. Hepsi assert ile otomatik kontrol ediliyor.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edin; her maddeyi bir görsele bağlayın.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çok kübitli kapılar. Bu haftaki CX'li demo devresi köprü görevi görüyor; ışınlanma devresinde bu haftanın Rz/Ry kapıları da kullanılacak.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Tek Kübit Kapıları II: Faz ve Döndürme Kapıları, Devre Optimizasyonu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S, T, P(λ) · Rx, Ry, Rz · U(θ, φ, λ) ve Euler ayrıştırması · durum hazırlama bulmacaları · derinlik ve transpile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kapıları S, T, P(λ)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Rx, Ry, Rz ve θ/2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U kapısı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ayrıştırması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birleştirme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hazırlama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"Hedef duruma ulaş"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ve transpile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fonksiyonları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taraması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prepare() + bulmacalar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 deneyleri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9430253"/>
                <a:gridCol w="166416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haftanın sonunda…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S, T, P(λ) kapılarını z ekseni etrafında dönüş olarak yorumlarım; T² = S, S² = 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Alış.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Rx, Ry, Rz matrislerini yazar, </a:t>
                      </a: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θ/2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'nin nedenini açıklarım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Alış. 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Ry(θ)|0⟩ için </a:t>
                      </a: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P(1) = sin²(θ/2)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kullanırım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Alış. 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tek kübit kapısını </a:t>
                      </a: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U(θ, φ, λ)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olarak yazar, Euler ayrıştırması yaparım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Alış. 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[α, β] durumunu hazırlayan devreyi kurar, </a:t>
                      </a: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fidelity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doğrularım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Alış. 5–6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Devrenin kapı sayısı, derinlik, genişliğini ölçer; </a:t>
                      </a: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transpile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seviyelerini karşılaştırırım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Alış. 7–8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Hatırlatma: her kapı Bloch küresinde bir dönüştür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1514246"/>
                <a:gridCol w="1430122"/>
                <a:gridCol w="12618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Y, 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y, 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(x+z)/√2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S, S†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±90°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T, T†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±45°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P(λ)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Rx, Ry, Rz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y, 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U(θ,φ,λ)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herhangi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herhangi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532755"/>
            <a:ext cx="6613855" cy="260377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029200" y="4663440"/>
            <a:ext cx="6613855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212080" y="4773168"/>
            <a:ext cx="62480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U(θ, φ, λ)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sınıf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Rx, Ry, Rz, P = parametreli alt sınıflar; X, H, S, T = parametreleri sabitlenmiş örnekler.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Faz kapıları: S, S†, T, T†, P(λ)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z ekseni etrafında dönüş, olasılıklar değişmez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P(λ): |1⟩ genliğini e^(iλ) ile çarpar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P(λ) = [[1, 0], [0, e^(iλ)]]      P(λ)·[α, β] = [α, e^(iλ)·β]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6949440" cy="914400"/>
        </p:xfrm>
        <a:graphic>
          <a:graphicData uri="http://schemas.openxmlformats.org/drawingml/2006/table">
            <a:tbl>
              <a:tblPr/>
              <a:tblGrid>
                <a:gridCol w="972922"/>
                <a:gridCol w="1111910"/>
                <a:gridCol w="2779776"/>
                <a:gridCol w="20848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Bloch'ta etkisi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etrafında +45°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qc.t(0)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etrafında +90°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qc.s(0)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etrafında 180°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qc.z(0)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etrafında −90°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qc.sdg(0)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etrafında −45°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qc.tdg(0)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P(λ)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etrafında 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qc.p(lam,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772400" y="2331720"/>
            <a:ext cx="3870655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2441448"/>
            <a:ext cx="3504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Olasılıklar değişmez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|e^(iλ)| = 1 → |β|² aynı kalır. Değişen: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göreli faz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Bloch'ta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boylam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772400" y="4160520"/>
            <a:ext cx="3870655" cy="1645920"/>
          </a:xfrm>
          <a:prstGeom prst="roundRect">
            <a:avLst>
              <a:gd name="adj" fmla="val 444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55280" y="4270248"/>
            <a:ext cx="3504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Etkisini görmek için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Kutuplar (|0⟩, |1⟩) z ekseninde → etkilenmez. Örneklerde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|+⟩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başlıyoruz.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S†, T, T† kapıları Bloch'ta tek tek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32933"/>
            <a:ext cx="11094415" cy="312909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6035040" cy="14630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5262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|+⟩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qc.s(0)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veya qc.sdg(0), qc.t(0), qc.tdg(0)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Statevector(qc)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[0.707, 0.707i]  -&gt; |+i⟩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858000" y="4434840"/>
            <a:ext cx="4785055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40880" y="4544568"/>
            <a:ext cx="441929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S|+⟩ = [1, i]/√2 = |+i⟩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T|+⟩ = [1, e^(iπ/4)]/√2 → ekvatorda 45°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P(λ) film şeridi: ekvator boyunca dönüş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9129"/>
            <a:ext cx="11094415" cy="201086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474720"/>
            <a:ext cx="6949440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56616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lam in [0, np.pi/4, np.pi/2, np.pi]: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QuantumCircuit(1); qc.h(0); qc.p(lam,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sv = Statevector(qc)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print(np.round(sv.data, 3), sv.probabilities())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olasılıklar her satırda [0.5, 0.5]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772400" y="3474720"/>
            <a:ext cx="387065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3584448"/>
            <a:ext cx="350489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π/2 → |+i⟩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π → |−⟩ (Z kapısı)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2π → başa dönüş (I)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cebiri: açılar toplanır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5802"/>
            <a:ext cx="6766560" cy="189463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29184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32918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P(a) · P(b) = P(a + b)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2976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Köşegen matris: e^(ia) · e^(ib) = e^(i(a+b))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188720"/>
          <a:ext cx="4053535" cy="914400"/>
        </p:xfrm>
        <a:graphic>
          <a:graphicData uri="http://schemas.openxmlformats.org/drawingml/2006/table">
            <a:tbl>
              <a:tblPr/>
              <a:tblGrid>
                <a:gridCol w="1216061"/>
                <a:gridCol w="1702485"/>
                <a:gridCol w="113499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İfade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T·T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π/4 + π/4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S·S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 + 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2π ≡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S·S†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S·T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3π/4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P(3π/4)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3π/2 ≡ −π/2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kapısı: 45°'lik saat ibresi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64" y="1097280"/>
            <a:ext cx="4497112" cy="4846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52160" y="1280160"/>
            <a:ext cx="5790895" cy="2011680"/>
          </a:xfrm>
          <a:prstGeom prst="roundRect">
            <a:avLst>
              <a:gd name="adj" fmla="val 363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035040" y="1389888"/>
            <a:ext cx="5425135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|+⟩ → T → T → … her adım 45°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T² = S (|+i⟩), T⁴ = Z (|−⟩), T⁸ = I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852160" y="3520440"/>
            <a:ext cx="5790895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035040" y="3630168"/>
            <a:ext cx="542513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T özel?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{H, S, CNOT} ile kurulan devreler klasik bilgisayarda verimli simüle edilebilir.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eklenince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kapı seti evrensel olur → hata düzeltmeli donanımda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sayısı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maliyet ölçütüdür.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S ve T kapılarının |+⟩'ya etkisi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S|+⟩ ve T|+⟩ nedir? Olasılıklar ve Bloch koordinatları?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S|+⟩ = [1, i]/√2 = |+i⟩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T|+⟩ = [1, e^(iπ/4)]/√2 ≈ [0.707, 0.5 + 0.5i]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Olasılıklar her ikisinde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/ 0.5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S|+⟩ → (0, 1, 0)      T|+⟩ → (0.707, 0.707, 0)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Ekvatorda 90° ve 45°; olasılıklar değişmez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1089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np.diag([1, 1j])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np.diag([1, np.exp(1j*np.pi/4)])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= np.array([1, 1])/np.sqrt(2)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@ plus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[0.707, 0.707j]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state_to_bloch(T @ plus)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[0.707, 0.707, 0.]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Faz merdiveni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T² = S ve S² = Z olduğunu gösterin. S³ hangi kapıdır?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T·T = diag(1, e^(iπ/4)·e^(iπ/4)) = diag(1, i) = S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S·S = diag(1, i·i) = diag(1, −1) = Z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S³ = diag(1, i³) = diag(1, −i) = S†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3 × 90° = 270° ileri = 90° geri.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T² = S, S² = Z, S³ = S†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377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np.allclose(T @ T, S)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np.allclose(S @ S, Z)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np.linalg.matrix_power(S, 3),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S.conj().T)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Döndürme kapıları: Rx, Ry, Rz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İstenen eksen etrafında istenen açı; neden θ/2?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Rx(θ), Ry(θ), Rz(θ): tanım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98448"/>
            <a:ext cx="530352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Rx(θ) = [[cos(θ/2), −i·sin(θ/2)], [−i·sin(θ/2), cos(θ/2)]]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Ry(θ) = [[cos(θ/2), −sin(θ/2)], [sin(θ/2), cos(θ/2)]]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Rz(θ) = [[e^(−iθ/2), 0], [0, e^(iθ/2)]]</a:t>
            </a:r>
            <a:endParaRPr lang="en-US" sz="16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9613"/>
            <a:ext cx="5242255" cy="181565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0" y="3703320"/>
            <a:ext cx="5242255" cy="68580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3703320"/>
            <a:ext cx="5242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Rₙ(θ) = cos(θ/2)·I − i·sin(θ/2)·σ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664162"/>
                <a:gridCol w="4992487"/>
                <a:gridCol w="443776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 değer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Rx(π) ≅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qc.rx(t,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Ry(π/2)|0⟩ = 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qc.ry(t,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Rz(π/2) ≅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qc.rz(t,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θ/2? Bloch açısı = 2 × genlik açısı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370" y="1097280"/>
            <a:ext cx="7301741" cy="3657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38160" y="1188720"/>
            <a:ext cx="3504895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321040" y="1298448"/>
            <a:ext cx="313913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|0⟩–|1⟩ açısı: genlikte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Bloch'ta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Bloch'ta θ ⇔ genlikte θ/2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138160" y="3474720"/>
            <a:ext cx="3504895" cy="2377440"/>
          </a:xfrm>
          <a:prstGeom prst="roundRect">
            <a:avLst>
              <a:gd name="adj" fmla="val 307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3584448"/>
            <a:ext cx="3139135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Ry(θ)|0⟩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[cos(θ/2), sin(θ/2)]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Ry(2π) = −I: tam tur, genlikler −1 ile çarpılır (global faz, görünmez)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983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Kapıya verdiğiniz θ = </a:t>
            </a: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Bloch'taki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açı. Matristeki θ/2 = genlik uzayındaki açı (derece ↔ radyan gibi bir birim dönüşümü).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Rx(θ)|0⟩: x ekseni etrafında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5504"/>
            <a:ext cx="11094415" cy="23838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40480"/>
            <a:ext cx="5852160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9319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qc.rx(np.pi/2, 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Statevector(qc)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[0.707, -0.707j]  -&gt; |−i⟩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840480"/>
          <a:ext cx="4967935" cy="914400"/>
        </p:xfrm>
        <a:graphic>
          <a:graphicData uri="http://schemas.openxmlformats.org/drawingml/2006/table">
            <a:tbl>
              <a:tblPr/>
              <a:tblGrid>
                <a:gridCol w="993587"/>
                <a:gridCol w="2235571"/>
                <a:gridCol w="173877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Rx(θ)|0⟩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−i]/√2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−i]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[−1, −i]/√2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Ry(θ)|0⟩: y ekseni etrafında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5504"/>
            <a:ext cx="11094415" cy="23838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40480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3840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Ry(θ)|0⟩ = [cos(θ/2), sin(θ/2)]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840480"/>
          <a:ext cx="4967935" cy="914400"/>
        </p:xfrm>
        <a:graphic>
          <a:graphicData uri="http://schemas.openxmlformats.org/drawingml/2006/table">
            <a:tbl>
              <a:tblPr/>
              <a:tblGrid>
                <a:gridCol w="993587"/>
                <a:gridCol w="2235571"/>
                <a:gridCol w="173877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Ry(θ)|0⟩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[0.707, 0.707]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[−0.707, 0.707]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0292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Genlikler hep </a:t>
            </a: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xz düzlemi. Durum hazırlamada </a:t>
            </a: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enlemi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Ry ayarlar.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Rz(θ): z ekseni etrafında (enlem çemberi)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5504"/>
            <a:ext cx="11094415" cy="23838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4048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3950208"/>
            <a:ext cx="50442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Kutuplar etkilenmez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Rz(θ)|0⟩ = e^(−iθ/2)|0⟩ → yalnız global faz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Başlangıç: |ψ⟩ = Ry(π/3)|0⟩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33008" y="384048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3950208"/>
            <a:ext cx="50442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Enlem sabit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Yükseklik (z) değişmez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P(0), P(1) aynı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Değişen: boylam (göreli faz), tıpkı P(λ) gibi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taraması: P(1) = sin²(θ/2)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4300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188720"/>
          <a:ext cx="4053535" cy="914400"/>
        </p:xfrm>
        <a:graphic>
          <a:graphicData uri="http://schemas.openxmlformats.org/drawingml/2006/table">
            <a:tbl>
              <a:tblPr/>
              <a:tblGrid>
                <a:gridCol w="1013384"/>
                <a:gridCol w="1013384"/>
                <a:gridCol w="1013384"/>
                <a:gridCol w="101338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P₁ Rx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P₁ 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P₁ Rz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2π/3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21208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532180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İstenen olasılık p için: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2·arcsin(√p)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(Lab Alıştırma 3). QML'de açı kodlaması: özellik x → Ry(x).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Qiskit: θ taramasını simülatörde doğrulama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2743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08200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 = AerSimulator(seed_simulator=11)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theta in [0, np.pi/3, np.pi/2, np.pi]: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QuantumCircuit(1, 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qc.ry(theta, 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qc.measure(0, 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 = aer.run(transpile(qc, aer), shots=2000).result().get_counts()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print(f"θ={theta:.3f}  ölçülen={counts.get('1', 0)/2000:.3f}"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  teori={np.sin(theta/2)**2:.3f}")</a:t>
            </a:r>
            <a:endParaRPr lang="en-US" sz="15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929" y="4114800"/>
            <a:ext cx="4960062" cy="1828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0" y="4114800"/>
            <a:ext cx="5699455" cy="1737360"/>
          </a:xfrm>
          <a:prstGeom prst="roundRect">
            <a:avLst>
              <a:gd name="adj" fmla="val 42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126480" y="4224528"/>
            <a:ext cx="533369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adları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qc.rx(θ, q)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qc.ry(θ, q)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qc.rz(θ, q)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qc.p(λ, q)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 her zaman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radyan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90° =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np.pi/2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 ile P: aynı işlem, farklı matris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39" y="1097280"/>
            <a:ext cx="6326602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34340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343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Rz(λ) = e^(−iλ/2) · P(λ)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7223760" y="1188720"/>
            <a:ext cx="4419295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60920" y="1280160"/>
            <a:ext cx="41449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 = QuantumCircuit(1)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qa.rz(np.pi/2,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qb = QuantumCircuit(1)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qb.p(np.pi/2,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Operator(qa), Operator(qb)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np.allclose(A.data, B.data)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A.equiv(B)   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223760" y="3566160"/>
            <a:ext cx="4419295" cy="2286000"/>
          </a:xfrm>
          <a:prstGeom prst="roundRect">
            <a:avLst>
              <a:gd name="adj" fmla="val 32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0" y="3675888"/>
            <a:ext cx="405353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önemli?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kübitte: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zaman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(global faz).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Kontrollü sürümlerde (CRz ≠ CP) fark göreli faza dönüşür.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Ry ile istenen olasılık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Ry(π/3)|0⟩ nedir, P(1) kaçtır? P(1) = 0.75 için θ?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Ry(π/3)|0⟩ = [cos(π/6), sin(π/6)] = [0.866, 0.5]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0.75     P(1) = 0.25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sin²(θ/2) = 0.75 → θ/2 = π/3 → θ = 2π/3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Genel: θ = 2·arcsin(√p)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[0.866, 0.5], P(1) = 0.25; θ = 2π/3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926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qc.ry(np.pi/3,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Statevector(qc).probabilities()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[0.75, 0.25]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2*np.arcsin(np.sqrt(0.75))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2.094 = 2π/3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Rx(π/2)|0⟩ ve Ry(π/2)|0⟩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durumu hesaplayın ve Bloch noktalarını karşılaştırın.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Rx(π/2)|0⟩ = ilk sütun = [0.707, −0.707i]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α*β = −0.5i → (x, y, z) = (0, −1, 0) = |−i⟩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Ry(π/2)|0⟩ = [0.707, 0.707] = |+⟩ → (1, 0, 0)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İkisinde de P(1) = 0.5;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göreli fazda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(boylam 90° farklı).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|−i⟩ ve |+⟩: aynı olasılık, farklı durum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Rz ve P aynı durumu verir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Rz(π/2)|+⟩ ve S|+⟩ aynı durum mu?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Rz(π/2)|+⟩ = [e^(−iπ/4), e^(iπ/4)]/√2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e^(−iπ/4) · [1, i]/√2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S|+⟩ = [1, i]/√2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Fark yalnızca global faz e^(−iπ/4)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durum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(|+i⟩)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Evet: Rz(λ) = e^(−iλ/2)·P(λ)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5603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Rz(np.pi/2) @ plus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S @ plus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np.allclose(a, b)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abs(np.vdot(a, b))**2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aynı durum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Genel kapı U(θ, φ, λ) ve Euler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Her tek kübit kapısı üç açıdır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U(θ, φ, λ): en genel tek kübit kapısı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U(θ,φ,λ) = [[cos(θ/2), −e^(iλ)·sin(θ/2)], [e^(iφ)·sin(θ/2), e^(i(φ+λ))·cos(θ/2)]]</a:t>
            </a:r>
            <a:endParaRPr lang="en-US" sz="21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758" y="2240280"/>
            <a:ext cx="3631124" cy="3749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2377440"/>
            <a:ext cx="679673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846320" y="2377440"/>
            <a:ext cx="6796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U(θ, φ, λ)|0⟩ = [cos(θ/2), e^(iφ)·sin(θ/2)]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846320" y="3383280"/>
            <a:ext cx="6796735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0" y="3493008"/>
            <a:ext cx="643097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enlem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(kuzeyden ne kadar aşağı)   ·  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boylam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(ekvator etrafında)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846320" y="4754880"/>
            <a:ext cx="6796735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0" y="4864608"/>
            <a:ext cx="64309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2×2 üniter matris = e^(iα)·U(θ, φ, λ) → tek kübit işlemi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gerçek sayıyla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tarif edilir.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Bilinen kapıların U parametreleri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8521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053389"/>
                <a:gridCol w="1170432"/>
                <a:gridCol w="1170432"/>
                <a:gridCol w="11704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Ry(θ)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75120" y="1188720"/>
            <a:ext cx="496793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12280" y="1280160"/>
            <a:ext cx="46936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qiskit.synthesis import OneQubitEulerDecomposer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 = OneQubitEulerDecomposer("U")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dec.angles_and_phase(H)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(1.5708, 0.0, 3.1416, 0.0)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-&gt; H = U(π/2, 0, π)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qc.u(np.pi/2, 0, np.pi,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Operator(qc).equiv(Operator(H))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75120" y="4663440"/>
            <a:ext cx="4967935" cy="1188720"/>
          </a:xfrm>
          <a:prstGeom prst="roundRect">
            <a:avLst>
              <a:gd name="adj" fmla="val 615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0" y="4773168"/>
            <a:ext cx="460217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Açılar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değildir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X = U(π, −π, 0) = U(π, 0, π). Test: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Operator.equiv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ayrıştırması: U = Rz · Ry · Rz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U(θ, φ, λ) = e^(iα) · Rz(φ) · Ry(θ) · Rz(λ)</a:t>
            </a:r>
            <a:endParaRPr lang="en-US" sz="26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728" y="2103120"/>
            <a:ext cx="9876240" cy="2651760"/>
          </a:xfrm>
          <a:prstGeom prst="rect">
            <a:avLst/>
          </a:prstGeom>
        </p:spPr>
      </p:pic>
      <p:pic>
        <p:nvPicPr>
          <p:cNvPr id="9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01" y="4846320"/>
            <a:ext cx="2961799" cy="10972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297680" y="4846320"/>
            <a:ext cx="7345375" cy="1051560"/>
          </a:xfrm>
          <a:prstGeom prst="roundRect">
            <a:avLst>
              <a:gd name="adj" fmla="val 695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480560" y="4956048"/>
            <a:ext cx="697961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e^(iπ/2) · Rz(0) · Ry(π/2) · Rz(π). Devrede sıra: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Rz(λ) → Ry(θ) → Rz(φ)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Qiskit: ayrıştırma biçimleri ve SX kapısı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8521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2340864"/>
                <a:gridCol w="222382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Biçim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Dönüşler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"ZYZ"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Rz·Ry·Rz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Ders kitabı standardı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"ZXZ"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Rz·Rx·Rz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dönüşü kolay donanım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"U"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genel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"ZSX"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Rz·√X·Rz·√X·Rz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(rz, sx)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657600"/>
            <a:ext cx="5852160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74904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zyz = OneQubitEulerDecomposer("ZYZ")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print(zyz(H))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ry(-π/2), rz(-π)  (+ global faz)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zsx = OneQubitEulerDecomposer("ZSX")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print(zsx(H))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rz(π/2) · sx · rz(π/2)</a:t>
            </a:r>
            <a:endParaRPr lang="en-US" sz="1400" dirty="0"/>
          </a:p>
        </p:txBody>
      </p:sp>
      <p:pic>
        <p:nvPicPr>
          <p:cNvPr id="9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34838"/>
            <a:ext cx="4967935" cy="2616723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675120" y="4480560"/>
            <a:ext cx="4967935" cy="731520"/>
          </a:xfrm>
          <a:prstGeom prst="roundRect">
            <a:avLst>
              <a:gd name="adj" fmla="val 125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675120" y="4480560"/>
            <a:ext cx="4967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SX·SX = X      H·S·H = SX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6675120" y="5349240"/>
            <a:ext cx="4967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 = x etrafında 90° (global faz hariç Rx(π/2))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H kapısının U parametreleri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U(π/2, 0, π) = H olduğunu gösterin. U(π, 0, π) hangi kapıdır?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cos 45° = sin 45° = 0.707;  e^(i0) = 1;  e^(iπ) = −1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[[0.707, −(−1)·0.707], [0.707, e^(iπ)·0.707]]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[[0.707, 0.707], [0.707, −0.707]] = H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U(π, 0, π) = [[0, 1], [1, 0]] = X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U(π/2, 0, π) = H, U(π, 0, π) = X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Euler ayrıştırmasını elle doğrulama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e^(iα)·Ry(π/2)·Rz(π) olduğunu gösterin; 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Rz(π) = diag(−i, i)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Ry(π/2)·Rz(π) = −i · [[0.707, 0.707], [0.707, −0.707]] = −i·H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 = i · (−i·H) → e^(iα) = i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π/2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Global faz Bloch'ta görünmez → devre H ile aynı iş.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 = e^(iπ/2)·Ry(π/2)·Rz(π)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1089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Ry(np.pi/2) @ Rz(np.pi)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np.allclose(1j * M, H)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qc.rz(np.pi,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qc.ry(np.pi/2,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Operator(qc).equiv(Operator(H))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Birleştirme, durum hazırlama, transpile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Tek kapıdan devreye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eksen: açılar toplanır · farklı eksen: sıra önemli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8137"/>
            <a:ext cx="5455768" cy="2807246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88" y="1248137"/>
            <a:ext cx="5455768" cy="280724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4389120"/>
            <a:ext cx="5455768" cy="731520"/>
          </a:xfrm>
          <a:prstGeom prst="roundRect">
            <a:avLst>
              <a:gd name="adj" fmla="val 125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48640" y="4389120"/>
            <a:ext cx="5455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Rz(a)·Rz(b) = Rz(a + b)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6187288" y="4389120"/>
            <a:ext cx="5455768" cy="731520"/>
          </a:xfrm>
          <a:prstGeom prst="roundRect">
            <a:avLst>
              <a:gd name="adj" fmla="val 125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187288" y="4389120"/>
            <a:ext cx="5455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Rx(a)·Ry(b) ≠ Ry(b)·Rx(a)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257800"/>
            <a:ext cx="545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Derleyici: art arda iki rz → tek rz; toplam 0 ise sil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6187288" y="5257800"/>
            <a:ext cx="545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hafta: XZ ≠ ZX — aynı ders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8 · Değişmezliği sayısal gösterme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|0⟩'a (a) Rx(π/2)→Ry(π/2), (b) Ry(π/2)→Rx(π/2). Sonuçlar?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(a) Rx(π/2)|0⟩ = [0.707, −0.707i], sonra Ry(π/2):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[0.5 + 0.5i, 0.5 − 0.5i] → Bloch (0, −1, 0) = |−i⟩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(b) Ry(π/2)|0⟩ = |+⟩, sonra Rx(π/2):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(0.5 − 0.5i)·[1, 1] = e^(−iπ/4)|+⟩ → (1, 0, 0)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(a) |−i⟩, (b) |+⟩: sıra değişince sonuç değişir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926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Ry(np.pi/2) @ Rx(np.pi/2)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Rx(np.pi/2) @ Ry(np.pi/2)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np.allclose(A, B)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state_to_bloch(A @ ket0)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-1, 0]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state_to_bloch(B @ ket0)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0, 0]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Eşdeğer devreler: optimizasyonun özü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24712"/>
            <a:ext cx="7132320" cy="2414016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188720"/>
          <a:ext cx="3687775" cy="914400"/>
        </p:xfrm>
        <a:graphic>
          <a:graphicData uri="http://schemas.openxmlformats.org/drawingml/2006/table">
            <a:tbl>
              <a:tblPr/>
              <a:tblGrid>
                <a:gridCol w="2212665"/>
                <a:gridCol w="147511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T·T = S, Rz·Rz = Rz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Birleştirme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X·X = I, S·S† =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İptal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H·Z·H =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 değişimi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H·S·H ≅ SX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Yeniden yazım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3794760"/>
            <a:ext cx="11094415" cy="14173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388620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esdeger(a, b): return Operator(a).equiv(Operator(b))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global faz hariç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uzun = QuantumCircuit(1); uzun.h(0); uzun.s(0); uzun.h(0)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kisa = QuantumCircuit(1); kisa.sx(0)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esdeger(uzun, kisa)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48640" y="534924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31520" y="545896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"Peephole" optimizasyonu: küçük pencerede kalıp ara → kısa eşdeğeriyle değiştir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hazırlama: önce enlem, sonra boylam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2·arccos|α|          φ = arg β − arg α</a:t>
            </a:r>
            <a:endParaRPr lang="en-US" sz="28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796" y="2194560"/>
            <a:ext cx="8344103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4663440"/>
            <a:ext cx="3560978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773168"/>
            <a:ext cx="319521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Ry(θ)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Enlem → |α|, |β| doğru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246778" y="4663440"/>
            <a:ext cx="3560978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429658" y="4773168"/>
            <a:ext cx="319521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P(φ)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Boylam → göreli faz doğru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944917" y="4663440"/>
            <a:ext cx="3560978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127797" y="4773168"/>
            <a:ext cx="319521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Global faz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e^(i·arg α): önemsiz, atla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prepare(α, β) fonksiyonu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6309360" cy="31089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prepare(alpha, beta):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np.array([alpha, beta], dtype=complex)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v / np.linalg.norm(v)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enlem ve boylam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theta = 2*np.arccos(np.clip(abs(v[0]), 0, 1))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phi = np.angle(v[1]) - np.angle(v[0])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qc.ry(theta,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qc.p(phi,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07" y="4480560"/>
            <a:ext cx="2877145" cy="1371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5760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prepare(0.6, 0.8j)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fidelity = 1.0</a:t>
            </a:r>
            <a:endParaRPr lang="en-US" sz="1500" dirty="0"/>
          </a:p>
        </p:txBody>
      </p:sp>
      <p:pic>
        <p:nvPicPr>
          <p:cNvPr id="10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56358"/>
            <a:ext cx="4510735" cy="165928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132320" y="3657600"/>
            <a:ext cx="451073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0" y="3767328"/>
            <a:ext cx="414497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[0.6, 0.8i]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2·arccos 0.6 ≈ 1.855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π/2 − 0 = π/2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Ry(1.855)|0⟩ = [0.6, 0.8] → S → [0.6, 0.8i]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ölçütü: fidelity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6583680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F(hedef, ψ) = |⟨hedef | ψ⟩|²       0 ≤ F ≤ 1</a:t>
            </a:r>
            <a:endParaRPr lang="en-US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durum (global faz hariç)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Dik: tamamen ayırt edilebilir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Lab'daki kabul eşiği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51960"/>
            <a:ext cx="6583680" cy="1600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434340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[state_fidelity(Statevector(prepare(*v)),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Statevector(v))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for v in hedefler]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200 rastgele hedef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min(F) &gt;= 0.999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0.99999999...</a:t>
            </a:r>
            <a:endParaRPr lang="en-US" sz="1400" dirty="0"/>
          </a:p>
        </p:txBody>
      </p:sp>
      <p:pic>
        <p:nvPicPr>
          <p:cNvPr id="11" name="Image 0" descr="8 rastgele hedef, hepsi F = 1.0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4036" y="1188720"/>
            <a:ext cx="4221622" cy="4343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06640" y="555955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8 rastgele hedef, hepsi F = 1.000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· Karmaşık genlikli hedef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|0⟩'dan [0.6, 0.8i] durumunu hazırlayın.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|α| = 0.6, arg α = 0; |β| = 0.8, arg β = π/2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2·arccos(0.6) ≈ 1.8546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Ry(1.8546)|0⟩ = [0.6, 0.8]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= π/2 → P(π/2) = S → [0.6, 0.8i]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Ry(2·arccos 0.6), ardından 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743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qc.ry(2*np.arccos(0.6),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qc.s(0)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state_fidelity(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Statevector(qc),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Statevector([0.6, 0.8j]))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1.0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"Hedef duruma ulaş" bulmacaları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47" y="1097280"/>
            <a:ext cx="9689802" cy="2926080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4415" cy="914400"/>
        </p:xfrm>
        <a:graphic>
          <a:graphicData uri="http://schemas.openxmlformats.org/drawingml/2006/table">
            <a:tbl>
              <a:tblPr/>
              <a:tblGrid>
                <a:gridCol w="887553"/>
                <a:gridCol w="4215878"/>
                <a:gridCol w="2440771"/>
                <a:gridCol w="355021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Fikir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{H, S}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S³ = S†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{H, T}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T⁴ = Z, HZH =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[cos(π/8), e^(iπ/4)sin(π/8)]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{H, T} + tek 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enlem π/4, boylam π/4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[0.6, −0.8]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{Ry, Z}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işareti çevirir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Bulmaca B2: X olmadan |1⟩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H ve T ile |0⟩ → |1⟩.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Fikir: X = H·Z·H (baz değişimi)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T⁴ = P(π) = Z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Devre: H → T → T → T → T → H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Bloch: |0⟩ → |+⟩ → (4 × 45°) → |−⟩ → |1⟩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H, T, T, T, T, H (6 kapı); F = 1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72363"/>
            <a:ext cx="4144975" cy="91871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11 · Bulmaca B3: enlem ve boylam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[cos(π/8), e^(iπ/4)·sin(π/8)]; H, T ve tek Ry.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Hedef zaten [cos(θ/2), e^(iφ)·sin(θ/2)] biçiminde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θ/2 = π/8 → θ = π/4       φ = π/4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Ry(π/4)|0⟩ = [0.924, 0.383]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· [0.924, 0.383] = [0.924, e^(iπ/4)·0.383]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Ry(π/4), ardından T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metrikleri: size, depth, width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7649"/>
            <a:ext cx="6675120" cy="2702462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188720"/>
          <a:ext cx="4144975" cy="914400"/>
        </p:xfrm>
        <a:graphic>
          <a:graphicData uri="http://schemas.openxmlformats.org/drawingml/2006/table">
            <a:tbl>
              <a:tblPr/>
              <a:tblGrid>
                <a:gridCol w="1243493"/>
                <a:gridCol w="1326392"/>
                <a:gridCol w="1575091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Benzetme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 sayısı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Komut sayısı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 yol / süre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depth()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Genişlik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Yazmaç sayısı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num_qubits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 türleri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Komut istatistiği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count_ops()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 sayısı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Pahalı komutlar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count_ops()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069080"/>
            <a:ext cx="6675120" cy="1783080"/>
          </a:xfrm>
          <a:prstGeom prst="roundRect">
            <a:avLst>
              <a:gd name="adj" fmla="val 410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178808"/>
            <a:ext cx="63093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kapı küçük bir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ekler; kübitler durumlarını kısa süre korur.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 kapı + daha az derinlik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 hata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(7. hafta: gürültü).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498080" y="4343400"/>
            <a:ext cx="4144975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680960" y="4453128"/>
            <a:ext cx="3779215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kübit devresinde: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= kapı sayısı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(paralellik yok).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12 · Devre metriklerini hesaplama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q₀: H, q₁: H, q₂: T → CX(0→1) → q₀: S, q₂: X → CX(2→1). size, depth, width?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size = 3 + 1 + 2 + 1 =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Katman 1: H, H, T (paralel)    Katman 2: CX(0,1)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Katman 3: S, X (paralel)    Katman 4: CX(2,1)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= 7,  depth = 4,  width = 3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kapı, derinlik 4, genişlik 3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1089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qc.h(0); qc.h(1); qc.t(2)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qc.cx(0,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qc.s(0); qc.x(2)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qc.cx(2,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qc.size()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qc.depth()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qc.num_qubits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Transpile: kuantum derleyicisi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2550" y="1097280"/>
            <a:ext cx="7046595" cy="2194560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11094415" cy="914400"/>
        </p:xfrm>
        <a:graphic>
          <a:graphicData uri="http://schemas.openxmlformats.org/drawingml/2006/table">
            <a:tbl>
              <a:tblPr/>
              <a:tblGrid>
                <a:gridCol w="1220386"/>
                <a:gridCol w="8542700"/>
                <a:gridCol w="133133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Seviye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çevirir; optimizasyon 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Ardışık tek kübit kapılarını birleştirir, CX çiftlerini iptal eder (varsayılan)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Değişme kurallarıyla kaydırma ve iptal, daha iyi yerleşim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 kübitlik blokları yeniden sentezler; en yoğun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kübit devresinde transpile: 8 → 22 → 5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pic>
        <p:nvPicPr>
          <p:cNvPr id="6" name="Image 0" descr="Orijinal: 8 kapı, derinlik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668" y="1097280"/>
            <a:ext cx="5684264" cy="1005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130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Orijinal: 8 kapı, derinlik 8</a:t>
            </a:r>
            <a:endParaRPr lang="en-US" sz="1100" dirty="0"/>
          </a:p>
        </p:txBody>
      </p:sp>
      <p:pic>
        <p:nvPicPr>
          <p:cNvPr id="8" name="Image 1" descr="Seviye 0: 22 kapı (15 rz + 7 sx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53" y="2514600"/>
            <a:ext cx="6401893" cy="1874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4416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Seviye 0: 22 kapı (15 rz + 7 sx)</a:t>
            </a:r>
            <a:endParaRPr lang="en-US" sz="1100" dirty="0"/>
          </a:p>
        </p:txBody>
      </p:sp>
      <p:pic>
        <p:nvPicPr>
          <p:cNvPr id="10" name="Image 2" descr="Seviye 3: 5 kap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855" y="4800600"/>
            <a:ext cx="2867891" cy="8229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48640" y="56509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Seviye 3: 5 kapı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7955280" y="1188720"/>
            <a:ext cx="368777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8092440" y="1280160"/>
            <a:ext cx="34134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 = ["rz","sx","x","cx"]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lvl in [0, 3]: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transpile(qc1,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basis_gates=BASIS,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optimization_level=lvl,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seed_transpiler=7)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print(lvl, t.size(),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t.depth())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22 22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5 5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7955280" y="4663440"/>
            <a:ext cx="3687775" cy="1234440"/>
          </a:xfrm>
          <a:prstGeom prst="roundRect">
            <a:avLst>
              <a:gd name="adj" fmla="val 59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8138160" y="4773168"/>
            <a:ext cx="332201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tek kübit işlemi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fazla 5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temel kapı: rz·sx·rz·sx·rz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13 · H kapısı temel kapılarda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Seviye 0'da 8 kapılık devre neden 22 kapı oluyor?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 = Rz(π/2)·SX·Rz(π/2) (global faz hariç) → 3 kapı; 3 H → 9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T, S, Z → her biri 1 rz → 3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Rx(0.3), Ry(0.5) → her biri 5 kapı → 10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+ 3 + 10 = 22 (15 rz + 7 sx)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Seviye 1+: hepsini tek U'da toplar → 5 kapı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Seviye 0: 22; seviye 1–3: 5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kübitli devrede seviyelerin karşılaştırılması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pic>
        <p:nvPicPr>
          <p:cNvPr id="6" name="Image 0" descr="Orijinal: 33 kapı, derinlik 19, 9 C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420" y="1097280"/>
            <a:ext cx="4997960" cy="1783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907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Orijinal: 33 kapı, derinlik 19, 9 CX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126480" y="1097280"/>
          <a:ext cx="551657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5303520" cy="914400"/>
        </p:xfrm>
        <a:graphic>
          <a:graphicData uri="http://schemas.openxmlformats.org/drawingml/2006/table">
            <a:tbl>
              <a:tblPr/>
              <a:tblGrid>
                <a:gridCol w="1166774"/>
                <a:gridCol w="954634"/>
                <a:gridCol w="795528"/>
                <a:gridCol w="795528"/>
                <a:gridCol w="795528"/>
                <a:gridCol w="79552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Orijinal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548640" y="498348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731520" y="5093208"/>
            <a:ext cx="107286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Seviye 0 büyütür (çeviri) · Seviye 1 tek kübitleri birleştirir · Seviye 2–3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CX'i azaltır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 → 7) · Hepsi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Operator.equiv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eşdeğer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Hafta05_Lab.ipynb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Bloch fonksiyonları, θ taraması, Euler, prepare(), bulmacalar, transpile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223760" cy="914400"/>
        </p:xfrm>
        <a:graphic>
          <a:graphicData uri="http://schemas.openxmlformats.org/drawingml/2006/table">
            <a:tbl>
              <a:tblPr/>
              <a:tblGrid>
                <a:gridCol w="794614"/>
                <a:gridCol w="5417820"/>
                <a:gridCol w="101132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Kurulum, </a:t>
                      </a: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plot_bloch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(izli), </a:t>
                      </a: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gate_path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kapıları S, S†, T, T†, P(λ); faz cebiri tablosu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Rx, Ry, Rz film şeritleri; θ taraması (Aer); Rz vs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(Opsiyonel) θ kaydırıcılı Bloch — </a:t>
                      </a: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ipywidgets.interact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U(θ, φ, λ), </a:t>
                      </a: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OneQubitEulerDecomposer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rastgele üniter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Birleştirme ve değişmezlik (iki yol)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prepare()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+ 200 rastgele test + 4 bulmaca (F ≥ 0.999)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Metrikler, </a:t>
                      </a: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transpile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seviye 0–3 tablosu ve grafik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alıştırma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046720" y="1188720"/>
            <a:ext cx="3596335" cy="3017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183880" y="1280160"/>
            <a:ext cx="33220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check_puzzle(qc,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target, allowed):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used = set(qc.count_ops())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 used &lt;= set(allowed)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 = state_fidelity(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Statevector(qc),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Statevector(target))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 F &gt;= 0.999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046720" y="4389120"/>
            <a:ext cx="3596335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0" y="4498848"/>
            <a:ext cx="323057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C'deki kaydırıcı Colab'da açılır; diğer ortamlarda statik çizim.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kapıları (S, T, P) =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etrafında dönüş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olasılık aynı, göreli faz değişir.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T² = S, S² = Z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Rx, Ry, Rz: θ kadar dönüş; matriste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θ/2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çünkü Bloch açısı = 2 × genlik açısı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Ry(θ)|0⟩ →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P(1) = sin²(θ/2)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Rz(λ) = e^(−iλ/2)·P(λ) (global faz)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tek kübit kapısı =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U(θ, φ, λ)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e^(iα)·Rz·Ry·Rz (Euler)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eksen: açılar toplanır; farklı eksen: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önemli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hazırlama: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2·arccos|α|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arg β − arg α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ölçüt fidelity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Metrikler: size, depth, width, CX;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derleyici (seviye 0–3)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9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H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notebook + yazılı cevaplar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kendi bulmacanızı tasarlayın (hedef + kapı seti)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6: Çok kübitli devreler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CNOT, CZ, SWAP, Toffoli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Dolanıklık: Bell ve GHZ durumları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Tersinir klasik mantık: yarım toplayıcı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ışınlanma devresi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2026-09-23T15:35:41Z</dcterms:created>
  <dcterms:modified xsi:type="dcterms:W3CDTF">2026-09-23T15:35:41Z</dcterms:modified>
</cp:coreProperties>
</file>