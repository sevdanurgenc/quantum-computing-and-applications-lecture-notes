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charts/chart1.xml" ContentType="application/vnd.openxmlformats-officedocument.drawingml.chart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charts/chart2.xml" ContentType="application/vnd.openxmlformats-officedocument.drawingml.chart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3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charts/chart4.xml" ContentType="application/vnd.openxmlformats-officedocument.drawingml.chart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charts/chart5.xml" ContentType="application/vnd.openxmlformats-officedocument.drawingml.chart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</p:sldIdLst>
  <p:notesMasterIdLst>
    <p:notesMasterId r:id="rId5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H kapısı + ölçüm,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0</c:v>
                  </c:pt>
                  <c:pt idx="1">
                    <c:v>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514</c:v>
                </c:pt>
                <c:pt idx="1">
                  <c:v>486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Ölçüm sonucu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Sayım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Shot arttıkça tahmin gerçek değere yaklaşır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Tahmini P(0)</c:v>
                </c:pt>
              </c:strCache>
            </c:strRef>
          </c:tx>
          <c:spPr>
            <a:solidFill>
              <a:srgbClr val="2E6DB4"/>
            </a:solidFill>
            <a:ln w="254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1k</c:v>
                  </c:pt>
                  <c:pt idx="7">
                    <c:v>2k</c:v>
                  </c:pt>
                  <c:pt idx="8">
                    <c:v>5k</c:v>
                  </c:pt>
                  <c:pt idx="9">
                    <c:v>10k</c:v>
                  </c:pt>
                  <c:pt idx="10">
                    <c:v>20k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0.7</c:v>
                </c:pt>
                <c:pt idx="1">
                  <c:v>0.4</c:v>
                </c:pt>
                <c:pt idx="2">
                  <c:v>0.56</c:v>
                </c:pt>
                <c:pt idx="3">
                  <c:v>0.46</c:v>
                </c:pt>
                <c:pt idx="4">
                  <c:v>0.525</c:v>
                </c:pt>
                <c:pt idx="5">
                  <c:v>0.488</c:v>
                </c:pt>
                <c:pt idx="6">
                  <c:v>0.509</c:v>
                </c:pt>
                <c:pt idx="7">
                  <c:v>0.4965</c:v>
                </c:pt>
                <c:pt idx="8">
                  <c:v>0.5042</c:v>
                </c:pt>
                <c:pt idx="9">
                  <c:v>0.4987</c:v>
                </c:pt>
                <c:pt idx="10">
                  <c:v>0.5009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+2 SE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1k</c:v>
                  </c:pt>
                  <c:pt idx="7">
                    <c:v>2k</c:v>
                  </c:pt>
                  <c:pt idx="8">
                    <c:v>5k</c:v>
                  </c:pt>
                  <c:pt idx="9">
                    <c:v>10k</c:v>
                  </c:pt>
                  <c:pt idx="10">
                    <c:v>20k</c:v>
                  </c:pt>
                </c:lvl>
              </c:multiLvlStrCache>
            </c:multiLvl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0.8162</c:v>
                </c:pt>
                <c:pt idx="1">
                  <c:v>0.7236</c:v>
                </c:pt>
                <c:pt idx="2">
                  <c:v>0.6414</c:v>
                </c:pt>
                <c:pt idx="3">
                  <c:v>0.6</c:v>
                </c:pt>
                <c:pt idx="4">
                  <c:v>0.5707</c:v>
                </c:pt>
                <c:pt idx="5">
                  <c:v>0.5447</c:v>
                </c:pt>
                <c:pt idx="6">
                  <c:v>0.5316</c:v>
                </c:pt>
                <c:pt idx="7">
                  <c:v>0.5224</c:v>
                </c:pt>
                <c:pt idx="8">
                  <c:v>0.5141</c:v>
                </c:pt>
                <c:pt idx="9">
                  <c:v>0.51</c:v>
                </c:pt>
                <c:pt idx="10">
                  <c:v>0.5071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−2 SE</c:v>
                </c:pt>
              </c:strCache>
            </c:strRef>
          </c:tx>
          <c:spPr>
            <a:solidFill>
              <a:srgbClr val="9CA3AF"/>
            </a:solidFill>
            <a:ln w="254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1k</c:v>
                  </c:pt>
                  <c:pt idx="7">
                    <c:v>2k</c:v>
                  </c:pt>
                  <c:pt idx="8">
                    <c:v>5k</c:v>
                  </c:pt>
                  <c:pt idx="9">
                    <c:v>10k</c:v>
                  </c:pt>
                  <c:pt idx="10">
                    <c:v>20k</c:v>
                  </c:pt>
                </c:lvl>
              </c:multiLvlStrCache>
            </c:multiLvlStrRef>
          </c:cat>
          <c:val>
            <c:numRef>
              <c:f>Sheet1!$D$2:$D$12</c:f>
              <c:numCache>
                <c:formatCode>General</c:formatCode>
                <c:ptCount val="11"/>
                <c:pt idx="0">
                  <c:v>0.1838</c:v>
                </c:pt>
                <c:pt idx="1">
                  <c:v>0.2764</c:v>
                </c:pt>
                <c:pt idx="2">
                  <c:v>0.3586</c:v>
                </c:pt>
                <c:pt idx="3">
                  <c:v>0.4</c:v>
                </c:pt>
                <c:pt idx="4">
                  <c:v>0.4293</c:v>
                </c:pt>
                <c:pt idx="5">
                  <c:v>0.4553</c:v>
                </c:pt>
                <c:pt idx="6">
                  <c:v>0.4684</c:v>
                </c:pt>
                <c:pt idx="7">
                  <c:v>0.4776</c:v>
                </c:pt>
                <c:pt idx="8">
                  <c:v>0.4859</c:v>
                </c:pt>
                <c:pt idx="9">
                  <c:v>0.49</c:v>
                </c:pt>
                <c:pt idx="10">
                  <c:v>0.4929</c:v>
                </c:pt>
              </c:numCache>
            </c:numRef>
          </c:val>
          <c:smooth val="0"/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Gerçek (0.5)</c:v>
                </c:pt>
              </c:strCache>
            </c:strRef>
          </c:tx>
          <c:spPr>
            <a:solidFill>
              <a:srgbClr val="1F3A5F"/>
            </a:solidFill>
            <a:ln w="25400" cap="flat">
              <a:solidFill>
                <a:srgbClr val="1F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F3A5F"/>
              </a:solidFill>
              <a:ln w="9525" cap="flat">
                <a:solidFill>
                  <a:srgbClr val="1F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Sheet1!$A$2:$A$12</c:f>
              <c:multiLvlStrCache>
                <c:ptCount val="11"/>
                <c:lvl>
                  <c:pt idx="0">
                    <c:v>10</c:v>
                  </c:pt>
                  <c:pt idx="1">
                    <c:v>20</c:v>
                  </c:pt>
                  <c:pt idx="2">
                    <c:v>50</c:v>
                  </c:pt>
                  <c:pt idx="3">
                    <c:v>100</c:v>
                  </c:pt>
                  <c:pt idx="4">
                    <c:v>200</c:v>
                  </c:pt>
                  <c:pt idx="5">
                    <c:v>500</c:v>
                  </c:pt>
                  <c:pt idx="6">
                    <c:v>1k</c:v>
                  </c:pt>
                  <c:pt idx="7">
                    <c:v>2k</c:v>
                  </c:pt>
                  <c:pt idx="8">
                    <c:v>5k</c:v>
                  </c:pt>
                  <c:pt idx="9">
                    <c:v>10k</c:v>
                  </c:pt>
                  <c:pt idx="10">
                    <c:v>20k</c:v>
                  </c:pt>
                </c:lvl>
              </c:multiLvlStrCache>
            </c:multiLvlStrRef>
          </c:cat>
          <c:val>
            <c:numRef>
              <c:f>Sheet1!$E$2:$E$12</c:f>
              <c:numCache>
                <c:formatCode>General</c:formatCode>
                <c:ptCount val="11"/>
                <c:pt idx="0">
                  <c:v>0.5</c:v>
                </c:pt>
                <c:pt idx="1">
                  <c:v>0.5</c:v>
                </c:pt>
                <c:pt idx="2">
                  <c:v>0.5</c:v>
                </c:pt>
                <c:pt idx="3">
                  <c:v>0.5</c:v>
                </c:pt>
                <c:pt idx="4">
                  <c:v>0.5</c:v>
                </c:pt>
                <c:pt idx="5">
                  <c:v>0.5</c:v>
                </c:pt>
                <c:pt idx="6">
                  <c:v>0.5</c:v>
                </c:pt>
                <c:pt idx="7">
                  <c:v>0.5</c:v>
                </c:pt>
                <c:pt idx="8">
                  <c:v>0.5</c:v>
                </c:pt>
                <c:pt idx="9">
                  <c:v>0.5</c:v>
                </c:pt>
                <c:pt idx="10">
                  <c:v>0.5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2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200" b="0" i="0" u="none" strike="noStrike">
                    <a:solidFill>
                      <a:srgbClr val="000000"/>
                    </a:solidFill>
                    <a:latin typeface="Arial"/>
                  </a:rPr>
                  <a:t>Shot sayısı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8"/>
          <c:min val="0.2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Durum vektörü belleği (GiB, logaritmik)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Bellek (GiB)</c:v>
                </c:pt>
              </c:strCache>
            </c:strRef>
          </c:tx>
          <c:spPr>
            <a:solidFill>
              <a:srgbClr val="2E6DB4"/>
            </a:solidFill>
            <a:ln w="381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7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5</c:v>
                  </c:pt>
                  <c:pt idx="1">
                    <c:v>10</c:v>
                  </c:pt>
                  <c:pt idx="2">
                    <c:v>15</c:v>
                  </c:pt>
                  <c:pt idx="3">
                    <c:v>20</c:v>
                  </c:pt>
                  <c:pt idx="4">
                    <c:v>25</c:v>
                  </c:pt>
                  <c:pt idx="5">
                    <c:v>30</c:v>
                  </c:pt>
                  <c:pt idx="6">
                    <c:v>35</c:v>
                  </c:pt>
                  <c:pt idx="7">
                    <c:v>40</c:v>
                  </c:pt>
                  <c:pt idx="8">
                    <c:v>45</c:v>
                  </c:pt>
                  <c:pt idx="9">
                    <c:v>50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4.76837158203125e-7</c:v>
                </c:pt>
                <c:pt idx="1">
                  <c:v>0.0000152587890625</c:v>
                </c:pt>
                <c:pt idx="2">
                  <c:v>0.00048828125</c:v>
                </c:pt>
                <c:pt idx="3">
                  <c:v>0.015625</c:v>
                </c:pt>
                <c:pt idx="4">
                  <c:v>0.5</c:v>
                </c:pt>
                <c:pt idx="5">
                  <c:v>16</c:v>
                </c:pt>
                <c:pt idx="6">
                  <c:v>512</c:v>
                </c:pt>
                <c:pt idx="7">
                  <c:v>16384</c:v>
                </c:pt>
                <c:pt idx="8">
                  <c:v>524288</c:v>
                </c:pt>
                <c:pt idx="9">
                  <c:v>16777216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Kübit sayısı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E+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Bell devresi, 1000 shot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Sayım</c:v>
                </c:pt>
              </c:strCache>
            </c:strRef>
          </c:tx>
          <c:spPr>
            <a:solidFill>
              <a:srgbClr val="2E6DB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3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00</c:v>
                  </c:pt>
                  <c:pt idx="1">
                    <c:v>01</c:v>
                  </c:pt>
                  <c:pt idx="2">
                    <c:v>10</c:v>
                  </c:pt>
                  <c:pt idx="3">
                    <c:v>11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510</c:v>
                </c:pt>
                <c:pt idx="1">
                  <c:v>0</c:v>
                </c:pt>
                <c:pt idx="2">
                  <c:v>0</c:v>
                </c:pt>
                <c:pt idx="3">
                  <c:v>490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3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0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F3A5F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F3A5F"/>
                </a:solidFill>
                <a:latin typeface="Arial"/>
              </a:rPr>
              <a:t>Sorgu sayısı (log ölçek)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Klasik N/2</c:v>
                </c:pt>
              </c:strCache>
            </c:strRef>
          </c:tx>
          <c:spPr>
            <a:solidFill>
              <a:srgbClr val="9CA3AF"/>
            </a:solidFill>
            <a:ln w="38100" cap="flat">
              <a:solidFill>
                <a:srgbClr val="9CA3A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9CA3AF"/>
              </a:solidFill>
              <a:ln w="9525" cap="flat">
                <a:solidFill>
                  <a:srgbClr val="9CA3A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10^1</c:v>
                  </c:pt>
                  <c:pt idx="1">
                    <c:v>10^2</c:v>
                  </c:pt>
                  <c:pt idx="2">
                    <c:v>10^3</c:v>
                  </c:pt>
                  <c:pt idx="3">
                    <c:v>10^4</c:v>
                  </c:pt>
                  <c:pt idx="4">
                    <c:v>10^5</c:v>
                  </c:pt>
                  <c:pt idx="5">
                    <c:v>10^6</c:v>
                  </c:pt>
                  <c:pt idx="6">
                    <c:v>10^7</c:v>
                  </c:pt>
                  <c:pt idx="7">
                    <c:v>10^8</c:v>
                  </c:pt>
                  <c:pt idx="8">
                    <c:v>10^9</c:v>
                  </c:pt>
                  <c:pt idx="9">
                    <c:v>10^10</c:v>
                  </c:pt>
                  <c:pt idx="10">
                    <c:v>10^11</c:v>
                  </c:pt>
                  <c:pt idx="11">
                    <c:v>10^12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5</c:v>
                </c:pt>
                <c:pt idx="1">
                  <c:v>50</c:v>
                </c:pt>
                <c:pt idx="2">
                  <c:v>500</c:v>
                </c:pt>
                <c:pt idx="3">
                  <c:v>5000</c:v>
                </c:pt>
                <c:pt idx="4">
                  <c:v>50000</c:v>
                </c:pt>
                <c:pt idx="5">
                  <c:v>500000</c:v>
                </c:pt>
                <c:pt idx="6">
                  <c:v>5000000</c:v>
                </c:pt>
                <c:pt idx="7">
                  <c:v>50000000</c:v>
                </c:pt>
                <c:pt idx="8">
                  <c:v>500000000</c:v>
                </c:pt>
                <c:pt idx="9">
                  <c:v>5000000000</c:v>
                </c:pt>
                <c:pt idx="10">
                  <c:v>50000000000</c:v>
                </c:pt>
                <c:pt idx="11">
                  <c:v>500000000000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Grover (π/4)√N</c:v>
                </c:pt>
              </c:strCache>
            </c:strRef>
          </c:tx>
          <c:spPr>
            <a:solidFill>
              <a:srgbClr val="2E6DB4"/>
            </a:solidFill>
            <a:ln w="38100" cap="flat">
              <a:solidFill>
                <a:srgbClr val="2E6DB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2E6DB4"/>
              </a:solidFill>
              <a:ln w="9525" cap="flat">
                <a:solidFill>
                  <a:srgbClr val="2E6DB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10^1</c:v>
                  </c:pt>
                  <c:pt idx="1">
                    <c:v>10^2</c:v>
                  </c:pt>
                  <c:pt idx="2">
                    <c:v>10^3</c:v>
                  </c:pt>
                  <c:pt idx="3">
                    <c:v>10^4</c:v>
                  </c:pt>
                  <c:pt idx="4">
                    <c:v>10^5</c:v>
                  </c:pt>
                  <c:pt idx="5">
                    <c:v>10^6</c:v>
                  </c:pt>
                  <c:pt idx="6">
                    <c:v>10^7</c:v>
                  </c:pt>
                  <c:pt idx="7">
                    <c:v>10^8</c:v>
                  </c:pt>
                  <c:pt idx="8">
                    <c:v>10^9</c:v>
                  </c:pt>
                  <c:pt idx="9">
                    <c:v>10^10</c:v>
                  </c:pt>
                  <c:pt idx="10">
                    <c:v>10^11</c:v>
                  </c:pt>
                  <c:pt idx="11">
                    <c:v>10^12</c:v>
                  </c:pt>
                </c:lvl>
              </c:multiLvlStrCache>
            </c:multiLvl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2.4836470664490253</c:v>
                </c:pt>
                <c:pt idx="1">
                  <c:v>7.853981633974483</c:v>
                </c:pt>
                <c:pt idx="2">
                  <c:v>24.83647066449025</c:v>
                </c:pt>
                <c:pt idx="3">
                  <c:v>78.53981633974483</c:v>
                </c:pt>
                <c:pt idx="4">
                  <c:v>248.3647066449025</c:v>
                </c:pt>
                <c:pt idx="5">
                  <c:v>785.3981633974482</c:v>
                </c:pt>
                <c:pt idx="6">
                  <c:v>2483.647066449025</c:v>
                </c:pt>
                <c:pt idx="7">
                  <c:v>7853.981633974483</c:v>
                </c:pt>
                <c:pt idx="8">
                  <c:v>24836.47066449025</c:v>
                </c:pt>
                <c:pt idx="9">
                  <c:v>78539.81633974482</c:v>
                </c:pt>
                <c:pt idx="10">
                  <c:v>248364.7066449025</c:v>
                </c:pt>
                <c:pt idx="11">
                  <c:v>785398.1633974483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N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logBase val="10"/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0.E+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7415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Derse hoş geldiniz. Bu dönemin ana mesajını ilk slaytta verin: bu bir fizik dersi değil, bir programlama ve algoritma dersidir. Öğrencilerin çoğu yazılımcı; onlara 'kuantum hesaplamayı bir yazılımcı nasıl kullanır?' sorusunun cevabını vereceğiz.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Üç ders saatinin akışını gösterin. İlk saatte kavramlar, ikinci saatte sayısal örnekler ve genel resim, üçüncü saatte Colab üzerinde uygulama yapılacak. Lab'a gelmeden önce öğrencilerin Google hesaplarıyla Colab'a girebildiğinden emin olun.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Hedefleri tek tek okuyun ve dönem sonunda bunlarla nereye varacağımızı anlatın: bu hafta temeller, 12–15. haftalarda kuantum makine öğrenmesi.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dönemin sözleşmesi gibidir. Üç kavramı yazılımcı karşılıklarıyla verin ve dönem boyunca aynı dili kullanın. GPU benzetmesi çok işe yarar: CUDA yazan biri transistör fiziği bilmez.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bölümde motivasyon veriyoruz. Abartılı beklentileri baştan düzeltmek önemli.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Tabloyu dönemin yol haritası gibi kullanın. Her satırın sağında hangi haftada işleneceği yazıyor. Özellikle 'hızlanma türü' sütununu vurgulayın: Shor üstel, Grover karesel, QAOA ve QML'de kanıtlanmış hızlanma yok.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GPU benzetmesini tekrar kullanın. Bugün QPU'lara bulut üzerinden erişilir: kod dizüstünde yazılır, iş (job) buluta gönderilir, sonuç beklenir. Tüm program akışı klasik kalır.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NISQ = Noisy Intermediate-Scale Quantum. Donanım ayrıntısına girmeyin; her kısıtın yazılımdaki karşılığını söyleyin. Ayrıntılar 7. haftada gürültü modeliyle birlikte gelecek.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Dersin en temel kavramı. Burada acele etmeyin.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Şekil üzerinden karşılaştırın. Klasik bit bool'dur. Kübit iki sayı tutar: α ile 0 genliği, β ile 1 genliği. Okununca 0 ya da 1 olur ve vektör değişir.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Formülü tahtaya da yazın. |α|² 0 okunma olasılığı, |β|² 1 okunma olasılığı. Normalizasyon kuralını sağlamayan vektör geçerli bir kübit değildir. Karmaşık sayılar 2. haftada gelecek, şimdilik |a+bi|² = a²+b² bilgisi yeterli.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Ket notasyonunu korkutucu bir fizik notasyonu olarak değil, sabit (constant) tanımları gibi anlatın. |0⟩ yazmak, np.array([1,0]) yazmanın kısaltmasıdır.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Yazılımcılar için en anlaşılır karşılaştırma. copy() metodunun yazılamaması klonlanamazlık kuralıdır. Bu kuralın pratik sonucu: kuantum programda 'yedekle sonra dene' yok, durum lazımsa baştan hazırlanır.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Özellikle 'Okunan bilgi' satırını vurgulayın: kübit 2 genlik tutar ama okunduğunda yine 1 bit verir. Bu, 'kuantum sonsuz bilgi saklar' yanılgısını önler.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Bloch küresini bir görselleştirme aracı olarak tanıtın, fizik anlamına girmeyin. Üç kural yeterli: kuzey = hep 0, güney = hep 1, ekvator = %50-%50. 4. ve 5. haftalarda her kapıyı bu küre üzerinde tek tek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Formülü ezberletmeyin; lab'daki plot_bloch fonksiyonu bunu yapıyor. Ama z koordinatının doğrudan P(0) − P(1) olduğunu mutlaka söyleyin, çünkü ölçümle görselleştirmeyi birbirine bağlıyor.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Ölçüm, yazılımcıların en çok zorlandığı kavramdır; çünkü alıştığımız 'okuma' işleminden farklıdır.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 kuralı ayrı ayrı vurgulayın. Birincisi Born kuralı: olasılık = genliğin karesi. İkincisi çökme: ölçüm sonrası α ve β kaybolur. Benzetme: bir kez okunabilen ve okununca silinen, üstelik rastgele değer döndüren bir kuyruk (queue.pop()).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hazırlık + ölçüm N kez tekrarlanır, her tekrar bir shot'tır. Sonuç counts sözlüğüdür. 514/486 gibi tam 500 olmayan sonuçların normal olduğunu vurgulayın, bu rastgeleliğin doğası.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Formül binom dağılımından gelir. Kilit mesaj: hatayı yarıya indirmek için 4 kat shot gerekir. Gerçek donanımda her shot zaman ve para. Grafikte bant, ±2 standart hata aralığı.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İkinci ders saatine geçiş. Her örnekte önce öğrencilere 2-3 dakika verin, sonra çözümü adım adım gösterin.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Öğrencilere sorun: kübit ölçülürse ne olur? Cevap: %36 ihtimalle 0 gelir ve vektör [1,0] olur; %64 ihtimalle 1 gelir ve [0,1] olur.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Normalleştirme, vektörü birim uzunluğa getirmektir. ML'deki L2 normalizasyonuyla aynı işlem; öğrencilere bu bağlantıyı kurun.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Karmaşık sayıların ayrıntısı 2. haftada. Burada tek mesaj: olasılık için sayının büyüklüğünün karesi alınır. Bu vektör Bloch küresinde ekvatorda ama |+⟩ ile aynı yönde değil.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örnek önemli bir mühendislik becerisini öğretiyor: sonuçların beklentiyle istatistiksel olarak uyumlu olup olmadığını test etmek. 7. haftada gürültü modeli ile bu tür sapmaları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 kübit 2^n genlik demek; her karmaşık sayı 16 bayt. Her +1 kübit belleği ikiye katlar. 30 kübit bir dizüstünün tamamını doldurur, 50 kübit hiçbir süperbilgisayara sığmaz.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Lab'da (Bölüm C) Qiskit Aer ile 10-24 kübit arası süre ölçümü yapacağız; öğrenciler üstel büyümeyi kendi gözleriyle görecek.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çok önemli; popüler bilimde en çok yanlış anlatılan konu. Durum 2^n genlik tutar ama ölçümde n bit okunur. Algoritma tasarımı, doğru cevabın olasılığını büyütme sanatıdır. Grover'da bunu adım adım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Şimdi yazılımcıların en rahat edeceği kısma geçiyoruz: geliştirme akışı ve kod.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Derleme-çalıştırma akışına benzetin. 6 adımın 5'i klasik bilgisayarda. Yani kuantum yazılım geliştirme büyük ölçüde klasik yazılım mühendisliğidir: Python, test, veri işleme, görselleştirme.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adımı Qiskit fonksiyonuyla eşleştirin. transpile adımını derleyiciye benzetin: devreyi hedef donanımın desteklediği kapılara çevirir.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Şemayı müzik notasına benzetin: yatay çizgiler kübitler, soldan sağa zaman. Kutular kapılar (fonksiyon çağrısı), turuncu kutular ölçüm. Çift çizgi klasik yazmaç.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Kodu satır satır okuyun ve her satırı yaşam döngüsü adımına eşleyin. Lab'da öğrenciler bunu kendileri çalıştıracak.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iki kapıyı matrisiyle gösteriyoruz; ayrıntılı işleyiş 4. haftada. Tablonun son iki satırı kritik: H ve X→H aynı histogramı verir ama vektörler farklı. Ölçüm işareti göremez, sonraki kapılar görebilir. Bu, kuantum algoritmaların gücünün kaynağı.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İlk haftalarda en sık yapılan hata budur. '01' sonucu q0=1, q1=0 demektir. Framework değiştirirken bu sıralamayı mutlaka kontrol edin; 7. haftada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Sadece merak uyandırmak için. Her kübit tek başına rastgele ama sonuçlar her zaman eşit: 00 ya da 11. Buna dolanıklık denir. Yazılımcı gözüyle: iki değişken ortak bir olasılık tablosu paylaşıyor. Ayrıntı 6. haftada.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Genel resmi tamamlıyoruz.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 tablo potansiyel alanlar, sağ tablo uygun olmayan işler. Veri yükleme maliyetinin QML haftalarında tekrar karşımıza çıkacağını söyleyin.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Sorgu burada oracle (kara kutu fonksiyon) çağrısı demek. Gerçek süre donanıma ve gürültüye de bağlıdır. Grafik log ölçekli: iki doğru arasındaki fark sürekli açılıyor.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 satırı öğrencilere soru olarak sorun: 'Doğru mu, yanlış mı?' Sonra cevabı açın. RSA konusunda: bugün kırılamıyor ama kurumlar post-quantum şifrelemeye geçişi planlıyor (10. hafta).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Katmanları yukarıdan aşağı anlatın. Bu dersin büyük kısmı SDK katmanında geçecek. Transpiler'ı 5. ve 7. haftalarda göreceğiz.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Hepsi aynı kavramları farklı API'lerle sunar. Qiskit ana aracımız, PennyLane QML haftalarında, diğerleri 7. haftadaki karşılaştırmada. Bir tanesini iyi bilen diğerine kısa sürede geçer.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IBM Open Plan bilgisini Eylül 2026 itibarıyla verin; koşullar değişebilir. Bu derste çalışmaların çoğu yerel simülatörde, gerçek donanım 7. haftada.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Bugünkü donanımla bile yapılabilen pratik bir uygulama. random() sözde rastgeledir: aynı tohum aynı dizi. H + ölçüm, ideal donanımda gerçek rastgelelik kaynağı. Simülatörde yine sözde rastgele olduğunu mutlaka belirtin.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Lab'a geçiş. Notebook'u Colab'da açtırın: Dosya &gt; Notebook yükle. İlk hücre kurulumu yapıyor (~30 sn).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Bölüm C'deki zaman ölçümü Colab'da yaklaşık 1 dakika sürüyor. Alıştırmalar ödev olarak verilebilir; assert satırları öğrencilerin kendilerini kontrol etmesini sağlıyor. Çözümlü sürüm ayrı dosyada.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Özeti öğrencilerle birlikte tekrar edin. Her maddeyi bir cümleyle söyletin.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Ödevi hatırlatın: ders notundaki 9 yazılı soru ve lab'daki 7 kodlama alıştırması. Gelecek hafta matematiği sadece ihtiyaç kadar işleyeceğiz; yazılımcılar için NumPy üzerinden.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200" kern="0" dirty="0">
                <a:solidFill>
                  <a:srgbClr val="C7D2E3"/>
                </a:solidFill>
              </a:rPr>
              <a:t>KUANTUM HESAPLAMA VE UYGULAMALARI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20116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</a:rPr>
              <a:t>Hafta 1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560320"/>
            <a:ext cx="10972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Yazılımcı Gözüyle Kuantum Hesaplama</a:t>
            </a:r>
            <a:endParaRPr lang="en-US" sz="4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4297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Bit ve kübit · olasılıklı okuma · kuantum programın yaşam döngüsü · yazılım ekosistemi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planı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saat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Teori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kuantum?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ve kübit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= olasılıklı okuma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küresine ilk bakış</a:t>
            </a:r>
            <a:endParaRPr lang="en-US" sz="1900" dirty="0"/>
          </a:p>
        </p:txBody>
      </p:sp>
      <p:sp>
        <p:nvSpPr>
          <p:cNvPr id="10" name="Shape 7"/>
          <p:cNvSpPr/>
          <p:nvPr/>
        </p:nvSpPr>
        <p:spPr>
          <a:xfrm>
            <a:off x="4246778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saat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örnekler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 ve sayım hesapları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ve istatistiksel hata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Bellek hesabı, Grover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döngüsü, ekosistem</a:t>
            </a:r>
            <a:endParaRPr lang="en-US" sz="1900" dirty="0"/>
          </a:p>
        </p:txBody>
      </p:sp>
      <p:sp>
        <p:nvSpPr>
          <p:cNvPr id="14" name="Shape 11"/>
          <p:cNvSpPr/>
          <p:nvPr/>
        </p:nvSpPr>
        <p:spPr>
          <a:xfrm>
            <a:off x="7944917" y="1280160"/>
            <a:ext cx="3423818" cy="3931920"/>
          </a:xfrm>
          <a:prstGeom prst="roundRect">
            <a:avLst>
              <a:gd name="adj" fmla="val 267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508760"/>
            <a:ext cx="28751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saat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1874520"/>
            <a:ext cx="28751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6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(Colab)</a:t>
            </a:r>
            <a:endParaRPr lang="en-US" sz="26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2651760"/>
            <a:ext cx="2875178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Kendi Qubit sınıfımız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ile ilk devreler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rastgele sayı üreteci</a:t>
            </a:r>
            <a:endParaRPr lang="en-US" sz="1900" dirty="0"/>
          </a:p>
          <a:p>
            <a:pPr marL="254000" indent="-254000">
              <a:spcAft>
                <a:spcPts val="800"/>
              </a:spcAft>
              <a:buSzPct val="100000"/>
              <a:buChar char="•"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Alıştırmalar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Öğrenme hedefleri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haftanın sonunda...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463040"/>
            <a:ext cx="11094415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ile kübit arasındaki farkı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veri yapısı karşılaştırması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olarak açıklayabilirsiniz.</a:t>
            </a:r>
            <a:endParaRPr lang="en-US" sz="22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kübit vektörünün geçerliliğini kontrol edip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olasılıklarını ve beklenen sayımları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hesaplayabilirsiniz.</a:t>
            </a:r>
            <a:endParaRPr lang="en-US" sz="22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Ölçümün neden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olasılıklı ve yıkıcı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olduğunu ve devrelerin neden binlerce kez çalıştırıldığını açıklayabilirsiniz.</a:t>
            </a:r>
            <a:endParaRPr lang="en-US" sz="22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kübitin klasik simülasyonu için gereken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belleği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hesaplayabilirsiniz.</a:t>
            </a:r>
            <a:endParaRPr lang="en-US" sz="22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kuantum programın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yaşam döngüsünü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sıralayabilir, basit bir devreyi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okuyup Qiskit ile yazabilirsiniz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2200" dirty="0"/>
          </a:p>
          <a:p>
            <a:pPr marL="254000" indent="-254000">
              <a:spcAft>
                <a:spcPts val="18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hesaplamanın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uygun olduğu ve olmadığı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problemleri ayırt edebilir, başlıca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framework'leri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tanırsınız.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 yaklaşımımız: fizik yok, yazılım var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37160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1645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77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iki sayı tutan bir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[α, β]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4246778" y="137160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21098" y="1645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4521098" y="2377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vektörü değiştiren bir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 fonksiyonu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4521098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← U · q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7944917" y="1371600"/>
            <a:ext cx="3423818" cy="3017520"/>
          </a:xfrm>
          <a:prstGeom prst="roundRect">
            <a:avLst>
              <a:gd name="adj" fmla="val 303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19237" y="164592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3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</a:t>
            </a:r>
            <a:endParaRPr lang="en-US" sz="3000" dirty="0"/>
          </a:p>
        </p:txBody>
      </p:sp>
      <p:sp>
        <p:nvSpPr>
          <p:cNvPr id="16" name="Text 13"/>
          <p:cNvSpPr txBox="1"/>
          <p:nvPr/>
        </p:nvSpPr>
        <p:spPr>
          <a:xfrm>
            <a:off x="8219237" y="2377440"/>
            <a:ext cx="28751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olasılıklı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yıkıcı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bir okuma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8219237" y="3429000"/>
            <a:ext cx="287517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E6DB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ya da 1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548640" y="4709160"/>
            <a:ext cx="11094415" cy="1188720"/>
          </a:xfrm>
          <a:prstGeom prst="roundRect">
            <a:avLst>
              <a:gd name="adj" fmla="val 6154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31520" y="4818888"/>
            <a:ext cx="10728655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GPU programcısı transistör fiziği bilmeden CUDA yazabilir.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 de fizik bilmeden kuantum algoritması yazabilirsiniz.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İhtiyacımız olan: lineer cebir (matris × vektör), olasılık ve Python.</a:t>
            </a:r>
            <a:endParaRPr lang="en-US" sz="1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01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Neden kuantum hesaplama?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Farklı bir hesaplama modeli, belirli problemlerde asimptotik hızlanma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problemler klasik olarak üstel zor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Dönem boyunca göreceğimiz problemler ve hızlanma türleri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1775106"/>
                <a:gridCol w="2773604"/>
                <a:gridCol w="1996995"/>
                <a:gridCol w="1220386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 iyi klasik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algoritma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Hızlanma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Hafta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Sırasız listede arama (N eleman)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Grover: O(√N)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Karesel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Çarpanlara ayırma (n bit)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Alt-üstel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Shor: polinom ≈ O(n³)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Üstel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Gizli bit dizisini bulma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sorgu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Bernstein-Vazirani: 1 sorgu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Doğrusal → sabit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Kombinatoryal optimizasyon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Genelde NP-zor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QAOA (sezgisel)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Kanıtlanmış değil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Sınıflandırma (ML)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SVM, sinir ağı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çekirdek, VQC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 konusu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12–15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731520" y="495604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hesaplama; veriyi olasılık bilgisi taşıyan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vektörlerde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tutan ve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matrislerle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işleyen farklı bir hesaplama modelidir. Bu model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bazı özel problemlerde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daha hızlı algoritmalara izin verir.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 bir yardımcı işlemcidir, CPU'nun yerini almaz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6547"/>
            <a:ext cx="7132320" cy="293058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0" y="1280160"/>
            <a:ext cx="3687775" cy="2103120"/>
          </a:xfrm>
          <a:prstGeom prst="roundRect">
            <a:avLst>
              <a:gd name="adj" fmla="val 3478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138160" y="1389888"/>
            <a:ext cx="332201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"Kuantum her şeyi hızlandırır"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yanlıştır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sunucusu, veritabanı, oyun motoru kuantumda hızlanmaz.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955280" y="3566160"/>
            <a:ext cx="3687775" cy="1828800"/>
          </a:xfrm>
          <a:prstGeom prst="roundRect">
            <a:avLst>
              <a:gd name="adj" fmla="val 4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3675888"/>
            <a:ext cx="3322015" cy="16093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Nasıl erişiriz?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ile devre yazılır, bulut üzerinden gerçek QPU'ya veya simülatöre gönderilir.</a:t>
            </a:r>
            <a:endParaRPr lang="en-US" sz="1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NISQ dönemi: bugünün donanımı yazılımcıya ne demek?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Noisy Intermediate-Scale Quantum: gürültülü, orta ölçekli kuantum cihazları</a:t>
            </a:r>
            <a:endParaRPr lang="en-US" sz="15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554480"/>
          <a:ext cx="11094415" cy="914400"/>
        </p:xfrm>
        <a:graphic>
          <a:graphicData uri="http://schemas.openxmlformats.org/drawingml/2006/table">
            <a:tbl>
              <a:tblPr/>
              <a:tblGrid>
                <a:gridCol w="3328325"/>
                <a:gridCol w="4215878"/>
                <a:gridCol w="3550213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Kısıt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Yazılımcıya etkisi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Benzetme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Sınırlı kübit sayısı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 boyutu küçük tutulmalı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Çok az RAM'li gömülü sistem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Gürültü (her işlemde küçük hata olasılığı)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Beklenmeyen sonuçlar, uzun devreler bozulur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komutta bit hatası yapabilen işlemci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Sınırlı devre derinliği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sayıda ardışık kapı kullanılmalı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Zaman aşımı olan fonksiyon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Sınırlı bağlantı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Derleyici araya ek işlemler koyar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düğümün her düğüme bağlı olmadığı ağ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 txBox="1"/>
          <p:nvPr/>
        </p:nvSpPr>
        <p:spPr>
          <a:xfrm>
            <a:off x="548640" y="4937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➜ Bu yüzden bugün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hibrit</a:t>
            </a:r>
            <a:r>
              <a:rPr lang="en-US" sz="18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(klasik + kuantum) algoritmalar öne çıkıyor: 11. hafta ve QML haftaları.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02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Bit ve kübit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Kübiti bir veri yapısı olarak tanımlamak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tek değer tutar, kübit bir vektör tutar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34051"/>
            <a:ext cx="11094415" cy="475565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Kübitin tek kuralı: olasılıklar toplamı 1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11094415" cy="1371600"/>
          </a:xfrm>
          <a:prstGeom prst="roundRect">
            <a:avLst>
              <a:gd name="adj" fmla="val 6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80160"/>
            <a:ext cx="1109441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= [ α , β ]            |α|² + |β|² = 1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548640" y="3017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8640" y="31089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|α|²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39319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okunma olasılığı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4246778" y="3017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246778" y="31089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P(1) = |β|²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4246778" y="39319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okunma olasılığı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7944917" y="3017520"/>
            <a:ext cx="3423818" cy="1554480"/>
          </a:xfrm>
          <a:prstGeom prst="roundRect">
            <a:avLst>
              <a:gd name="adj" fmla="val 47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944917" y="3108960"/>
            <a:ext cx="342381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|a + bi|² = a² + b²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7944917" y="3931920"/>
            <a:ext cx="342381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 karmaşık sayı olabilir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48463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Kuralı sağlamayan vektör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 bir kübit değildir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(normalizasyon kuralı).</a:t>
            </a:r>
            <a:endParaRPr lang="en-US" sz="17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 0 hem 1 genliği sıfırdan farklıysa buna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süperpozisyon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denir: "değer henüz belirlenmemiş, her değer için bir ağırlık tutuluyor."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 notasyonu |…⟩: sadece okunabilir bir etiket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1775106"/>
                <a:gridCol w="2218883"/>
                <a:gridCol w="3106436"/>
                <a:gridCol w="3993989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Notasyon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Anlamı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|0⟩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 olarak 0 okunur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np.array([1, 0])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 olarak 1 okunur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np.array([0, 1])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|+⟩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0.707]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%50–%50, işaretler aynı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np.array([1, 1])/np.sqrt(2)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|−⟩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−0.707]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%50–%50, işaretler ters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np.array([1, -1])/np.sqrt(2)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α|0⟩ + β|1⟩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[α, β]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kübit durumu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np.array([a, b])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983480"/>
            <a:ext cx="11094415" cy="868680"/>
          </a:xfrm>
          <a:prstGeom prst="roundRect">
            <a:avLst>
              <a:gd name="adj" fmla="val 842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5093208"/>
            <a:ext cx="107286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Önemli: süperpozisyondaki kübit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gizlice 0 ya da 1 değildir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Ona ait bilgi tamamen [α, β] vektöründedir.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Sınıf tasarımı olarak: ClassicalBit ve Qubit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09910"/>
            <a:ext cx="6766560" cy="331250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589520" y="1280160"/>
            <a:ext cx="4053535" cy="2194560"/>
          </a:xfrm>
          <a:prstGeom prst="roundRect">
            <a:avLst>
              <a:gd name="adj" fmla="val 3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772400" y="1389888"/>
            <a:ext cx="3687775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Klonlanamazlık kuralı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Qubit sınıfına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copy()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deepcopy()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yazılamaz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bir tasarım tercihi değil, modelin matematiksel sonucudur.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589520" y="3657600"/>
            <a:ext cx="4053535" cy="2103120"/>
          </a:xfrm>
          <a:prstGeom prst="roundRect">
            <a:avLst>
              <a:gd name="adj" fmla="val 3478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772400" y="3767328"/>
            <a:ext cx="3687775" cy="1883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Pratik sonuç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"Değişkeni yedekle, sonra dene" alışkanlığı kullanılamaz.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durum lazımsa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baştan yeniden hazırlanır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 ve kübit: özet karşılaştırma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3661157"/>
                <a:gridCol w="4992487"/>
              </a:tblGrid>
              <a:tr h="5852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Özellik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Tuttuğu veri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True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/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False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İki genlik: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[α, β]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Durum sayısı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Sonsuz (kurala uyan her vektör)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Okuma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Deterministik, değeri bozmaz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Olasılıklı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sonra [1,0] ya da [0,1] olur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Okunan bilgi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Yine </a:t>
                      </a: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Kopyalama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copy()</a:t>
                      </a: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serbest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Kopyalanamaz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Değiştirme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 = not 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Matrisle çarpma: </a:t>
                      </a:r>
                      <a:r>
                        <a:rPr lang="en-US" sz="16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 ← U · q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8521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tanesinin durumu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 bit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2ⁿ genlik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küresi: tek kübiti görmek için bir araç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4463" y="1097280"/>
            <a:ext cx="10082770" cy="35661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00600"/>
            <a:ext cx="3423818" cy="1143000"/>
          </a:xfrm>
          <a:prstGeom prst="roundRect">
            <a:avLst>
              <a:gd name="adj" fmla="val 64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10328"/>
            <a:ext cx="305805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Kuzey kutbu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|0⟩ → her zaman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4246778" y="4800600"/>
            <a:ext cx="3423818" cy="1143000"/>
          </a:xfrm>
          <a:prstGeom prst="roundRect">
            <a:avLst>
              <a:gd name="adj" fmla="val 64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429658" y="4910328"/>
            <a:ext cx="305805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Güney kutbu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|1⟩ → her zaman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7944917" y="4800600"/>
            <a:ext cx="3423818" cy="1143000"/>
          </a:xfrm>
          <a:prstGeom prst="roundRect">
            <a:avLst>
              <a:gd name="adj" fmla="val 64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8127797" y="4910328"/>
            <a:ext cx="3058058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Ekvator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%50–%50 okunur; yön, işaret/faz farkını gösterir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Bloch koordinatları nasıl hesaplanır?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11094415" cy="1005840"/>
          </a:xfrm>
          <a:prstGeom prst="roundRect">
            <a:avLst>
              <a:gd name="adj" fmla="val 9091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1109441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2·Re(α*β)        y = 2·Im(α*β)        z = |α|² − |β|²</a:t>
            </a:r>
            <a:endParaRPr lang="en-US" sz="28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77440"/>
          <a:ext cx="11094415" cy="914400"/>
        </p:xfrm>
        <a:graphic>
          <a:graphicData uri="http://schemas.openxmlformats.org/drawingml/2006/table">
            <a:tbl>
              <a:tblPr/>
              <a:tblGrid>
                <a:gridCol w="2440771"/>
                <a:gridCol w="1331330"/>
                <a:gridCol w="1331330"/>
                <a:gridCol w="2662660"/>
                <a:gridCol w="3328325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Vektör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 = P(0) − P(1)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Küre üzerinde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Kuzey kutbu (|0⟩)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Güney kutbu (|1⟩)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0.707]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Ekvator, +x (|+⟩)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−0.707]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Ekvator, −x (|−⟩)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[0.6, 0.8]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0.96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−0.28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Ekvatorun biraz altı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5532120"/>
            <a:ext cx="11094415" cy="731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85800" y="5623560"/>
            <a:ext cx="108200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state_to_bloch(a, b):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[2*(np.conj(a)*b).real, 2*(np.conj(a)*b).imag, abs(a)**2 - abs(b)**2]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03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Ölçüm: olasılıklı okuma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Shot, histogram ve istatistiksel hata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kuralı: sonuç olasılıklı, durum çöker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08113"/>
            <a:ext cx="7132320" cy="2944495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955280" y="1234440"/>
            <a:ext cx="368777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8138160" y="1344168"/>
            <a:ext cx="332201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1 · Sonuç olasılıklı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|α|² olasılıkla 0, |β|² olasılıkla 1 (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Born kuralı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7955280" y="3017520"/>
            <a:ext cx="3687775" cy="1645920"/>
          </a:xfrm>
          <a:prstGeom prst="roundRect">
            <a:avLst>
              <a:gd name="adj" fmla="val 444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8138160" y="3127248"/>
            <a:ext cx="3322015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Kural 2 · Durum çöker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0 → [1, 0], sonuç 1 → [0, 1]. α ve β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kaybolur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  <p:sp>
        <p:nvSpPr>
          <p:cNvPr id="11" name="Shape 7"/>
          <p:cNvSpPr/>
          <p:nvPr/>
        </p:nvSpPr>
        <p:spPr>
          <a:xfrm>
            <a:off x="548640" y="489204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00176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Sonuç: vektörü doğrudan okuyamayız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Simülatörde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Statevector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içeri bakabiliriz,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donanımda bu mümkün değildir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Tek bilgi kaynağımız ölçüm sonuçlarıdır.</a:t>
            </a:r>
            <a:endParaRPr lang="en-US" sz="17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 ve histogram: kuantum programın çıktısı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4754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Olasılıkları tahmin etmek için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hazırlık + ölçüm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işlemini N kez tekrarlarız.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tekrara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denir.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Sonuç bir sözlüktür: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endParaRPr lang="en-US" sz="1800" dirty="0"/>
          </a:p>
          <a:p>
            <a:pPr algn="l" indent="0" marL="0">
              <a:spcAft>
                <a:spcPts val="10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Çubuk grafiği: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548640" y="3840480"/>
            <a:ext cx="4754880" cy="54864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9319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= {'0': 514, '1': 486}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48640" y="4663440"/>
            <a:ext cx="4754880" cy="1188720"/>
          </a:xfrm>
          <a:prstGeom prst="roundRect">
            <a:avLst>
              <a:gd name="adj" fmla="val 6154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4773168"/>
            <a:ext cx="438912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514/486 gibi tam 500 olmayan sonuçlar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normaldir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Bu, rastgeleliğin kendisidir.</a:t>
            </a:r>
            <a:endParaRPr lang="en-US" sz="15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669280" y="1188720"/>
          <a:ext cx="597377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Kaç shot yeterli? İstatistiksel hata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34440"/>
            <a:ext cx="4937760" cy="1097280"/>
          </a:xfrm>
          <a:prstGeom prst="roundRect">
            <a:avLst>
              <a:gd name="adj" fmla="val 833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234440"/>
            <a:ext cx="4937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√( p(1 − p) / N )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560320"/>
          <a:ext cx="4937760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481328"/>
                <a:gridCol w="1975104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Shot (N)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 (p=0.5)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±2·SE aralığı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0.050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0.40 – 0.60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0.47 – 0.53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0.005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 – 0.51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100.000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0.0016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0.497 – 0.503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548640" y="4846320"/>
            <a:ext cx="4937760" cy="1051560"/>
          </a:xfrm>
          <a:prstGeom prst="roundRect">
            <a:avLst>
              <a:gd name="adj" fmla="val 695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4956048"/>
            <a:ext cx="4572000" cy="832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Hatayı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yarıya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indirmek için shot sayısını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katına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çıkarmak gerekir.</a:t>
            </a:r>
            <a:endParaRPr lang="en-US" sz="16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5852160" y="1188720"/>
          <a:ext cx="5790895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2.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Çözümlü örnekler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Kâğıt-kalem ve Python ile sayısal problemler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1 · Geçerlilik ve olasılıklar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 geçerli bir kübit midir? Geçerliyse P(0) ve P(1) nedir?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Normalizasyon kuralını kontrol et: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0.6² + 0.8² = 0.36 + 0.64 = 1.00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Toplam 1 → kübit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Olasılıklar genliklerin kareleri: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P(0) = 0.36      P(1) = 0.64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Geçerli. P(0) = %36, P(1) = %64.</a:t>
            </a:r>
            <a:endParaRPr lang="en-US" sz="1700" dirty="0"/>
          </a:p>
        </p:txBody>
      </p:sp>
      <p:pic>
        <p:nvPicPr>
          <p:cNvPr id="11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0" y="2299078"/>
            <a:ext cx="4144975" cy="171120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2 · Normalizasyon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[0.5, 0.5] geçerli mi? Değilse aynı oranları koruyarak düzeltin.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Kontrol: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0.5² + 0.5² = 0.50 ≠ 1   → geçersiz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Vektörü uzunluğuna böl: |q| = √0.5 ≈ 0.7071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q' = [0.7071, 0.7071]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Kontrol: 0.5 + 0.5 = 1 ✓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[1/√2, 1/√2] ≈ [0.707, 0.707] → |+⟩ durumu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5661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numpy as np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np.array([0.5, 0.5])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print(np.sum(np.abs(q)**2))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0.5 -&gt; geçersiz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 = q / np.linalg.norm(q)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print(q)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[0.7071 0.7071]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print(np.sum(np.abs(q)**2))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1.0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3 · Karmaşık genlik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[(1 + i)/2 , 1/√2] geçerli midir? Olasılıklar nedir?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Karmaşık sayının büyüklüğünün karesi: |a + bi|² = a² + b²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|α|² = (1² + 1²)/4 = 0.5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|β|² = (1/√2)² = 0.5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Toplam 1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geçerli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P(0) = P(1) = 0.5. Karmaşık genlik olasılığı değil, Bloch küresindeki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yönü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değiştirir.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18288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(1 + 1j) / 2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 = 1 / np.sqrt(2)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print(abs(a)**2, abs(b)**2)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0.5 0.5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4 · Beklenen sayım ve hata payı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= [0.6, 0.8], 1000 shot. (a) Beklenen sayımlar? (b) 0 için normal aralık? (c) 420 kez 0 görmek şüpheli mi?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E[0] = 0.36 × 1000 = 360      E[1] = 640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Standart hata (sayım cinsinden):</a:t>
            </a:r>
            <a:endParaRPr lang="en-US" sz="22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= √(0.36 × 0.64 / 1000) × 1000 ≈ 15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Normal aralık ±2·SE: 360 ± 30 →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330 – 390</a:t>
            </a:r>
            <a:endParaRPr lang="en-US" sz="2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420, beklenenden 60 yani ≈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uzakta → şans eseri olması çok düşük.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360 / 640  (b) 330–390  (c) Evet, şüpheli: devre hatası ya da donanım gürültüsü olabilir.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p0, shots = 0.36, 1000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 = np.sqrt(p0*(1-p0)/shots)*shots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print(p0*shots - 2*se,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p0*shots + 2*se)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329.6 390.4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print((420 - 360) / se)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3.95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klasik bilgisayarla simüle etmek zor?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120640" cy="914400"/>
          </a:xfrm>
          <a:prstGeom prst="roundRect">
            <a:avLst>
              <a:gd name="adj" fmla="val 1000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Bellek = 2ⁿ × 16 bayt</a:t>
            </a:r>
            <a:endParaRPr lang="en-US" sz="28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331720"/>
          <a:ext cx="5120640" cy="914400"/>
        </p:xfrm>
        <a:graphic>
          <a:graphicData uri="http://schemas.openxmlformats.org/drawingml/2006/table">
            <a:tbl>
              <a:tblPr/>
              <a:tblGrid>
                <a:gridCol w="768096"/>
                <a:gridCol w="1280160"/>
                <a:gridCol w="1024128"/>
                <a:gridCol w="204825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Genlik (2ⁿ)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Nereye sığar?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KiB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şey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milyon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MiB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Telefon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 milyar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GiB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Güçlü dizüstü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1,1 trilyon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TiB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Sunucu kümesi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10¹⁵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PiB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Hiçbir süperbilgisayar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548640" y="530352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 kübit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r>
              <a:rPr lang="en-US" sz="1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bellek ve süre</a:t>
            </a:r>
            <a:endParaRPr lang="en-US" sz="18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035040" y="1188720"/>
          <a:ext cx="5608015" cy="4800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5 · Bellek hesabı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30 kübitlik durum vektörü complex128 ile kaç bayt? (b) 16 GiB RAM'de en fazla kaç kübit?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complex128 = 16 bayt (8 gerçek + 8 sanal kısım)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2³⁰ × 16 = 17.179.869.184 bayt = 16 GiB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16 GiB = 2³⁴ bayt → koşul 2ⁿ × 2⁴ ≤ 2³⁴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≤ 30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İşletim sistemi ve simülatör ek belleği nedeniyle pratikte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kübit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(a) 16 GiB  (b) teorik 30, pratikte ≈ 29 kübit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7498080" y="1143000"/>
            <a:ext cx="4144975" cy="26517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1234440"/>
            <a:ext cx="38706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max_qubits(ram, b=16):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int(np.log2(ram / b))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GiB = 2**30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max_qubits(16*GiB, 16)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max_qubits(16*GiB, 8)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max_qubits(1024*GiB)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36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Yaygın yanlış anlama: "Tüm sonuçları aynı anda hesaplar, hepsini okuruz"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olan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kübitin durumu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 genlik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tutar.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Kapılar bu genliklerin hepsini aynı anda değiştirir.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2743200"/>
          </a:xfrm>
          <a:prstGeom prst="roundRect">
            <a:avLst>
              <a:gd name="adj" fmla="val 2667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Ama...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Ölçümde yalnızca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bit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 (ör. </a:t>
            </a:r>
            <a:r>
              <a:rPr lang="en-US" sz="18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0110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Genliklerin çoğu hiçbir zaman görülmez.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48640" y="4251960"/>
            <a:ext cx="11094415" cy="1600200"/>
          </a:xfrm>
          <a:prstGeom prst="roundRect">
            <a:avLst>
              <a:gd name="adj" fmla="val 45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31520" y="4361688"/>
            <a:ext cx="10728655" cy="1380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algoritma tasarımının asıl sanatı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Genlikleri öyle düzenlemek ki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doğru cevabın olasılığı büyüsün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yanlışlarınki küçülsün. Kuantum bilgisayar "tüm cevapları paralel deneyen" bir makine </a:t>
            </a:r>
            <a:r>
              <a:rPr lang="en-US" sz="18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değildir</a:t>
            </a:r>
            <a:r>
              <a:rPr lang="en-US" sz="18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04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Kuantum programlama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Yaşam döngüsü, devre şemaları ve ilk Qiskit kodu</a:t>
            </a:r>
            <a:endParaRPr lang="en-US" sz="18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Bir kuantum programın yaşam döngüsü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22654"/>
            <a:ext cx="11094415" cy="3206853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846320"/>
            <a:ext cx="11094415" cy="1005840"/>
          </a:xfrm>
          <a:prstGeom prst="roundRect">
            <a:avLst>
              <a:gd name="adj" fmla="val 7273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956048"/>
            <a:ext cx="1072865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adımın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5'i klasik bilgisayarda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gerçekleşir. Kuantum yazılım geliştirme büyük ölçüde </a:t>
            </a: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yazılım mühendisliğidir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7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Klasik yazılım akışıyla karşılaştırma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1664162"/>
                <a:gridCol w="1996995"/>
                <a:gridCol w="4104934"/>
                <a:gridCol w="3328325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Adım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karşılığı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Kuantumda ne yapılır?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Qiskit'te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Problem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Gereksinim analizi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Probleme kuantum algoritma uygun mu?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–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Devre yaz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Kaynak kod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Kübit, kapı ve ölçümlerden 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QuantumCircuit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qc.h(0)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Transpile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Hedef cihazın kapılarına ve bağlantılarına çevir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transpile(qc, backend)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Çalıştır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Çalıştırma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Devreyi N kez (shot) çalıştır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backend.run(qc, shots=N)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Sonuçlar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alma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bit dizisinin sayımı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result.get_counts()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Son işlem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Çıktı işleme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Sayımları yorumla, cevabı çıkar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Python kodu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Devre şemasını okumak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113710"/>
            <a:ext cx="11094415" cy="4904899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İlk devre: kuantum yazı-tura (Hello Quantum)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0722" y="1188720"/>
            <a:ext cx="2876317" cy="21945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663440" y="1188720"/>
            <a:ext cx="6979615" cy="365760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00600" y="1280160"/>
            <a:ext cx="6705295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 import QuantumCircuit, transpile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qiskit_aer import AerSimulator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QuantumCircuit(1, 1)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1 kübit, 1 klasik bit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qc.h(0)         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Hadamard: %50-%50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qc.measure(0, 0)            </a:t>
            </a: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kübit 0 -&gt; bit 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 = AerSimulator()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 = sim.run(transpile(qc, sim), shots=1000)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print(job.result().get_counts())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{'0': 514, '1': 486}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5074920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31520" y="5184648"/>
            <a:ext cx="10728655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QuantumCircuit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kapılar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adım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transpile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adım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adım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5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get_counts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adım</a:t>
            </a:r>
            <a:endParaRPr lang="en-US" sz="150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356616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Tüm kübitler |0⟩ ile başlar.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(kuantum NOT) ve H (Hadamard): ilk bakış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8872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1188720"/>
            <a:ext cx="5410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[[0, 1], [1, 0]]    X·[α, β] = [β, α]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188720"/>
            <a:ext cx="5410048" cy="1234440"/>
          </a:xfrm>
          <a:prstGeom prst="roundRect">
            <a:avLst>
              <a:gd name="adj" fmla="val 740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233008" y="1188720"/>
            <a:ext cx="541004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 = (1/√2)·[[1, 1], [1, −1]]    H·[1, 0] = [0.707, 0.707]</a:t>
            </a:r>
            <a:endParaRPr lang="en-US" sz="190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651760"/>
          <a:ext cx="11094415" cy="914400"/>
        </p:xfrm>
        <a:graphic>
          <a:graphicData uri="http://schemas.openxmlformats.org/drawingml/2006/table">
            <a:tbl>
              <a:tblPr/>
              <a:tblGrid>
                <a:gridCol w="1996995"/>
                <a:gridCol w="2884548"/>
                <a:gridCol w="2662660"/>
                <a:gridCol w="3550213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öncesi vektör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Bloch küresinde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 shot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Kapı yok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[1, 0]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Kuzey kutbu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{'0': 1000}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[0, 1]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Güney kutbu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{'1': 1000}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0.707]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Ekvator, +x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{'0': 500, '1': 500}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sonra H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[0.707, </a:t>
                      </a:r>
                      <a:r>
                        <a:rPr lang="en-US" sz="15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−0.707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]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Ekvator, −x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≈ {'0': 500, '1': 500}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48640" y="5120640"/>
            <a:ext cx="11094415" cy="777240"/>
          </a:xfrm>
          <a:prstGeom prst="roundRect">
            <a:avLst>
              <a:gd name="adj" fmla="val 9412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731520" y="5230368"/>
            <a:ext cx="10728655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ve X→H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histogramı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verir ama vektörler farklıdır. Ölçüm işareti göremez;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kapılar görebilir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Dikkat: Qiskit sonuçları sağdan sola okunur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760720" cy="301752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85800" y="1371600"/>
            <a:ext cx="5486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 = QuantumCircuit(2, 2)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qc.x(0)                      </a:t>
            </a:r>
            <a:r>
              <a:rPr lang="en-US" sz="16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sadece q0 =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qc.measure([0, 1], [0, 1])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Sonuç: {'01': 1000}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↑↑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        q1 q0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766560" y="1280160"/>
            <a:ext cx="4876495" cy="3017520"/>
          </a:xfrm>
          <a:prstGeom prst="roundRect">
            <a:avLst>
              <a:gd name="adj" fmla="val 303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766560" y="1554480"/>
            <a:ext cx="48764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5400" b="1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'01'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2651760"/>
            <a:ext cx="414497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sağdaki bit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 = 1</a:t>
            </a:r>
            <a:endParaRPr lang="en-US" sz="20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Soldaki bit → </a:t>
            </a:r>
            <a:r>
              <a:rPr lang="en-US" sz="20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q₁ = 0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548640" y="4572000"/>
            <a:ext cx="11094415" cy="1280160"/>
          </a:xfrm>
          <a:prstGeom prst="roundRect">
            <a:avLst>
              <a:gd name="adj" fmla="val 5714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4681728"/>
            <a:ext cx="10728655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D982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Little-endian sıralama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Qiskit, bit dizisinde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q₀'ı en sağa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yazar. Cirq ve PennyLane gibi başka framework'lerde sıralama farklı olabilir; framework değiştirirken mutlaka kontrol edin.</a:t>
            </a:r>
            <a:endParaRPr lang="en-US" sz="17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Önizleme: iki kübit ve Bell devresi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166" y="1280160"/>
            <a:ext cx="3698708" cy="237744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548640" y="3840480"/>
            <a:ext cx="51206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kübit tek başına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%50–%50 rastgele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 iki sonuç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zaman aynı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yalnızca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 </a:t>
            </a: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Buna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dolanıklık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(entanglement) denir: iki değişken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ortak bir olasılık tablosu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paylaşır.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Ayrıntılar 6. haftada.</a:t>
            </a:r>
            <a:endParaRPr lang="en-US" sz="16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6035040" y="1188720"/>
          <a:ext cx="5608015" cy="4754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05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Neye iyi, neye değil? Ekosistem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Uygulama alanları, yanlış inanışlar, framework'ler ve donanım erişimi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neye iyi, neye değil?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</a:t>
            </a:r>
            <a:endParaRPr lang="en-US" sz="10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5943600" cy="914400"/>
        </p:xfrm>
        <a:graphic>
          <a:graphicData uri="http://schemas.openxmlformats.org/drawingml/2006/table">
            <a:tbl>
              <a:tblPr/>
              <a:tblGrid>
                <a:gridCol w="1664208"/>
                <a:gridCol w="2615184"/>
                <a:gridCol w="1664208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Alan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Örnek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Olgunluk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Kriptografi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 kırma (Shor)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Uzun vadeli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Sırasız arama, SAT (Grover)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Orta/uzun vadeli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Optimizasyon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Rota, çizelgeleme (QAOA)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Makine öğrenmesi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çekirdek, VQC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Araştırma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Simülasyon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Kimya, malzeme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Orta vadeli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Rastgelelik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 rastgele sayı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Bugün mevcut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766560" y="1280160"/>
          <a:ext cx="4876495" cy="914400"/>
        </p:xfrm>
        <a:graphic>
          <a:graphicData uri="http://schemas.openxmlformats.org/drawingml/2006/table">
            <a:tbl>
              <a:tblPr/>
              <a:tblGrid>
                <a:gridCol w="2194423"/>
                <a:gridCol w="268207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Uygun OLMAYAN iş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Nedeni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sunucusu, API, CRUD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G/Ç ağırlıklı; hızlanma yok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Büyük veri işleme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Veriyi kübitlere yüklemek pahalı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Basit aritmetik, döngüler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işlemci çok daha hızlı ve ucuz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Kesin sonuç isteyen iş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Sonuçlar olasılıklı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Çözümlü Örnek 6 · Grover ile arama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143000"/>
            <a:ext cx="6675120" cy="960120"/>
          </a:xfrm>
          <a:prstGeom prst="roundRect">
            <a:avLst>
              <a:gd name="adj" fmla="val 7619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252728"/>
            <a:ext cx="630936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Soru</a:t>
            </a:r>
            <a:endParaRPr lang="en-US" sz="16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1.000.000 kayıtlık sırasız listede tek hedef. Klasik ortalama ve Grover ile kaç sorgu?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6000"/>
            <a:ext cx="66751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Klasik: ortalamada listenin yarısına bakılır.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N/2 = 500.000 sorgu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Grover (9. haftada türetilecek):</a:t>
            </a:r>
            <a:endParaRPr lang="en-US" sz="1900" dirty="0"/>
          </a:p>
          <a:p>
            <a:pPr lvl="1" indent="0" marL="0">
              <a:spcAft>
                <a:spcPts val="1000"/>
              </a:spcAft>
              <a:buNone/>
            </a:pPr>
            <a:r>
              <a:rPr lang="en-US" sz="2200" dirty="0">
                <a:solidFill>
                  <a:srgbClr val="1F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(π/4)·√N = 0.785 × 1000 ≈ 785 sorgu</a:t>
            </a:r>
            <a:endParaRPr lang="en-US" sz="19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Oran ≈ 637 kat; N büyüdükçe fark √N ile artar.</a:t>
            </a:r>
            <a:endParaRPr lang="en-US" sz="1900" dirty="0"/>
          </a:p>
        </p:txBody>
      </p:sp>
      <p:sp>
        <p:nvSpPr>
          <p:cNvPr id="9" name="Shape 6"/>
          <p:cNvSpPr/>
          <p:nvPr/>
        </p:nvSpPr>
        <p:spPr>
          <a:xfrm>
            <a:off x="548640" y="5623560"/>
            <a:ext cx="6675120" cy="685800"/>
          </a:xfrm>
          <a:prstGeom prst="roundRect">
            <a:avLst>
              <a:gd name="adj" fmla="val 10667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31520" y="5733288"/>
            <a:ext cx="6309360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Cevap:</a:t>
            </a:r>
            <a:r>
              <a:rPr lang="en-US" sz="17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Klasik ≈ 500.000, Grover ≈ 785 sorgu.</a:t>
            </a:r>
            <a:endParaRPr lang="en-US" sz="17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7498080" y="1143000"/>
          <a:ext cx="4144975" cy="5120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Yanlış inanışlar ve gerçekler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</a:t>
            </a:r>
            <a:endParaRPr lang="en-US" sz="1000" dirty="0"/>
          </a:p>
        </p:txBody>
      </p:sp>
      <p:graphicFrame>
        <p:nvGraphicFramePr>
          <p:cNvPr id="4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4215878"/>
                <a:gridCol w="6878537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Yanlış inanış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Gerçek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Tüm olasılıkları aynı anda dener, doğru cevabı verir.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Ölçümde tek sonuç okunur; algoritma doğru cevabın olasılığını artıracak şekilde tasarlanmalıdır.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Klasik bilgisayarların yerini alacak.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QPU yardımcı işlemcidir; program akışı ve veri klasik kalır.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Her programı hızlandırır.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Yalnızca belirli yapıdaki problemlerde hızlanma vardır.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RSA bugün kırılabiliyor.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Hayır; çok daha büyük, hata düzeltmeli makineler gerekir. Yine de post-quantum geçiş planlanıyor.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Programlamak için fizikçi olmak gerekir.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Hayır; lineer cebir, olasılık ve Python yeterli.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yazılım yığını (stack)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231" y="1097280"/>
            <a:ext cx="10771233" cy="493776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Başlıca framework'ler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</a:t>
            </a:r>
            <a:endParaRPr lang="en-US" sz="1000" dirty="0"/>
          </a:p>
        </p:txBody>
      </p:sp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553218"/>
                <a:gridCol w="1331330"/>
                <a:gridCol w="1331330"/>
                <a:gridCol w="4215878"/>
                <a:gridCol w="266266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Geliştirici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Öne çıkan özellik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 dersteki rolü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Geniş topluluk, IBM cihazlarına erişim, güçlü transpiler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 araç (1–11. hafta)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Donanıma yakın, ayrıntılı kontrol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Karşılaştırma (7. hafta)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PennyLane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Xanadu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QML odaklı; PyTorch/JAX ile otomatik türev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QML haftaları (12–15)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Braket SDK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üreticilerin donanımlarına tek arayüz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Karşılaştırma (7. hafta)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 / QDK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Q#,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Kuantuma özel dil, kaynak tahmini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kültür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CUDA-Q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NVIDIA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C++, Python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GPU hızlandırmalı simülasyon, hibrit programlama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Genel kültür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44068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Hepsi </a:t>
            </a: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kavramları</a:t>
            </a:r>
            <a:r>
              <a:rPr lang="en-US" sz="1700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(kübit, kapı, devre, ölçüm, shot) farklı API'lerle sunar.</a:t>
            </a:r>
            <a:endParaRPr lang="en-US" sz="17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Gerçek donanıma erişim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</a:t>
            </a:r>
            <a:endParaRPr lang="en-US" sz="1000" dirty="0"/>
          </a:p>
        </p:txBody>
      </p:sp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662660"/>
                <a:gridCol w="3106436"/>
                <a:gridCol w="5325319"/>
              </a:tblGrid>
              <a:tr h="6400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Erişim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IBM Quantum Platform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ile doğrudan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Ücretsiz Open Plan: 28 günlük dönemde 10 dk QPU süresi (Eylül 2026)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Amazon Braket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hesabı, Braket SDK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üreticiler; kullanım başına ücret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Quantum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Azure hesabı, QDK / Qiskit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Farklı üreticiler; kullanım başına ücret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393192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31520" y="4041648"/>
            <a:ext cx="50442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derste: yerel simülatör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Aer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ücretsiz, hızlı ve gürültüsüz.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≈30 kübite kadar rahatça kullanılabilir.</a:t>
            </a:r>
            <a:endParaRPr lang="en-US" sz="1700" dirty="0"/>
          </a:p>
        </p:txBody>
      </p:sp>
      <p:sp>
        <p:nvSpPr>
          <p:cNvPr id="9" name="Shape 5"/>
          <p:cNvSpPr/>
          <p:nvPr/>
        </p:nvSpPr>
        <p:spPr>
          <a:xfrm>
            <a:off x="6233008" y="3931920"/>
            <a:ext cx="5410048" cy="1920240"/>
          </a:xfrm>
          <a:prstGeom prst="roundRect">
            <a:avLst>
              <a:gd name="adj" fmla="val 3810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6415888" y="4041648"/>
            <a:ext cx="5044288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7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haftada: gerçek cihaz</a:t>
            </a:r>
            <a:endParaRPr lang="en-US" sz="17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cihazında çalıştırma, gürültünün sonuçlara etkisi.</a:t>
            </a:r>
            <a:endParaRPr lang="en-US" sz="17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Uygulama: Kuantum Rastgele Sayı Üreteci (QRNG)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</a:t>
            </a:r>
            <a:endParaRPr lang="en-US" sz="1000" dirty="0"/>
          </a:p>
        </p:txBody>
      </p:sp>
      <p:pic>
        <p:nvPicPr>
          <p:cNvPr id="6" name="Image 0" descr="görs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43142"/>
            <a:ext cx="3931920" cy="3554597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4754880" y="1188720"/>
            <a:ext cx="6888175" cy="2651760"/>
          </a:xfrm>
          <a:prstGeom prst="rect">
            <a:avLst/>
          </a:prstGeom>
          <a:solidFill>
            <a:srgbClr val="F7F8FA"/>
          </a:solidFill>
          <a:ln w="9525">
            <a:solidFill>
              <a:srgbClr val="D1D5DB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4892040" y="1280160"/>
            <a:ext cx="6613855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qrng = QuantumCircuit(8, 8)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qrng.h(range(8))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qrng.measure(range(8), range(8))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= sim.run(transpile(qrng, sim),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shots=5, memory=True).result()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print([int(b, 2) for b in res.get_memory()])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F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[250, 107, 41, 111, 65]</a:t>
            </a:r>
            <a:endParaRPr lang="en-US" sz="14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4023360"/>
            <a:ext cx="6888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kübit + H + ölçüm → 8 rastgele bit = </a:t>
            </a:r>
            <a:r>
              <a:rPr lang="en-US" sz="16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bayt (0–255)</a:t>
            </a:r>
            <a:endParaRPr lang="en-US" sz="1600" dirty="0"/>
          </a:p>
          <a:p>
            <a:pPr algn="l"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memory=True</a:t>
            </a:r>
            <a:r>
              <a:rPr lang="en-US" sz="16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her shot'ın sonucu ayrı ayrı döner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4754880" y="4983480"/>
            <a:ext cx="6888175" cy="914400"/>
          </a:xfrm>
          <a:prstGeom prst="roundRect">
            <a:avLst>
              <a:gd name="adj" fmla="val 8000"/>
            </a:avLst>
          </a:prstGeom>
          <a:solidFill>
            <a:srgbClr val="FDF3E8"/>
          </a:solidFill>
          <a:ln w="12700">
            <a:solidFill>
              <a:srgbClr val="FDF3E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4937760" y="5093208"/>
            <a:ext cx="6522415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Simülatörde sonuç yine </a:t>
            </a:r>
            <a:r>
              <a:rPr lang="en-US" sz="15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sözde rastgeledir</a:t>
            </a:r>
            <a:r>
              <a:rPr lang="en-US" sz="15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Gerçek rastgelelik için gerçek QPU gerekir.</a:t>
            </a:r>
            <a:endParaRPr lang="en-US" sz="15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2011680"/>
            <a:ext cx="2743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5B84B8"/>
                </a:solidFill>
              </a:rPr>
              <a:t>3. saat</a:t>
            </a:r>
            <a:endParaRPr lang="en-US" sz="7200" dirty="0"/>
          </a:p>
        </p:txBody>
      </p:sp>
      <p:sp>
        <p:nvSpPr>
          <p:cNvPr id="3" name="Text 1"/>
          <p:cNvSpPr txBox="1"/>
          <p:nvPr/>
        </p:nvSpPr>
        <p:spPr>
          <a:xfrm>
            <a:off x="731520" y="310896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Lab: Hafta01_Lab.ipynb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39776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C7D2E3"/>
                </a:solidFill>
              </a:rPr>
              <a:t>Google Colab üzerinde uygulama</a:t>
            </a:r>
            <a:endParaRPr lang="en-US" sz="18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akışı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</a:t>
            </a:r>
            <a:endParaRPr lang="en-US" sz="1000" dirty="0"/>
          </a:p>
        </p:txBody>
      </p:sp>
      <p:graphicFrame>
        <p:nvGraphicFramePr>
          <p:cNvPr id="4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11094415" cy="914400"/>
        </p:xfrm>
        <a:graphic>
          <a:graphicData uri="http://schemas.openxmlformats.org/drawingml/2006/table">
            <a:tbl>
              <a:tblPr/>
              <a:tblGrid>
                <a:gridCol w="1109442"/>
                <a:gridCol w="8320811"/>
                <a:gridCol w="166416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Bölüm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Konu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Süre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3A5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Kurulum: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!pip install qiskit qiskit-aer pylatexenc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NumPy ile kendi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ToyQubit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sınıfımız: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apply()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measure()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Ölçüm istatistiği, shot ve standart hata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Bellek hesabı ve 10–24 kübit süre ölçümü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Qiskit ile ilk devreler, </a:t>
                      </a:r>
                      <a:r>
                        <a:rPr lang="en-US" sz="1500" dirty="0">
                          <a:solidFill>
                            <a:srgbClr val="1F3A5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Statevector</a:t>
                      </a: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, bit sırası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Kuantum rastgele sayı üreteci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Bell devresi önizlemesi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dk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alıştırma (assert ile otomatik kontrol)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F293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Ödev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1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4F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Haftanın özeti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280160"/>
            <a:ext cx="11094415" cy="4754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Kübit = </a:t>
            </a:r>
            <a:r>
              <a:rPr lang="en-US" sz="2200" dirty="0">
                <a:solidFill>
                  <a:srgbClr val="1F3A5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[α, β]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vektörü; kural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|α|² + |β|² = 1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olasılıklı ve yıkıcı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devreler N kez (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shot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çalıştırılır, sonuç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histogram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İstatistiksel hata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1/√N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ile azalır: yarıya indirmek için 4× shot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kübit →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2ⁿ genlik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klasik simülasyon üstel bellek ister, ama ölçümde yine n bit okunur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Akış: devre yaz →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transpile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çalıştır →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klasik son işlem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QPU bir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yardımcı işlemcidir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 yalnızca belirli problemlerde hızlanma sağlar</a:t>
            </a:r>
            <a:endParaRPr lang="en-US" sz="2200" dirty="0"/>
          </a:p>
          <a:p>
            <a:pPr marL="254000" indent="-254000">
              <a:spcAft>
                <a:spcPts val="1600"/>
              </a:spcAft>
              <a:buSzPct val="100000"/>
              <a:buChar char="•"/>
            </a:pP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Qiskit sonuçları </a:t>
            </a:r>
            <a:r>
              <a:rPr lang="en-US" sz="22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sağdan sola</a:t>
            </a:r>
            <a:r>
              <a:rPr lang="en-US" sz="2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okunur (q₀ en sağda)</a:t>
            </a:r>
            <a:endParaRPr lang="en-US" sz="22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 ve gelecek hafta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Kuantum Hesaplama ve Uygulamaları · Hafta 1</a:t>
            </a:r>
            <a:endParaRPr lang="en-US" sz="1000" dirty="0"/>
          </a:p>
        </p:txBody>
      </p:sp>
      <p:sp>
        <p:nvSpPr>
          <p:cNvPr id="5" name="Text 2"/>
          <p:cNvSpPr txBox="1"/>
          <p:nvPr/>
        </p:nvSpPr>
        <p:spPr>
          <a:xfrm>
            <a:off x="1072865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548640" y="1280160"/>
            <a:ext cx="5410048" cy="3474720"/>
          </a:xfrm>
          <a:prstGeom prst="roundRect">
            <a:avLst>
              <a:gd name="adj" fmla="val 210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389888"/>
            <a:ext cx="504428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Ödev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Ders notu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11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9 yazılı soru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Bölüm G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7 kodlama alıştırması (assert testleri geçmeli)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Teslim: notebook (.ipynb) + yazılı cevaplar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6233008" y="1280160"/>
            <a:ext cx="5410048" cy="3474720"/>
          </a:xfrm>
          <a:prstGeom prst="roundRect">
            <a:avLst>
              <a:gd name="adj" fmla="val 2105"/>
            </a:avLst>
          </a:prstGeom>
          <a:solidFill>
            <a:srgbClr val="E8EEF6"/>
          </a:solidFill>
          <a:ln w="12700">
            <a:solidFill>
              <a:srgbClr val="E8EEF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15888" y="1389888"/>
            <a:ext cx="5044288" cy="32552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2000" b="1" dirty="0">
                <a:solidFill>
                  <a:srgbClr val="2E6D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 2: Gereken matematik (sadece gerektiği kadar)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Vektörler ve matris × vektör çarpımı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Karmaşık sayılar: büyüklük ve faz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Tensör çarpımı: kübitleri birleştirmek</a:t>
            </a:r>
            <a:endParaRPr lang="en-US" sz="2000" dirty="0"/>
          </a:p>
          <a:p>
            <a:pPr algn="l"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ile kendi </a:t>
            </a:r>
            <a:r>
              <a:rPr lang="en-US" sz="1900" b="1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çok kübitli simülatörümüzü</a:t>
            </a:r>
            <a:r>
              <a:rPr lang="en-US" sz="19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yazacağız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2026-09-23T15:03:34Z</dcterms:created>
  <dcterms:modified xsi:type="dcterms:W3CDTF">2026-09-23T15:03:34Z</dcterms:modified>
</cp:coreProperties>
</file>