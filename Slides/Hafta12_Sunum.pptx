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2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StatePreparation: kübit sayısına göre maliyet (transpile)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CNOT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11</c:v>
                </c:pt>
                <c:pt idx="4">
                  <c:v>26</c:v>
                </c:pt>
                <c:pt idx="5">
                  <c:v>57</c:v>
                </c:pt>
                <c:pt idx="6">
                  <c:v>120</c:v>
                </c:pt>
                <c:pt idx="7">
                  <c:v>247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Derinlik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9</c:v>
                </c:pt>
                <c:pt idx="3">
                  <c:v>23</c:v>
                </c:pt>
                <c:pt idx="4">
                  <c:v>53</c:v>
                </c:pt>
                <c:pt idx="5">
                  <c:v>115</c:v>
                </c:pt>
                <c:pt idx="6">
                  <c:v>241</c:v>
                </c:pt>
                <c:pt idx="7">
                  <c:v>495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kübit n (2ⁿ özellik)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Her özellikte cos²(Δ/2) = 0.9 iken toplam benzerlik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0.9^d</c:v>
                </c:pt>
              </c:strCache>
            </c:strRef>
          </c:tx>
          <c:spPr>
            <a:solidFill>
              <a:srgbClr val="2E6DB4"/>
            </a:solidFill>
            <a:ln w="25400" cap="flat">
              <a:solidFill>
                <a:srgbClr val="2E6DB4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DB4"/>
              </a:solidFill>
              <a:ln w="9525" cap="flat">
                <a:solidFill>
                  <a:srgbClr val="2E6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15</c:v>
                  </c:pt>
                  <c:pt idx="7">
                    <c:v>20</c:v>
                  </c:pt>
                  <c:pt idx="8">
                    <c:v>30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</c:v>
                </c:pt>
                <c:pt idx="1">
                  <c:v>0.81</c:v>
                </c:pt>
                <c:pt idx="2">
                  <c:v>0.656</c:v>
                </c:pt>
                <c:pt idx="3">
                  <c:v>0.531</c:v>
                </c:pt>
                <c:pt idx="4">
                  <c:v>0.43</c:v>
                </c:pt>
                <c:pt idx="5">
                  <c:v>0.349</c:v>
                </c:pt>
                <c:pt idx="6">
                  <c:v>0.206</c:v>
                </c:pt>
                <c:pt idx="7">
                  <c:v>0.122</c:v>
                </c:pt>
                <c:pt idx="8">
                  <c:v>0.042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özellik sayısı 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QML bloğunun ilk haftası. Mesaj: kuantum model ne kadar iyi olursa olsun, veri önce bir kuantum durumuna dönüştürülmeli; bu dönüşümün kübit, derinlik ve bilgi kaybı açısından bedeli var. Haftanın sonunda öğrenciler dört kodlamayı yazmış, Bloch küresinde veri bulutlarını görmüş ve 13. haftadaki çekirdeklerin temeli olan benzerlik matrisini çıkarmış olacak.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saatin akışı. İlk saatin ilk 20 dakikası ML hatırlatma; ML dersi almış bir sınıfta bunu kısaltabilirsiniz ama özellik haritası ve çekirdek slaytlarını mutlaka anlatın, çünkü 13. hafta tamamen bunun üzerine kurulu.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okuyun ve özellikle 4 ve 5'i vurgulayın: her kodlamayı elle hesaplayabilmek ve maliyetini söyleyebilmek. Sağdaki kart haftanın üç sorusunu veriyor; her kodlamada bu üç soruya döneceğiz.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Kısa ama net. Amaç ortak notasyon: X, y, f(x; θ), L, φ(x), k(x, x').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= parametreleri dışarıdan ayarlanan bir fonksiyon. 11. haftadaki VQE/QAOA döngüsüyle aynı şema; tek fark, artık bir veri kümesi ve etiketler var. Turuncu ok optimizer'ın geri besleme döngüsü.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Moons verisi: dolu noktalar eğitim, boş noktalar test. Doğrusal model %90 test doğruluğu verir ama ay kıvrımlarını izleyemez. Veri sızıntısı kartını vurgulayın: ölçekleme ve PCA yalnızca eğitimden öğrenilir; lab Alıştırma 7 bunu test ediyor.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Kuantum modellerde çıktı ⟨Z⟩ ∈ [−1, 1]; p = (1 − ⟨Z⟩)/2 ile olasılığa çevrilir. Bunu 14. haftada tekrar kullanacağız.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Çember verisinde hiçbir doğru işe yaramaz. Merkeze uzaklığın karesini üçüncü koordinat olarak eklersek yatay bir düzlem ayırır. Kuantum kodlamanın da tam olarak bir φ olduğunu söyleyin: x → |ψ(x)⟩, 2ⁿ boyutlu bir vektör.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 gibi algoritmalar sadece iç çarpımlara ihtiyaç duyar. Kuantum tarafında iç çarpımın karşılığı sadakat. Bu slayt 13. haftanın fragmanı; 'bu matrisi bugün çizeceğiz, gelecek hafta SVM'e vereceğiz' deyin.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Yüksek dereceli polinomlarda ve RBF'de fark çok büyür; RBF'de φ sonsuz boyutludur.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Beklenti yönetimi bu bölümün asıl amacı.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soru: veri nereden geliyor, model nerede çalışıyor? Bu blok CQ: CSV'deki veri + kuantum devre. QQ'da kodlama problemi yok, bu yüzden avantaj umudu orada daha güçlü.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diyagramı dört hafta boyunca harita olarak kullanacağız. Bu hafta ilk iki kutu (ön işleme + kodlama). 13. haftada W yok, çekirdek var. 14. haftada W(θ) ve eğitim döngüsü.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Abartılı iddialara karşı dikkatli olun. Bu slaytı dönem boyunca referans verin. Özellikle 'henüz gösterilemedi' kartı: gerçek dünya klasik verisinde iyi ayarlanmış klasik modellere karşı genel bir üstünlük gösterilmiş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Kodlama = kuantum bilgisayarın tek veri tipine (durum vektörü) serileştirme.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ölçütü tanıtın, sonra her kodlamada bu ölçütlere döneceğiz. Kodlama genellikle eğitilmez, sabittir; eğitilen kısım ondan sonra gelen W(θ).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 1 ise X. Qiskit sırası: en sağdaki bit q0. Sağdaki grafik bir veri kümesinin eşit süperpozisyonu; bunu hazırlamak genelde ucuz değil. Basis kodlamasında iki farklı örneğin benzerliği hep 0, bu yüzden ML'de nadiren tek başına kullanılır.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 sırası kuralını (2. hafta) bir kez daha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Ry(x)|0⟩ = [cos(x/2), sin(x/2)]. d özellik → d kübit, derinlik 1, CNOT yok. Toplam durum tek kübit durumlarının tensör çarpımı: dolanıklık yok.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Kapı konularında olduğu gibi her değeri tek tek gösteriyoruz. x arttıkça nokta xz meridyeni boyunca kuzeyden güneye iner. Bloch koordinatı (sin x, 0, cos x); ⟨Z⟩ = cos x, P(1) = sin²(x/2).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2 dakika verin.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np.kron sırasına dikkat: kron(q1, q0). Lab Alıştırma 1 tam olarak 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 örnek, mavi sınıf 0, turuncu sınıf 1. Her kübit sadece kendi özelliğini gördüğü için noktalar tek bir yay üzerinde. q1'de sınıflar kuzey/güney olarak kısmen ayrılıyor, q0'da iç içe. Tek kübitin Bloch küresi çok kübitli durumun sadece gölgesi.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Petal özellikleri (q2, q3) sınıfları çok daha iyi ayırıyor. Bu görselleştirme bir özellik seçimi aracı olarak da kullanılabilir: sınıfları ayırmayan bir özelliğe kübit harcamak israf.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 periyodik; aralık kontrol edilmezse farklı değerler aynı duruma gider. [0, π]'de P(1) ve ⟨Z⟩ monoton, uçlar dik durumlara gider. Sağdaki grafik iki tek kübit durumunun benzerliği: fark π'yi aşarsa benzerlik yeniden artar.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adım: ham özellik, min–max ile [0, π], Ry ile meridyene. min ve max eğitimden; test değerleri np.clip ile kırpılır.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Kırpma olmasaydı 1.077π, 0.92π gibi davranırdı: büyük değer daha küçük bir değer gibi görünürdü.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64 piksel açı kodlamasıyla 64 kübit demek, statevector'da 2^64: olanaksız. PCA ile 4 bileşen varyansın ~%73'ünü, 8 bileşen ~%85'ini tutuyor. 0 ve 1 ilk iki bileşende bile ayrılıyor.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saat: çözümlü örnek ağırlıklı. Genlik kodlamasının maliyet grafiğine zaman ayırın.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Kübitin Bloch'ta iki açısı var: θ ve φ. Ry(x1) θ'yı, Rz(x2) φ'yi belirler. Kübit sayısı yarıya iner. İkinci özellik göreli fazda; Z ölçümüyle doğrudan görünmez, sonraki W(θ) devresinin fazı karıştırması gerekir (2. hafta: göreli faz H ile görünür olur).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Lab'da state_to_bloch ile [0, 1, 0] çıkıyor.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özellik tek kübite. φ = x2 ile yarım küre, φ = 2·x2 ile tüm küre ama bu kez x2 = 0 ile x2 = π aynı yere düşer: periyodiklik tuzağı yeniden. Kürenin tamamını kullanmak her zaman iyi değildir.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Kübit açısından en ekonomik kodlama. İki koşul: uzunluk 2'nin kuvveti (sıfır doldur) ve normalizasyon. Qiskit'te StatePreparation tercih edin; initialize önce reset ekler ve üniter değildir, 13. haftadaki U† hesabında kullanılamaz.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bir ikili karar ağacı: her seviyede olasılık kütlesi ikiye bölünür. n kübitte 2ⁿ − 1 dönüş → ~2ⁿ CNOT. Devre Statevector ile doğrulandı.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StatePreparation'ı rastgele vektörlerle transpile ettik (CX + U). CNOT sayısı yaklaşık 2^n. 64 piksel = 6 kübit ama 57 CNOT, derinlik 115; ve bu devre her örnek için yeniden çalışır. Açı kodlaması sabit derinlik 1 ama kübit sayısı doğrusal.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ve 2x aynı durum. Ölçek önemliyse ‖x‖'yi ya da sabit bir değeri ek özellik olarak ekleyin; 5 eleman 8'e doldurulur. Örnek 9'u bu slaytla birlikte çözün.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 rakamlarında |01⟩ genliği baskın, 1 rakamlarında |00⟩ büyük. 360 örneğin ısı haritasında iki sınıfın deseni gözle ayrılıyor. Artı/eksi tablosunu hızlıca geçin.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Havlíček ve arkadaşları 2019. H katmanı, tek özellikli fazlar, CNOT-P-CNOT ile özellik çarpımına bağlı faz. Dolanık durumlar üretir ve klasik olarak simülasyonu zor olduğu düşünülen bir aileye ait. Gelecek hafta QSVM'in çekirdeği olacak. Qiskit 2.x: zz_feature_map fonksiyonu.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 kodlamasında rank her zaman 1'di; burada 2. Bu dolanıklık ZZ'nin ifade gücünün kaynağı.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Pérez-Salinas ve ark. 2020. x'i L kez yüklemek modelin çıktısının Fourier spektrumunu genişletir (Schuld, Sweke, Meyer 2021): L yükleme → cos(x) ... cos(Lx). 14. haftada VQC'de kullanacağız.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haftadaki genel olasılık kuralı. Gram matrisi simetrik, köşegeni 1, pozitif yarı-tanımlı: bu üç özellik SVM çekirdeği için gerekli (lab Alıştırma 6). Tablodaki kapalı formüller: açı kodlaması cos² çarpımı, genlik kodlaması kosinüs benzerliğinin karesi.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Çarpım yapısı çok özellikte benzerliklerin sönmesine yol açar (ödev sorusu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Sınıfa göre sıralı: ideal kodlamada köşegen bloklar koyu, köşegen dışı açık. Digits'te açı kodlaması çok net (sınıflar arası 0.15); genlik kodlaması bulanık (0.57) çünkü normalizasyon ölçeği siliyor ve pozitif vektörler birbirine yakın.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 kodlamasında benzerlik çarpım. 20 özellikte her çarpan 0.9 olsa bile 0.12. Matris birim matrise benzer, model genelleyemez. 13. haftada çekirdek yoğunlaşması, 14. haftada barren plateau ile ilişkisi. Native grafik: özellik sayısına göre 0.9^d.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haftanın özeti olarak kullanın. Alttaki tablo lab'da gerçekten ölçüldü (digits PCA4 ilk örnek, transpile CX+U). ZZ reps=2 full: 24 CNOT.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sayı veri yükleme darboğazı tartışmasına köprü. Eğitimde her iterasyonda bu tekrar eder.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Aaronson 2015 'Read the fine print'. Üç gizli maliyet: girdi, çıktı, örnek başına tekrar. QRAM teorik bir çözüm ama büyük ölçekli ve hataya dayanıklı bir QRAM henüz yok. Dequantization (Tang 2019): aynı veri erişim varsayımı verilince bazı hızlanmalar klasik olarak da elde edildi.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Lab'a geçiş. Bölüm D ve H'yi birlikte yapın; alıştırmalar ödev.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Colab'da tek başına çalışır; veri setleri notebook içinde üretilir, dosya okunmaz. CSV'ler ayrıca verildi. Çözümlü sürüm CPU'da 1 dakikanın altında çalışıyor.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Hepsi assert ile kendini kontrol ediyor. 6 ve 8 13. haftaya doğrudan hazırlık. 7 veri sızıntısı disiplini.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birlikte tekrar edin; her maddeyi bir kodlamayla eşleştirin.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bugünkü benzerlik matrisini doğrudan bir SVM'e vereceğiz. Öğrencilerden Alıştırma 6 ve 8'i mutlaka tamamlamalarını isteyin.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12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Kuantum Makine Öğrenmesi I: ML Hatırlatma ve Veri Kodlama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Özellik haritası ve çekirdek fikri · QML taksonomisi · basis, açı, yoğun açı, genlik kodlaması · ZZ ve veri yeniden yükleme · veri yükleme darboğazı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43891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hatırlatma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haritası, çekirdek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 taksonomisi, iş akışı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ve açı kodlaması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Ölçekleme, PCA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43891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örnekler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 açı, genlik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maliyeti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ZZ, yeniden yükleme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Benzerlik matrisi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yükleme darboğazı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438912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kodlama fonksiyonu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 kontrolleri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nokta bulutları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Benzerlik ısı haritaları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alıştırma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hedefleri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 öğrenme kavramlarını kısa ve doğru açıklamak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haritası φ(x) ve çekirdek k(x, x') fikri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 taksonomisi (CC/CQ/QC/QQ) ve iş akışı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kodlamayı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hesaplamak, Qiskit ile doğrulamak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Kübit, derinlik, ifade gücü, yükleme maliyeti karşılaştırması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π] ölçekleme ve PCA; veri sızıntısından kaçınmak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Benzerlik |⟨ψ(x)|ψ(x')⟩|² ısı haritasını yorumlamak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yükleme darboğazını tartışmak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63840" y="1280160"/>
            <a:ext cx="3779215" cy="4480560"/>
          </a:xfrm>
          <a:prstGeom prst="roundRect">
            <a:avLst>
              <a:gd name="adj" fmla="val 193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1389888"/>
            <a:ext cx="3413455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kodlama için üç soru</a:t>
            </a:r>
            <a:endParaRPr lang="en-US" sz="19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Kaç kübit?</a:t>
            </a:r>
            <a:endParaRPr lang="en-US" sz="19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özellik → n kübit</a:t>
            </a:r>
            <a:endParaRPr lang="en-US" sz="19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 kadar derin?</a:t>
            </a:r>
            <a:endParaRPr lang="en-US" sz="19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sayısı, CNOT sayısı</a:t>
            </a:r>
            <a:endParaRPr lang="en-US" sz="19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 kaybolur?</a:t>
            </a:r>
            <a:endParaRPr lang="en-US" sz="19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Ölçek, yakınlık, faz bilgisi…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Makine öğrenmesi hatırlatma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Özellik, etiket, eğitim/test, kayıp, doğrusal ayrılabilirlik, özellik haritası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 öğrenme: etiketli örneklerden f(x) → 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975" y="1097280"/>
            <a:ext cx="10755745" cy="310896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3328325"/>
                <a:gridCol w="499248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matrisi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∈ ℝ^(N×d)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X.shape == (200, 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∈ {0, 1}^N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y.shape == (200,)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tahmin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ŷ = f(x; θ)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clf.fit(X, y); clf.predict(X)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Özellik, etiket ve eğitim/test ayrımı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0080"/>
            <a:ext cx="7589520" cy="3100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321040" y="1188720"/>
            <a:ext cx="3322015" cy="2103120"/>
          </a:xfrm>
          <a:prstGeom prst="roundRect">
            <a:avLst>
              <a:gd name="adj" fmla="val 347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503920" y="1298448"/>
            <a:ext cx="2956255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/ test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eğitimle öğrenir,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görmediği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testle ölçülür.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test benzetmesi: testlere göre ezberletmek işe yaramaz.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321040" y="3474720"/>
            <a:ext cx="3322015" cy="2286000"/>
          </a:xfrm>
          <a:prstGeom prst="roundRect">
            <a:avLst>
              <a:gd name="adj" fmla="val 32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3584448"/>
            <a:ext cx="2956255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Min–max ve PCA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eğitimden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edilir, teste aynen uygulanır.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min/max'ı kullanmak = testten bilgi sızdırmak.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Kayıp ve doğruluk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P(y=1) = [0.9, 0.2, 0.6, 0.4], y = [1, 0, 1, 0]. Doğruluk (eşik 0.5) ve çapraz entropi?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ŷ = [1, 0, 1, 0] → hepsi doğru → doğruluk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Doğru sınıfa verilen olasılıklar: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[0.9, 0.8, 0.6, 0.6]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−¼(ln 0.9 + ln 0.8 + 2 ln 0.6) ≈ 0.338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Doğruluk mükemmel, kayıp sıfır değil: model 0.6'da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 değil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Doğruluk 1.0, L ≈ 0.338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log_loss, accuracy_score)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np.array([0.9, 0.2, 0.6, 0.4])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np.array([1, 0, 1, 0])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accuracy_score(y, p &gt;= 0.5)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log_loss(y, 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0.3375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ayrılabilirlik ve özellik haritası φ(x)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3314" y="1097280"/>
            <a:ext cx="8545068" cy="3840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0749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184648"/>
            <a:ext cx="107286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kodlama bir özellik haritasıdır: 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φ(x) = |ψ(x)⟩ = U(x)|0…0⟩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4 kübit = 16 boyut, 10 kübit = 1024 boyut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hilesi: φ'yi hesaplamadan iç çarpım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09573"/>
            <a:ext cx="11094415" cy="35415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00600"/>
            <a:ext cx="5410048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800600"/>
            <a:ext cx="541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k(x, x') = ⟨φ(x), φ(x')⟩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233008" y="4800600"/>
            <a:ext cx="5410048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33008" y="4800600"/>
            <a:ext cx="541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k(x, x') = |⟨ψ(x)|ψ(x')⟩|²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2 · Özellik haritası ve çekirdek hilesi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(1, 2), x' = (3, 1): k = (x·x')² doğrudan ve φ(x) = (x₁², √2·x₁x₂, x₂²) ile.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Doğrudan: x·x' = 3 + 2 = 5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5² = 25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φ(x) = (1, 2√2, 4),   φ(x') = (9, 3√2, 1)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⟨φ(x), φ(x')⟩ = 9 + 12 + 4 = 25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Aynı sonuç, ama doğrudan yol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boyutta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hesapladı.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= 25 (iki yoldan)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4747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= np.array([1, 2])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 = np.array([3, 1])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 = lambda v: np.array(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[v[0]**2,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np.sqrt(2)*v[0]*v[1],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v[1]**2])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@ xp)**2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phi(x) @ phi(xp)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25.0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Kuantum makine öğrenmesi nedir?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Taksonomi, iş akışı ve gerçekçi beklentiler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 taksonomisi: veri ve model klasik mi, kuantum mu?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6927"/>
            <a:ext cx="5669280" cy="3727027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71600"/>
          <a:ext cx="5150815" cy="914400"/>
        </p:xfrm>
        <a:graphic>
          <a:graphicData uri="http://schemas.openxmlformats.org/drawingml/2006/table">
            <a:tbl>
              <a:tblPr/>
              <a:tblGrid>
                <a:gridCol w="721114"/>
                <a:gridCol w="2575408"/>
                <a:gridCol w="1854293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derste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Kuantumdan esinlenen klasik yöntemler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Karşılaştırma (15)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veri → QSVM, VQC, QNN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12–15. haftalar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 sonuçlarını ML ile çözümleme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Kapsam dışı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 durumu doğrudan işleme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 hafta tartışma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6492240" y="4572000"/>
            <a:ext cx="5150815" cy="1280160"/>
          </a:xfrm>
          <a:prstGeom prst="roundRect">
            <a:avLst>
              <a:gd name="adj" fmla="val 571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675120" y="4681728"/>
            <a:ext cx="478505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CQ'nun kaçınılmaz ilk adımı: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veriyi kuantum durumuna kodlamak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(bu hafta).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 iş akışı: bloğun haritası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93" y="1097280"/>
            <a:ext cx="10164510" cy="356616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11094415" cy="914400"/>
        </p:xfrm>
        <a:graphic>
          <a:graphicData uri="http://schemas.openxmlformats.org/drawingml/2006/table">
            <a:tbl>
              <a:tblPr/>
              <a:tblGrid>
                <a:gridCol w="1331330"/>
                <a:gridCol w="976308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 işleme + </a:t>
                      </a: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kodlama U(x)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Çekirdek |⟨ψ(x)|ψ(x')⟩|² → SVM (W yok)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W(θ), ölçüm, kayıp, optimizer (VQC, QNN)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Gerçekçi beklentiler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515258" cy="3840480"/>
          </a:xfrm>
          <a:prstGeom prst="roundRect">
            <a:avLst>
              <a:gd name="adj" fmla="val 208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314949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Yapabilir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veride (onlarca–yüzlerce örnek) klasik modellerle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karşılaştırılabilir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doğruluk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model aileleri ve çekirdekler üzerine araştırma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yazılım yığınını uçtan uca öğrenmek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46778" y="1280160"/>
            <a:ext cx="3515258" cy="3840480"/>
          </a:xfrm>
          <a:prstGeom prst="roundRect">
            <a:avLst>
              <a:gd name="adj" fmla="val 2081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29658" y="1389888"/>
            <a:ext cx="314949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Henüz gösterilemedi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klasik veride iyi ayarlanmış klasik modellere karşı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ve pratik üstünlük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 sonuçları çoğunlukla özel kurgulanmış problemler ya da veri erişim varsayımları içerir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944917" y="1280160"/>
            <a:ext cx="3698138" cy="3840480"/>
          </a:xfrm>
          <a:prstGeom prst="roundRect">
            <a:avLst>
              <a:gd name="adj" fmla="val 19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27797" y="1389888"/>
            <a:ext cx="333237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kısıtlar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kübit, gürültü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hatası ~1/√S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örnek için devre yeniden çalışır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yükleme maliyeti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Tutumumuz: mühendislik merakı + her zaman klasik bir </a:t>
            </a: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model</a:t>
            </a: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(baseline) ile karşılaştırma.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Veri kodlama: basis ve açı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x → |ψ(x)⟩: serileştirme gibi düşünün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Kodlama: genel çerçeve ve karşılaştırma ölçütleri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|ψ(x)⟩ = U(x) |0…0⟩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4754880" cy="914400"/>
        </p:xfrm>
        <a:graphic>
          <a:graphicData uri="http://schemas.openxmlformats.org/drawingml/2006/table">
            <a:tbl>
              <a:tblPr/>
              <a:tblGrid>
                <a:gridCol w="1806854"/>
                <a:gridCol w="294802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 sayısı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özellik için kaç kübit?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 derinliği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Kaç katman, kaç CNOT?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İfade gücü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uzayı ne kadar zengin? Dolanıklık?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Yükleme maliyeti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kadar klasik ön hesap?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234440"/>
          <a:ext cx="6065215" cy="914400"/>
        </p:xfrm>
        <a:graphic>
          <a:graphicData uri="http://schemas.openxmlformats.org/drawingml/2006/table">
            <a:tbl>
              <a:tblPr/>
              <a:tblGrid>
                <a:gridCol w="1334347"/>
                <a:gridCol w="2547390"/>
                <a:gridCol w="2183477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Fikir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dizisi → baz durumu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encode_basis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→ Ry açısı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encode_angle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Yoğun açı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özellik → Ry + Rz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encode_dense_angle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 vektör → genlikler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encode_amplitude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+ özellik çarpımları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önizleme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Yeniden yükleme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x'i L kez yükle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önizleme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kodlaması: bit dizisi → |bit dizisi⟩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8769"/>
            <a:ext cx="2743200" cy="2320222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323253"/>
            <a:ext cx="8168335" cy="256557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4251960"/>
            <a:ext cx="5852160" cy="16002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5800" y="434340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encode_basis(bits):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'101' -&gt; |101⟩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QuantumCircuit(len(bits))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b in enumerate(reversed(bits)):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 == "1": qc.x(i)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6675120" y="4251960"/>
            <a:ext cx="4967935" cy="1600200"/>
          </a:xfrm>
          <a:prstGeom prst="roundRect">
            <a:avLst>
              <a:gd name="adj" fmla="val 4571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0" y="4361688"/>
            <a:ext cx="4602175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= 0111 ile 8 = 1000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durumlar: benzerlik 0.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Yakınlık bilgisi korunmaz; b bit hassasiyet → özellik başına b kübit.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3 · Tamsayının basis kodlaması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5'i 3 kübitle basis kodlayın. Hangi kübitlere X? Durum vektöründe hangi indeks 1?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 = 4 + 1 → '101'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Qiskit sırası q₂q₁q₀ = 1 0 1 → X: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 ve q₂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|ψ⟩ = |1⟩ ⊗ |0⟩ ⊗ |1⟩ = |101⟩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8 elemanlı vektörde yalnızca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5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1; ölçüm hep '101'.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X(q₀), X(q₂); [0,0,0,0,0,1,0,0]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143" y="1143000"/>
            <a:ext cx="2810849" cy="2377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498080" y="3703320"/>
            <a:ext cx="4144975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35240" y="37947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Statevector(encode_basis("101"))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.data.real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 0 0 0 0 1 0 0]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 kodlaması: her özellik bir dönüş açısı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76656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Ry(x)|0⟩ = [cos(x/2), sin(x/2)]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7744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|ψ(x)⟩ = Ry(x₃)|0⟩ ⊗ Ry(x₂)|0⟩ ⊗ Ry(x₁)|0⟩ ⊗ Ry(x₀)|0⟩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özellik → d kübit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Derinlik 1,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 yok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Çarpım durumu (dolanıklık yok)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Açı = özellik değeri: ön hesap yok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4617720"/>
            <a:ext cx="6766560" cy="12801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470916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encode_angle(x):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QuantumCircuit(len(x))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xi in enumerate(x):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qc.ry(xi, 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4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918" y="1188720"/>
            <a:ext cx="2698179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Ry(x) Bloch küresinde tek tek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1977"/>
            <a:ext cx="11094415" cy="2851007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1331330"/>
                <a:gridCol w="1996995"/>
                <a:gridCol w="1553218"/>
                <a:gridCol w="1996995"/>
                <a:gridCol w="199699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3π/4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[0.924, 0.383]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[0.383, 0.924]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P(1) = sin²(x/2)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⟨Z⟩ = cos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Tek kübit açı kodlaması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π/2 ve x = 2π/3 için durum, P(1) ve ⟨Z⟩?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 = π/2: x/2 = π/4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|ψ⟩ = [0.707, 0.707] = |+⟩     P(1) = 0.5     ⟨Z⟩ = 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x = 2π/3: x/2 = π/3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|ψ⟩ = [0.5, 0.866]     P(1) = 0.75     ⟨Z⟩ = −0.5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Kontrol: cos(2π/3) = −0.5 ✓ ([0, π]'de monoton)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|+⟩; [0.5, 0.866]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9260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 in [np.pi/2, 2*np.pi/3]: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sv = Statevector(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encode_angle([v])).data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print(sv.real,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abs(sv[1])**2)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[0.707 0.707] 0.5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[0.5   0.866] 0.75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5 · İki özellikli açı kodlaması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(π/2, π/3) → 2 kübit. Durum vektörü ve olasılıklar?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q₀ = [0.707, 0.707],   q₁ = [cos(π/6), sin(π/6)] = [0.866, 0.5]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Qiskit sırası: |ψ⟩ = q₁ ⊗ q₀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|ψ⟩ = [0.612, 0.612, 0.354, 0.354]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P(00) = P(01) = 0.375     P(10) = P(11) = 0.125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Kübitler bağımsız: P(q₁ = 1) = 0.25 = sin²(π/6) ✓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[0.612, 0.612, 0.354, 0.354]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1089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np.array([np.pi/2, np.pi/3])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lambda t: [np.cos(t/2),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np.sin(t/2)]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elle = np.kron(c(x[1]), c(x[0]))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qk = Statevector(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encode_angle(x)).data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np.allclose(elle, qk)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 verisi: iki kübit, iki nokta bulutu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35118"/>
            <a:ext cx="11094415" cy="38562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16636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276088"/>
            <a:ext cx="10728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kübit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yay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(xz meridyeni) kullanır → bilgi, iki kübitin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boyutlu durumunda birleşir.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Iris: 4 özellik → 4 kübit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1299"/>
            <a:ext cx="11094415" cy="3123802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Eksiler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Derinlik 1, CNOT yok → gürültüye dayanıklı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başına 1 kübit (64 piksel → 64 kübit)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Yakın değerler → yakın durumlar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Çarpım durumu: klasik olarak kolay simüle edilir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 hesap 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 periyodik → </a:t>
                      </a: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ölçekleme şart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[0, π] aralığı?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31" y="1097280"/>
            <a:ext cx="10555834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00600"/>
            <a:ext cx="5410048" cy="1097280"/>
          </a:xfrm>
          <a:prstGeom prst="roundRect">
            <a:avLst>
              <a:gd name="adj" fmla="val 6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910328"/>
            <a:ext cx="5044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Birebir + tam kapsama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|0⟩, π → |1⟩: en küçük ve en büyük değer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durumlara gider.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33008" y="4800600"/>
            <a:ext cx="5410048" cy="1097280"/>
          </a:xfrm>
          <a:prstGeom prst="roundRect">
            <a:avLst>
              <a:gd name="adj" fmla="val 666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15888" y="4910328"/>
            <a:ext cx="5044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hata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petal uzunluğu (3–7 cm) doğrudan açı: 6.3 cm ≈ 361° ≈ 0 cm gibi!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→ açı eşlemesi (min–max)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356" y="1097280"/>
            <a:ext cx="10210984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17720"/>
            <a:ext cx="5852160" cy="1097280"/>
          </a:xfrm>
          <a:prstGeom prst="roundRect">
            <a:avLst>
              <a:gd name="adj" fmla="val 8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617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x' = (x − min) / (max − min) · π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675120" y="4617720"/>
            <a:ext cx="4967935" cy="10972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12280" y="470916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MinMaxScaler((0, np.pi)).fit(X_train)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A_test = np.clip(scaler.transform(X_test), 0, np.pi)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6 · Ham değerden açıya ve olasılığa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uzunluğu eğitimde [3.0, 6.9] cm. 4.7 cm'nin açısı, durumu, P(1)? Testteki 7.2 cm?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x' = (4.7 − 3.0)/3.9 · π ≈ 1.369 rad (78.5°)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|ψ⟩ = [cos 0.685, sin 0.685] ≈ [0.775, 0.632]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P(1) ≈ 0.400     ⟨Z⟩ ≈ 0.200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7.2 cm → 1.077π &gt; π → </a:t>
            </a:r>
            <a:r>
              <a:rPr lang="en-US" sz="19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np.clip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(|1⟩)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1.369 rad; P(1) ≈ 0.40; 7.2 → π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 = 3.0, 6.9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to_angle = lambda v: np.clip(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(v - lo)/(hi - lo)*np.pi,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0, np.pi)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to_angle(4.7)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np.sin(a/2)**2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(1.369, 0.400)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to_angle(7.2)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3.1416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ile boyut indirgeme: digits 64 → 4 / 8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7685"/>
            <a:ext cx="11094415" cy="3202470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3772101"/>
                <a:gridCol w="2440771"/>
                <a:gridCol w="244077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 işleme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digits 0/1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→ 4, [0, π]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kübit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kübit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digits 0/1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→ 8, [0, π]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kübit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kübit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digits 0/1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kübit 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kübit (derin)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Yoğun açı, genlik ve ötesi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Kübit mi, derinlik mi? Benzerlik matrisi ve veri yükleme darboğazı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 açı kodlaması: bir kübitte iki özellik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Rz(x₂)·Ry(x₁)|0⟩ ≅ [cos(x₁/2), e^(i·x₂)·sin(x₁/2)]</a:t>
            </a:r>
            <a:endParaRPr lang="en-US" sz="24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39" y="2331720"/>
            <a:ext cx="3309441" cy="2377440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331720"/>
          <a:ext cx="6613855" cy="914400"/>
        </p:xfrm>
        <a:graphic>
          <a:graphicData uri="http://schemas.openxmlformats.org/drawingml/2006/table">
            <a:tbl>
              <a:tblPr/>
              <a:tblGrid>
                <a:gridCol w="2248711"/>
                <a:gridCol w="1984157"/>
                <a:gridCol w="238098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Yoğun açı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 (d özellik)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⌈d/2⌉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Derinlik / CNOT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Bilgi nerede?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Olasılıkta (θ)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ve </a:t>
                      </a: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göreli faz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(φ)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Dolanıklık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9377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31520" y="5047488"/>
            <a:ext cx="107286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bilgisi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ölçümüyle görünmez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x₂'nin modele ulaşması için sonraki devre fazı olasılığa çevirmeli (H, Ry, CNOT).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7 · Yoğun açı kodlaması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(π/2, π/2) tek kübitte: durum, olasılıklar, Bloch noktası?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Ry(π/2)|0⟩ = [0.707, 0.707]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Rz(π/2) = diag(e^(−iπ/4), e^(iπ/4))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|ψ⟩ = [0.5 − 0.5i, 0.5 + 0.5i]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P(1) = 0.5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Bloch (0, 1, 0)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|+i⟩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ikinci özellik sadece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fazı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değiştirdi.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|+i⟩ (global faz dışında)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0175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encode_dense_angle(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[np.pi/2, np.pi/2])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 = Statevector(qc).data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[0.5-0.5j, 0.5+0.5j]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state_to_bloch(sv)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 1. 0.]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 tek kübitte: noktalar yüzeye yayılır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0680"/>
            <a:ext cx="7680960" cy="3668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412480" y="1280160"/>
            <a:ext cx="3230575" cy="2011680"/>
          </a:xfrm>
          <a:prstGeom prst="roundRect">
            <a:avLst>
              <a:gd name="adj" fmla="val 363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595360" y="1389888"/>
            <a:ext cx="2864815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x₂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 ∈ [0, π] → yarım tur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Uçlar ayrık kalır ✓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412480" y="3474720"/>
            <a:ext cx="3230575" cy="2194560"/>
          </a:xfrm>
          <a:prstGeom prst="roundRect">
            <a:avLst>
              <a:gd name="adj" fmla="val 3333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95360" y="3584448"/>
            <a:ext cx="286481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2·x₂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küre kullanılır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x₂ = 0 ve x₂ = π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φ → yapışır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 kodlaması: 2ⁿ özellik → n kübit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|ψ(x)⟩ = Σᵢ (xᵢ / ‖x‖) |i⟩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5669280" cy="23317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423160"/>
            <a:ext cx="5394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encode_amplitude(x):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max(1, int(np.ceil(np.log2(len(x)))))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np.zeros(2**n); v[:len(x)] = x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doldur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v / np.linalg.norm(v)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normalize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qc.append(StatePreparation(v), range(n))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234440"/>
          <a:ext cx="5150815" cy="914400"/>
        </p:xfrm>
        <a:graphic>
          <a:graphicData uri="http://schemas.openxmlformats.org/drawingml/2006/table">
            <a:tbl>
              <a:tblPr/>
              <a:tblGrid>
                <a:gridCol w="2317867"/>
                <a:gridCol w="283294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StatePreparation(v)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Kapı; tersi alınabilir → </a:t>
                      </a: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tercih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qc.initialize(v)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 reset: üniter değil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Statevector(v)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Sadece simülasyon/kontrol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5643" y="3429000"/>
            <a:ext cx="4204010" cy="23774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48920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piksel → 6 kübit,  1024 özellik → 10 kübit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8 · Genlik kodlaması ve hazırlama açıları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(4, 2, 1, 2): kaç kübit, genlikler, Ry açıları?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‖x‖ = 5 → |ψ⟩ = [0.8, 0.4, 0.2, 0.4], 2 kübit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q₁: P(q₁=0) = 0.64 + 0.16 = 0.8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2·arccos(√0.8) ≈ 0.927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q₁=0 dalı: (0.8, 0.4)/√0.8 → b₀ ≈ 0.927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q₁=1 dalı: (0.2, 0.4)/√0.2 → b₁ ≈ 2.214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≈ 0.927, b₀ ≈ 0.927, b₁ ≈ 2.214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415877"/>
            <a:ext cx="4144975" cy="164880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498080" y="3520440"/>
            <a:ext cx="4144975" cy="18288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35240" y="3611880"/>
            <a:ext cx="38706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2*np.arccos(np.sqrt(0.8))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qc.ry(a, 1); qc.x(1)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qc.cry(b0, 1, 0); qc.x(1)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qc.cry(b1, 1,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[0.8, 0.4, 0.2, 0.4]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 kodlamasının bedeli: derinlik üstel büyür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4300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280160"/>
          <a:ext cx="3504895" cy="914400"/>
        </p:xfrm>
        <a:graphic>
          <a:graphicData uri="http://schemas.openxmlformats.org/drawingml/2006/table">
            <a:tbl>
              <a:tblPr/>
              <a:tblGrid>
                <a:gridCol w="560783"/>
                <a:gridCol w="911273"/>
                <a:gridCol w="771077"/>
                <a:gridCol w="126176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 kodl.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kübit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kübit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kübit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kübit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138160" y="3840480"/>
            <a:ext cx="3504895" cy="1920240"/>
          </a:xfrm>
          <a:prstGeom prst="roundRect">
            <a:avLst>
              <a:gd name="adj" fmla="val 381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321040" y="3950208"/>
            <a:ext cx="3139135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Ödünleşim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Kübitten tasarruf ↔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derinlikte üstel bedel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Gürültülü cihazda onlarca CNOT bilgiyi bozabilir.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Normalizasyon ölçeği siler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78723"/>
            <a:ext cx="11094415" cy="31289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636008"/>
            <a:ext cx="50442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9 (a) · Doldurma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1, 1) → (1, 1, 1, 0)/√3 = [0.577, 0.577, 0.577, 0]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kübit; P(11) = 0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33008" y="452628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15888" y="4636008"/>
            <a:ext cx="50442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9 (b) · Ölçek kaybı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2x/‖2x‖ = x/‖x‖ → |⟨ψ(x)|ψ(2x)⟩|² = 0.64 + 0.16 + 0.04 + 0.16 =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0/1: PCA4 → 2 kübit genlik kodlaması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5954"/>
            <a:ext cx="11094415" cy="3074492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Eksiler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2ⁿ özellik → n kübit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Derinlik ~2ⁿ, yükleme maliyeti üstel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Benzerlik = kosinüs benzerliğinin karesi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 kaybolur; genlikler çok shot'la okunur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Önizleme: ZZ (IQP tipi) özellik haritası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312" y="1097280"/>
            <a:ext cx="7443071" cy="2286000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713232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3209544"/>
                <a:gridCol w="320954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⊗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Eşit süperpozisyon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P(2xᵢ)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özellikli 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CNOT · P(2(π−x₀)(π−x₁)) · CNOT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</a:t>
                      </a: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çarpımı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dolanıklık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55280" y="3566160"/>
            <a:ext cx="3687775" cy="12801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092440" y="3657600"/>
            <a:ext cx="3413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qiskit.circuit.library import zz_feature_map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 = zz_feature_map(2, reps=2)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fm.assign_parameters(x)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7955280" y="4983480"/>
            <a:ext cx="3687775" cy="91440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38160" y="5093208"/>
            <a:ext cx="33220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hafta: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QSVM çekirdeği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10 · ZZ özellik haritası (reps = 1)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(π/2, π/2): durum, olasılıklar, dolanık mı?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H⊗H, sonra P(π): ½[1, −1, −1, 1]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φ = 2·(π/2)(π/2) = π²/2; bitler farklıysa e^(iφ):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|ψ⟩ ≈ [0.5, −0.110+0.488i, −0.110+0.488i, 0.5]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Tüm olasılıklar 0.25 → bilgi fazlarda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2×2 rank 2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dolanık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Dolanık; olasılıklar hep 0.25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5661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 = zz_feature_map(2, reps=1)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 = Statevector(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fm.assign_parameters(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[np.pi/2, np.pi/2])).data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np.round(sv, 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[0.5, -0.11+0.488j,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-0.11+0.488j, 0.5]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np.linalg.matrix_rank(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sv.reshape(2, 2))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Önizleme: veri yeniden yükleme (data re-uploading)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318" y="1097280"/>
            <a:ext cx="9583060" cy="1280160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5332"/>
            <a:ext cx="7863840" cy="211029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595360" y="2560320"/>
            <a:ext cx="3047695" cy="14630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732520" y="2651760"/>
            <a:ext cx="27733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 in range(L):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qc.ry(x, 0)   </a:t>
            </a:r>
            <a:r>
              <a:rPr lang="en-US" sz="12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qc.rz(th[2*l], 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qc.ry(th[2*l+1], 0)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8595360" y="4206240"/>
            <a:ext cx="3047695" cy="1645920"/>
          </a:xfrm>
          <a:prstGeom prst="roundRect">
            <a:avLst>
              <a:gd name="adj" fmla="val 444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778240" y="4315968"/>
            <a:ext cx="268193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Frekans kuralı (Örnek 11)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Ry(θ)Ry(x) = Ry(x+θ) → f = cos(x+θ)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yükleme: cos x … 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cos(Lx)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Kodlanmış durumlar arası benzerlik = kuantum çekirdek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k(x, x') = |⟨ψ(x)|ψ(x')⟩|²  ∈ [0, 1]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4659654"/>
                <a:gridCol w="443776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Kodlama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Kapalı formül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karşılığı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ya da 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Eşitlik (delta)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∏ cos²((xᵢ − x'ᵢ)/2)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Kosinüs tabanlı ayrılabilir çekirdek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(x·x')² / (‖x‖²‖x'‖²)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Kosinüs benzerliğinin karesi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 (ölçüm/simülasyon)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olarak zor olabilir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983480"/>
            <a:ext cx="11094415" cy="9144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507492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np.array([Statevector(encoder(x)).data for x in Xs])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(N, 2^n)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np.abs(S.conj() @ S.T)**2             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tüm çiftler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12 · Açı kodlamasında benzerlik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(0.2, 1.0), x' = (0.7, 1.0). Sonra farklar (π/3, π/6) olsun.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Tensör çarpımı → iç çarpım kübit kübit çarpılır: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∏ cos²((xᵢ − x'ᵢ)/2)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(−0.5, 0):  k = cos²(0.25)·1 ≈ 0.939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(π/3, π/6):  k = 0.75 · 0.933 ≈ 0.700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Her farklı özellik benzerliği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çarparak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azaltır.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0.939 ve 0.700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657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lambda x, xp: np.prod(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np.cos((np.array(x)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np.array(xp))/2)**2)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Statevector(encode_angle(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[0.2, 1.0])).data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Statevector(encode_angle(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[0.7, 1.0])).data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abs(np.vdot(a, b))**2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0.9388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k([0.2,1],[0.7,1])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0.9388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Isı haritaları: kodlama sınıfları ayırıyor mu?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9538"/>
            <a:ext cx="5455768" cy="2675884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88" y="1359538"/>
            <a:ext cx="5455768" cy="2675884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1331330"/>
                <a:gridCol w="1775106"/>
                <a:gridCol w="2218883"/>
                <a:gridCol w="26626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/ kodlama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 içi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Sınıflar arası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Basit sınıflandırıcı (test)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moons · açı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moons · yoğun açı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digits · açı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digits · genlik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çok kübitte benzerlikler söner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430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280160"/>
            <a:ext cx="3870655" cy="2103120"/>
          </a:xfrm>
          <a:prstGeom prst="roundRect">
            <a:avLst>
              <a:gd name="adj" fmla="val 3478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955280" y="1389888"/>
            <a:ext cx="3504895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sayısı arttıkça tüm farklı noktalar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gibi görünür → benzerlik matrisi ≈ I.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772400" y="3566160"/>
            <a:ext cx="3870655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3675888"/>
            <a:ext cx="350489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çözümler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ve iyi özellik (PCA)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dar açı aralığı (bant genişliği)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sayısını kontrol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Kodlamaların karşılaştırması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1331330"/>
                <a:gridCol w="1331330"/>
                <a:gridCol w="1109442"/>
                <a:gridCol w="3328325"/>
                <a:gridCol w="199699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Kodlama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İfade gücü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Yükleme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d·b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düşük (0/1)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düşük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Düşük, çarpım durumu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Yoğun açı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⌈d/2⌉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Düşük, faz da kullanılır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⌈log₂ d⌉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Orta, kosinüs benzerliği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ZZ (reps 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~r·d²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~r·d²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Yüksek, dolanık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 ama derin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Yeniden yükleme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1…d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Yüksek, L frekans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2662660"/>
                <a:gridCol w="1775106"/>
                <a:gridCol w="1553218"/>
                <a:gridCol w="1775106"/>
                <a:gridCol w="1553218"/>
                <a:gridCol w="177510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Ölçülen (d = 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4×3 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yoğun açı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ZZ reps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Derinlik / CNOT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/ 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13 · Doğru kodlamayı seçmek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PCA8 (8 özellik): açı, yoğun açı, genlik maliyetleri? 100 test örneği × 1000 shot kaç çalıştırma?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Açı: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kübit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derinlik 1, 0 CNOT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Yoğun açı: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kübit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derinlik ≤ 2, 0 CNOT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Genlik: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kübit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derinlik 9, 4 CNOT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× 1000 = 100 000 devre çalıştırması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Klasik doğrusal model: tek bir (100×8)·(8×1) matris çarpımı.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8/4/3 kübit; 100 000 shot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yükleme darboğazı ve "girdi problemi"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7046" y="1097280"/>
            <a:ext cx="8217603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77640"/>
            <a:ext cx="3515258" cy="1920240"/>
          </a:xfrm>
          <a:prstGeom prst="roundRect">
            <a:avLst>
              <a:gd name="adj" fmla="val 381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087368"/>
            <a:ext cx="314949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problemi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boyutlu vektörü genlik kodlamak ~d kapı. Yükleme O(d) ise O(log d) işlem kazanç sağlamaz.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246778" y="3977640"/>
            <a:ext cx="3515258" cy="1920240"/>
          </a:xfrm>
          <a:prstGeom prst="roundRect">
            <a:avLst>
              <a:gd name="adj" fmla="val 381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29658" y="4087368"/>
            <a:ext cx="314949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problemi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2ⁿ genliği okumak üstel ölçüm ister; sadece birkaç ⟨Z⟩ verimli okunur.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944917" y="3977640"/>
            <a:ext cx="3515258" cy="1920240"/>
          </a:xfrm>
          <a:prstGeom prst="roundRect">
            <a:avLst>
              <a:gd name="adj" fmla="val 381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27797" y="4087368"/>
            <a:ext cx="314949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başına tekrar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örnek için devre + S shot; hata ~1/√S.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Hafta12_Lab.ipynb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Dört kodlama, Bloch bulutları, benzerlik matrisi, maliyet tablosu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8320811"/>
                <a:gridCol w="166416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plot_bloch_cloud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ds_moons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ds_iris2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ds_digits01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hatırlatma: train/test, lojistik regresyon, circles için φ(x)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encode_basis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veri kümesi süperpozisyonu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encode_angle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elle vs Qiskit, moons ve iris Bloch bulutları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encode_dense_angle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|+i⟩ örneği, tek kübitte moons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encode_amplitude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digits PCA4, maliyet tablosu, ölçek kaybı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zz_feature_map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dolanıklık testi; yeniden yükleme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Benzerlik matrisleri, kapalı formül, maliyet tablosu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alıştırma (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assert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Alıştırmalar (Bölüm I)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887553"/>
                <a:gridCol w="6878537"/>
                <a:gridCol w="332832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Kazanım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angle_state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np.kron ile açı kodlaması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sırası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encode_int(k, 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dense_bloch(t, p)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Bloch, 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amp_prepare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doldur + normalize + hata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Genlik ön işleme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fidelity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angle_kernel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Benzerlik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similarity_matrix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simetri, köşegen, PSD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 matrisi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to_angles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eğitim min/max + kırpma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sızıntısı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predict_by_similarity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(moons ≥ %85)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 haftaya köprü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Kodlama U(x) bir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haritası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benzerlik |⟨ψ(x)|ψ(x')⟩|² bir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 odak: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klasik veri, kuantum model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kapıları; benzerlik 0/1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Açı: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Ry(x)|0⟩ = [cos(x/2), sin(x/2)]; d kübit, derinlik 1;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π]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ölçekle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 açı: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Ry + Rz; kübit başına 2 özellik, ikincisi fazda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Genlik: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2ⁿ özellik → n kübit; ama ~2ⁿ CNOT ve ölçek kaybı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 dolanık (13. hafta), yeniden yükleme frekans ekler (14. hafta)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Kodlama maliyeti hesaba katılmadan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avantajı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iddia edilemez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3840480"/>
          </a:xfrm>
          <a:prstGeom prst="roundRect">
            <a:avLst>
              <a:gd name="adj" fmla="val 19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15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 kodlama alıştırması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notebook + yazılı cevaplar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3840480"/>
          </a:xfrm>
          <a:prstGeom prst="roundRect">
            <a:avLst>
              <a:gd name="adj" fmla="val 190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13: Kuantum çekirdekler ve QSVM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Compute–uncompute ile |⟨ψ(x)|ψ(x')⟩|² ölçmek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FidelityQuantumKernel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scikit-learn SVC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 özellik haritası ile QSVM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RBF çekirdeğiyle karşılaştırma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yoğunlaşması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2026-09-23T15:40:55Z</dcterms:created>
  <dcterms:modified xsi:type="dcterms:W3CDTF">2026-09-23T15:40:55Z</dcterms:modified>
</cp:coreProperties>
</file>