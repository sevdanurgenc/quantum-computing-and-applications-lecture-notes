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8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9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0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11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N = 8: tüm genlikler 1/√8 ≈ 0,354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0.35355339059327373</c:v>
                </c:pt>
                <c:pt idx="1">
                  <c:v>0.35355339059327373</c:v>
                </c:pt>
                <c:pt idx="2">
                  <c:v>0.35355339059327373</c:v>
                </c:pt>
                <c:pt idx="3">
                  <c:v>0.35355339059327373</c:v>
                </c:pt>
                <c:pt idx="4">
                  <c:v>0.35355339059327373</c:v>
                </c:pt>
                <c:pt idx="5">
                  <c:v>0.35355339059327373</c:v>
                </c:pt>
                <c:pt idx="6">
                  <c:v>0.35355339059327373</c:v>
                </c:pt>
                <c:pt idx="7">
                  <c:v>0.35355339059327373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N = 8, hedef 101: oracle sonrası (turuncu = negatif)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0.35355339059327373</c:v>
                </c:pt>
                <c:pt idx="1">
                  <c:v>0.35355339059327373</c:v>
                </c:pt>
                <c:pt idx="2">
                  <c:v>0.35355339059327373</c:v>
                </c:pt>
                <c:pt idx="3">
                  <c:v>0.35355339059327373</c:v>
                </c:pt>
                <c:pt idx="4">
                  <c:v>0.35355339059327373</c:v>
                </c:pt>
                <c:pt idx="5">
                  <c:v>0</c:v>
                </c:pt>
                <c:pt idx="6">
                  <c:v>0.35355339059327373</c:v>
                </c:pt>
                <c:pt idx="7">
                  <c:v>0.35355339059327373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-0.35355339059327373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Oracle sonrası: μ = 0,265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0.35355339059327373</c:v>
                </c:pt>
                <c:pt idx="1">
                  <c:v>0.35355339059327373</c:v>
                </c:pt>
                <c:pt idx="2">
                  <c:v>0.35355339059327373</c:v>
                </c:pt>
                <c:pt idx="3">
                  <c:v>0.35355339059327373</c:v>
                </c:pt>
                <c:pt idx="4">
                  <c:v>0.35355339059327373</c:v>
                </c:pt>
                <c:pt idx="5">
                  <c:v>0</c:v>
                </c:pt>
                <c:pt idx="6">
                  <c:v>0.35355339059327373</c:v>
                </c:pt>
                <c:pt idx="7">
                  <c:v>0.35355339059327373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-0.35355339059327373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Difüzyon sonrası: hedef 0,884 (P = 0,781)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0.17677669529663687</c:v>
                </c:pt>
                <c:pt idx="1">
                  <c:v>0.17677669529663687</c:v>
                </c:pt>
                <c:pt idx="2">
                  <c:v>0.17677669529663687</c:v>
                </c:pt>
                <c:pt idx="3">
                  <c:v>0.17677669529663687</c:v>
                </c:pt>
                <c:pt idx="4">
                  <c:v>0.17677669529663687</c:v>
                </c:pt>
                <c:pt idx="5">
                  <c:v>0.8838834764831843</c:v>
                </c:pt>
                <c:pt idx="6">
                  <c:v>0.17677669529663687</c:v>
                </c:pt>
                <c:pt idx="7">
                  <c:v>0.17677669529663687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1 iterasyon sonrası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</c:v>
                  </c:pt>
                  <c:pt idx="1">
                    <c:v>01</c:v>
                  </c:pt>
                  <c:pt idx="2">
                    <c:v>10</c:v>
                  </c:pt>
                  <c:pt idx="3">
                    <c:v>11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</c:v>
                  </c:pt>
                  <c:pt idx="1">
                    <c:v>01</c:v>
                  </c:pt>
                  <c:pt idx="2">
                    <c:v>10</c:v>
                  </c:pt>
                  <c:pt idx="3">
                    <c:v>11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2 iterasyon sonrası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0.9722718241315027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-0.08838834764831843</c:v>
                </c:pt>
                <c:pt idx="1">
                  <c:v>-0.08838834764831843</c:v>
                </c:pt>
                <c:pt idx="2">
                  <c:v>-0.08838834764831843</c:v>
                </c:pt>
                <c:pt idx="3">
                  <c:v>-0.08838834764831843</c:v>
                </c:pt>
                <c:pt idx="4">
                  <c:v>-0.08838834764831843</c:v>
                </c:pt>
                <c:pt idx="5">
                  <c:v>0</c:v>
                </c:pt>
                <c:pt idx="6">
                  <c:v>-0.08838834764831843</c:v>
                </c:pt>
                <c:pt idx="7">
                  <c:v>-0.08838834764831843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2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N = 8: P(hedef) – iterasyon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P(hedef)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0.125</c:v>
                </c:pt>
                <c:pt idx="1">
                  <c:v>0.781</c:v>
                </c:pt>
                <c:pt idx="2">
                  <c:v>0.945</c:v>
                </c:pt>
                <c:pt idx="3">
                  <c:v>0.33</c:v>
                </c:pt>
                <c:pt idx="4">
                  <c:v>0.012</c:v>
                </c:pt>
                <c:pt idx="5">
                  <c:v>0.548</c:v>
                </c:pt>
                <c:pt idx="6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1 iterasyon sonrası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0.7071067811865475</c:v>
                </c:pt>
                <c:pt idx="3">
                  <c:v>0</c:v>
                </c:pt>
                <c:pt idx="4">
                  <c:v>0</c:v>
                </c:pt>
                <c:pt idx="5">
                  <c:v>0.7071067811865475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2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SAT, k = 1, 2000 shot: yalnızca 010 ve 101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981</c:v>
                </c:pt>
                <c:pt idx="3">
                  <c:v>0</c:v>
                </c:pt>
                <c:pt idx="4">
                  <c:v>0</c:v>
                </c:pt>
                <c:pt idx="5">
                  <c:v>1019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P(hedef), 2000 shot, Qiskit Aer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2</c:v>
                  </c:pt>
                  <c:pt idx="1">
                    <c:v>n = 3</c:v>
                  </c:pt>
                  <c:pt idx="2">
                    <c:v>n = 4</c:v>
                  </c:pt>
                  <c:pt idx="3">
                    <c:v>n =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0.95</c:v>
                </c:pt>
                <c:pt idx="2">
                  <c:v>0.96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CX hatası %0,5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2</c:v>
                  </c:pt>
                  <c:pt idx="1">
                    <c:v>n = 3</c:v>
                  </c:pt>
                  <c:pt idx="2">
                    <c:v>n = 4</c:v>
                  </c:pt>
                  <c:pt idx="3">
                    <c:v>n = 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0.99</c:v>
                </c:pt>
                <c:pt idx="1">
                  <c:v>0.86</c:v>
                </c:pt>
                <c:pt idx="2">
                  <c:v>0.67</c:v>
                </c:pt>
                <c:pt idx="3">
                  <c:v>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CX hatası %2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2</c:v>
                  </c:pt>
                  <c:pt idx="1">
                    <c:v>n = 3</c:v>
                  </c:pt>
                  <c:pt idx="2">
                    <c:v>n = 4</c:v>
                  </c:pt>
                  <c:pt idx="3">
                    <c:v>n = 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0.96</c:v>
                </c:pt>
                <c:pt idx="1">
                  <c:v>0.63</c:v>
                </c:pt>
                <c:pt idx="2">
                  <c:v>0.25</c:v>
                </c:pt>
                <c:pt idx="3">
                  <c:v>0.04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rastgele 1/N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2</c:v>
                  </c:pt>
                  <c:pt idx="1">
                    <c:v>n = 3</c:v>
                  </c:pt>
                  <c:pt idx="2">
                    <c:v>n = 4</c:v>
                  </c:pt>
                  <c:pt idx="3">
                    <c:v>n = 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0.25</c:v>
                </c:pt>
                <c:pt idx="1">
                  <c:v>0.125</c:v>
                </c:pt>
                <c:pt idx="2">
                  <c:v>0.0625</c:v>
                </c:pt>
                <c:pt idx="3">
                  <c:v>0.031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Statevector, 2 iterasyon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pozitif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0.9722718241315027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negatif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000</c:v>
                  </c:pt>
                  <c:pt idx="1">
                    <c:v>001</c:v>
                  </c:pt>
                  <c:pt idx="2">
                    <c:v>010</c:v>
                  </c:pt>
                  <c:pt idx="3">
                    <c:v>011</c:v>
                  </c:pt>
                  <c:pt idx="4">
                    <c:v>100</c:v>
                  </c:pt>
                  <c:pt idx="5">
                    <c:v>101</c:v>
                  </c:pt>
                  <c:pt idx="6">
                    <c:v>110</c:v>
                  </c:pt>
                  <c:pt idx="7">
                    <c:v>111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-0.08838834764831843</c:v>
                </c:pt>
                <c:pt idx="1">
                  <c:v>-0.08838834764831843</c:v>
                </c:pt>
                <c:pt idx="2">
                  <c:v>-0.08838834764831843</c:v>
                </c:pt>
                <c:pt idx="3">
                  <c:v>-0.08838834764831843</c:v>
                </c:pt>
                <c:pt idx="4">
                  <c:v>-0.08838834764831843</c:v>
                </c:pt>
                <c:pt idx="5">
                  <c:v>0</c:v>
                </c:pt>
                <c:pt idx="6">
                  <c:v>-0.08838834764831843</c:v>
                </c:pt>
                <c:pt idx="7">
                  <c:v>-0.08838834764831843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2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ilk 'gerçek' kuantum hızlanmasını kuruyoruz. Hafta 1'de gösterdiğimiz Grover grafiğini hatırlatın: bu hafta o grafiğin arkasındaki algoritmayı sıfırdan yazacağız. Vurgu: algoritma iki basit işlemden ibaret, her şey elle hesaplanabilir. HTML animasyonunu derse hazır açık tutun.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saatte algoritmanın mekaniği ve geometrisi, ikinci saatte elle hesaplar ve devreler, üçüncü saatte lab. Birinci saatin sonunda HTML animasyonunu mutlaka canlı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okuyun; özellikle 'elle hesaplayabilir' ve 'aşmayı açıklayabilir' maddelerini vurgulayın. Sınavda N = 4 ve N = 8 elle hesap soruları çıkabileceğini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Problemi yazılımcı diliyle kurun: doğrulamak kolay, bulmak zor. Örnekler: şifre, SAT, Sudoku.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f(x) bir predicate, bir unit test gibi düşünülebilir: girdiyi alır, geçti/kaldı döndürür. İçini bilmiyoruz ya da işe yaramıyor. Sırasız: sıralama, indeks, ikili arama hilesi yok. Hafta 8'de oracle kavramını gördük; burada aynı kara kutu.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 1'deki grafiğin devamı. Tabloda sayılar: N = 10^6 için 500.000'e karşı 785. Karesel hızlanmanın imzası: N 1000 kat büyüyünce oran ~32 kat büyür. Uyarı kartını mutlaka okuyun: üstel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hesap makinesiyle yaptırın. π/4 ≈ 0,785 sayısını ezberletin.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Şemayı soldan sağa anlatın. Kesikli kutu tekrarlanan kısım. Tablodaki son sütun önemli: oracle olasılıkları değiştirmez, difüzyon değiştirir.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H⊗n ile her aday aynı genliği alır. 'Tüm girdileri aynı anda denemek' yorumu eksik: şimdi ölçsek rastgele tahminle aynı başarı. Asıl iş girişimle genlikleri hedefe toplamak (Hafta 2 mesajı).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 bilgiyi yalnızca işarete yazar.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 köşegen bir matris: hedefte −1. Olasılıklar değişmez, (−a)^2 = a^2. Bilgi şimdilik yalnızca işarette; bir sonraki adım bunu görünür yapacak.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oracle y XOR f(x) yazar. Çıkış kübiti |−⟩ ise çıkış değişmez, girdi (−1)^f(x) fazını alır. Bu, herhangi bir hesaplanabilir f'yi faz oracle'a çevirmenin standart yolu; SAT örneğinde kullanacağız.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MCZ yalnızca 11..1'in işaretini çevirir. Hedefin 0 bitlerine X uygulayıp hedefi geçici olarak 11..1'e taşıyoruz, sonra geri alıyoruz. Qiskit sırası: en sağdaki karakter q0. Bu en sık yapılan hatadır.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'hedefi biliyorsak neden arıyoruz?' sorusunu sordurun; cevap SAT bölümünde: gerçek oracle problemden derlenir.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Algoritmanın kalbi. HTML animasyonunu burada açın.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genlik ortalamaya göre aynalanır. Ortalamanın d üstündeki d altına iner; d altındaki d üstüne çıkar. Oracle sonrası hedef ortalamanın çok altında, bu yüzden çok üstüne fırlar. Sağdaki grafik: 0,884.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 = 2|s&gt;&lt;s| − I. Özellikler tablosu: ortalama ve norm korunur, kendi tersidir. Son satır önemli: oracle olmadan difüzyon hiçbir şey yapmaz; animasyonda bunu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Hile: önce |0..0&gt;'ı yansıtan operatör (X, MCZ, X = hedef 000 oracle'ı), sonra H ile onu |s&gt; etrafına taşı. Sonuç −D: aradaki −1 global faz, ölçümü değiştirmez. Qiskit'te global_phase = pi ile tam D elde edilir.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dosyasını açın. Önerilen sıra: N = 8, hedef 101; Oracle uygula (turuncu çubuk), Difüzyon uygula (hedef fırlar). Tam adım ile 2. iterasyon: %94,5. Bir kez daha: %33 — aşma. Sonra N = 4 ve N = 16'da 4 hedef deneyin.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Tahtada elle hesap yapın; öğrenciler de kağıtta yapsın.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4'te θ = 30° olduğu için tek iterasyon tam 90°'ye getirir. Klasik en kötü 3 deneme.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1/√8 birimiyle hesap çok kolaylaşır. Kontrol: 7·0,25² + 2,5² = 8 ✓. Diğerlerinin 2. iterasyonda negatif olduğuna dikkat çekin.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paneli soldan sağa okuyun. Mavi çubuklar ortalamanın hemen üstünde, turuncu hedef çok altında. Son panelde olasılık 0,125 → 0,781 → 0,945.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Durum hep iki doğrultuda: |w&gt; (hedef) ve |s'&gt; (hedef dışı). Oracle |s'&gt; eksenine göre yansıtır (θ → −θ), difüzyon |s&gt; doğrusuna göre (−θ → 3θ). İki yansıma = eksenler arası açının iki katı kadar dönüş.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Hedefe ulaşmak için açı ≈ 90°: (2k+1)θ ≈ π/2. N büyükken θ ≈ sqrt(M/N) ile k* = floor((π/4)sqrt(N/M)). Tablodaki P değerleri hep 0,94'ün üstünde.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Klasik aramada fazla deneme hiç zarar vermez. Grover'da durum çember üzerinde döndüğü için 90°'yi geçince hedeften uzaklaşır. N = 8'de 3. iterasyonda 0,33'e düşüyor. Bu yüzden M'yi bilmek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yolu (elle ve geometri) karşılaştırın; aynı sonuç.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 tarafı. Lab'daki fonksiyonları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bir döngü: H, sonra k kez oracle + difüzyon, sonra ölçüm. k verilmezse optimum. Lab Bölüm D'de bu fonksiyonu kullanıyoruz.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3'te iki iterasyon, n = 4'te üç iterasyon. n = 4 devresinde oracle ve difüzyon kutu olarak gösterildi; içleri n = 3 ile aynı yapı.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2000 shot. n = 2 kesin, n = 3 ≈ %94, n = 4 ≈ %96. Teorik değerlerle karşılaştırın (tablo).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MCZ çizimde tek kapı ama donanım yalnızca 1-2 kübitlik kapı uygular. Transpile sonrası CX sayısı hızla büyür; iterasyon sayısı da sqrt(2^n) ile büyür. n = 7'de ~2000 CX: bugünkü donanım için çok derin.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bölüm. İki çarpıcı durum: M = N/4 tek adımda kesin, M = N/2 hiçbir işe yaramaz.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Algoritma aynı; oracle tüm çözümleri işaretler. sin θ = sqrt(M/N) büyüdüğü için daha az iterasyon. Ölçümde çözümlerden biri, genellikle eşit olasılıkla.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SAT uygulamasının ta kendisi olacak (çözümler 010 ve 101).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Sabit k seçmek bazı M'lerde neredeyse sıfır başarı verir (aşma). İki çözüm: k'yi artan aralıktan rastgele seçmek (BBHT 1998) ya da kuantum sayma — gelecek haftanın faz kestirimiyle M'yi tahmin etmek.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Oracle'ı cevabı bilmeden kuruyoruz: SAT.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CNF formülü: üç cümle, her biri iki literal. Doğruluk tablosu 2 çözüm veriyor: 010 ve 101. Ama oracle'ı bu tabloyu kullanmadan, formülden kuracağız.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cümle bir yardımcı kübite: a veya b = değil(değil a ve değil b), yani X + Toffoli + X + X. Üç yardımcı 1 ise çıkış kübitini çevir; çıkış |−&gt; olduğu için faz geri teper. Sonra cümleleri ters sırada geri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Yardımcılar girdiyle dolanık kalırsa farklı girdilerin genlikleri farklı yardımcı durumlarına bağlanır ve girişim olmaz. Yan etkili fonksiyon benzetmesi işe yarar. Hafta 6'daki tersinir mantığın standart kalıbı.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Şifre: 16 olasılık, klasik ortalama 8, Grover 3 iterasyon (~%96). Gerçekte oracle bir hash fonksiyonunun tersinir devresi olurdu: çok büyük. Liste araması: listeyi oracle'a gömmek zaten O(N) iş — en yaygın yanlış anlama.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Eleştirel bakış. Öğrencilerin 'kuantum her şeyi hızlandırır' algısını düzeltin.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madde. Özellikle paralellik maddesi yazılımcılar için ilginç: klasik arama P makineye kolayca bölünür, Grover'ı bölmek avantajı azaltır.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Basit depolarizing model, yalnızca eğilim. n = 5'te CX hatası %2 iken başarı %4: rastgele tahmin %3. Lab Bölüm I'da bu deneyi kendileri yapacaklar.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H⊗n yerine herhangi bir hazırlama devresi A. A'nın iyi sonuç verme olasılığı p ise ≈ 1/sqrt(p) tekrar yeter; klasik 1/p. Monte Carlo hızlandırma (genlik kestirimi) ve kuantum sayma bunun üzerine kurulu.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Olasılıklı algoritma = Monte Carlo benzetmesi yazılımcılar için tanıdık.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Bölüm B ve D'yi birlikte yapın, gerisini öğrenciler.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D'de Statevector ile adım adım izleme var; NumPy sonucu ile birebir aynı olduğunu göstermek güçlü bir 'birim test' örneği. Alıştırmaların hepsi assert ile kontrol ediliyor.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Statevector.evolve ile oracle ve difüzyonu ayrı ayrı uyguluyoruz. Sonuç NumPy'deki np_oracle/np_diffusion hesabıyla np.allclose ile karşılaştırılıyor: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Sekiz alıştırma; ilk dördü temel, 5-6 geometri, 7-8 uygulama. Öğrenci notebook'unda yalnızca TODO hücreleri hata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en önemli iki formül: P = sin²((2k+1)θ) ve k* = floor((π/4)sqrt(N/M)).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hafta: QFT, faz kestirimi ve Shor. Bağlantı: kuantum sayma = Grover iterasyonuna faz kestirimi. Karesel hızlanmadan üstel hızlanmaya geçiyoruz.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Grover Arama Algoritması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Sırasız arama · faz oracle · ortalama etrafında yansıtma · 2θ dönüş · SAT ve şifre bulma · genlik büyütme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 problemi, O(N) vs O(√N)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 = ortalama etrafında yansıtma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Geometri: 2θ dönüş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ve N = 8 elle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İterasyon sayısı, aşma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Devreler n = 2, 3, 4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1, SAT oracle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grover(n, marked)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ile izleme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ve şifre bulma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 materyal: </a:t>
            </a: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Hafta09_Grover_Animasyonu.html</a:t>
            </a: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(tarayıcıda açılır, internet gerekmez)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Sırasız aramayı bir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fonksiyonu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f(x) ile tanımlamak; O(N) ile O(√N)'yi karşılaştırmak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Eşit süperpozisyon,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genlikler üzerinde elle uygulamak (N = 4, N = 8)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Geometriyi kullanarak θ, k* = ⌊(π/4)√(N/M)⌋ ve sin²((2k+1)θ) hesaplamak;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aşmayı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açıklamak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(X + MCZ + X) ve difüzyon (H X MCZ X H) devrelerini Qiskit ile kurmak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1 durumunu ve M bilinmeyince oluşan sorunu açıklamak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için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yardımcı kübitli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oracle kurmak,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 gerekçesini göstermek</a:t>
            </a:r>
            <a:endParaRPr lang="en-US" sz="19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sınırları (oracle maliyeti, veri yükleme, gürültü) değerlendirmek; genlik büyütmeyi tanımak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Arama problemi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"Bu girdi koşulu sağlıyor mu?" — kontrol fonksiyonu ve karesel hızlanma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fonksiyonu: doğrulamak kolay, bulmak zor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548" y="1097280"/>
            <a:ext cx="8864600" cy="301752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3328325"/>
                <a:gridCol w="499248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Aday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f(x) = 1 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Şifre bulma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bitlik şifre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check(x) doğru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değişken ataması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 doğru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Listede arama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liste[x] == aranan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O(N) — Grover O(√N)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10" y="1097280"/>
            <a:ext cx="6685020" cy="36576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88720"/>
          <a:ext cx="4053535" cy="914400"/>
        </p:xfrm>
        <a:graphic>
          <a:graphicData uri="http://schemas.openxmlformats.org/drawingml/2006/table">
            <a:tbl>
              <a:tblPr/>
              <a:tblGrid>
                <a:gridCol w="1378202"/>
                <a:gridCol w="1459273"/>
                <a:gridCol w="121606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N/2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 k*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≈10⁶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524.288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589520" y="3611880"/>
            <a:ext cx="405353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772400" y="3721608"/>
            <a:ext cx="368777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Kanıtlanmış alt sınır: sırasız arama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Ω(√N)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'den hızlı olamaz → Grover en iyisi.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" y="493776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31520" y="504748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Karesel, üstel değil: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2ⁿ aday → 2^(n/2) çağrı; hâlâ üstel. 128 bit anahtar → ~2⁶⁴. Üstel hızlanma: gelecek hafta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Klasik ve Grover çağrı sayıları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1024 ve N = 2²⁰ için klasik ortalama ve Grover iterasyon sayısı?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1024:  N/2 = 512      k = ⌊0,785 · 32⌋ = 25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2²⁰:  N/2 = 524.288      k = ⌊0,785 · 1024⌋ = 804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Oranlar ≈ 20× ve ≈ 652×: N 1024 kat büyüdü, oran ≈ √1024 = 32 kat büyüdü.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512 vs 25; 524.288 vs 804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[1024, 2**20]: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int(np.floor(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np.pi/4*np.sqrt(N)))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print(N, N//2, 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1024 512 25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1048576 524288 804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akışı: iki işlem, √N kez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887" y="1097280"/>
            <a:ext cx="8331922" cy="24688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2440771"/>
                <a:gridCol w="3328325"/>
                <a:gridCol w="288454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Süperpozisyon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H⊗ⁿ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Hepsi 1/√N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Hepsi 1/N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Oracle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+ MCZ + 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Hedef: a → −a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Değişmez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Difüzyon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X MCZ X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2μ −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↑, diğerleri 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≈ (π/4)√(N/M)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≈ 2/√N artar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k*'da en yüksek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1: eşit süperpozisyon |s⟩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658368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|s⟩ = H⊗ⁿ|0…0⟩ = (1/√N) Σₓ |x⟩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42316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06640" y="1234440"/>
            <a:ext cx="423641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0" y="1344168"/>
            <a:ext cx="387065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 ölçersek?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sonuç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olasılıkla.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8: P(101) = 0,125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rastgele tahmin, avantaj yok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06640" y="3611880"/>
            <a:ext cx="4236415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589520" y="3721608"/>
            <a:ext cx="387065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2'den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algoritmaları cevabı önce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kodlar,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fazları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farkına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çevirir.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Grover: oracle → faz, difüzyon → olasılık.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Faz oracle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Hedefin işaretini çevir — Hafta 8'deki faz geri tepmesi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oracle: O|x⟩ = (−1)^f(x) |x⟩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O|x⟩ = (−1)^f(x) |x⟩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42316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1234440"/>
            <a:ext cx="5150815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75120" y="1344168"/>
            <a:ext cx="478505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Köşegen: hedefin yerinde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diğerleri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8, hedef 101: diag(1,1,1,1,1,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,1,1)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92240" y="3429000"/>
            <a:ext cx="5150815" cy="2468880"/>
          </a:xfrm>
          <a:prstGeom prst="roundRect">
            <a:avLst>
              <a:gd name="adj" fmla="val 296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3538728"/>
            <a:ext cx="4785055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 değişmedi!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(−0,354)² = 0,125 = (0,354)²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hâlâ rastgele tahmin.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yalnızca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işarette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(fazda).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 bağlantısı: faz geri tepmesi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Toffoli + |−⟩: |11⟩'in işareti dö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774" y="1188720"/>
            <a:ext cx="5310453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4564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Toffoli + |−⟩: |11⟩'in işareti döner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059375" cy="914400"/>
        </p:xfrm>
        <a:graphic>
          <a:graphicData uri="http://schemas.openxmlformats.org/drawingml/2006/table">
            <a:tbl>
              <a:tblPr/>
              <a:tblGrid>
                <a:gridCol w="1517813"/>
                <a:gridCol w="1619000"/>
                <a:gridCol w="1922563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Nasıl?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Doğrudan faz oracle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+ MCZ + 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bit dizisi olarak yazılabiliyorsa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oracle + |−⟩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f'yi hesapla, çıkışı XOR'la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bir hesaplama ise (SAT, şifre kontrolü)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114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48640" y="41148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U_f |x⟩|−⟩ = (−1)^f(x) |x⟩|−⟩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212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Çıkış kübiti değişmez; faz girdi yazmacına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teper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Bir yardımcı kübit pahasına her bit oracle'ı faz oracle olur.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faz oracle: X + çok kontrollü Z + X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Hedef 101: X yalnız q₁'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7618"/>
            <a:ext cx="3291840" cy="25653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Hedef 101: X yalnız q₁'e</a:t>
            </a:r>
            <a:endParaRPr lang="en-US" sz="1100" dirty="0"/>
          </a:p>
        </p:txBody>
      </p:sp>
      <p:pic>
        <p:nvPicPr>
          <p:cNvPr id="8" name="Image 1" descr="Hedef 010: X q₀ ve q₂'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17618"/>
            <a:ext cx="3291840" cy="256536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02336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Hedef 010: X q₀ ve q₂'ye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188720"/>
          <a:ext cx="3962095" cy="914400"/>
        </p:xfrm>
        <a:graphic>
          <a:graphicData uri="http://schemas.openxmlformats.org/drawingml/2006/table">
            <a:tbl>
              <a:tblPr/>
              <a:tblGrid>
                <a:gridCol w="2179152"/>
                <a:gridCol w="17829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q₂q₁q₀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uygulanan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q₀, q₂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7680960" y="3611880"/>
            <a:ext cx="3962095" cy="868680"/>
          </a:xfrm>
          <a:prstGeom prst="roundRect">
            <a:avLst>
              <a:gd name="adj" fmla="val 842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863840" y="3721608"/>
            <a:ext cx="359633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sırası: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'101'[-1] = q₀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48640" y="4160520"/>
            <a:ext cx="6766560" cy="1783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685800" y="425196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oracle(n, marked):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in marked: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zeros = [i for i in range(n) if s[n-1-i] == "0"]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zeros: qc.x(zeros)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mcz(qc, range(n))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ZGate().control(n-1)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zeros: qc.x(zeros)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Oracle'ı elle uygulamak (N = 4)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kübitli eşit süperpozisyona hedef 10 için oracle. Hangi X'ler? Genlikler ve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Hedef 10: q₁ = 1, q₀ = 0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q₀'a X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Başlangıç: [½, ½, ½, ½]   (00, 01, 10, 11)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sonrası: [½, ½, −½, ½]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Olasılıklar: [¼, ¼, ¼, ¼] → değişmedi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X(q₀) · CZ · X(q₀); olasılıklar eşit kalır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oundRect">
            <a:avLst>
              <a:gd name="adj" fmla="val 25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0" y="1252728"/>
            <a:ext cx="3779215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"Hile" sorusu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örneklerinde oracle'ı hedefi bilerek kuruyoruz.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 oracle,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fonksiyonundan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derlenen tersinir devredir; cevabı kimse bilmez (Bölüm 8, SAT).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Difüzyon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Ortalama etrafında yansıtma: a → 2μ − a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etrafında yansıtma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(1/N)·Σ aᵢ          aᵢ → 2μ − aᵢ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94560"/>
          <a:ext cx="541004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33008" y="2194560"/>
          <a:ext cx="541004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Hedef: 2·0,265 − (−0,354) =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0,884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Diğerleri: 2·0,265 − 0,354 =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Difüzyonun özellikleri ve matris hâli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78" y="1097280"/>
            <a:ext cx="4560325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94960" y="1188720"/>
            <a:ext cx="624809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394960" y="1188720"/>
            <a:ext cx="6248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2|s⟩⟨s| − I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194560"/>
          <a:ext cx="6248095" cy="914400"/>
        </p:xfrm>
        <a:graphic>
          <a:graphicData uri="http://schemas.openxmlformats.org/drawingml/2006/table">
            <a:tbl>
              <a:tblPr/>
              <a:tblGrid>
                <a:gridCol w="2499238"/>
                <a:gridCol w="374885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korunur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2μ − μ = 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 korunur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üniterdir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tersidir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2μ − (2μ − a) = a → D·D =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|s⟩'i değiştirmez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aᵢ = μ → oracle olmadan etkisiz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Elemanlar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köşegen 2/N − 1, diğerleri 2/N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394960" y="5303520"/>
            <a:ext cx="6248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8: köşegen −0,75, diğerleri +0,25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 devresi: H⊗ⁿ X⊗ⁿ MCZ X⊗ⁿ H⊗ⁿ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3 kübit difüzyon (Global Phase π ile tam 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44" y="1143000"/>
            <a:ext cx="5199393" cy="2971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142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3 kübit difüzyon (Global Phase π ile tam D)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1234440"/>
            <a:ext cx="53336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X⊗ⁿ · MCZ · X⊗ⁿ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 − 2|0⟩⟨0|: yalnız |0…0⟩'ın işareti döner</a:t>
            </a:r>
            <a:endParaRPr lang="en-US" sz="17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H⊗ⁿ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|0…0⟩'ı |s⟩'e götürür: H(I − 2|0⟩⟨0|)H = I − 2|s⟩⟨s|</a:t>
            </a:r>
            <a:endParaRPr lang="en-US" sz="17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−D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−1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faz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ölçümü değiştirmez (Hafta 2)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4572000"/>
            <a:ext cx="11094415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466344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diffusion(n):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qc.h(range(n)); qc.x(range(n)); mcz(qc, range(n)); qc.x(range(n)); qc.h(range(n))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qc.global_phase = np.pi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isteğe bağlı: tam 2|s&gt;&lt;s| − 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gösterim: HTML genlik animasyonu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669280" cy="4663440"/>
          </a:xfrm>
          <a:prstGeom prst="roundRect">
            <a:avLst>
              <a:gd name="adj" fmla="val 156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5303520" cy="444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Hafta09_Grover_Animasyonu.html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seçimi: 4 – 64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Çubuğa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hedef seç/kaldır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Düğmeler: Oracle uygula · Difüzyon uygula · Tam adım · Otomatik oynat · Sıfırla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Genlikler (negatif turuncu) +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çizgisi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olasılığı, iterasyon sayacı, optimum k işareti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Başarı–iterasyon mini grafiği</a:t>
            </a:r>
            <a:endParaRPr lang="en-US" sz="1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80160"/>
          <a:ext cx="5150815" cy="914400"/>
        </p:xfrm>
        <a:graphic>
          <a:graphicData uri="http://schemas.openxmlformats.org/drawingml/2006/table">
            <a:tbl>
              <a:tblPr/>
              <a:tblGrid>
                <a:gridCol w="2987473"/>
                <a:gridCol w="216334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4, 1 hedef, 1 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8, 1 hedef, 2 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%94,5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8, 3. 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%33 (aşma)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iki kez üst üste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hiçbir şey (−1·−1)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olmadan difüzyon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hiçbir şey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16, 4 hedef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adımda %100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8, 4 hedef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 işe yaramaz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Elle hesap ve geometri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N = 4 ve N = 8 adım adım · 2θ dönüş · aşma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N = 4, tek hedef: tek adımda kesin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kübit, hedef 11. Bir iterasyon sonrası genlikler ve P(11)?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Başlangıç: [½, ½, ½, ½]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(CZ): [½, ½, ½, −½]     μ = ¼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Difüzyon: hedef dışı 2·¼ − ½ = 0     hedef 2·¼ + ½ = 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Sonuç: [0, 0, 0, 1]  →  P(11) = 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P(11) = 1 — tek oracle çağrısı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N = 8, tek hedef: iki iterasyon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101. Genlikleri 1/√8 biriminde elle hesaplayın.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oracle: hedef −1, diğerleri +1  →  μ = 6/8 = 0,75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difüzyon: hedef 2,5, diğerleri 0,5  →  P = 6,25/8 = 0,781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oracle: hedef −2,5  →  μ = (3,5 − 2,5)/8 = 0,125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difüzyon: hedef 2,75, diğerleri −0,25  →  P = 7,5625/8 = 0,945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P(101): 0,781 → 0,945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8: her adımda genlikler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668" y="1097280"/>
            <a:ext cx="9738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Geometri: iki yansıma = 2θ dönüş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9640"/>
            <a:ext cx="5486400" cy="31616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9360" y="1188720"/>
            <a:ext cx="533369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09360" y="1188720"/>
            <a:ext cx="5333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|s⟩ = sin θ·|w⟩ + cos θ·|s′⟩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6309360" y="2194560"/>
            <a:ext cx="5333695" cy="777240"/>
          </a:xfrm>
          <a:prstGeom prst="roundRect">
            <a:avLst>
              <a:gd name="adj" fmla="val 1176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2194560"/>
            <a:ext cx="5333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θ = √(M/N)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3154680"/>
            <a:ext cx="53336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|s′⟩ eksenine göre yansıma → açı θ → −θ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|s⟩ doğrusuna göre yansıma → −θ → 3θ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yansıma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2θ dönüş</a:t>
            </a:r>
            <a:endParaRPr lang="en-US" sz="17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iterasyon sonra açı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(2k + 1)θ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olasılığı ve optimum iterasyon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P(hedef) = sin²((2k + 1)θ)          k* = ⌊(π/4)·√(N/M)⌋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852160" cy="914400"/>
        </p:xfrm>
        <a:graphic>
          <a:graphicData uri="http://schemas.openxmlformats.org/drawingml/2006/table">
            <a:tbl>
              <a:tblPr/>
              <a:tblGrid>
                <a:gridCol w="936346"/>
                <a:gridCol w="702259"/>
                <a:gridCol w="1521562"/>
                <a:gridCol w="936346"/>
                <a:gridCol w="175564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P(k*)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20,70°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14,48°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50650"/>
            <a:ext cx="4967935" cy="36825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Aşma (overshoot): fazla iterasyon zararlı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56692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94465"/>
            <a:ext cx="5150815" cy="28803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92240" y="4617720"/>
            <a:ext cx="5150815" cy="1234440"/>
          </a:xfrm>
          <a:prstGeom prst="roundRect">
            <a:avLst>
              <a:gd name="adj" fmla="val 592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675120" y="4727448"/>
            <a:ext cx="478505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periyodik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optimumdan sonra düşer, sonra tekrar yükselir. "Ne kadar çok o kadar iyi"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Aşmayı elle görmek (N = 8)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5'ten devam: üçüncü iterasyon sonrası P(101)?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2. iterasyon sonrası: hedef 2,75, diğerleri −0,25 (1/√8 biriminde)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oracle: hedef −2,75  →  μ = (−1,75 − 2,75)/8 = −0,5625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difüzyon: hedef −1,125 + 2,75 = 1,625    diğerleri −0,875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1,625²/8 ≈ 0,330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Geometri: 7θ = 144,9° → sin² ≈ 0,330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0,945 → 0,330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Devre kurulumu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n = 2, 3, 4 · histogramlar · derinlik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grover(n, marked) fonksiyonu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7498080" cy="4663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7223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opt_iters(N, M=1):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int(np.floor(np.pi/4 * np.sqrt(N/M)))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grover(n, marked, k=None, measure=True):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isinstance(marked, str): marked = [marked]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 is None: k = opt_iters(2**n, len(marked))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QuantumCircuit(n, n) if measure else QuantumCircuit(n)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qc.h(range(n))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Adım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O, D = oracle(n, marked), diffusion(n)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range(k):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Adım 2-3, k kez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qc.barrier()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qc.compose(O, inplace=True)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qc.compose(D, inplace=True)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measure: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qc.barrier(); qc.measure(range(n), range(n))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</p:txBody>
      </p:sp>
      <p:pic>
        <p:nvPicPr>
          <p:cNvPr id="8" name="Image 0" descr="n = 2, hedef 11, k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546759"/>
            <a:ext cx="3413455" cy="97556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0" y="2907792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 = 2, hedef 11, k = 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229600" y="3474720"/>
            <a:ext cx="3413455" cy="2377440"/>
          </a:xfrm>
          <a:prstGeom prst="roundRect">
            <a:avLst>
              <a:gd name="adj" fmla="val 307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3584448"/>
            <a:ext cx="3047695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hazır bileşeni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grover_operator(oracle)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operatörü verir (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Operator.equiv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True)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elle yazıyoruz: mekaniği görmek için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Devreler: n = 3 ve n = 4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n = 3, hedef 101, k =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99" y="1097280"/>
            <a:ext cx="10986496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090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 = 3, hedef 101, k = 2</a:t>
            </a:r>
            <a:endParaRPr lang="en-US" sz="1100" dirty="0"/>
          </a:p>
        </p:txBody>
      </p:sp>
      <p:pic>
        <p:nvPicPr>
          <p:cNvPr id="8" name="Image 1" descr="n = 4, hedef 1011, k = 3 (bloklar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36" y="3520440"/>
            <a:ext cx="8315823" cy="2103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509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n = 4, hedef 1011, k = 3 (bloklar)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Sonuçlar: histogramlar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6184"/>
            <a:ext cx="11094415" cy="323403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1109442"/>
                <a:gridCol w="1775106"/>
                <a:gridCol w="1109442"/>
                <a:gridCol w="2218883"/>
                <a:gridCol w="377210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Teorik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/ 2000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1880 / 2000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1918 / 2000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Derinliğin n ile artışı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2450"/>
            <a:ext cx="7315200" cy="2352860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188720"/>
          <a:ext cx="3504895" cy="914400"/>
        </p:xfrm>
        <a:graphic>
          <a:graphicData uri="http://schemas.openxmlformats.org/drawingml/2006/table">
            <a:tbl>
              <a:tblPr/>
              <a:tblGrid>
                <a:gridCol w="700979"/>
                <a:gridCol w="700979"/>
                <a:gridCol w="1121566"/>
                <a:gridCol w="981371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06908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178808"/>
            <a:ext cx="69494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kapı küçük bir hata taşır → binlerce CX'te hatalar birikir.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Yardımcı kübitli MCZ ayrıştırması CX sayısını azaltır: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↔ derinlik takası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8138160" y="42062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2.x, basis = {CX, U}, optimization_level = 1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Birden fazla çözüm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M &gt; 1 · M = N/4 · M bilinmiyorsa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&gt; 1: θ büyür, iterasyon azalır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0084"/>
            <a:ext cx="7589520" cy="2340472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188720"/>
          <a:ext cx="3230575" cy="914400"/>
        </p:xfrm>
        <a:graphic>
          <a:graphicData uri="http://schemas.openxmlformats.org/drawingml/2006/table">
            <a:tbl>
              <a:tblPr/>
              <a:tblGrid>
                <a:gridCol w="516892"/>
                <a:gridCol w="1033784"/>
                <a:gridCol w="581504"/>
                <a:gridCol w="10983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14,48°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20,70°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25,66°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412480" y="35661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16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48640" y="420624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31520" y="4315968"/>
            <a:ext cx="50442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N/4 → tek adımda kesin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30°, 3θ = 90° → P = 1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6233008" y="4206240"/>
            <a:ext cx="5410048" cy="1691640"/>
          </a:xfrm>
          <a:prstGeom prst="roundRect">
            <a:avLst>
              <a:gd name="adj" fmla="val 432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415888" y="4315968"/>
            <a:ext cx="50442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N/2 → Grover işe yaramaz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45°, 3θ = 135° → P = 0,5 = rastgele tahmin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M = N/4: tek iterasyonda kesin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8, çözümler 010 ve 101. Bir iterasyonu elle uygulayın (1/√8 biriminde).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θ = √(2/8) = ½  →  θ = 30°, k* = 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Oracle: iki hedef −1, altı genlik +1  →  μ = 4/8 = 0,5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Difüzyon: hedefler 2, diğerleri 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P(010) = P(101) = 4/8 = 0,5  →  toplam 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Çözümlerden biri kesin olarak ölçülür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bilinmiyorsa ne olur?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6987"/>
            <a:ext cx="6949440" cy="366962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0" y="1188720"/>
            <a:ext cx="3870655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55280" y="1298448"/>
            <a:ext cx="350489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Rastgele / artan 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Boyer–Brassard–Høyer–Tapp (1998)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çağrı yine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O(√(N/M))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0" y="3474720"/>
            <a:ext cx="3870655" cy="2286000"/>
          </a:xfrm>
          <a:prstGeom prst="roundRect">
            <a:avLst>
              <a:gd name="adj" fmla="val 32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3584448"/>
            <a:ext cx="350489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Kuantum sayma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 iterasyonunun fazından θ → 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kestirimi (QPE)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gelecek hafta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k = 3, 6, 12 seçimleri bazı M değerlerinde sıfıra düşüyor; rastgele k ortalamada güvenli.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Uygulamalar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SAT · şifre bulma · listede arama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SAT problemi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(x₀ ∨ x₁) ∧ (¬x₀ ∨ x₂) ∧ (¬x₁ ∨ ¬x₂)</a:t>
            </a:r>
            <a:endParaRPr lang="en-US" sz="2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x₂x₁x₀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x₀∨x₁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¬x₀∨x₂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¬x₁∨¬x₂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223760" y="2240280"/>
            <a:ext cx="4419295" cy="3566160"/>
          </a:xfrm>
          <a:prstGeom prst="roundRect">
            <a:avLst>
              <a:gd name="adj" fmla="val 205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2350008"/>
            <a:ext cx="4053535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SAT?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etmek kolay, bulmak zor (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NP-tam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formülden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derlenir → cevabı kimse bilmiyor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2, N = 8 → θ = 30°,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 = 1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oracle: hesapla → işaretle → uncompute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pic>
        <p:nvPicPr>
          <p:cNvPr id="6" name="Image 0" descr="q₀–q₂ değişken · q₃–q₅ cümle · q₆ çıkış (|−⟩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8355"/>
            <a:ext cx="7132320" cy="31268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5537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q₀–q₂ değişken · q₃–q₅ cümle · q₆ çıkış (|−⟩)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123444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Hesapla: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∨ b = ¬(¬a ∧ ¬b) → X, Toffoli, X, X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İşaretle: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kontrollü X ile çıkışı çevir; çıkış |−⟩ → faz geri tepmesi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Uncompute: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adımları ters sırada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kübit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 değişken + 3 yardımcı + 1 çıkış. Ölçülen: yalnızca 3 değişken kübiti.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 neden şart?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53035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 yapılmazsa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000 → yardımcılar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010 (çözüm) → yardımcılar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Genlikler farklı yardımcı durumlarına bağlı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girişim bozulur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813048"/>
            <a:ext cx="530352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Fonksiyonun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etkisi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(global değişkene yazmak) sonraki kodu bozar.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 = geçici değişkenleri temizleyip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fonksiyon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davranmak.</a:t>
            </a:r>
            <a:endParaRPr lang="en-US" sz="17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92240" y="1188720"/>
          <a:ext cx="515081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92240" y="5029200"/>
            <a:ext cx="5150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oracle sonrası yardımcılar </a:t>
            </a: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|000⟩</a:t>
            </a: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(Statevector ile doğrulandı)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bitlik şifre bulma ve listede arama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01331"/>
            <a:ext cx="5760720" cy="2552218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46521"/>
            <a:ext cx="5150815" cy="166183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3840480"/>
            <a:ext cx="5760720" cy="2057400"/>
          </a:xfrm>
          <a:prstGeom prst="roundRect">
            <a:avLst>
              <a:gd name="adj" fmla="val 355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3950208"/>
            <a:ext cx="539496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(1011): k = 3, P ≈ %96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ortalama 8 deneme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Gerçekte oracle =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(ör. hash) fonksiyonunun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tersinir devresi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binlerce kübit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492240" y="3840480"/>
            <a:ext cx="5150815" cy="2057400"/>
          </a:xfrm>
          <a:prstGeom prst="roundRect">
            <a:avLst>
              <a:gd name="adj" fmla="val 355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675120" y="3950208"/>
            <a:ext cx="4785055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Listede arama: dikkat!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Listeyi oracle'a gömmek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QRAM donanımı yok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avantaj: f(x)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veriye bakmadan hesaplanabiliyorsa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07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Gerçekçi değerlendirme ve genelleme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Oracle maliyeti · veri yükleme · gürültü · genlik büyütme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Grover'ın pratik sınırları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5325319"/>
                <a:gridCol w="3772101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maliyeti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iterasyonda f tersinir devre olarak (hesapla + uncompute)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süre = iterasyon × oracle süresi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yükleme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Listeyi devreye gömmek O(N); QRAM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aramasında avantaj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Paralellik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arama P makineye bölünür; Grover'ı bölmek → √(NP)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Avantaj daralır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 (NISQ)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Derinlik n ile hızla artar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 yalnız çok küçük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düzeltme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mantıksal kapı çok sayıda fiziksel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Avantaj ancak büyük N'de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Grover: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düzeltmeli gelecek makineler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bir algoritma; bugün mekaniği öğrenmek için ideal.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deneyi: derin devreler hızla bozulur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1234440"/>
            <a:ext cx="3322015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503920" y="1344168"/>
            <a:ext cx="295625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5, CX hatası %2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%4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tahmin: %3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edilemez!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8321040" y="3703320"/>
            <a:ext cx="3322015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3813048"/>
            <a:ext cx="2956255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Depolarizing: tek kübit hatası CX'in 1/10'u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donanım: + bağlantı, okuma hataları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büyütme: Grover'ın genellemesi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182" y="1097280"/>
            <a:ext cx="8023332" cy="2377440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3328325"/>
                <a:gridCol w="443776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 büyütme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Hazırlama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H⊗ⁿ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herhangi bir 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 etrafında yansıtma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S₀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S₀ A†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 olasılığı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M/N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A'nın başarısı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O(√(N/M))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O(1/√p)  (klasik O(1/p))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Genlik büyütme ile tekrar sayısı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devresi iyi sonucu p = 0,01 ile veriyor. Klasik ve genlik büyütme ile kaç tekrar?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Klasik: beklenen 1/p = 100 deneme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θ = √0,01 = 0,1 → θ ≈ 5,74°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= ⌊0,785 · 10⌋ = 7 → P = sin²(15·5,74°) ≈ 0,995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Her iterasyon A ve A† çalıştırır: ≈ 15 A çağrısı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100 yerine ≈ 7 iterasyon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Grover'ı kodlamak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Hafta09_Lab.ipynb — NumPy → Qiskit → SAT ve şifre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Kurulum; klasik arama ve çağrı sayısı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ile oracle ve difüzyon (N = 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faz oracle ve difüzyon,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doğrulama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grover(n, marked)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Statevector ile adım adım izleme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E–F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Başarı–iterasyon grafiği, aşma; M &gt;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oracle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uncompute kontrolü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Şifre bulma, listede arama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I–J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 deneyi ve 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Statevector ile adım adım izleme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6949440" cy="4663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6675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QuantumCircuit(3); H.h(range(3))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= Statevector.from_label("000").evolve(H)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 in range(2):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 = sv.evolve(oracle(3, "101"))  # oracle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 = sv.evolve(diffusion(3))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difüzyon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print(it + 1, abs(sv.data[5])**2)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0.78125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0.9453125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np.ones(8) / np.sqrt(8)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a[5] *= -1; a = 2*a.mean() -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np.allclose(sv.data, a)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0" y="1188720"/>
          <a:ext cx="3870655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4480560"/>
            <a:ext cx="387065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4590288"/>
            <a:ext cx="350489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== NumPy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bağımsız iki gerçeklemeyle test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 (assert ile)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887553"/>
                <a:gridCol w="5769096"/>
                <a:gridCol w="443776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Kazanım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optimal_iterations(N, 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 formülü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diffusion_matrix(N)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N = 4'te P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2|s⟩⟨s| − 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my_oracle(n, target)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+ MCZ + X, bit sırası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my_diffusion(n)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Operator.equiv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Difüzyon devresi, global 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success_curve(...)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aşma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sin²((2k+1)θ)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32, M =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Birden fazla çözüm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SAT formülü 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Yardımcı kübit, uncompute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crack(secret)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5 bit şifre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Uçtan uca Grover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Sırasız arama: klasik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Grover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O(√N)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karesel, üstel değil; Ω(√N) ile en iyisi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H⊗ⁿ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[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işaret çevir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difüzyon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→ 2μ − a] × k → ölçüm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= X +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X (ya da bit oracle + |−⟩); difüzyon =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X MCZ X H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(global faz −1)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Geometri: sin θ = √(M/N), her iterasyon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2θ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 = sin²((2k+1)θ); k* = ⌊(π/4)√(N/M)⌋; fazlası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aşma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Elle: N = 4 → 1 adımda 1; N = 8 → 0,781,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0,945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 = N/4 → kesin; M = N/2 → işe yaramaz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oracle problemden derlenir (SAT: yardımcı +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veri yükleme, oracle maliyeti, gürültü sınırlar</a:t>
            </a:r>
            <a:endParaRPr lang="en-US" sz="1900" dirty="0"/>
          </a:p>
          <a:p>
            <a:pPr marL="254000" indent="-254000">
              <a:spcAft>
                <a:spcPts val="11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büyütme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herhangi bir A için O(1/√p)</a:t>
            </a:r>
            <a:endParaRPr lang="en-US" sz="1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13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J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gürültü deneyi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animasyonuyla N = 16, M = 3 deneyin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840480"/>
          </a:xfrm>
          <a:prstGeom prst="roundRect">
            <a:avLst>
              <a:gd name="adj" fmla="val 19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10: QFT, QPE ve Shor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Fourier Dönüşümü (QFT)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kestirimi (QPE)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algoritması: N = 15'i çarpanlarına ayırma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Bağlantı: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sayma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Grover + QPE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Karesel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hızlanma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2026-09-23T16:01:03Z</dcterms:created>
  <dcterms:modified xsi:type="dcterms:W3CDTF">2026-09-23T16:01:03Z</dcterms:modified>
</cp:coreProperties>
</file>