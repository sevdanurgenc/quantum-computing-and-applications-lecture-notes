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2.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Arial"/>
              </a:defRPr>
            </a:pPr>
            <a:r>
              <a:rPr sz="1400" b="0" i="0" u="none" strike="noStrike">
                <a:solidFill>
                  <a:srgbClr val="1F3A5F"/>
                </a:solidFill>
                <a:latin typeface="Arial"/>
              </a:rPr>
              <a:t>30 epoch için gereken çalıştırma</a:t>
            </a:r>
          </a:p>
        </c:rich>
      </c:tx>
      <c:layout/>
      <c:overlay val="0"/>
    </c:title>
    <c:autoTitleDeleted val="0"/>
    <c:plotArea>
      <c:layout/>
      <c:barChart>
        <c:barDir val="col"/>
        <c:grouping val="clustered"/>
        <c:varyColors val="0"/>
        <c:ser>
          <c:idx val="0"/>
          <c:order val="0"/>
          <c:tx>
            <c:strRef>
              <c:f>Sheet1!$B$1</c:f>
              <c:strCache>
                <c:ptCount val="1"/>
                <c:pt idx="0">
                  <c:v>Çalıştırma</c:v>
                </c:pt>
              </c:strCache>
            </c:strRef>
          </c:tx>
          <c:spPr>
            <a:solidFill>
              <a:srgbClr val="2E6DB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Backprop
(simülatör)</c:v>
                  </c:pt>
                  <c:pt idx="1">
                    <c:v>Parameter-shift
(donanım)</c:v>
                  </c:pt>
                </c:lvl>
              </c:multiLvlStrCache>
            </c:multiLvlStrRef>
          </c:cat>
          <c:val>
            <c:numRef>
              <c:f>Sheet1!$B$2:$B$3</c:f>
              <c:numCache>
                <c:formatCode>General</c:formatCode>
                <c:ptCount val="2"/>
                <c:pt idx="0">
                  <c:v>4200</c:v>
                </c:pt>
                <c:pt idx="1">
                  <c:v>205800</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74151"/>
                </a:solidFill>
                <a:latin typeface="Arial"/>
              </a:defRPr>
            </a:pPr>
            <a:endParaRPr lang="en-US"/>
          </a:p>
        </c:txPr>
        <c:crossAx val="2094734552"/>
        <c:crosses val="autoZero"/>
        <c:auto val="1"/>
        <c:lblAlgn val="ctr"/>
        <c:noMultiLvlLbl val="1"/>
      </c:catAx>
      <c:valAx>
        <c:axId val="2094734552"/>
        <c:scaling>
          <c:orientation val="minMax"/>
          <c:max val="240000"/>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7415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5F"/>
                </a:solidFill>
                <a:latin typeface="Arial"/>
              </a:defRPr>
            </a:pPr>
            <a:r>
              <a:rPr sz="1400" b="0" i="0" u="none" strike="noStrike">
                <a:solidFill>
                  <a:srgbClr val="1F3A5F"/>
                </a:solidFill>
                <a:latin typeface="Arial"/>
              </a:rPr>
              <a:t>moons: test doğruluğu (kuantum: 3 tohum ort.)</a:t>
            </a:r>
          </a:p>
        </c:rich>
      </c:tx>
      <c:layout/>
      <c:overlay val="0"/>
    </c:title>
    <c:autoTitleDeleted val="0"/>
    <c:plotArea>
      <c:layout/>
      <c:barChart>
        <c:barDir val="col"/>
        <c:grouping val="clustered"/>
        <c:varyColors val="0"/>
        <c:ser>
          <c:idx val="0"/>
          <c:order val="0"/>
          <c:tx>
            <c:strRef>
              <c:f>Sheet1!$B$1</c:f>
              <c:strCache>
                <c:ptCount val="1"/>
                <c:pt idx="0">
                  <c:v>moons test doğruluğu</c:v>
                </c:pt>
              </c:strCache>
            </c:strRef>
          </c:tx>
          <c:spPr>
            <a:solidFill>
              <a:srgbClr val="2E6DB4"/>
            </a:solidFill>
            <a:effectLst/>
          </c:spPr>
          <c:invertIfNegative val="0"/>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LogReg</c:v>
                  </c:pt>
                  <c:pt idx="1">
                    <c:v>MLP-16</c:v>
                  </c:pt>
                  <c:pt idx="2">
                    <c:v>VQC L=1</c:v>
                  </c:pt>
                  <c:pt idx="3">
                    <c:v>VQC L=2</c:v>
                  </c:pt>
                  <c:pt idx="4">
                    <c:v>VQC L=3</c:v>
                  </c:pt>
                  <c:pt idx="5">
                    <c:v>Re-up L=3</c:v>
                  </c:pt>
                  <c:pt idx="6">
                    <c:v>Hibrit</c:v>
                  </c:pt>
                </c:lvl>
              </c:multiLvlStrCache>
            </c:multiLvlStrRef>
          </c:cat>
          <c:val>
            <c:numRef>
              <c:f>Sheet1!$B$2:$B$8</c:f>
              <c:numCache>
                <c:formatCode>General</c:formatCode>
                <c:ptCount val="7"/>
                <c:pt idx="0">
                  <c:v>0.9</c:v>
                </c:pt>
                <c:pt idx="1">
                  <c:v>0.917</c:v>
                </c:pt>
                <c:pt idx="2">
                  <c:v>0.861</c:v>
                </c:pt>
                <c:pt idx="3">
                  <c:v>0.9</c:v>
                </c:pt>
                <c:pt idx="4">
                  <c:v>0.9</c:v>
                </c:pt>
                <c:pt idx="5">
                  <c:v>0.933</c:v>
                </c:pt>
                <c:pt idx="6">
                  <c:v>0.906</c:v>
                </c:pt>
              </c:numCache>
            </c:numRef>
          </c:val>
        </c:ser>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74151"/>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5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74151"/>
                </a:solidFill>
                <a:latin typeface="Arial"/>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hafta 11-13. haftalardaki parçaları birleştiriyoruz: devrenin kendisini eğitiyoruz. Ana mesaj: kuantum devresi türevlenebilir bir fonksiyondur; geri kalan her şey (kayıp, gradyan, Adam, mini-batch) öğrencilerin derin öğrenmeden bildiği araçlardır. İkinci mesaj dürüstlük: küçük veri setlerinde kuantum modeller klasik modelleri geçmiyor; bunu sayılarla göstereceğiz.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saatin akışı. Birinci saat kavramsal çerçeve ve PennyLane; ikinci saat elle hesaplamalar, hibrit model, deney sonuçları ve çorak düzlük; üçüncü saat Colab lab'ı. PennyLane'i 7. haftada kısaca görmüştük, bu hafta QML için derinlemesine kullanıyoruz.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Hedefleri okuyun ve özellikle 3. ve 9. maddeyi vurgulayın: sinir ağı benzetmesinin sınırları ve çorak düzlük, sınavda en çok sorulan kavramsal konular.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tablo haftanın haritası. 13. haftadaki çekirdek yöntemiyle farkı vurgulayın: orada devre sabitti ve öğrenmeyi SVM yapıyordu; bu hafta devrenin kendisi öğreniyor.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bölümde VQC'yi bir sinir ağı gibi katman katman inceliyoruz.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Soldan sağa okuyun. Kodlama katmanında parametre yok; tüm öğrenme ansatz'ın açılarında. Turuncu ok hibrit döngüyü gösteriyor: kayıp klasik tarafta hesaplanıp açılar güncelleniyor (11. hafta).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Barrier'lar üç katmanı ayırıyor. RZ'ler yalnızca faz ekliyor ama ikinci katmanda RY ile birleşince önem kazanıyor. CNOT olmasaydı her kübit ayrı bir model olurdu.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katmanda 8 açı ve 4 CNOT. Halka 0→1→2→3→0. PennyLane'de BasicEntanglerLayers da aynı halkayı kurar ama her kübitte tek döndürme kullanır.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 = P(0) − P(1) ve toplam 1 olduğundan p = P(1) = (1 − ⟨Z⟩)/2. Bu dönüşüm sigmoid'in yerini alıyor. Sağdaki grafikte BCE'nin yanlış ve emin tahminleri çok sert cezalandırdığını gösterin.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Benzetme güçlü ama birebir değil. Nöronlar yerine kübitler, ağırlıklar yerine açılar var. Ama aktivasyon fonksiyonu yok; bir sonraki slaytta bunu tartışacağız.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Satırları tek tek okuyun. Açıların periyodik olması (θ ve θ+2π aynı) ve donanımda backprop yapılamaması, klasik ML'den en önemli iki fark.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soruyu önce öğrencilere sorun; 1-2 dakika düşünsünler. Cevap iki yerde: kodlamada x'in cos/sin'e dönüşmesi ve ölçümde genliklerin karesinin alınması. Sonuç bir trigonometrik polinom; veri yeniden yükleme bu polinomun derecesini artırır.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Kuantum tarafında parametre sayısı kübit × katman × kübit başına açı. Klasik Linear katmanda ise genişliğin karesiyle büyür. Kodlama katmanı parametre içermez.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Derin öğrenme döngüsünün aynısı. Tek fark: ileri geçiş ve (donanımda) gradyan kuantum tarafta.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BCE olasılık yorumlu ve PyTorch hibrit modellerde standart. Kare hata erken QML makalelerinde yaygın: etiketler ±1'e çevrilip ⟨Z⟩ ile doğrudan karşılaştırılır. Grafikte ikisinin moons'ta benzer sonuç verdiği görülüyor.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Sonlu fark değil, tam sonuç. Grafikte iki turuncu noktanın farkının yarısının lacivert teğetin eğimine eşit olduğunu gösterin. Maliyeti: her parametre için 2 devre çalıştırması.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Simülatörde durum vektörü bellekte; PyTorch her matris çarpımını kaydedip ters modda türev alabiliyor. Lab'da backprop kullanıyoruz çünkü 10-100 kat hızlı. Donanımda tek seçenek parameter-shift (veya daha pahalı yöntemler).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Adam'ı derin öğrenmeden biliyorlar; formülü hızlıca hatırlatın. İlk adımda m̂ = g ve v̂ = g² olduğundan adım yaklaşık η kadardır: gradyan küçük olsa bile ilerler. Mini-batch 16 örnek; her epoch başında karıştırma.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Akış diyagramını takip edin. Mavi kutu kuantum tarafta hesaplanan kısım; geri kalan her şey klasik. Epoch sonunda eğitim/test kaybı ve doğruluğu kaydediyoruz: aşırı öğrenmeyi izlemek için.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Kodu satır satır okuyun. clamp satırının neden gerekli olduğunu sorun (log 0). Batch'in tamamının tek QNode çağrısında hesaplandığını (yayınlama) belirtin.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PennyLane'in temel fikri: devre = Python fonksiyonu + dekoratör. Colab'da pip install -q pennylane; torch Colab'da hazır.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QNode'u bir JIT derleyici dekoratörü gibi anlatın: fonksiyon çağrıldığında kapılar kaydedilir, cihazda çalıştırılır ve sonuç türevlenebilir bir değer olarak döner.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Şablonlar çizimde tek blok görünür; level="device" ile açılır. BasicEntanglerLayers her kübitte tek döndürme, StronglyEntanglingLayers genel Rot kapısı (3 açı) kullanır.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interface=torch ile QNode PyTorch hesap grafiğine sıradan bir işlem gibi katılır. Girdiye (batch, özellik) şekilli tensör verilirse tüm batch tek çağrıda simüle edilir. Barren plateau deneyinde aynı özelliği parametre boyutunda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Önceki haftalarda Qiskit kullandığımız için karşılıkları bilmek önemli. Qiskit'te ZI stringi sağdan sola okunur: q1 üzerinde Z. Qiskit tarafında eğitilebilir modeller için qiskit-machine-learning paketi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saat. Önce ileri geçiş, kayıp ve gradyanı elle hesaplıyoruz; sonra hibrit model, veri yeniden yükleme, deney sonuçları ve çorak düzlük.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Bloch küresinde iki dönüşü gösterin: önce kodlama, sonra eğitilebilir açı. Bu modelde çıktı cos(x+θ): tek frekanslı bir kosinüs.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Genel formül: cos a cos θ − sin a cos b sin θ. RZ açısının RY'lerle nasıl etkileştiğini gösterin; ansatz'a RZ koymanın nedeni 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Dersin önemli bir noktası: CNOT, çıktıyı iki özelliğin çarpımına dönüştürüyor. Bu klasik ML'deki etkileşim terimi gibi. Qiskit Estimator ile de 0.4854 çıkıyor.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Kaybın büyük kısmı yanlış sınıflanan 4. örnekten geliyor. BCE bunu daha sert cezalandırır.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PennyLane'de parameter-shift, backprop ve elle hesaplama aynı sonucu veriyor; lab Bölüm A'da gösteriliyor.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Kuantum kısım yalnızca ∂⟨Z⟩/∂θ'yı sağlıyor; zincirin geri kalanı klasik. Adam'ın ilk adımı ise yaklaşık η = 0,1 olurdu.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Gerçek donanımda eğitimin en büyük darboğazı bu. Kuyruk süreleri eklenince pratik sınırlar netleşiyor.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TorchLayer QNode'u nn.Module yapar. Tüm parametreler tek optimizer'a gider, tek loss.backward() hem klasik hem kuantum ağırlıkların gradyanını verir. Klasik ön katman kübit sayısını özellik sayısından bağımsız kılıyor.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hataları lab'da mutlaka görecekler. Hata mesajlarını tanımaları zaman kazandırır. BCEWithLogitsLoss kullanırken modele ayrıca sigmoid koymamaları gerektiğini vurgulayın.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Alıştırma 6'da (b) modelini kuracaklar. Kuantum katmanın gerçek katkısını görmek için ablasyon önerin: kuantum katmanı Linear+tanh ile değiştirip karşılaştırmak.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kodlama tek frekans verir. Veriyi her katmanda w·x+b olarak yeniden yazınca çıktı L. dereceden trigonometrik polinom olur; bir Fourier serisi gibi. Yazılım benzetmesi: aynı küçük fonksiyonu döngüde farklı parametrelerle tekrar çağırmak.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ayar 3 tohumla eğitildi; en iyi tohumun sınırı gösteriliyor. circles'ta L=3 ile halka neredeyse tam ayrılıyor. moons L=4'te sınırın noktalar arasından kıvrılması aşırı öğrenme belirtisi.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model de ilk 5 epoch'ta hızla öğrenip plato yapıyor. Test doğruluğunun eğitimden yüksek olması küçük test kümesinden kaynaklanıyor: 60 örnekte bir örnek 0,017 fark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L=1 VQC eksenlere paralel bir sınır çiziyor (Örnek 3'teki çarpım yapısı). L=2-3 yumuşak dalga. Hibrit model Linear ön katman sayesinde sınırı döndürebiliyor. MLP parçalı doğrusal.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native; tabloyla birlikte okuyun. Kuantum modeller aynı bantta ama daha yavaş. Az parametre tek başına avantaj değil: lojistik regresyon 3 parametreyle aynı doğrulukta.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haftanın en önemli mesajlarından biri. Öğrencilerin QML makalelerini okurken sorması gereken soruları burada kazandırıyoruz. 15. haftada kuantum avantajı tartışmasına bu slayttan geçeceğiz.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kübit, 8 katmanlı derin bir VQC. Sıfır başlatmada ansatz başlangıçta yalnızca CNOT'lardan oluşuyor ve ilk epoch'lar yavaş. Küçük rastgele başlatma simetriyi kırıp devreyi kimliğe yakın başlatıyor: çorak düzlüğe karşı da bir önlem.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Haftanın en önemli kavramsal konusu. Önce sezgi, sonra sayısal deney, sonra çözümler.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Benzetmeyi anlatın: gözü kapalı, sadece ayağınızın altındaki eğimi hissederek vadiyi bulmaya çalışıyorsunuz. Ova düzse ve vadi dar bir çukursa, her yönde eğim sıfıra yakın; ölçüm gürültüsü sinyali boğar.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rastgele parametre, parameter-shift ile ilk parametrenin gradyanı, varyansı. Log ölçekte düz bir çizgi üstel azalma demek. Global maliyette her kübit varyansı yaklaşık yarıya indiriyor; yerel maliyette sığ devreler korunuyor.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Solda: 6 kübitte derinlik arttıkça yerel maliyetin varyansı da düşüyor; global maliyet baştan beri düşük tabanda. Sağda: aynı renk ölçeğinde 2 kübitte belirgin tepe ve vadiler, 8 kübitte neredeyse düz bir arazi.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Çorak düzlük sadece yavaşlık değil, pratikte eğitilemezlik demek. Ders notunda Örnek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 çözüm ve bu haftanın deneylerindeki kanıtları. Katman katman eğitim 15. hafta proje önerisi. Pratik kural: az kübit, az katman, yerel maliyet, küçük başlatma.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Lab'a geçiş. Bölüm A-B'yi birlikte yapın; C-H'yi öğrenciler çalıştırsın. Alıştırmalar ödev.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Bölüm B en önemli kısım: VQC'yi sıfırdan yazıp eğitiyorlar. Tüm deneyler sabit tohumla tekrarlanabilir. Alıştırmalar assert ile kendini kontrol ediyor; eşikler gerçekçi.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Alıştırmalar 1-3 elle hesapların kodlanması, 4-6 model kurma, 7-8 barren plateau. Eşikler çözüm değerlerinin belirgin altında; farklı sürümlerde sorun çıkarmaz.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Özeti birlikte tekrar edin; her maddeyi bir slayda bağlayın.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Gelecek hafta dönemin son haftası: uçtan uca bir QML projesi ve kuantum avantajı tartışması. Bu haftanın karşılaştırma tablosunu yanlarında getirmelerini isteyin.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463040"/>
            <a:ext cx="10058400" cy="365760"/>
          </a:xfrm>
          <a:prstGeom prst="rect">
            <a:avLst/>
          </a:prstGeom>
          <a:noFill/>
          <a:ln/>
        </p:spPr>
        <p:txBody>
          <a:bodyPr wrap="square" lIns="0" tIns="0" rIns="0" bIns="0" rtlCol="0" anchor="ctr"/>
          <a:lstStyle/>
          <a:p>
            <a:pPr indent="0" marL="0">
              <a:buNone/>
            </a:pPr>
            <a:r>
              <a:rPr lang="en-US" sz="1600" b="1" spc="200" kern="0" dirty="0">
                <a:solidFill>
                  <a:srgbClr val="C7D2E3"/>
                </a:solidFill>
              </a:rPr>
              <a:t>KUANTUM HESAPLAMA VE UYGULAMALARI</a:t>
            </a:r>
            <a:endParaRPr lang="en-US" sz="1600" dirty="0"/>
          </a:p>
        </p:txBody>
      </p:sp>
      <p:sp>
        <p:nvSpPr>
          <p:cNvPr id="3" name="Text 1"/>
          <p:cNvSpPr txBox="1"/>
          <p:nvPr/>
        </p:nvSpPr>
        <p:spPr>
          <a:xfrm>
            <a:off x="731520" y="2011680"/>
            <a:ext cx="10058400" cy="457200"/>
          </a:xfrm>
          <a:prstGeom prst="rect">
            <a:avLst/>
          </a:prstGeom>
          <a:noFill/>
          <a:ln/>
        </p:spPr>
        <p:txBody>
          <a:bodyPr wrap="square" lIns="0" tIns="0" rIns="0" bIns="0" rtlCol="0" anchor="ctr"/>
          <a:lstStyle/>
          <a:p>
            <a:pPr indent="0" marL="0">
              <a:buNone/>
            </a:pPr>
            <a:r>
              <a:rPr lang="en-US" sz="2200" dirty="0">
                <a:solidFill>
                  <a:srgbClr val="FFFFFF"/>
                </a:solidFill>
              </a:rPr>
              <a:t>Hafta 14 · Kuantum Makine Öğrenmesi III</a:t>
            </a:r>
            <a:endParaRPr lang="en-US" sz="2200" dirty="0"/>
          </a:p>
        </p:txBody>
      </p:sp>
      <p:sp>
        <p:nvSpPr>
          <p:cNvPr id="4" name="Text 2"/>
          <p:cNvSpPr txBox="1"/>
          <p:nvPr/>
        </p:nvSpPr>
        <p:spPr>
          <a:xfrm>
            <a:off x="731520" y="2560320"/>
            <a:ext cx="10972800" cy="1554480"/>
          </a:xfrm>
          <a:prstGeom prst="rect">
            <a:avLst/>
          </a:prstGeom>
          <a:noFill/>
          <a:ln/>
        </p:spPr>
        <p:txBody>
          <a:bodyPr wrap="square" lIns="0" tIns="0" rIns="0" bIns="0" rtlCol="0" anchor="t"/>
          <a:lstStyle/>
          <a:p>
            <a:pPr indent="0" marL="0">
              <a:buNone/>
            </a:pPr>
            <a:r>
              <a:rPr lang="en-US" sz="4200" b="1" dirty="0">
                <a:solidFill>
                  <a:srgbClr val="FFFFFF"/>
                </a:solidFill>
              </a:rPr>
              <a:t>Varyasyonel Sınıflandırıcılar, Kuantum Sinir Ağları ve Hibrit Modeller</a:t>
            </a:r>
            <a:endParaRPr lang="en-US" sz="4200" dirty="0"/>
          </a:p>
        </p:txBody>
      </p:sp>
      <p:sp>
        <p:nvSpPr>
          <p:cNvPr id="5" name="Text 3"/>
          <p:cNvSpPr txBox="1"/>
          <p:nvPr/>
        </p:nvSpPr>
        <p:spPr>
          <a:xfrm>
            <a:off x="731520" y="4297680"/>
            <a:ext cx="10515600" cy="822960"/>
          </a:xfrm>
          <a:prstGeom prst="rect">
            <a:avLst/>
          </a:prstGeom>
          <a:noFill/>
          <a:ln/>
        </p:spPr>
        <p:txBody>
          <a:bodyPr wrap="square" lIns="0" tIns="0" rIns="0" bIns="0" rtlCol="0" anchor="t"/>
          <a:lstStyle/>
          <a:p>
            <a:pPr indent="0" marL="0">
              <a:buNone/>
            </a:pPr>
            <a:r>
              <a:rPr lang="en-US" sz="1800" dirty="0">
                <a:solidFill>
                  <a:srgbClr val="C7D2E3"/>
                </a:solidFill>
              </a:rPr>
              <a:t>VQC anatomisi · eğitim döngüsü · PennyLane + PyTorch · veri yeniden yükleme · klasik karşılaştırma · çorak düzlük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Bu haftanın planı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280160"/>
            <a:ext cx="3423818" cy="3931920"/>
          </a:xfrm>
          <a:prstGeom prst="roundRect">
            <a:avLst>
              <a:gd name="adj" fmla="val 2671"/>
            </a:avLst>
          </a:prstGeom>
          <a:solidFill>
            <a:srgbClr val="F3F4F6"/>
          </a:solidFill>
          <a:ln w="12700">
            <a:solidFill>
              <a:srgbClr val="F3F4F6"/>
            </a:solidFill>
            <a:prstDash val="solid"/>
          </a:ln>
        </p:spPr>
      </p:sp>
      <p:sp>
        <p:nvSpPr>
          <p:cNvPr id="7" name="Text 4"/>
          <p:cNvSpPr txBox="1"/>
          <p:nvPr/>
        </p:nvSpPr>
        <p:spPr>
          <a:xfrm>
            <a:off x="822960" y="1508760"/>
            <a:ext cx="2875178" cy="365760"/>
          </a:xfrm>
          <a:prstGeom prst="rect">
            <a:avLst/>
          </a:prstGeom>
          <a:noFill/>
          <a:ln/>
        </p:spPr>
        <p:txBody>
          <a:bodyPr wrap="square" lIns="0" tIns="0" rIns="0" bIns="0" rtlCol="0" anchor="t"/>
          <a:lstStyle/>
          <a:p>
            <a:pPr algn="l" indent="0" marL="0">
              <a:spcAft>
                <a:spcPts val="600"/>
              </a:spcAft>
              <a:buNone/>
            </a:pPr>
            <a:r>
              <a:rPr lang="en-US" sz="1500" b="1" dirty="0">
                <a:solidFill>
                  <a:srgbClr val="6B7280"/>
                </a:solidFill>
                <a:latin typeface="Calibri" pitchFamily="34" charset="0"/>
                <a:ea typeface="Calibri" pitchFamily="34" charset="-122"/>
                <a:cs typeface="Calibri" pitchFamily="34" charset="-120"/>
              </a:rPr>
              <a:t>1. saat</a:t>
            </a:r>
            <a:endParaRPr lang="en-US" sz="1500" dirty="0"/>
          </a:p>
        </p:txBody>
      </p:sp>
      <p:sp>
        <p:nvSpPr>
          <p:cNvPr id="8" name="Text 5"/>
          <p:cNvSpPr txBox="1"/>
          <p:nvPr/>
        </p:nvSpPr>
        <p:spPr>
          <a:xfrm>
            <a:off x="822960" y="1874520"/>
            <a:ext cx="2875178" cy="548640"/>
          </a:xfrm>
          <a:prstGeom prst="rect">
            <a:avLst/>
          </a:prstGeom>
          <a:noFill/>
          <a:ln/>
        </p:spPr>
        <p:txBody>
          <a:bodyPr wrap="square" lIns="0" tIns="0" rIns="0" bIns="0" rtlCol="0" anchor="t"/>
          <a:lstStyle/>
          <a:p>
            <a:pPr algn="l" indent="0" marL="0">
              <a:spcAft>
                <a:spcPts val="600"/>
              </a:spcAft>
              <a:buNone/>
            </a:pPr>
            <a:r>
              <a:rPr lang="en-US" sz="2400" b="1" dirty="0">
                <a:solidFill>
                  <a:srgbClr val="1F3A5F"/>
                </a:solidFill>
                <a:latin typeface="Calibri" pitchFamily="34" charset="0"/>
                <a:ea typeface="Calibri" pitchFamily="34" charset="-122"/>
                <a:cs typeface="Calibri" pitchFamily="34" charset="-120"/>
              </a:rPr>
              <a:t>Teori</a:t>
            </a:r>
            <a:endParaRPr lang="en-US" sz="2400" dirty="0"/>
          </a:p>
        </p:txBody>
      </p:sp>
      <p:sp>
        <p:nvSpPr>
          <p:cNvPr id="9" name="Text 6"/>
          <p:cNvSpPr txBox="1"/>
          <p:nvPr/>
        </p:nvSpPr>
        <p:spPr>
          <a:xfrm>
            <a:off x="822960" y="2651760"/>
            <a:ext cx="2875178" cy="246888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VQC anatomisi</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Sinir ağı ile karşılaştırma</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Kayıp, gradyan, Adam</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PennyLane'e giriş</a:t>
            </a:r>
            <a:endParaRPr lang="en-US" sz="1800" dirty="0"/>
          </a:p>
        </p:txBody>
      </p:sp>
      <p:sp>
        <p:nvSpPr>
          <p:cNvPr id="10" name="Shape 7"/>
          <p:cNvSpPr/>
          <p:nvPr/>
        </p:nvSpPr>
        <p:spPr>
          <a:xfrm>
            <a:off x="4246778" y="1280160"/>
            <a:ext cx="3423818" cy="3931920"/>
          </a:xfrm>
          <a:prstGeom prst="roundRect">
            <a:avLst>
              <a:gd name="adj" fmla="val 2671"/>
            </a:avLst>
          </a:prstGeom>
          <a:solidFill>
            <a:srgbClr val="F3F4F6"/>
          </a:solidFill>
          <a:ln w="12700">
            <a:solidFill>
              <a:srgbClr val="F3F4F6"/>
            </a:solidFill>
            <a:prstDash val="solid"/>
          </a:ln>
        </p:spPr>
      </p:sp>
      <p:sp>
        <p:nvSpPr>
          <p:cNvPr id="11" name="Text 8"/>
          <p:cNvSpPr txBox="1"/>
          <p:nvPr/>
        </p:nvSpPr>
        <p:spPr>
          <a:xfrm>
            <a:off x="4521098" y="1508760"/>
            <a:ext cx="2875178" cy="365760"/>
          </a:xfrm>
          <a:prstGeom prst="rect">
            <a:avLst/>
          </a:prstGeom>
          <a:noFill/>
          <a:ln/>
        </p:spPr>
        <p:txBody>
          <a:bodyPr wrap="square" lIns="0" tIns="0" rIns="0" bIns="0" rtlCol="0" anchor="t"/>
          <a:lstStyle/>
          <a:p>
            <a:pPr algn="l" indent="0" marL="0">
              <a:spcAft>
                <a:spcPts val="600"/>
              </a:spcAft>
              <a:buNone/>
            </a:pPr>
            <a:r>
              <a:rPr lang="en-US" sz="1500" b="1" dirty="0">
                <a:solidFill>
                  <a:srgbClr val="6B7280"/>
                </a:solidFill>
                <a:latin typeface="Calibri" pitchFamily="34" charset="0"/>
                <a:ea typeface="Calibri" pitchFamily="34" charset="-122"/>
                <a:cs typeface="Calibri" pitchFamily="34" charset="-120"/>
              </a:rPr>
              <a:t>2. saat</a:t>
            </a:r>
            <a:endParaRPr lang="en-US" sz="1500" dirty="0"/>
          </a:p>
        </p:txBody>
      </p:sp>
      <p:sp>
        <p:nvSpPr>
          <p:cNvPr id="12" name="Text 9"/>
          <p:cNvSpPr txBox="1"/>
          <p:nvPr/>
        </p:nvSpPr>
        <p:spPr>
          <a:xfrm>
            <a:off x="4521098" y="1874520"/>
            <a:ext cx="2875178" cy="548640"/>
          </a:xfrm>
          <a:prstGeom prst="rect">
            <a:avLst/>
          </a:prstGeom>
          <a:noFill/>
          <a:ln/>
        </p:spPr>
        <p:txBody>
          <a:bodyPr wrap="square" lIns="0" tIns="0" rIns="0" bIns="0" rtlCol="0" anchor="t"/>
          <a:lstStyle/>
          <a:p>
            <a:pPr algn="l" indent="0" marL="0">
              <a:spcAft>
                <a:spcPts val="600"/>
              </a:spcAft>
              <a:buNone/>
            </a:pPr>
            <a:r>
              <a:rPr lang="en-US" sz="2400" b="1" dirty="0">
                <a:solidFill>
                  <a:srgbClr val="1F3A5F"/>
                </a:solidFill>
                <a:latin typeface="Calibri" pitchFamily="34" charset="0"/>
                <a:ea typeface="Calibri" pitchFamily="34" charset="-122"/>
                <a:cs typeface="Calibri" pitchFamily="34" charset="-120"/>
              </a:rPr>
              <a:t>Örnekler ve deneyler</a:t>
            </a:r>
            <a:endParaRPr lang="en-US" sz="2400" dirty="0"/>
          </a:p>
        </p:txBody>
      </p:sp>
      <p:sp>
        <p:nvSpPr>
          <p:cNvPr id="13" name="Text 10"/>
          <p:cNvSpPr txBox="1"/>
          <p:nvPr/>
        </p:nvSpPr>
        <p:spPr>
          <a:xfrm>
            <a:off x="4521098" y="2651760"/>
            <a:ext cx="2875178" cy="246888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Elle ileri geçiş ve gradyan</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Hibrit model (TorchLayer)</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Veri yeniden yükleme</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Karşılaştırma, çorak düzlük</a:t>
            </a:r>
            <a:endParaRPr lang="en-US" sz="1800" dirty="0"/>
          </a:p>
        </p:txBody>
      </p:sp>
      <p:sp>
        <p:nvSpPr>
          <p:cNvPr id="14" name="Shape 11"/>
          <p:cNvSpPr/>
          <p:nvPr/>
        </p:nvSpPr>
        <p:spPr>
          <a:xfrm>
            <a:off x="7944917" y="1280160"/>
            <a:ext cx="3423818" cy="3931920"/>
          </a:xfrm>
          <a:prstGeom prst="roundRect">
            <a:avLst>
              <a:gd name="adj" fmla="val 2671"/>
            </a:avLst>
          </a:prstGeom>
          <a:solidFill>
            <a:srgbClr val="E8EEF6"/>
          </a:solidFill>
          <a:ln w="12700">
            <a:solidFill>
              <a:srgbClr val="E8EEF6"/>
            </a:solidFill>
            <a:prstDash val="solid"/>
          </a:ln>
        </p:spPr>
      </p:sp>
      <p:sp>
        <p:nvSpPr>
          <p:cNvPr id="15" name="Text 12"/>
          <p:cNvSpPr txBox="1"/>
          <p:nvPr/>
        </p:nvSpPr>
        <p:spPr>
          <a:xfrm>
            <a:off x="8219237" y="1508760"/>
            <a:ext cx="2875178" cy="365760"/>
          </a:xfrm>
          <a:prstGeom prst="rect">
            <a:avLst/>
          </a:prstGeom>
          <a:noFill/>
          <a:ln/>
        </p:spPr>
        <p:txBody>
          <a:bodyPr wrap="square" lIns="0" tIns="0" rIns="0" bIns="0" rtlCol="0" anchor="t"/>
          <a:lstStyle/>
          <a:p>
            <a:pPr algn="l" indent="0" marL="0">
              <a:spcAft>
                <a:spcPts val="600"/>
              </a:spcAft>
              <a:buNone/>
            </a:pPr>
            <a:r>
              <a:rPr lang="en-US" sz="1500" b="1" dirty="0">
                <a:solidFill>
                  <a:srgbClr val="6B7280"/>
                </a:solidFill>
                <a:latin typeface="Calibri" pitchFamily="34" charset="0"/>
                <a:ea typeface="Calibri" pitchFamily="34" charset="-122"/>
                <a:cs typeface="Calibri" pitchFamily="34" charset="-120"/>
              </a:rPr>
              <a:t>3. saat</a:t>
            </a:r>
            <a:endParaRPr lang="en-US" sz="1500" dirty="0"/>
          </a:p>
        </p:txBody>
      </p:sp>
      <p:sp>
        <p:nvSpPr>
          <p:cNvPr id="16" name="Text 13"/>
          <p:cNvSpPr txBox="1"/>
          <p:nvPr/>
        </p:nvSpPr>
        <p:spPr>
          <a:xfrm>
            <a:off x="8219237" y="1874520"/>
            <a:ext cx="2875178" cy="548640"/>
          </a:xfrm>
          <a:prstGeom prst="rect">
            <a:avLst/>
          </a:prstGeom>
          <a:noFill/>
          <a:ln/>
        </p:spPr>
        <p:txBody>
          <a:bodyPr wrap="square" lIns="0" tIns="0" rIns="0" bIns="0" rtlCol="0" anchor="t"/>
          <a:lstStyle/>
          <a:p>
            <a:pPr algn="l" indent="0" marL="0">
              <a:spcAft>
                <a:spcPts val="600"/>
              </a:spcAft>
              <a:buNone/>
            </a:pPr>
            <a:r>
              <a:rPr lang="en-US" sz="2400" b="1" dirty="0">
                <a:solidFill>
                  <a:srgbClr val="1F3A5F"/>
                </a:solidFill>
                <a:latin typeface="Calibri" pitchFamily="34" charset="0"/>
                <a:ea typeface="Calibri" pitchFamily="34" charset="-122"/>
                <a:cs typeface="Calibri" pitchFamily="34" charset="-120"/>
              </a:rPr>
              <a:t>Lab (Colab)</a:t>
            </a:r>
            <a:endParaRPr lang="en-US" sz="2400" dirty="0"/>
          </a:p>
        </p:txBody>
      </p:sp>
      <p:sp>
        <p:nvSpPr>
          <p:cNvPr id="17" name="Text 14"/>
          <p:cNvSpPr txBox="1"/>
          <p:nvPr/>
        </p:nvSpPr>
        <p:spPr>
          <a:xfrm>
            <a:off x="8219237" y="2651760"/>
            <a:ext cx="2875178" cy="246888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VQC'yi sıfırdan yazmak</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TorchLayer hibrit model</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Klasik modellerle kıyas</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Barren plateau deneyi</a:t>
            </a:r>
            <a:endParaRPr lang="en-US" sz="1800" dirty="0"/>
          </a:p>
        </p:txBody>
      </p:sp>
      <p:sp>
        <p:nvSpPr>
          <p:cNvPr id="18" name="Text 15"/>
          <p:cNvSpPr txBox="1"/>
          <p:nvPr/>
        </p:nvSpPr>
        <p:spPr>
          <a:xfrm>
            <a:off x="548640" y="5486400"/>
            <a:ext cx="11094415" cy="457200"/>
          </a:xfrm>
          <a:prstGeom prst="rect">
            <a:avLst/>
          </a:prstGeom>
          <a:noFill/>
          <a:ln/>
        </p:spPr>
        <p:txBody>
          <a:bodyPr wrap="square" lIns="0" tIns="0" rIns="0" bIns="0" rtlCol="0" anchor="t"/>
          <a:lstStyle/>
          <a:p>
            <a:pPr algn="l" indent="0" marL="0">
              <a:spcAft>
                <a:spcPts val="600"/>
              </a:spcAft>
              <a:buNone/>
            </a:pPr>
            <a:r>
              <a:rPr lang="en-US" sz="1500" dirty="0">
                <a:solidFill>
                  <a:srgbClr val="6B7280"/>
                </a:solidFill>
                <a:latin typeface="Calibri" pitchFamily="34" charset="0"/>
                <a:ea typeface="Calibri" pitchFamily="34" charset="-122"/>
                <a:cs typeface="Calibri" pitchFamily="34" charset="-120"/>
              </a:rPr>
              <a:t>Ön koşul: Hafta 11 (parameter-shift), Hafta 12 (açı kodlaması), Hafta 13 (kuantum çekirdek); temel PyTorch.</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Öğrenme hedefleri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a:t>
            </a:r>
            <a:endParaRPr lang="en-US" sz="1000" dirty="0"/>
          </a:p>
        </p:txBody>
      </p:sp>
      <p:sp>
        <p:nvSpPr>
          <p:cNvPr id="6" name="Text 3"/>
          <p:cNvSpPr txBox="1"/>
          <p:nvPr/>
        </p:nvSpPr>
        <p:spPr>
          <a:xfrm>
            <a:off x="548640" y="1234440"/>
            <a:ext cx="11094415" cy="4846320"/>
          </a:xfrm>
          <a:prstGeom prst="rect">
            <a:avLst/>
          </a:prstGeom>
          <a:noFill/>
          <a:ln/>
        </p:spPr>
        <p:txBody>
          <a:bodyPr wrap="square" lIns="0" tIns="0" rIns="0" bIns="0" rtlCol="0" anchor="t"/>
          <a:lstStyle/>
          <a:p>
            <a:pPr marL="254000" indent="-254000">
              <a:spcAft>
                <a:spcPts val="700"/>
              </a:spcAft>
              <a:buSzPct val="100000"/>
              <a:buChar char="•"/>
            </a:pPr>
            <a:r>
              <a:rPr lang="en-US" sz="1800" dirty="0">
                <a:solidFill>
                  <a:srgbClr val="1F2937"/>
                </a:solidFill>
                <a:latin typeface="Calibri" pitchFamily="34" charset="0"/>
                <a:ea typeface="Calibri" pitchFamily="34" charset="-122"/>
                <a:cs typeface="Calibri" pitchFamily="34" charset="-120"/>
              </a:rPr>
              <a:t>VQC'nin üç parçasını (</a:t>
            </a:r>
            <a:r>
              <a:rPr lang="en-US" sz="1800" b="1" dirty="0">
                <a:solidFill>
                  <a:srgbClr val="1F2937"/>
                </a:solidFill>
                <a:latin typeface="Calibri" pitchFamily="34" charset="0"/>
                <a:ea typeface="Calibri" pitchFamily="34" charset="-122"/>
                <a:cs typeface="Calibri" pitchFamily="34" charset="-120"/>
              </a:rPr>
              <a:t>kodlama, ansatz, ölçüm</a:t>
            </a:r>
            <a:r>
              <a:rPr lang="en-US" sz="1800" dirty="0">
                <a:solidFill>
                  <a:srgbClr val="1F2937"/>
                </a:solidFill>
                <a:latin typeface="Calibri" pitchFamily="34" charset="0"/>
                <a:ea typeface="Calibri" pitchFamily="34" charset="-122"/>
                <a:cs typeface="Calibri" pitchFamily="34" charset="-120"/>
              </a:rPr>
              <a:t>) tanımlayıp devresini çizebilmek</a:t>
            </a:r>
            <a:endParaRPr lang="en-US" sz="1800" dirty="0"/>
          </a:p>
          <a:p>
            <a:pPr marL="254000" indent="-254000">
              <a:spcAft>
                <a:spcPts val="700"/>
              </a:spcAft>
              <a:buSzPct val="100000"/>
              <a:buChar char="•"/>
            </a:pPr>
            <a:r>
              <a:rPr lang="en-US" sz="1800" dirty="0">
                <a:solidFill>
                  <a:srgbClr val="1F2937"/>
                </a:solidFill>
                <a:latin typeface="Calibri" pitchFamily="34" charset="0"/>
                <a:ea typeface="Calibri" pitchFamily="34" charset="-122"/>
                <a:cs typeface="Calibri" pitchFamily="34" charset="-120"/>
              </a:rPr>
              <a:t>⟨Z⟩ → olasılık → </a:t>
            </a:r>
            <a:r>
              <a:rPr lang="en-US" sz="1800" b="1" dirty="0">
                <a:solidFill>
                  <a:srgbClr val="1F2937"/>
                </a:solidFill>
                <a:latin typeface="Calibri" pitchFamily="34" charset="0"/>
                <a:ea typeface="Calibri" pitchFamily="34" charset="-122"/>
                <a:cs typeface="Calibri" pitchFamily="34" charset="-120"/>
              </a:rPr>
              <a:t>BCE</a:t>
            </a:r>
            <a:r>
              <a:rPr lang="en-US" sz="1800" dirty="0">
                <a:solidFill>
                  <a:srgbClr val="1F2937"/>
                </a:solidFill>
                <a:latin typeface="Calibri" pitchFamily="34" charset="0"/>
                <a:ea typeface="Calibri" pitchFamily="34" charset="-122"/>
                <a:cs typeface="Calibri" pitchFamily="34" charset="-120"/>
              </a:rPr>
              <a:t> zincirini elle hesaplayabilmek</a:t>
            </a:r>
            <a:endParaRPr lang="en-US" sz="1800" dirty="0"/>
          </a:p>
          <a:p>
            <a:pPr marL="254000" indent="-254000">
              <a:spcAft>
                <a:spcPts val="700"/>
              </a:spcAft>
              <a:buSzPct val="100000"/>
              <a:buChar char="•"/>
            </a:pPr>
            <a:r>
              <a:rPr lang="en-US" sz="1800" dirty="0">
                <a:solidFill>
                  <a:srgbClr val="1F2937"/>
                </a:solidFill>
                <a:latin typeface="Calibri" pitchFamily="34" charset="0"/>
                <a:ea typeface="Calibri" pitchFamily="34" charset="-122"/>
                <a:cs typeface="Calibri" pitchFamily="34" charset="-120"/>
              </a:rPr>
              <a:t>VQC ile sinir ağını karşılaştırıp </a:t>
            </a:r>
            <a:r>
              <a:rPr lang="en-US" sz="1800" b="1" dirty="0">
                <a:solidFill>
                  <a:srgbClr val="1F2937"/>
                </a:solidFill>
                <a:latin typeface="Calibri" pitchFamily="34" charset="0"/>
                <a:ea typeface="Calibri" pitchFamily="34" charset="-122"/>
                <a:cs typeface="Calibri" pitchFamily="34" charset="-120"/>
              </a:rPr>
              <a:t>parametre sayısını</a:t>
            </a:r>
            <a:r>
              <a:rPr lang="en-US" sz="1800" dirty="0">
                <a:solidFill>
                  <a:srgbClr val="1F2937"/>
                </a:solidFill>
                <a:latin typeface="Calibri" pitchFamily="34" charset="0"/>
                <a:ea typeface="Calibri" pitchFamily="34" charset="-122"/>
                <a:cs typeface="Calibri" pitchFamily="34" charset="-120"/>
              </a:rPr>
              <a:t> hesaplayabilmek</a:t>
            </a:r>
            <a:endParaRPr lang="en-US" sz="1800" dirty="0"/>
          </a:p>
          <a:p>
            <a:pPr marL="254000" indent="-254000">
              <a:spcAft>
                <a:spcPts val="700"/>
              </a:spcAft>
              <a:buSzPct val="100000"/>
              <a:buChar char="•"/>
            </a:pPr>
            <a:r>
              <a:rPr lang="en-US" sz="1800" b="1" dirty="0">
                <a:solidFill>
                  <a:srgbClr val="1F2937"/>
                </a:solidFill>
                <a:latin typeface="Calibri" pitchFamily="34" charset="0"/>
                <a:ea typeface="Calibri" pitchFamily="34" charset="-122"/>
                <a:cs typeface="Calibri" pitchFamily="34" charset="-120"/>
              </a:rPr>
              <a:t>Parameter-shift</a:t>
            </a:r>
            <a:r>
              <a:rPr lang="en-US" sz="1800" dirty="0">
                <a:solidFill>
                  <a:srgbClr val="1F2937"/>
                </a:solidFill>
                <a:latin typeface="Calibri" pitchFamily="34" charset="0"/>
                <a:ea typeface="Calibri" pitchFamily="34" charset="-122"/>
                <a:cs typeface="Calibri" pitchFamily="34" charset="-120"/>
              </a:rPr>
              <a:t> ve zincir kuralıyla bir optimizasyon adımı atabilmek</a:t>
            </a:r>
            <a:endParaRPr lang="en-US" sz="1800" dirty="0"/>
          </a:p>
          <a:p>
            <a:pPr marL="254000" indent="-254000">
              <a:spcAft>
                <a:spcPts val="700"/>
              </a:spcAft>
              <a:buSzPct val="100000"/>
              <a:buChar char="•"/>
            </a:pPr>
            <a:r>
              <a:rPr lang="en-US" sz="1800" dirty="0">
                <a:solidFill>
                  <a:srgbClr val="1F2937"/>
                </a:solidFill>
                <a:latin typeface="Calibri" pitchFamily="34" charset="0"/>
                <a:ea typeface="Calibri" pitchFamily="34" charset="-122"/>
                <a:cs typeface="Calibri" pitchFamily="34" charset="-120"/>
              </a:rPr>
              <a:t>PennyLane'de </a:t>
            </a:r>
            <a:r>
              <a:rPr lang="en-US" sz="1800" dirty="0">
                <a:solidFill>
                  <a:srgbClr val="1F3A5F"/>
                </a:solidFill>
                <a:latin typeface="Courier New" pitchFamily="34" charset="0"/>
                <a:ea typeface="Courier New" pitchFamily="34" charset="-122"/>
                <a:cs typeface="Courier New" pitchFamily="34" charset="-120"/>
              </a:rPr>
              <a:t>@qml.qnode</a:t>
            </a:r>
            <a:r>
              <a:rPr lang="en-US" sz="1800" dirty="0">
                <a:solidFill>
                  <a:srgbClr val="1F2937"/>
                </a:solidFill>
                <a:latin typeface="Calibri" pitchFamily="34" charset="0"/>
                <a:ea typeface="Calibri" pitchFamily="34" charset="-122"/>
                <a:cs typeface="Calibri" pitchFamily="34" charset="-120"/>
              </a:rPr>
              <a:t>, şablonlar ve </a:t>
            </a:r>
            <a:r>
              <a:rPr lang="en-US" sz="1800" dirty="0">
                <a:solidFill>
                  <a:srgbClr val="1F3A5F"/>
                </a:solidFill>
                <a:latin typeface="Courier New" pitchFamily="34" charset="0"/>
                <a:ea typeface="Courier New" pitchFamily="34" charset="-122"/>
                <a:cs typeface="Courier New" pitchFamily="34" charset="-120"/>
              </a:rPr>
              <a:t>draw_mpl</a:t>
            </a:r>
            <a:r>
              <a:rPr lang="en-US" sz="1800" dirty="0">
                <a:solidFill>
                  <a:srgbClr val="1F2937"/>
                </a:solidFill>
                <a:latin typeface="Calibri" pitchFamily="34" charset="0"/>
                <a:ea typeface="Calibri" pitchFamily="34" charset="-122"/>
                <a:cs typeface="Calibri" pitchFamily="34" charset="-120"/>
              </a:rPr>
              <a:t> kullanabilmek; Qiskit'e çevirebilmek</a:t>
            </a:r>
            <a:endParaRPr lang="en-US" sz="1800" dirty="0"/>
          </a:p>
          <a:p>
            <a:pPr marL="254000" indent="-254000">
              <a:spcAft>
                <a:spcPts val="700"/>
              </a:spcAft>
              <a:buSzPct val="100000"/>
              <a:buChar char="•"/>
            </a:pPr>
            <a:r>
              <a:rPr lang="en-US" sz="1800" dirty="0">
                <a:solidFill>
                  <a:srgbClr val="1F3A5F"/>
                </a:solidFill>
                <a:latin typeface="Courier New" pitchFamily="34" charset="0"/>
                <a:ea typeface="Courier New" pitchFamily="34" charset="-122"/>
                <a:cs typeface="Courier New" pitchFamily="34" charset="-120"/>
              </a:rPr>
              <a:t>qml.qnn.TorchLayer</a:t>
            </a:r>
            <a:r>
              <a:rPr lang="en-US" sz="1800" dirty="0">
                <a:solidFill>
                  <a:srgbClr val="1F2937"/>
                </a:solidFill>
                <a:latin typeface="Calibri" pitchFamily="34" charset="0"/>
                <a:ea typeface="Calibri" pitchFamily="34" charset="-122"/>
                <a:cs typeface="Calibri" pitchFamily="34" charset="-120"/>
              </a:rPr>
              <a:t> ile </a:t>
            </a:r>
            <a:r>
              <a:rPr lang="en-US" sz="1800" b="1" dirty="0">
                <a:solidFill>
                  <a:srgbClr val="1F2937"/>
                </a:solidFill>
                <a:latin typeface="Calibri" pitchFamily="34" charset="0"/>
                <a:ea typeface="Calibri" pitchFamily="34" charset="-122"/>
                <a:cs typeface="Calibri" pitchFamily="34" charset="-120"/>
              </a:rPr>
              <a:t>hibrit model</a:t>
            </a:r>
            <a:r>
              <a:rPr lang="en-US" sz="1800" dirty="0">
                <a:solidFill>
                  <a:srgbClr val="1F2937"/>
                </a:solidFill>
                <a:latin typeface="Calibri" pitchFamily="34" charset="0"/>
                <a:ea typeface="Calibri" pitchFamily="34" charset="-122"/>
                <a:cs typeface="Calibri" pitchFamily="34" charset="-120"/>
              </a:rPr>
              <a:t> kurup eğitebilmek</a:t>
            </a:r>
            <a:endParaRPr lang="en-US" sz="1800" dirty="0"/>
          </a:p>
          <a:p>
            <a:pPr marL="254000" indent="-254000">
              <a:spcAft>
                <a:spcPts val="700"/>
              </a:spcAft>
              <a:buSzPct val="100000"/>
              <a:buChar char="•"/>
            </a:pPr>
            <a:r>
              <a:rPr lang="en-US" sz="1800" b="1" dirty="0">
                <a:solidFill>
                  <a:srgbClr val="1F2937"/>
                </a:solidFill>
                <a:latin typeface="Calibri" pitchFamily="34" charset="0"/>
                <a:ea typeface="Calibri" pitchFamily="34" charset="-122"/>
                <a:cs typeface="Calibri" pitchFamily="34" charset="-120"/>
              </a:rPr>
              <a:t>Veri yeniden yükleme</a:t>
            </a:r>
            <a:r>
              <a:rPr lang="en-US" sz="1800" dirty="0">
                <a:solidFill>
                  <a:srgbClr val="1F2937"/>
                </a:solidFill>
                <a:latin typeface="Calibri" pitchFamily="34" charset="0"/>
                <a:ea typeface="Calibri" pitchFamily="34" charset="-122"/>
                <a:cs typeface="Calibri" pitchFamily="34" charset="-120"/>
              </a:rPr>
              <a:t> ile tek kübitte doğrusal olmayan sınır elde edebilmek</a:t>
            </a:r>
            <a:endParaRPr lang="en-US" sz="1800" dirty="0"/>
          </a:p>
          <a:p>
            <a:pPr marL="254000" indent="-254000">
              <a:spcAft>
                <a:spcPts val="700"/>
              </a:spcAft>
              <a:buSzPct val="100000"/>
              <a:buChar char="•"/>
            </a:pPr>
            <a:r>
              <a:rPr lang="en-US" sz="1800" dirty="0">
                <a:solidFill>
                  <a:srgbClr val="1F2937"/>
                </a:solidFill>
                <a:latin typeface="Calibri" pitchFamily="34" charset="0"/>
                <a:ea typeface="Calibri" pitchFamily="34" charset="-122"/>
                <a:cs typeface="Calibri" pitchFamily="34" charset="-120"/>
              </a:rPr>
              <a:t>Kuantum ve klasik modelleri </a:t>
            </a:r>
            <a:r>
              <a:rPr lang="en-US" sz="1800" b="1" dirty="0">
                <a:solidFill>
                  <a:srgbClr val="1F2937"/>
                </a:solidFill>
                <a:latin typeface="Calibri" pitchFamily="34" charset="0"/>
                <a:ea typeface="Calibri" pitchFamily="34" charset="-122"/>
                <a:cs typeface="Calibri" pitchFamily="34" charset="-120"/>
              </a:rPr>
              <a:t>adil</a:t>
            </a:r>
            <a:r>
              <a:rPr lang="en-US" sz="1800" dirty="0">
                <a:solidFill>
                  <a:srgbClr val="1F2937"/>
                </a:solidFill>
                <a:latin typeface="Calibri" pitchFamily="34" charset="0"/>
                <a:ea typeface="Calibri" pitchFamily="34" charset="-122"/>
                <a:cs typeface="Calibri" pitchFamily="34" charset="-120"/>
              </a:rPr>
              <a:t> karşılaştırabilmek</a:t>
            </a:r>
            <a:endParaRPr lang="en-US" sz="1800" dirty="0"/>
          </a:p>
          <a:p>
            <a:pPr marL="254000" indent="-254000">
              <a:spcAft>
                <a:spcPts val="700"/>
              </a:spcAft>
              <a:buSzPct val="100000"/>
              <a:buChar char="•"/>
            </a:pPr>
            <a:r>
              <a:rPr lang="en-US" sz="1800" b="1" dirty="0">
                <a:solidFill>
                  <a:srgbClr val="1F2937"/>
                </a:solidFill>
                <a:latin typeface="Calibri" pitchFamily="34" charset="0"/>
                <a:ea typeface="Calibri" pitchFamily="34" charset="-122"/>
                <a:cs typeface="Calibri" pitchFamily="34" charset="-120"/>
              </a:rPr>
              <a:t>Çorak düzlüğü</a:t>
            </a:r>
            <a:r>
              <a:rPr lang="en-US" sz="1800" dirty="0">
                <a:solidFill>
                  <a:srgbClr val="1F2937"/>
                </a:solidFill>
                <a:latin typeface="Calibri" pitchFamily="34" charset="0"/>
                <a:ea typeface="Calibri" pitchFamily="34" charset="-122"/>
                <a:cs typeface="Calibri" pitchFamily="34" charset="-120"/>
              </a:rPr>
              <a:t> sayısal olarak gösterip çözümlerini açıklayabilmek</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Nereden geldik? Son üç haftanın parçaları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1109442"/>
                <a:gridCol w="4992487"/>
                <a:gridCol w="4992487"/>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Hafta</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Ne öğrendik?</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Bu hafta nerede?</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66928">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⟨Z⟩ = P(0) − P(1)</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Model çıktısı → olasılık</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66928">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7</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PennyLane'e ilk bakış</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Ana araç: QNode, şablonlar, TorchLayer</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66928">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11</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Parametreli devre, </a:t>
                      </a:r>
                      <a:r>
                        <a:rPr lang="en-US" sz="1700" b="1" dirty="0">
                          <a:solidFill>
                            <a:srgbClr val="1F2937"/>
                          </a:solidFill>
                          <a:latin typeface="Calibri" pitchFamily="34" charset="0"/>
                          <a:ea typeface="Calibri" pitchFamily="34" charset="-122"/>
                          <a:cs typeface="Calibri" pitchFamily="34" charset="-120"/>
                        </a:rPr>
                        <a:t>parameter-shift</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VQC'nin gradyanı, eğitim döngüsü</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66928">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12</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Veri kodlama (açı, genlik)</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Kodlama katmanı: </a:t>
                      </a:r>
                      <a:r>
                        <a:rPr lang="en-US" sz="1700" dirty="0">
                          <a:solidFill>
                            <a:srgbClr val="1F3A5F"/>
                          </a:solidFill>
                          <a:latin typeface="Courier New" pitchFamily="34" charset="0"/>
                          <a:ea typeface="Courier New" pitchFamily="34" charset="-122"/>
                          <a:cs typeface="Courier New" pitchFamily="34" charset="-120"/>
                        </a:rPr>
                        <a:t>AngleEmbedding</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66928">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13</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Kuantum çekirdek, QSVM (devre </a:t>
                      </a:r>
                      <a:r>
                        <a:rPr lang="en-US" sz="1700" b="1" dirty="0">
                          <a:solidFill>
                            <a:srgbClr val="1F2937"/>
                          </a:solidFill>
                          <a:latin typeface="Calibri" pitchFamily="34" charset="0"/>
                          <a:ea typeface="Calibri" pitchFamily="34" charset="-122"/>
                          <a:cs typeface="Calibri" pitchFamily="34" charset="-120"/>
                        </a:rPr>
                        <a:t>sabit</a:t>
                      </a:r>
                      <a:r>
                        <a:rPr lang="en-US" sz="1700" dirty="0">
                          <a:solidFill>
                            <a:srgbClr val="1F2937"/>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F2937"/>
                          </a:solidFill>
                          <a:latin typeface="Calibri" pitchFamily="34" charset="0"/>
                          <a:ea typeface="Calibri" pitchFamily="34" charset="-122"/>
                          <a:cs typeface="Calibri" pitchFamily="34" charset="-120"/>
                        </a:rPr>
                        <a:t>Karşılaştırma: VQC'de devre </a:t>
                      </a:r>
                      <a:r>
                        <a:rPr lang="en-US" sz="1700" b="1" dirty="0">
                          <a:solidFill>
                            <a:srgbClr val="1F2937"/>
                          </a:solidFill>
                          <a:latin typeface="Calibri" pitchFamily="34" charset="0"/>
                          <a:ea typeface="Calibri" pitchFamily="34" charset="-122"/>
                          <a:cs typeface="Calibri" pitchFamily="34" charset="-120"/>
                        </a:rPr>
                        <a:t>öğrenir</a:t>
                      </a:r>
                      <a:endParaRPr lang="en-US" sz="17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617720"/>
            <a:ext cx="11094415" cy="1234440"/>
          </a:xfrm>
          <a:prstGeom prst="roundRect">
            <a:avLst>
              <a:gd name="adj" fmla="val 5926"/>
            </a:avLst>
          </a:prstGeom>
          <a:solidFill>
            <a:srgbClr val="E8EEF6"/>
          </a:solidFill>
          <a:ln w="12700">
            <a:solidFill>
              <a:srgbClr val="E8EEF6"/>
            </a:solidFill>
            <a:prstDash val="solid"/>
          </a:ln>
        </p:spPr>
      </p:sp>
      <p:sp>
        <p:nvSpPr>
          <p:cNvPr id="8" name="Text 4"/>
          <p:cNvSpPr txBox="1"/>
          <p:nvPr/>
        </p:nvSpPr>
        <p:spPr>
          <a:xfrm>
            <a:off x="731520" y="4727448"/>
            <a:ext cx="10728655" cy="101498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Bu haftanın fikri</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Kuantum devresi = </a:t>
            </a:r>
            <a:r>
              <a:rPr lang="en-US" sz="1700" b="1" dirty="0">
                <a:solidFill>
                  <a:srgbClr val="1F2937"/>
                </a:solidFill>
                <a:latin typeface="Calibri" pitchFamily="34" charset="0"/>
                <a:ea typeface="Calibri" pitchFamily="34" charset="-122"/>
                <a:cs typeface="Calibri" pitchFamily="34" charset="-120"/>
              </a:rPr>
              <a:t>türevlenebilir parametreli fonksiyon</a:t>
            </a:r>
            <a:r>
              <a:rPr lang="en-US" sz="1700" dirty="0">
                <a:solidFill>
                  <a:srgbClr val="1F2937"/>
                </a:solidFill>
                <a:latin typeface="Calibri" pitchFamily="34" charset="0"/>
                <a:ea typeface="Calibri" pitchFamily="34" charset="-122"/>
                <a:cs typeface="Calibri" pitchFamily="34" charset="-120"/>
              </a:rPr>
              <a:t> f(x; θ). Kayıp, gradyan, Adam, mini-batch: hepsi derin öğrenmeden bildiğimiz araçlar.</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01</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VQC'nin anatomisi</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Kodlama + eğitilebilir ansatz + ölçüm → sınıf skoru</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VQC = kodlama + ansatz + ölçüm</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6</a:t>
            </a:r>
            <a:endParaRPr lang="en-US" sz="1000" dirty="0"/>
          </a:p>
        </p:txBody>
      </p:sp>
      <p:pic>
        <p:nvPicPr>
          <p:cNvPr id="6" name="Image 0" descr="görsel">    </p:cNvPr>
          <p:cNvPicPr>
            <a:picLocks noChangeAspect="1"/>
          </p:cNvPicPr>
          <p:nvPr/>
        </p:nvPicPr>
        <p:blipFill>
          <a:blip r:embed="rId1"/>
          <a:stretch>
            <a:fillRect/>
          </a:stretch>
        </p:blipFill>
        <p:spPr>
          <a:xfrm>
            <a:off x="634840" y="1143000"/>
            <a:ext cx="10922015" cy="3566160"/>
          </a:xfrm>
          <a:prstGeom prst="rect">
            <a:avLst/>
          </a:prstGeom>
        </p:spPr>
      </p:pic>
      <p:sp>
        <p:nvSpPr>
          <p:cNvPr id="7" name="Shape 3"/>
          <p:cNvSpPr/>
          <p:nvPr/>
        </p:nvSpPr>
        <p:spPr>
          <a:xfrm>
            <a:off x="548640" y="4892040"/>
            <a:ext cx="11094415" cy="914400"/>
          </a:xfrm>
          <a:prstGeom prst="roundRect">
            <a:avLst>
              <a:gd name="adj" fmla="val 10000"/>
            </a:avLst>
          </a:prstGeom>
          <a:solidFill>
            <a:srgbClr val="E8EEF6"/>
          </a:solidFill>
          <a:ln w="12700">
            <a:solidFill>
              <a:srgbClr val="E8EEF6"/>
            </a:solidFill>
            <a:prstDash val="solid"/>
          </a:ln>
        </p:spPr>
      </p:sp>
      <p:sp>
        <p:nvSpPr>
          <p:cNvPr id="8" name="Text 4"/>
          <p:cNvSpPr txBox="1"/>
          <p:nvPr/>
        </p:nvSpPr>
        <p:spPr>
          <a:xfrm>
            <a:off x="548640" y="4892040"/>
            <a:ext cx="11094415" cy="914400"/>
          </a:xfrm>
          <a:prstGeom prst="rect">
            <a:avLst/>
          </a:prstGeom>
          <a:noFill/>
          <a:ln/>
        </p:spPr>
        <p:txBody>
          <a:bodyPr wrap="square" lIns="0" tIns="0" rIns="0" bIns="0" rtlCol="0" anchor="ctr"/>
          <a:lstStyle/>
          <a:p>
            <a:pPr algn="ctr" indent="0" marL="0">
              <a:buNone/>
            </a:pPr>
            <a:r>
              <a:rPr lang="en-US" sz="2400" dirty="0">
                <a:solidFill>
                  <a:srgbClr val="1F3A5F"/>
                </a:solidFill>
                <a:latin typeface="Cambria" pitchFamily="34" charset="0"/>
                <a:ea typeface="Cambria" pitchFamily="34" charset="-122"/>
                <a:cs typeface="Cambria" pitchFamily="34" charset="-120"/>
              </a:rPr>
              <a:t>f(x; θ) = ⟨0| S(x)† U(θ)† Z U(θ) S(x) |0⟩ = ⟨Z⟩</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Devre: moons için 2 kübit, 1 katman</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7</a:t>
            </a:r>
            <a:endParaRPr lang="en-US" sz="1000" dirty="0"/>
          </a:p>
        </p:txBody>
      </p:sp>
      <p:pic>
        <p:nvPicPr>
          <p:cNvPr id="6" name="Image 0" descr="görsel">    </p:cNvPr>
          <p:cNvPicPr>
            <a:picLocks noChangeAspect="1"/>
          </p:cNvPicPr>
          <p:nvPr/>
        </p:nvPicPr>
        <p:blipFill>
          <a:blip r:embed="rId1"/>
          <a:stretch>
            <a:fillRect/>
          </a:stretch>
        </p:blipFill>
        <p:spPr>
          <a:xfrm>
            <a:off x="548640" y="1269045"/>
            <a:ext cx="6766560" cy="285687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589520" y="1280160"/>
          <a:ext cx="4053535" cy="914400"/>
        </p:xfrm>
        <a:graphic>
          <a:graphicData uri="http://schemas.openxmlformats.org/drawingml/2006/table">
            <a:tbl>
              <a:tblPr/>
              <a:tblGrid>
                <a:gridCol w="1216061"/>
                <a:gridCol w="2026768"/>
                <a:gridCol w="810707"/>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Katman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Kapılar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Parametre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4864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Kodlama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RY(x₁), RY(x₂)</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Ansatz</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RY·RZ her kübite + CNOT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4864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Ölçüm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⟨Z⟩ son kübit (q₁)</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
        <p:nvSpPr>
          <p:cNvPr id="8" name="Shape 3"/>
          <p:cNvSpPr/>
          <p:nvPr/>
        </p:nvSpPr>
        <p:spPr>
          <a:xfrm>
            <a:off x="7589520" y="3657600"/>
            <a:ext cx="4053535" cy="2194560"/>
          </a:xfrm>
          <a:prstGeom prst="roundRect">
            <a:avLst>
              <a:gd name="adj" fmla="val 3333"/>
            </a:avLst>
          </a:prstGeom>
          <a:solidFill>
            <a:srgbClr val="FDF3E8"/>
          </a:solidFill>
          <a:ln w="12700">
            <a:solidFill>
              <a:srgbClr val="FDF3E8"/>
            </a:solidFill>
            <a:prstDash val="solid"/>
          </a:ln>
        </p:spPr>
      </p:sp>
      <p:sp>
        <p:nvSpPr>
          <p:cNvPr id="9" name="Text 4"/>
          <p:cNvSpPr txBox="1"/>
          <p:nvPr/>
        </p:nvSpPr>
        <p:spPr>
          <a:xfrm>
            <a:off x="7772400" y="3767328"/>
            <a:ext cx="3687775" cy="1975104"/>
          </a:xfrm>
          <a:prstGeom prst="rect">
            <a:avLst/>
          </a:prstGeom>
          <a:noFill/>
          <a:ln/>
        </p:spPr>
        <p:txBody>
          <a:bodyPr wrap="square" lIns="0" tIns="0" rIns="0" bIns="0" rtlCol="0" anchor="t"/>
          <a:lstStyle/>
          <a:p>
            <a:pPr algn="l" indent="0" marL="0">
              <a:spcAft>
                <a:spcPts val="600"/>
              </a:spcAft>
              <a:buNone/>
            </a:pPr>
            <a:r>
              <a:rPr lang="en-US" sz="1700" b="1" dirty="0">
                <a:solidFill>
                  <a:srgbClr val="D9822B"/>
                </a:solidFill>
                <a:latin typeface="Calibri" pitchFamily="34" charset="0"/>
                <a:ea typeface="Calibri" pitchFamily="34" charset="-122"/>
                <a:cs typeface="Calibri" pitchFamily="34" charset="-120"/>
              </a:rPr>
              <a:t>Neden son kübit?</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CNOT halkasında son kübit </a:t>
            </a:r>
            <a:r>
              <a:rPr lang="en-US" sz="1500" b="1" dirty="0">
                <a:solidFill>
                  <a:srgbClr val="1F2937"/>
                </a:solidFill>
                <a:latin typeface="Calibri" pitchFamily="34" charset="0"/>
                <a:ea typeface="Calibri" pitchFamily="34" charset="-122"/>
                <a:cs typeface="Calibri" pitchFamily="34" charset="-120"/>
              </a:rPr>
              <a:t>tüm önceki kübitlerden</a:t>
            </a:r>
            <a:r>
              <a:rPr lang="en-US" sz="1500" dirty="0">
                <a:solidFill>
                  <a:srgbClr val="1F2937"/>
                </a:solidFill>
                <a:latin typeface="Calibri" pitchFamily="34" charset="0"/>
                <a:ea typeface="Calibri" pitchFamily="34" charset="-122"/>
                <a:cs typeface="Calibri" pitchFamily="34" charset="-120"/>
              </a:rPr>
              <a:t> CNOT alır.</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İlk kübitte ölçersek 1 katmanlı modelde x₂ hiç görülmez.</a:t>
            </a:r>
            <a:endParaRPr lang="en-US" sz="1700" dirty="0"/>
          </a:p>
        </p:txBody>
      </p:sp>
      <p:sp>
        <p:nvSpPr>
          <p:cNvPr id="10" name="Shape 5"/>
          <p:cNvSpPr/>
          <p:nvPr/>
        </p:nvSpPr>
        <p:spPr>
          <a:xfrm>
            <a:off x="548640" y="4480560"/>
            <a:ext cx="6766560" cy="1371600"/>
          </a:xfrm>
          <a:prstGeom prst="roundRect">
            <a:avLst>
              <a:gd name="adj" fmla="val 5333"/>
            </a:avLst>
          </a:prstGeom>
          <a:solidFill>
            <a:srgbClr val="E8EEF6"/>
          </a:solidFill>
          <a:ln w="12700">
            <a:solidFill>
              <a:srgbClr val="E8EEF6"/>
            </a:solidFill>
            <a:prstDash val="solid"/>
          </a:ln>
        </p:spPr>
      </p:sp>
      <p:sp>
        <p:nvSpPr>
          <p:cNvPr id="11" name="Text 6"/>
          <p:cNvSpPr txBox="1"/>
          <p:nvPr/>
        </p:nvSpPr>
        <p:spPr>
          <a:xfrm>
            <a:off x="731520" y="4590288"/>
            <a:ext cx="6400800" cy="1152144"/>
          </a:xfrm>
          <a:prstGeom prst="rect">
            <a:avLst/>
          </a:prstGeom>
          <a:noFill/>
          <a:ln/>
        </p:spPr>
        <p:txBody>
          <a:bodyPr wrap="square" lIns="0" tIns="0" rIns="0" bIns="0" rtlCol="0" anchor="ctr"/>
          <a:lstStyle/>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CNOT = kübitler arası bilgi akışı. Klasik ML'deki </a:t>
            </a:r>
            <a:r>
              <a:rPr lang="en-US" sz="1600" b="1" dirty="0">
                <a:solidFill>
                  <a:srgbClr val="1F2937"/>
                </a:solidFill>
                <a:latin typeface="Calibri" pitchFamily="34" charset="0"/>
                <a:ea typeface="Calibri" pitchFamily="34" charset="-122"/>
                <a:cs typeface="Calibri" pitchFamily="34" charset="-120"/>
              </a:rPr>
              <a:t>etkileşim terimi</a:t>
            </a:r>
            <a:r>
              <a:rPr lang="en-US" sz="1600" dirty="0">
                <a:solidFill>
                  <a:srgbClr val="1F2937"/>
                </a:solidFill>
                <a:latin typeface="Calibri" pitchFamily="34" charset="0"/>
                <a:ea typeface="Calibri" pitchFamily="34" charset="-122"/>
                <a:cs typeface="Calibri" pitchFamily="34" charset="-120"/>
              </a:rPr>
              <a:t> (x₁·x₂) gibi davranır (Örnek 3).</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Devre: iris2 için 4 kübit, 2 katman, CNOT halkası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8</a:t>
            </a:r>
            <a:endParaRPr lang="en-US" sz="1000" dirty="0"/>
          </a:p>
        </p:txBody>
      </p:sp>
      <p:pic>
        <p:nvPicPr>
          <p:cNvPr id="6" name="Image 0" descr="görsel">    </p:cNvPr>
          <p:cNvPicPr>
            <a:picLocks noChangeAspect="1"/>
          </p:cNvPicPr>
          <p:nvPr/>
        </p:nvPicPr>
        <p:blipFill>
          <a:blip r:embed="rId1"/>
          <a:stretch>
            <a:fillRect/>
          </a:stretch>
        </p:blipFill>
        <p:spPr>
          <a:xfrm>
            <a:off x="548640" y="1162232"/>
            <a:ext cx="11094415" cy="2979056"/>
          </a:xfrm>
          <a:prstGeom prst="rect">
            <a:avLst/>
          </a:prstGeom>
        </p:spPr>
      </p:pic>
      <p:sp>
        <p:nvSpPr>
          <p:cNvPr id="7" name="Shape 3"/>
          <p:cNvSpPr/>
          <p:nvPr/>
        </p:nvSpPr>
        <p:spPr>
          <a:xfrm>
            <a:off x="548640" y="4389120"/>
            <a:ext cx="3469538" cy="1463040"/>
          </a:xfrm>
          <a:prstGeom prst="roundRect">
            <a:avLst>
              <a:gd name="adj" fmla="val 5000"/>
            </a:avLst>
          </a:prstGeom>
          <a:solidFill>
            <a:srgbClr val="E8EEF6"/>
          </a:solidFill>
          <a:ln w="12700">
            <a:solidFill>
              <a:srgbClr val="E8EEF6"/>
            </a:solidFill>
            <a:prstDash val="solid"/>
          </a:ln>
        </p:spPr>
      </p:sp>
      <p:sp>
        <p:nvSpPr>
          <p:cNvPr id="8" name="Text 4"/>
          <p:cNvSpPr txBox="1"/>
          <p:nvPr/>
        </p:nvSpPr>
        <p:spPr>
          <a:xfrm>
            <a:off x="731520" y="4498848"/>
            <a:ext cx="3103778" cy="124358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Kodlama</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4 özellik → 4 kübit</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RY(xᵢ)</a:t>
            </a:r>
            <a:endParaRPr lang="en-US" sz="1700" dirty="0"/>
          </a:p>
        </p:txBody>
      </p:sp>
      <p:sp>
        <p:nvSpPr>
          <p:cNvPr id="9" name="Shape 5"/>
          <p:cNvSpPr/>
          <p:nvPr/>
        </p:nvSpPr>
        <p:spPr>
          <a:xfrm>
            <a:off x="4246778" y="4389120"/>
            <a:ext cx="3469538" cy="1463040"/>
          </a:xfrm>
          <a:prstGeom prst="roundRect">
            <a:avLst>
              <a:gd name="adj" fmla="val 5000"/>
            </a:avLst>
          </a:prstGeom>
          <a:solidFill>
            <a:srgbClr val="E8EEF6"/>
          </a:solidFill>
          <a:ln w="12700">
            <a:solidFill>
              <a:srgbClr val="E8EEF6"/>
            </a:solidFill>
            <a:prstDash val="solid"/>
          </a:ln>
        </p:spPr>
      </p:sp>
      <p:sp>
        <p:nvSpPr>
          <p:cNvPr id="10" name="Text 6"/>
          <p:cNvSpPr txBox="1"/>
          <p:nvPr/>
        </p:nvSpPr>
        <p:spPr>
          <a:xfrm>
            <a:off x="4429658" y="4498848"/>
            <a:ext cx="3103778" cy="124358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Katman başına</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4 × (RY + RZ) = 8 açı</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+ 4 CNOT (halka)</a:t>
            </a:r>
            <a:endParaRPr lang="en-US" sz="1700" dirty="0"/>
          </a:p>
        </p:txBody>
      </p:sp>
      <p:sp>
        <p:nvSpPr>
          <p:cNvPr id="11" name="Shape 7"/>
          <p:cNvSpPr/>
          <p:nvPr/>
        </p:nvSpPr>
        <p:spPr>
          <a:xfrm>
            <a:off x="7944917" y="4389120"/>
            <a:ext cx="3469538" cy="1463040"/>
          </a:xfrm>
          <a:prstGeom prst="roundRect">
            <a:avLst>
              <a:gd name="adj" fmla="val 5000"/>
            </a:avLst>
          </a:prstGeom>
          <a:solidFill>
            <a:srgbClr val="E8EEF6"/>
          </a:solidFill>
          <a:ln w="12700">
            <a:solidFill>
              <a:srgbClr val="E8EEF6"/>
            </a:solidFill>
            <a:prstDash val="solid"/>
          </a:ln>
        </p:spPr>
      </p:sp>
      <p:sp>
        <p:nvSpPr>
          <p:cNvPr id="12" name="Text 8"/>
          <p:cNvSpPr txBox="1"/>
          <p:nvPr/>
        </p:nvSpPr>
        <p:spPr>
          <a:xfrm>
            <a:off x="8127797" y="4498848"/>
            <a:ext cx="3103778" cy="124358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Toplam</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2 · n · L = 2 · 4 · 2</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 16 parametre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Ölçümden sınıf skoruna: ⟨Z⟩ → p</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9</a:t>
            </a:r>
            <a:endParaRPr lang="en-US" sz="1000" dirty="0"/>
          </a:p>
        </p:txBody>
      </p:sp>
      <p:pic>
        <p:nvPicPr>
          <p:cNvPr id="6" name="Image 0" descr="görsel">    </p:cNvPr>
          <p:cNvPicPr>
            <a:picLocks noChangeAspect="1"/>
          </p:cNvPicPr>
          <p:nvPr/>
        </p:nvPicPr>
        <p:blipFill>
          <a:blip r:embed="rId1"/>
          <a:stretch>
            <a:fillRect/>
          </a:stretch>
        </p:blipFill>
        <p:spPr>
          <a:xfrm>
            <a:off x="879134" y="1097280"/>
            <a:ext cx="10433428" cy="3566160"/>
          </a:xfrm>
          <a:prstGeom prst="rect">
            <a:avLst/>
          </a:prstGeom>
        </p:spPr>
      </p:pic>
      <p:sp>
        <p:nvSpPr>
          <p:cNvPr id="7" name="Shape 3"/>
          <p:cNvSpPr/>
          <p:nvPr/>
        </p:nvSpPr>
        <p:spPr>
          <a:xfrm>
            <a:off x="548640" y="4846320"/>
            <a:ext cx="11094415" cy="960120"/>
          </a:xfrm>
          <a:prstGeom prst="roundRect">
            <a:avLst>
              <a:gd name="adj" fmla="val 9524"/>
            </a:avLst>
          </a:prstGeom>
          <a:solidFill>
            <a:srgbClr val="E8EEF6"/>
          </a:solidFill>
          <a:ln w="12700">
            <a:solidFill>
              <a:srgbClr val="E8EEF6"/>
            </a:solidFill>
            <a:prstDash val="solid"/>
          </a:ln>
        </p:spPr>
      </p:sp>
      <p:sp>
        <p:nvSpPr>
          <p:cNvPr id="8" name="Text 4"/>
          <p:cNvSpPr txBox="1"/>
          <p:nvPr/>
        </p:nvSpPr>
        <p:spPr>
          <a:xfrm>
            <a:off x="548640" y="4846320"/>
            <a:ext cx="11094415" cy="960120"/>
          </a:xfrm>
          <a:prstGeom prst="rect">
            <a:avLst/>
          </a:prstGeom>
          <a:noFill/>
          <a:ln/>
        </p:spPr>
        <p:txBody>
          <a:bodyPr wrap="square" lIns="0" tIns="0" rIns="0" bIns="0" rtlCol="0" anchor="ctr"/>
          <a:lstStyle/>
          <a:p>
            <a:pPr algn="ctr" indent="0" marL="0">
              <a:buNone/>
            </a:pPr>
            <a:r>
              <a:rPr lang="en-US" sz="2200" dirty="0">
                <a:solidFill>
                  <a:srgbClr val="1F3A5F"/>
                </a:solidFill>
                <a:latin typeface="Cambria" pitchFamily="34" charset="0"/>
                <a:ea typeface="Cambria" pitchFamily="34" charset="-122"/>
                <a:cs typeface="Cambria" pitchFamily="34" charset="-120"/>
              </a:rPr>
              <a:t>p = P(ölçüm = 1) = (1 − ⟨Z⟩)/2        ŷ = 1  ⇔  p &gt; 0,5  ⇔  ⟨Z⟩ &lt; 0</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Klasik sinir ağı ve VQC yan yana</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10</a:t>
            </a:r>
            <a:endParaRPr lang="en-US" sz="1000" dirty="0"/>
          </a:p>
        </p:txBody>
      </p:sp>
      <p:pic>
        <p:nvPicPr>
          <p:cNvPr id="6" name="Image 0" descr="görsel">    </p:cNvPr>
          <p:cNvPicPr>
            <a:picLocks noChangeAspect="1"/>
          </p:cNvPicPr>
          <p:nvPr/>
        </p:nvPicPr>
        <p:blipFill>
          <a:blip r:embed="rId1"/>
          <a:stretch>
            <a:fillRect/>
          </a:stretch>
        </p:blipFill>
        <p:spPr>
          <a:xfrm>
            <a:off x="990814" y="1097280"/>
            <a:ext cx="10210068" cy="3931920"/>
          </a:xfrm>
          <a:prstGeom prst="rect">
            <a:avLst/>
          </a:prstGeom>
        </p:spPr>
      </p:pic>
      <p:sp>
        <p:nvSpPr>
          <p:cNvPr id="7" name="Text 3"/>
          <p:cNvSpPr txBox="1"/>
          <p:nvPr/>
        </p:nvSpPr>
        <p:spPr>
          <a:xfrm>
            <a:off x="548640" y="5212080"/>
            <a:ext cx="11094415" cy="548640"/>
          </a:xfrm>
          <a:prstGeom prst="rect">
            <a:avLst/>
          </a:prstGeom>
          <a:noFill/>
          <a:ln/>
        </p:spPr>
        <p:txBody>
          <a:bodyPr wrap="square" lIns="0" tIns="0" rIns="0" bIns="0" rtlCol="0" anchor="t"/>
          <a:lstStyle/>
          <a:p>
            <a:pPr algn="ctr" indent="0" marL="0">
              <a:spcAft>
                <a:spcPts val="600"/>
              </a:spcAft>
              <a:buNone/>
            </a:pPr>
            <a:r>
              <a:rPr lang="en-US" sz="1700" dirty="0">
                <a:solidFill>
                  <a:srgbClr val="1F3A5F"/>
                </a:solidFill>
                <a:latin typeface="Calibri" pitchFamily="34" charset="0"/>
                <a:ea typeface="Calibri" pitchFamily="34" charset="-122"/>
                <a:cs typeface="Calibri" pitchFamily="34" charset="-120"/>
              </a:rPr>
              <a:t>Solda: ağırlık × girdi + aktivasyon.  Sağda: kodlama → eğitilebilir açılar → dolanıklık → ⟨Z⟩.</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Kavram eşlemesi: nöron ↔ kübit, ağırlık ↔ açı, aktivasyon ↔ ?</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3106436"/>
                <a:gridCol w="3550213"/>
                <a:gridCol w="4437766"/>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Klasik sinir ağı</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VQC</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Fark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6692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Nöron</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Kübit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n kübit 2ⁿ genlik taşır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6692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Ağırlık w, bias b</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Döndürme açısı θ</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Açı periyodik: θ ≡ θ + 2π</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6692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Linear katman W·x</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Üniter U(θ)</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Normu korur, bilgi kaybetmez</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6692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Aktivasyon σ</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b="1" dirty="0">
                          <a:solidFill>
                            <a:srgbClr val="1F2937"/>
                          </a:solidFill>
                          <a:latin typeface="Calibri" pitchFamily="34" charset="0"/>
                          <a:ea typeface="Calibri" pitchFamily="34" charset="-122"/>
                          <a:cs typeface="Calibri" pitchFamily="34" charset="-120"/>
                        </a:rPr>
                        <a:t>? Yok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Kapılar doğrusal</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6692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Çıktı + sigmoid</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⟨Z⟩ + (1 − ⟨Z⟩)/2</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Doğal olarak [0, 1]</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6692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Backprop</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Parameter-shift (donanım)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Ara değerler okunamaz</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6692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Ara değer okuma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Ölçüm yıkıcı, shot gerekir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Her çıktı istatistiksel tahmin</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Aktivasyon yoksa doğrusal olmama nereden geliyor?</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48640" y="1280160"/>
            <a:ext cx="5410048" cy="2377440"/>
          </a:xfrm>
          <a:prstGeom prst="roundRect">
            <a:avLst>
              <a:gd name="adj" fmla="val 3077"/>
            </a:avLst>
          </a:prstGeom>
          <a:solidFill>
            <a:srgbClr val="E8EEF6"/>
          </a:solidFill>
          <a:ln w="12700">
            <a:solidFill>
              <a:srgbClr val="E8EEF6"/>
            </a:solidFill>
            <a:prstDash val="solid"/>
          </a:ln>
        </p:spPr>
      </p:sp>
      <p:sp>
        <p:nvSpPr>
          <p:cNvPr id="7" name="Text 4"/>
          <p:cNvSpPr txBox="1"/>
          <p:nvPr/>
        </p:nvSpPr>
        <p:spPr>
          <a:xfrm>
            <a:off x="731520" y="1389888"/>
            <a:ext cx="5044288" cy="215798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1 · Kodlama</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RY(x)|0⟩ = [cos(x/2), sin(x/2)]</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Genlikler x'e göre </a:t>
            </a:r>
            <a:r>
              <a:rPr lang="en-US" sz="1700" b="1" dirty="0">
                <a:solidFill>
                  <a:srgbClr val="1F2937"/>
                </a:solidFill>
                <a:latin typeface="Calibri" pitchFamily="34" charset="0"/>
                <a:ea typeface="Calibri" pitchFamily="34" charset="-122"/>
                <a:cs typeface="Calibri" pitchFamily="34" charset="-120"/>
              </a:rPr>
              <a:t>doğrusal değil</a:t>
            </a:r>
            <a:endParaRPr lang="en-US" sz="1700" dirty="0"/>
          </a:p>
        </p:txBody>
      </p:sp>
      <p:sp>
        <p:nvSpPr>
          <p:cNvPr id="8" name="Shape 5"/>
          <p:cNvSpPr/>
          <p:nvPr/>
        </p:nvSpPr>
        <p:spPr>
          <a:xfrm>
            <a:off x="6233008" y="1280160"/>
            <a:ext cx="5410048" cy="2377440"/>
          </a:xfrm>
          <a:prstGeom prst="roundRect">
            <a:avLst>
              <a:gd name="adj" fmla="val 3077"/>
            </a:avLst>
          </a:prstGeom>
          <a:solidFill>
            <a:srgbClr val="E8EEF6"/>
          </a:solidFill>
          <a:ln w="12700">
            <a:solidFill>
              <a:srgbClr val="E8EEF6"/>
            </a:solidFill>
            <a:prstDash val="solid"/>
          </a:ln>
        </p:spPr>
      </p:sp>
      <p:sp>
        <p:nvSpPr>
          <p:cNvPr id="9" name="Text 6"/>
          <p:cNvSpPr txBox="1"/>
          <p:nvPr/>
        </p:nvSpPr>
        <p:spPr>
          <a:xfrm>
            <a:off x="6415888" y="1389888"/>
            <a:ext cx="5044288" cy="215798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2 · Ölçüm</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P = |genlik|²</a:t>
            </a:r>
            <a:endParaRPr lang="en-US" sz="17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⟨Z⟩ genliklerin </a:t>
            </a:r>
            <a:r>
              <a:rPr lang="en-US" sz="1700" b="1" dirty="0">
                <a:solidFill>
                  <a:srgbClr val="1F2937"/>
                </a:solidFill>
                <a:latin typeface="Calibri" pitchFamily="34" charset="0"/>
                <a:ea typeface="Calibri" pitchFamily="34" charset="-122"/>
                <a:cs typeface="Calibri" pitchFamily="34" charset="-120"/>
              </a:rPr>
              <a:t>karesel</a:t>
            </a:r>
            <a:r>
              <a:rPr lang="en-US" sz="1700" dirty="0">
                <a:solidFill>
                  <a:srgbClr val="1F2937"/>
                </a:solidFill>
                <a:latin typeface="Calibri" pitchFamily="34" charset="0"/>
                <a:ea typeface="Calibri" pitchFamily="34" charset="-122"/>
                <a:cs typeface="Calibri" pitchFamily="34" charset="-120"/>
              </a:rPr>
              <a:t> fonksiyonu</a:t>
            </a:r>
            <a:endParaRPr lang="en-US" sz="1700" dirty="0"/>
          </a:p>
        </p:txBody>
      </p:sp>
      <p:sp>
        <p:nvSpPr>
          <p:cNvPr id="10" name="Shape 7"/>
          <p:cNvSpPr/>
          <p:nvPr/>
        </p:nvSpPr>
        <p:spPr>
          <a:xfrm>
            <a:off x="548640" y="3886200"/>
            <a:ext cx="11094415" cy="914400"/>
          </a:xfrm>
          <a:prstGeom prst="roundRect">
            <a:avLst>
              <a:gd name="adj" fmla="val 10000"/>
            </a:avLst>
          </a:prstGeom>
          <a:solidFill>
            <a:srgbClr val="E8EEF6"/>
          </a:solidFill>
          <a:ln w="12700">
            <a:solidFill>
              <a:srgbClr val="E8EEF6"/>
            </a:solidFill>
            <a:prstDash val="solid"/>
          </a:ln>
        </p:spPr>
      </p:sp>
      <p:sp>
        <p:nvSpPr>
          <p:cNvPr id="11" name="Text 8"/>
          <p:cNvSpPr txBox="1"/>
          <p:nvPr/>
        </p:nvSpPr>
        <p:spPr>
          <a:xfrm>
            <a:off x="548640" y="3886200"/>
            <a:ext cx="11094415" cy="914400"/>
          </a:xfrm>
          <a:prstGeom prst="rect">
            <a:avLst/>
          </a:prstGeom>
          <a:noFill/>
          <a:ln/>
        </p:spPr>
        <p:txBody>
          <a:bodyPr wrap="square" lIns="0" tIns="0" rIns="0" bIns="0" rtlCol="0" anchor="ctr"/>
          <a:lstStyle/>
          <a:p>
            <a:pPr algn="ctr" indent="0" marL="0">
              <a:buNone/>
            </a:pPr>
            <a:r>
              <a:rPr lang="en-US" sz="2400" dirty="0">
                <a:solidFill>
                  <a:srgbClr val="1F3A5F"/>
                </a:solidFill>
                <a:latin typeface="Cambria" pitchFamily="34" charset="0"/>
                <a:ea typeface="Cambria" pitchFamily="34" charset="-122"/>
                <a:cs typeface="Cambria" pitchFamily="34" charset="-120"/>
              </a:rPr>
              <a:t>f(x) = Σₖ cₖ(θ) · e^(i k x)      (trigonometrik polinom)</a:t>
            </a:r>
            <a:endParaRPr lang="en-US" sz="2400" dirty="0"/>
          </a:p>
        </p:txBody>
      </p:sp>
      <p:sp>
        <p:nvSpPr>
          <p:cNvPr id="12" name="Shape 9"/>
          <p:cNvSpPr/>
          <p:nvPr/>
        </p:nvSpPr>
        <p:spPr>
          <a:xfrm>
            <a:off x="548640" y="4983480"/>
            <a:ext cx="11094415" cy="914400"/>
          </a:xfrm>
          <a:prstGeom prst="roundRect">
            <a:avLst>
              <a:gd name="adj" fmla="val 8000"/>
            </a:avLst>
          </a:prstGeom>
          <a:solidFill>
            <a:srgbClr val="FDF3E8"/>
          </a:solidFill>
          <a:ln w="12700">
            <a:solidFill>
              <a:srgbClr val="FDF3E8"/>
            </a:solidFill>
            <a:prstDash val="solid"/>
          </a:ln>
        </p:spPr>
      </p:sp>
      <p:sp>
        <p:nvSpPr>
          <p:cNvPr id="13" name="Text 10"/>
          <p:cNvSpPr txBox="1"/>
          <p:nvPr/>
        </p:nvSpPr>
        <p:spPr>
          <a:xfrm>
            <a:off x="731520" y="5093208"/>
            <a:ext cx="10728655" cy="694944"/>
          </a:xfrm>
          <a:prstGeom prst="rect">
            <a:avLst/>
          </a:prstGeom>
          <a:noFill/>
          <a:ln/>
        </p:spPr>
        <p:txBody>
          <a:bodyPr wrap="square" lIns="0" tIns="0" rIns="0" bIns="0" rtlCol="0" anchor="ctr"/>
          <a:lstStyle/>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Tek kodlama → tek frekans (k ∈ {−1, 0, 1}). Veriyi </a:t>
            </a:r>
            <a:r>
              <a:rPr lang="en-US" sz="1600" b="1" dirty="0">
                <a:solidFill>
                  <a:srgbClr val="1F2937"/>
                </a:solidFill>
                <a:latin typeface="Calibri" pitchFamily="34" charset="0"/>
                <a:ea typeface="Calibri" pitchFamily="34" charset="-122"/>
                <a:cs typeface="Calibri" pitchFamily="34" charset="-120"/>
              </a:rPr>
              <a:t>L kez</a:t>
            </a:r>
            <a:r>
              <a:rPr lang="en-US" sz="1600" dirty="0">
                <a:solidFill>
                  <a:srgbClr val="1F2937"/>
                </a:solidFill>
                <a:latin typeface="Calibri" pitchFamily="34" charset="0"/>
                <a:ea typeface="Calibri" pitchFamily="34" charset="-122"/>
                <a:cs typeface="Calibri" pitchFamily="34" charset="-120"/>
              </a:rPr>
              <a:t> yüklemek → k ∈ {−L, …, L} (veri yeniden yükleme, 2. saat).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Parametre sayısı hesabı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7132320" cy="914400"/>
        </p:xfrm>
        <a:graphic>
          <a:graphicData uri="http://schemas.openxmlformats.org/drawingml/2006/table">
            <a:tbl>
              <a:tblPr/>
              <a:tblGrid>
                <a:gridCol w="2710282"/>
                <a:gridCol w="1854403"/>
                <a:gridCol w="1426464"/>
                <a:gridCol w="1141171"/>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Model / katman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Formül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Örnek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Sayı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4864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RY + RZ ansatz (bu hafta)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2 · n · 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 = 2, L = 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BasicEntanglerLayers</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 · 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 = 4, L = 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48640">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StronglyEntanglingLayers</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3 · n · 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 = 4, L = 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36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Data re-uploading (1 kübit)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4L + 1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L = 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4864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MLP 2 → 16 → 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(2·16 + 16) + (16 + 1)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moons</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65</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Lojistik regresyon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 + 1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 = 4</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pic>
        <p:nvPicPr>
          <p:cNvPr id="7" name="Image 0" descr="görsel">    </p:cNvPr>
          <p:cNvPicPr>
            <a:picLocks noChangeAspect="1"/>
          </p:cNvPicPr>
          <p:nvPr/>
        </p:nvPicPr>
        <p:blipFill>
          <a:blip r:embed="rId1"/>
          <a:stretch>
            <a:fillRect/>
          </a:stretch>
        </p:blipFill>
        <p:spPr>
          <a:xfrm>
            <a:off x="7863840" y="2371948"/>
            <a:ext cx="3779215" cy="1291145"/>
          </a:xfrm>
          <a:prstGeom prst="rect">
            <a:avLst/>
          </a:prstGeom>
        </p:spPr>
      </p:pic>
      <p:sp>
        <p:nvSpPr>
          <p:cNvPr id="8" name="Text 3"/>
          <p:cNvSpPr txBox="1"/>
          <p:nvPr/>
        </p:nvSpPr>
        <p:spPr>
          <a:xfrm>
            <a:off x="7863840" y="4892040"/>
            <a:ext cx="3779215" cy="365760"/>
          </a:xfrm>
          <a:prstGeom prst="rect">
            <a:avLst/>
          </a:prstGeom>
          <a:noFill/>
          <a:ln/>
        </p:spPr>
        <p:txBody>
          <a:bodyPr wrap="square" lIns="0" tIns="0" rIns="0" bIns="0" rtlCol="0" anchor="t"/>
          <a:lstStyle/>
          <a:p>
            <a:pPr algn="ctr" indent="0" marL="0">
              <a:spcAft>
                <a:spcPts val="600"/>
              </a:spcAft>
              <a:buNone/>
            </a:pPr>
            <a:r>
              <a:rPr lang="en-US" sz="1400" dirty="0">
                <a:solidFill>
                  <a:srgbClr val="6B7280"/>
                </a:solidFill>
                <a:latin typeface="Calibri" pitchFamily="34" charset="0"/>
                <a:ea typeface="Calibri" pitchFamily="34" charset="-122"/>
                <a:cs typeface="Calibri" pitchFamily="34" charset="-120"/>
              </a:rPr>
              <a:t>Solda doğruluk, sağda parametre sayısı ~ L</a:t>
            </a:r>
            <a:endParaRPr lang="en-US" sz="1400" dirty="0"/>
          </a:p>
        </p:txBody>
      </p:sp>
      <p:sp>
        <p:nvSpPr>
          <p:cNvPr id="9" name="Shape 4"/>
          <p:cNvSpPr/>
          <p:nvPr/>
        </p:nvSpPr>
        <p:spPr>
          <a:xfrm>
            <a:off x="548640" y="5257800"/>
            <a:ext cx="7132320" cy="685800"/>
          </a:xfrm>
          <a:prstGeom prst="roundRect">
            <a:avLst>
              <a:gd name="adj" fmla="val 10667"/>
            </a:avLst>
          </a:prstGeom>
          <a:solidFill>
            <a:srgbClr val="E8EEF6"/>
          </a:solidFill>
          <a:ln w="12700">
            <a:solidFill>
              <a:srgbClr val="E8EEF6"/>
            </a:solidFill>
            <a:prstDash val="solid"/>
          </a:ln>
        </p:spPr>
      </p:sp>
      <p:sp>
        <p:nvSpPr>
          <p:cNvPr id="10" name="Text 5"/>
          <p:cNvSpPr txBox="1"/>
          <p:nvPr/>
        </p:nvSpPr>
        <p:spPr>
          <a:xfrm>
            <a:off x="731520" y="5367528"/>
            <a:ext cx="6766560" cy="466344"/>
          </a:xfrm>
          <a:prstGeom prst="rect">
            <a:avLst/>
          </a:prstGeom>
          <a:noFill/>
          <a:ln/>
        </p:spPr>
        <p:txBody>
          <a:bodyPr wrap="square" lIns="0" tIns="0" rIns="0" bIns="0" rtlCol="0" anchor="ctr"/>
          <a:lstStyle/>
          <a:p>
            <a:pPr algn="l" indent="0" marL="0">
              <a:spcAft>
                <a:spcPts val="500"/>
              </a:spcAft>
              <a:buNone/>
            </a:pPr>
            <a:r>
              <a:rPr lang="en-US" sz="1500" dirty="0">
                <a:solidFill>
                  <a:srgbClr val="1F3A5F"/>
                </a:solidFill>
                <a:latin typeface="Courier New" pitchFamily="34" charset="0"/>
                <a:ea typeface="Courier New" pitchFamily="34" charset="-122"/>
                <a:cs typeface="Courier New" pitchFamily="34" charset="-120"/>
              </a:rPr>
              <a:t>np.prod(qml.StronglyEntanglingLayers.shape(3, 4))</a:t>
            </a:r>
            <a:r>
              <a:rPr lang="en-US" sz="1500" dirty="0">
                <a:solidFill>
                  <a:srgbClr val="1F2937"/>
                </a:solidFill>
                <a:latin typeface="Calibri" pitchFamily="34" charset="0"/>
                <a:ea typeface="Calibri" pitchFamily="34" charset="-122"/>
                <a:cs typeface="Calibri" pitchFamily="34" charset="-120"/>
              </a:rPr>
              <a:t> → 36</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02</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Eğitim</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Kayıp · gradyan · Adam · mini-batch</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Kayıp fonksiyonları: BCE ve kare hata</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15</a:t>
            </a:r>
            <a:endParaRPr lang="en-US" sz="1000" dirty="0"/>
          </a:p>
        </p:txBody>
      </p:sp>
      <p:sp>
        <p:nvSpPr>
          <p:cNvPr id="6" name="Shape 3"/>
          <p:cNvSpPr/>
          <p:nvPr/>
        </p:nvSpPr>
        <p:spPr>
          <a:xfrm>
            <a:off x="548640" y="1234440"/>
            <a:ext cx="6400800" cy="868680"/>
          </a:xfrm>
          <a:prstGeom prst="roundRect">
            <a:avLst>
              <a:gd name="adj" fmla="val 10526"/>
            </a:avLst>
          </a:prstGeom>
          <a:solidFill>
            <a:srgbClr val="E8EEF6"/>
          </a:solidFill>
          <a:ln w="12700">
            <a:solidFill>
              <a:srgbClr val="E8EEF6"/>
            </a:solidFill>
            <a:prstDash val="solid"/>
          </a:ln>
        </p:spPr>
      </p:sp>
      <p:sp>
        <p:nvSpPr>
          <p:cNvPr id="7" name="Text 4"/>
          <p:cNvSpPr txBox="1"/>
          <p:nvPr/>
        </p:nvSpPr>
        <p:spPr>
          <a:xfrm>
            <a:off x="548640" y="1234440"/>
            <a:ext cx="6400800" cy="868680"/>
          </a:xfrm>
          <a:prstGeom prst="rect">
            <a:avLst/>
          </a:prstGeom>
          <a:noFill/>
          <a:ln/>
        </p:spPr>
        <p:txBody>
          <a:bodyPr wrap="square" lIns="0" tIns="0" rIns="0" bIns="0" rtlCol="0" anchor="ctr"/>
          <a:lstStyle/>
          <a:p>
            <a:pPr algn="ctr" indent="0" marL="0">
              <a:buNone/>
            </a:pPr>
            <a:r>
              <a:rPr lang="en-US" sz="2200" dirty="0">
                <a:solidFill>
                  <a:srgbClr val="1F3A5F"/>
                </a:solidFill>
                <a:latin typeface="Cambria" pitchFamily="34" charset="0"/>
                <a:ea typeface="Cambria" pitchFamily="34" charset="-122"/>
                <a:cs typeface="Cambria" pitchFamily="34" charset="-120"/>
              </a:rPr>
              <a:t>BCE = −[ y·log p + (1 − y)·log(1 − p) ]</a:t>
            </a:r>
            <a:endParaRPr lang="en-US" sz="2200" dirty="0"/>
          </a:p>
        </p:txBody>
      </p:sp>
      <p:sp>
        <p:nvSpPr>
          <p:cNvPr id="8" name="Shape 5"/>
          <p:cNvSpPr/>
          <p:nvPr/>
        </p:nvSpPr>
        <p:spPr>
          <a:xfrm>
            <a:off x="548640" y="2240280"/>
            <a:ext cx="6400800" cy="868680"/>
          </a:xfrm>
          <a:prstGeom prst="roundRect">
            <a:avLst>
              <a:gd name="adj" fmla="val 10526"/>
            </a:avLst>
          </a:prstGeom>
          <a:solidFill>
            <a:srgbClr val="E8EEF6"/>
          </a:solidFill>
          <a:ln w="12700">
            <a:solidFill>
              <a:srgbClr val="E8EEF6"/>
            </a:solidFill>
            <a:prstDash val="solid"/>
          </a:ln>
        </p:spPr>
      </p:sp>
      <p:sp>
        <p:nvSpPr>
          <p:cNvPr id="9" name="Text 6"/>
          <p:cNvSpPr txBox="1"/>
          <p:nvPr/>
        </p:nvSpPr>
        <p:spPr>
          <a:xfrm>
            <a:off x="548640" y="2240280"/>
            <a:ext cx="6400800" cy="868680"/>
          </a:xfrm>
          <a:prstGeom prst="rect">
            <a:avLst/>
          </a:prstGeom>
          <a:noFill/>
          <a:ln/>
        </p:spPr>
        <p:txBody>
          <a:bodyPr wrap="square" lIns="0" tIns="0" rIns="0" bIns="0" rtlCol="0" anchor="ctr"/>
          <a:lstStyle/>
          <a:p>
            <a:pPr algn="ctr" indent="0" marL="0">
              <a:buNone/>
            </a:pPr>
            <a:r>
              <a:rPr lang="en-US" sz="2200" dirty="0">
                <a:solidFill>
                  <a:srgbClr val="1F3A5F"/>
                </a:solidFill>
                <a:latin typeface="Cambria" pitchFamily="34" charset="0"/>
                <a:ea typeface="Cambria" pitchFamily="34" charset="-122"/>
                <a:cs typeface="Cambria" pitchFamily="34" charset="-120"/>
              </a:rPr>
              <a:t>MSE = (⟨Z⟩ − y')²,   y' = 1 − 2y ∈ {±1}</a:t>
            </a:r>
            <a:endParaRPr lang="en-US" sz="2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6400800" cy="914400"/>
        </p:xfrm>
        <a:graphic>
          <a:graphicData uri="http://schemas.openxmlformats.org/drawingml/2006/table">
            <a:tbl>
              <a:tblPr/>
              <a:tblGrid>
                <a:gridCol w="1920240"/>
                <a:gridCol w="2240280"/>
                <a:gridCol w="2240280"/>
              </a:tblGrid>
              <a:tr h="502920">
                <a:tc>
                  <a:txBody>
                    <a:bodyPr/>
                    <a:lstStyle/>
                    <a:p>
                      <a:pPr indent="0" marL="0">
                        <a:buNone/>
                      </a:pP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BCE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Kare hata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0292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Girdi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p</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⟨Z⟩</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Yanlış + emin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Çok büyük ceza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En fazla 4</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0292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Olasılık yorumu</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Var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Yok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pic>
        <p:nvPicPr>
          <p:cNvPr id="11" name="Image 0" descr="görsel">    </p:cNvPr>
          <p:cNvPicPr>
            <a:picLocks noChangeAspect="1"/>
          </p:cNvPicPr>
          <p:nvPr/>
        </p:nvPicPr>
        <p:blipFill>
          <a:blip r:embed="rId1"/>
          <a:stretch>
            <a:fillRect/>
          </a:stretch>
        </p:blipFill>
        <p:spPr>
          <a:xfrm>
            <a:off x="7223760" y="1735061"/>
            <a:ext cx="4419295" cy="2290598"/>
          </a:xfrm>
          <a:prstGeom prst="rect">
            <a:avLst/>
          </a:prstGeom>
        </p:spPr>
      </p:pic>
      <p:sp>
        <p:nvSpPr>
          <p:cNvPr id="12" name="Shape 7"/>
          <p:cNvSpPr/>
          <p:nvPr/>
        </p:nvSpPr>
        <p:spPr>
          <a:xfrm>
            <a:off x="7223760" y="4663440"/>
            <a:ext cx="4419295" cy="1188720"/>
          </a:xfrm>
          <a:prstGeom prst="roundRect">
            <a:avLst>
              <a:gd name="adj" fmla="val 6154"/>
            </a:avLst>
          </a:prstGeom>
          <a:solidFill>
            <a:srgbClr val="FDF3E8"/>
          </a:solidFill>
          <a:ln w="12700">
            <a:solidFill>
              <a:srgbClr val="FDF3E8"/>
            </a:solidFill>
            <a:prstDash val="solid"/>
          </a:ln>
        </p:spPr>
      </p:sp>
      <p:sp>
        <p:nvSpPr>
          <p:cNvPr id="13" name="Text 8"/>
          <p:cNvSpPr txBox="1"/>
          <p:nvPr/>
        </p:nvSpPr>
        <p:spPr>
          <a:xfrm>
            <a:off x="7406640" y="4773168"/>
            <a:ext cx="4053535" cy="969264"/>
          </a:xfrm>
          <a:prstGeom prst="rect">
            <a:avLst/>
          </a:prstGeom>
          <a:noFill/>
          <a:ln/>
        </p:spPr>
        <p:txBody>
          <a:bodyPr wrap="square" lIns="0" tIns="0" rIns="0" bIns="0" rtlCol="0" anchor="ctr"/>
          <a:lstStyle/>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Sayısal kararlılık: p'yi </a:t>
            </a:r>
            <a:r>
              <a:rPr lang="en-US" sz="1500" b="1" dirty="0">
                <a:solidFill>
                  <a:srgbClr val="1F2937"/>
                </a:solidFill>
                <a:latin typeface="Calibri" pitchFamily="34" charset="0"/>
                <a:ea typeface="Calibri" pitchFamily="34" charset="-122"/>
                <a:cs typeface="Calibri" pitchFamily="34" charset="-120"/>
              </a:rPr>
              <a:t>[10⁻⁶, 1 − 10⁻⁶]</a:t>
            </a:r>
            <a:r>
              <a:rPr lang="en-US" sz="1500" dirty="0">
                <a:solidFill>
                  <a:srgbClr val="1F2937"/>
                </a:solidFill>
                <a:latin typeface="Calibri" pitchFamily="34" charset="0"/>
                <a:ea typeface="Calibri" pitchFamily="34" charset="-122"/>
                <a:cs typeface="Calibri" pitchFamily="34" charset="-120"/>
              </a:rPr>
              <a:t> aralığına kırpın (</a:t>
            </a:r>
            <a:r>
              <a:rPr lang="en-US" sz="1500" dirty="0">
                <a:solidFill>
                  <a:srgbClr val="1F3A5F"/>
                </a:solidFill>
                <a:latin typeface="Courier New" pitchFamily="34" charset="0"/>
                <a:ea typeface="Courier New" pitchFamily="34" charset="-122"/>
                <a:cs typeface="Courier New" pitchFamily="34" charset="-120"/>
              </a:rPr>
              <a:t>torch.clamp</a:t>
            </a:r>
            <a:r>
              <a:rPr lang="en-US" sz="1500" dirty="0">
                <a:solidFill>
                  <a:srgbClr val="1F2937"/>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Gradyan: parameter-shift kuralı (11. hafta)</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16</a:t>
            </a:r>
            <a:endParaRPr lang="en-US" sz="1000" dirty="0"/>
          </a:p>
        </p:txBody>
      </p:sp>
      <p:pic>
        <p:nvPicPr>
          <p:cNvPr id="6" name="Image 0" descr="görsel">    </p:cNvPr>
          <p:cNvPicPr>
            <a:picLocks noChangeAspect="1"/>
          </p:cNvPicPr>
          <p:nvPr/>
        </p:nvPicPr>
        <p:blipFill>
          <a:blip r:embed="rId1"/>
          <a:stretch>
            <a:fillRect/>
          </a:stretch>
        </p:blipFill>
        <p:spPr>
          <a:xfrm>
            <a:off x="548640" y="1273524"/>
            <a:ext cx="6675120" cy="3670872"/>
          </a:xfrm>
          <a:prstGeom prst="rect">
            <a:avLst/>
          </a:prstGeom>
        </p:spPr>
      </p:pic>
      <p:sp>
        <p:nvSpPr>
          <p:cNvPr id="7" name="Shape 3"/>
          <p:cNvSpPr/>
          <p:nvPr/>
        </p:nvSpPr>
        <p:spPr>
          <a:xfrm>
            <a:off x="7498080" y="1234440"/>
            <a:ext cx="4144975" cy="1097280"/>
          </a:xfrm>
          <a:prstGeom prst="roundRect">
            <a:avLst>
              <a:gd name="adj" fmla="val 8333"/>
            </a:avLst>
          </a:prstGeom>
          <a:solidFill>
            <a:srgbClr val="E8EEF6"/>
          </a:solidFill>
          <a:ln w="12700">
            <a:solidFill>
              <a:srgbClr val="E8EEF6"/>
            </a:solidFill>
            <a:prstDash val="solid"/>
          </a:ln>
        </p:spPr>
      </p:sp>
      <p:sp>
        <p:nvSpPr>
          <p:cNvPr id="8" name="Text 4"/>
          <p:cNvSpPr txBox="1"/>
          <p:nvPr/>
        </p:nvSpPr>
        <p:spPr>
          <a:xfrm>
            <a:off x="7498080" y="1234440"/>
            <a:ext cx="4144975" cy="1097280"/>
          </a:xfrm>
          <a:prstGeom prst="rect">
            <a:avLst/>
          </a:prstGeom>
          <a:noFill/>
          <a:ln/>
        </p:spPr>
        <p:txBody>
          <a:bodyPr wrap="square" lIns="0" tIns="0" rIns="0" bIns="0" rtlCol="0" anchor="ctr"/>
          <a:lstStyle/>
          <a:p>
            <a:pPr algn="ctr" indent="0" marL="0">
              <a:buNone/>
            </a:pPr>
            <a:r>
              <a:rPr lang="en-US" sz="2000" dirty="0">
                <a:solidFill>
                  <a:srgbClr val="1F3A5F"/>
                </a:solidFill>
                <a:latin typeface="Cambria" pitchFamily="34" charset="0"/>
                <a:ea typeface="Cambria" pitchFamily="34" charset="-122"/>
                <a:cs typeface="Cambria" pitchFamily="34" charset="-120"/>
              </a:rPr>
              <a:t>∂⟨Z⟩/∂θ = [f(θ + π/2) − f(θ − π/2)] / 2</a:t>
            </a:r>
            <a:endParaRPr lang="en-US" sz="2000" dirty="0"/>
          </a:p>
        </p:txBody>
      </p:sp>
      <p:sp>
        <p:nvSpPr>
          <p:cNvPr id="9" name="Text 5"/>
          <p:cNvSpPr txBox="1"/>
          <p:nvPr/>
        </p:nvSpPr>
        <p:spPr>
          <a:xfrm>
            <a:off x="7498080" y="2560320"/>
            <a:ext cx="4144975" cy="274320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RY, RZ, RX gibi döndürmeler için </a:t>
            </a:r>
            <a:r>
              <a:rPr lang="en-US" sz="1700" b="1" dirty="0">
                <a:solidFill>
                  <a:srgbClr val="1F2937"/>
                </a:solidFill>
                <a:latin typeface="Calibri" pitchFamily="34" charset="0"/>
                <a:ea typeface="Calibri" pitchFamily="34" charset="-122"/>
                <a:cs typeface="Calibri" pitchFamily="34" charset="-120"/>
              </a:rPr>
              <a:t>tam</a:t>
            </a:r>
            <a:r>
              <a:rPr lang="en-US" sz="1700" dirty="0">
                <a:solidFill>
                  <a:srgbClr val="1F2937"/>
                </a:solidFill>
                <a:latin typeface="Calibri" pitchFamily="34" charset="0"/>
                <a:ea typeface="Calibri" pitchFamily="34" charset="-122"/>
                <a:cs typeface="Calibri" pitchFamily="34" charset="-120"/>
              </a:rPr>
              <a:t> türev</a:t>
            </a:r>
            <a:endParaRPr lang="en-US" sz="1700" dirty="0"/>
          </a:p>
          <a:p>
            <a:pPr marL="254000" indent="-2540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Parametre başına </a:t>
            </a:r>
            <a:r>
              <a:rPr lang="en-US" sz="1700" b="1" dirty="0">
                <a:solidFill>
                  <a:srgbClr val="1F2937"/>
                </a:solidFill>
                <a:latin typeface="Calibri" pitchFamily="34" charset="0"/>
                <a:ea typeface="Calibri" pitchFamily="34" charset="-122"/>
                <a:cs typeface="Calibri" pitchFamily="34" charset="-120"/>
              </a:rPr>
              <a:t>2</a:t>
            </a:r>
            <a:r>
              <a:rPr lang="en-US" sz="1700" dirty="0">
                <a:solidFill>
                  <a:srgbClr val="1F2937"/>
                </a:solidFill>
                <a:latin typeface="Calibri" pitchFamily="34" charset="0"/>
                <a:ea typeface="Calibri" pitchFamily="34" charset="-122"/>
                <a:cs typeface="Calibri" pitchFamily="34" charset="-120"/>
              </a:rPr>
              <a:t> devre çalıştırması</a:t>
            </a:r>
            <a:endParaRPr lang="en-US" sz="1700" dirty="0"/>
          </a:p>
          <a:p>
            <a:pPr marL="254000" indent="-2540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Gerçek donanımda çalışır (ara durum gerekmez)</a:t>
            </a:r>
            <a:endParaRPr lang="en-US" sz="1700" dirty="0"/>
          </a:p>
          <a:p>
            <a:pPr marL="254000" indent="-2540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Shot'lu ölçümde gürültülü tahmin</a:t>
            </a:r>
            <a:endParaRPr lang="en-US" sz="1700" dirty="0"/>
          </a:p>
        </p:txBody>
      </p:sp>
      <p:sp>
        <p:nvSpPr>
          <p:cNvPr id="10" name="Text 6"/>
          <p:cNvSpPr txBox="1"/>
          <p:nvPr/>
        </p:nvSpPr>
        <p:spPr>
          <a:xfrm>
            <a:off x="548640" y="5303520"/>
            <a:ext cx="11094415" cy="457200"/>
          </a:xfrm>
          <a:prstGeom prst="rect">
            <a:avLst/>
          </a:prstGeom>
          <a:noFill/>
          <a:ln/>
        </p:spPr>
        <p:txBody>
          <a:bodyPr wrap="square" lIns="0" tIns="0" rIns="0" bIns="0" rtlCol="0" anchor="t"/>
          <a:lstStyle/>
          <a:p>
            <a:pPr algn="l" indent="0" marL="0">
              <a:spcAft>
                <a:spcPts val="600"/>
              </a:spcAft>
              <a:buNone/>
            </a:pPr>
            <a:r>
              <a:rPr lang="en-US" sz="1600" dirty="0">
                <a:solidFill>
                  <a:srgbClr val="1F3A5F"/>
                </a:solidFill>
                <a:latin typeface="Calibri" pitchFamily="34" charset="0"/>
                <a:ea typeface="Calibri" pitchFamily="34" charset="-122"/>
                <a:cs typeface="Calibri" pitchFamily="34" charset="-120"/>
              </a:rPr>
              <a:t>Zincirin geri kalanı (∂L/∂p · ∂p/∂⟨Z⟩) klasik tarafta hesaplanır.</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Simülatörde otomatik türev: backprop</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440771"/>
                <a:gridCol w="3106436"/>
                <a:gridCol w="3550213"/>
                <a:gridCol w="1996995"/>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Yöntem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`diff_method`</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Maliyet (P param.)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Donanım?</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6692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Parameter-shift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"parameter-shift"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2P çalıştırma</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Evet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6692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Backprop</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"backprop"</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 1 ileri + 1 geri</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Hayır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6692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Adjoint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"adjoint"</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 2–3 ileri, az bellek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Hayır</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66928">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Sonlu fark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"finite-diff"</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P + 1, yaklaşık</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600" dirty="0">
                          <a:solidFill>
                            <a:srgbClr val="1F2937"/>
                          </a:solidFill>
                          <a:latin typeface="Calibri" pitchFamily="34" charset="0"/>
                          <a:ea typeface="Calibri" pitchFamily="34" charset="-122"/>
                          <a:cs typeface="Calibri" pitchFamily="34" charset="-120"/>
                        </a:rPr>
                        <a:t>Gürültülü</a:t>
                      </a:r>
                      <a:endParaRPr lang="en-US" sz="16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7" name="Shape 3"/>
          <p:cNvSpPr/>
          <p:nvPr/>
        </p:nvSpPr>
        <p:spPr>
          <a:xfrm>
            <a:off x="548640" y="4297680"/>
            <a:ext cx="11094415" cy="1097280"/>
          </a:xfrm>
          <a:prstGeom prst="rect">
            <a:avLst/>
          </a:prstGeom>
          <a:solidFill>
            <a:srgbClr val="F7F8FA"/>
          </a:solidFill>
          <a:ln w="9525">
            <a:solidFill>
              <a:srgbClr val="D1D5DB"/>
            </a:solidFill>
            <a:prstDash val="solid"/>
          </a:ln>
        </p:spPr>
      </p:sp>
      <p:sp>
        <p:nvSpPr>
          <p:cNvPr id="8" name="Text 4"/>
          <p:cNvSpPr txBox="1"/>
          <p:nvPr/>
        </p:nvSpPr>
        <p:spPr>
          <a:xfrm>
            <a:off x="685800" y="4389120"/>
            <a:ext cx="10820095" cy="914400"/>
          </a:xfrm>
          <a:prstGeom prst="rect">
            <a:avLst/>
          </a:prstGeom>
          <a:noFill/>
          <a:ln/>
        </p:spPr>
        <p:txBody>
          <a:bodyPr wrap="square" lIns="0" tIns="0" rIns="0" bIns="0" rtlCol="0" anchor="t"/>
          <a:lstStyle/>
          <a:p>
            <a:pPr indent="0" marL="0">
              <a:buNone/>
            </a:pPr>
            <a:r>
              <a:rPr lang="en-US" sz="1500" dirty="0">
                <a:solidFill>
                  <a:srgbClr val="1F2937"/>
                </a:solidFill>
                <a:latin typeface="Courier New" pitchFamily="34" charset="0"/>
                <a:ea typeface="Courier New" pitchFamily="34" charset="-122"/>
                <a:cs typeface="Courier New" pitchFamily="34" charset="-120"/>
              </a:rPr>
              <a:t>@qml.qnode(dev, interface="torch", diff_method="backprop")</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def circ(x, w): ...</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loss = bce(prob(X), y); loss.backward()       </a:t>
            </a:r>
            <a:r>
              <a:rPr lang="en-US" sz="1500" dirty="0">
                <a:solidFill>
                  <a:srgbClr val="6B7F99"/>
                </a:solidFill>
                <a:latin typeface="Courier New" pitchFamily="34" charset="0"/>
                <a:ea typeface="Courier New" pitchFamily="34" charset="-122"/>
                <a:cs typeface="Courier New" pitchFamily="34" charset="-120"/>
              </a:rPr>
              <a:t># gradyan devrenin içinden geçer</a:t>
            </a:r>
            <a:endParaRPr lang="en-US" sz="1500" dirty="0"/>
          </a:p>
        </p:txBody>
      </p:sp>
      <p:sp>
        <p:nvSpPr>
          <p:cNvPr id="9" name="Text 5"/>
          <p:cNvSpPr txBox="1"/>
          <p:nvPr/>
        </p:nvSpPr>
        <p:spPr>
          <a:xfrm>
            <a:off x="548640" y="5532120"/>
            <a:ext cx="11094415" cy="411480"/>
          </a:xfrm>
          <a:prstGeom prst="rect">
            <a:avLst/>
          </a:prstGeom>
          <a:noFill/>
          <a:ln/>
        </p:spPr>
        <p:txBody>
          <a:bodyPr wrap="square" lIns="0" tIns="0" rIns="0" bIns="0" rtlCol="0" anchor="t"/>
          <a:lstStyle/>
          <a:p>
            <a:pPr algn="l" indent="0" marL="0">
              <a:spcAft>
                <a:spcPts val="600"/>
              </a:spcAft>
              <a:buNone/>
            </a:pPr>
            <a:r>
              <a:rPr lang="en-US" sz="1700" dirty="0">
                <a:solidFill>
                  <a:srgbClr val="1F3A5F"/>
                </a:solidFill>
                <a:latin typeface="Calibri" pitchFamily="34" charset="0"/>
                <a:ea typeface="Calibri" pitchFamily="34" charset="-122"/>
                <a:cs typeface="Calibri" pitchFamily="34" charset="-120"/>
              </a:rPr>
              <a:t>Kural: </a:t>
            </a:r>
            <a:r>
              <a:rPr lang="en-US" sz="1700" b="1" dirty="0">
                <a:solidFill>
                  <a:srgbClr val="1F3A5F"/>
                </a:solidFill>
                <a:latin typeface="Calibri" pitchFamily="34" charset="0"/>
                <a:ea typeface="Calibri" pitchFamily="34" charset="-122"/>
                <a:cs typeface="Calibri" pitchFamily="34" charset="-120"/>
              </a:rPr>
              <a:t>simülatörde deney → backprop</a:t>
            </a:r>
            <a:r>
              <a:rPr lang="en-US" sz="1700" dirty="0">
                <a:solidFill>
                  <a:srgbClr val="1F3A5F"/>
                </a:solidFill>
                <a:latin typeface="Calibri" pitchFamily="34" charset="0"/>
                <a:ea typeface="Calibri" pitchFamily="34" charset="-122"/>
                <a:cs typeface="Calibri" pitchFamily="34" charset="-120"/>
              </a:rPr>
              <a:t>, </a:t>
            </a:r>
            <a:r>
              <a:rPr lang="en-US" sz="1700" b="1" dirty="0">
                <a:solidFill>
                  <a:srgbClr val="1F3A5F"/>
                </a:solidFill>
                <a:latin typeface="Calibri" pitchFamily="34" charset="0"/>
                <a:ea typeface="Calibri" pitchFamily="34" charset="-122"/>
                <a:cs typeface="Calibri" pitchFamily="34" charset="-120"/>
              </a:rPr>
              <a:t>donanımda → parameter-shift</a:t>
            </a:r>
            <a:r>
              <a:rPr lang="en-US" sz="1700" dirty="0">
                <a:solidFill>
                  <a:srgbClr val="1F3A5F"/>
                </a:solidFill>
                <a:latin typeface="Calibri" pitchFamily="34" charset="0"/>
                <a:ea typeface="Calibri" pitchFamily="34" charset="-122"/>
                <a:cs typeface="Calibri" pitchFamily="34" charset="-120"/>
              </a:rPr>
              <a:t>.</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Optimizer: Adam · Mini-batch</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18</a:t>
            </a:r>
            <a:endParaRPr lang="en-US" sz="1000" dirty="0"/>
          </a:p>
        </p:txBody>
      </p:sp>
      <p:sp>
        <p:nvSpPr>
          <p:cNvPr id="6" name="Shape 3"/>
          <p:cNvSpPr/>
          <p:nvPr/>
        </p:nvSpPr>
        <p:spPr>
          <a:xfrm>
            <a:off x="548640" y="1234440"/>
            <a:ext cx="11094415" cy="1005840"/>
          </a:xfrm>
          <a:prstGeom prst="roundRect">
            <a:avLst>
              <a:gd name="adj" fmla="val 9091"/>
            </a:avLst>
          </a:prstGeom>
          <a:solidFill>
            <a:srgbClr val="E8EEF6"/>
          </a:solidFill>
          <a:ln w="12700">
            <a:solidFill>
              <a:srgbClr val="E8EEF6"/>
            </a:solidFill>
            <a:prstDash val="solid"/>
          </a:ln>
        </p:spPr>
      </p:sp>
      <p:sp>
        <p:nvSpPr>
          <p:cNvPr id="7" name="Text 4"/>
          <p:cNvSpPr txBox="1"/>
          <p:nvPr/>
        </p:nvSpPr>
        <p:spPr>
          <a:xfrm>
            <a:off x="548640" y="1234440"/>
            <a:ext cx="11094415" cy="1005840"/>
          </a:xfrm>
          <a:prstGeom prst="rect">
            <a:avLst/>
          </a:prstGeom>
          <a:noFill/>
          <a:ln/>
        </p:spPr>
        <p:txBody>
          <a:bodyPr wrap="square" lIns="0" tIns="0" rIns="0" bIns="0" rtlCol="0" anchor="ctr"/>
          <a:lstStyle/>
          <a:p>
            <a:pPr algn="ctr" indent="0" marL="0">
              <a:buNone/>
            </a:pPr>
            <a:r>
              <a:rPr lang="en-US" sz="2200" dirty="0">
                <a:solidFill>
                  <a:srgbClr val="1F3A5F"/>
                </a:solidFill>
                <a:latin typeface="Cambria" pitchFamily="34" charset="0"/>
                <a:ea typeface="Cambria" pitchFamily="34" charset="-122"/>
                <a:cs typeface="Cambria" pitchFamily="34" charset="-120"/>
              </a:rPr>
              <a:t>m ← β₁m + (1 − β₁)g     v ← β₂v + (1 − β₂)g²     θ ← θ − η·m̂ / (√v̂ + ε)</a:t>
            </a:r>
            <a:endParaRPr lang="en-US" sz="2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6949440" cy="914400"/>
        </p:xfrm>
        <a:graphic>
          <a:graphicData uri="http://schemas.openxmlformats.org/drawingml/2006/table">
            <a:tbl>
              <a:tblPr/>
              <a:tblGrid>
                <a:gridCol w="1945843"/>
                <a:gridCol w="2640787"/>
                <a:gridCol w="2362810"/>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Hiperparametre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Anlamı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Bu hafta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4864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η (lr)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Öğrenme oranı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0,1 (VQC), 0,05 (hibrit)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β₁, β₂</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Momentum, kare ortalama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0,9 / 0,999</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4864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Batch</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Adım başına örnek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Epoch</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Veri kaç kez dolaşıldı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20–40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9" name="Shape 5"/>
          <p:cNvSpPr/>
          <p:nvPr/>
        </p:nvSpPr>
        <p:spPr>
          <a:xfrm>
            <a:off x="7772400" y="2468880"/>
            <a:ext cx="3870655" cy="3383280"/>
          </a:xfrm>
          <a:prstGeom prst="roundRect">
            <a:avLst>
              <a:gd name="adj" fmla="val 2162"/>
            </a:avLst>
          </a:prstGeom>
          <a:solidFill>
            <a:srgbClr val="E8EEF6"/>
          </a:solidFill>
          <a:ln w="12700">
            <a:solidFill>
              <a:srgbClr val="E8EEF6"/>
            </a:solidFill>
            <a:prstDash val="solid"/>
          </a:ln>
        </p:spPr>
      </p:sp>
      <p:sp>
        <p:nvSpPr>
          <p:cNvPr id="10" name="Text 6"/>
          <p:cNvSpPr txBox="1"/>
          <p:nvPr/>
        </p:nvSpPr>
        <p:spPr>
          <a:xfrm>
            <a:off x="7955280" y="2578608"/>
            <a:ext cx="3504895" cy="316382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Neden Adam?</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Kuantum gradyanları </a:t>
            </a:r>
            <a:r>
              <a:rPr lang="en-US" sz="1600" b="1" dirty="0">
                <a:solidFill>
                  <a:srgbClr val="1F2937"/>
                </a:solidFill>
                <a:latin typeface="Calibri" pitchFamily="34" charset="0"/>
                <a:ea typeface="Calibri" pitchFamily="34" charset="-122"/>
                <a:cs typeface="Calibri" pitchFamily="34" charset="-120"/>
              </a:rPr>
              <a:t>küçük ve gürültülü</a:t>
            </a:r>
            <a:r>
              <a:rPr lang="en-US" sz="1600" dirty="0">
                <a:solidFill>
                  <a:srgbClr val="1F2937"/>
                </a:solidFill>
                <a:latin typeface="Calibri" pitchFamily="34" charset="0"/>
                <a:ea typeface="Calibri" pitchFamily="34" charset="-122"/>
                <a:cs typeface="Calibri" pitchFamily="34" charset="-120"/>
              </a:rPr>
              <a:t> olabilir</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Parametre başına uyarlanan adım</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İlk adım ≈ η, gradyan boyutundan bağımsız</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Pratikte QML'de en yaygın seçim</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Eğitim döngüsü</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19</a:t>
            </a:r>
            <a:endParaRPr lang="en-US" sz="1000" dirty="0"/>
          </a:p>
        </p:txBody>
      </p:sp>
      <p:pic>
        <p:nvPicPr>
          <p:cNvPr id="6" name="Image 0" descr="görsel">    </p:cNvPr>
          <p:cNvPicPr>
            <a:picLocks noChangeAspect="1"/>
          </p:cNvPicPr>
          <p:nvPr/>
        </p:nvPicPr>
        <p:blipFill>
          <a:blip r:embed="rId1"/>
          <a:stretch>
            <a:fillRect/>
          </a:stretch>
        </p:blipFill>
        <p:spPr>
          <a:xfrm>
            <a:off x="548640" y="1169334"/>
            <a:ext cx="11094415" cy="4336452"/>
          </a:xfrm>
          <a:prstGeom prst="rect">
            <a:avLst/>
          </a:prstGeom>
        </p:spPr>
      </p:pic>
      <p:sp>
        <p:nvSpPr>
          <p:cNvPr id="7" name="Text 3"/>
          <p:cNvSpPr txBox="1"/>
          <p:nvPr/>
        </p:nvSpPr>
        <p:spPr>
          <a:xfrm>
            <a:off x="548640" y="5623560"/>
            <a:ext cx="11094415" cy="365760"/>
          </a:xfrm>
          <a:prstGeom prst="rect">
            <a:avLst/>
          </a:prstGeom>
          <a:noFill/>
          <a:ln/>
        </p:spPr>
        <p:txBody>
          <a:bodyPr wrap="square" lIns="0" tIns="0" rIns="0" bIns="0" rtlCol="0" anchor="t"/>
          <a:lstStyle/>
          <a:p>
            <a:pPr algn="ctr" indent="0" marL="0">
              <a:spcAft>
                <a:spcPts val="600"/>
              </a:spcAft>
              <a:buNone/>
            </a:pPr>
            <a:r>
              <a:rPr lang="en-US" sz="1600" dirty="0">
                <a:solidFill>
                  <a:srgbClr val="1F3A5F"/>
                </a:solidFill>
                <a:latin typeface="Calibri" pitchFamily="34" charset="0"/>
                <a:ea typeface="Calibri" pitchFamily="34" charset="-122"/>
                <a:cs typeface="Calibri" pitchFamily="34" charset="-120"/>
              </a:rPr>
              <a:t>θ başlat → batch seç → ileri geçiş → kayıp → gradyan → Adam adımı → (tekrar)</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Eğitim döngüsü: PyTorch kodu</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20</a:t>
            </a:r>
            <a:endParaRPr lang="en-US" sz="1000" dirty="0"/>
          </a:p>
        </p:txBody>
      </p:sp>
      <p:sp>
        <p:nvSpPr>
          <p:cNvPr id="6" name="Shape 3"/>
          <p:cNvSpPr/>
          <p:nvPr/>
        </p:nvSpPr>
        <p:spPr>
          <a:xfrm>
            <a:off x="548640" y="1188720"/>
            <a:ext cx="11094415" cy="4023360"/>
          </a:xfrm>
          <a:prstGeom prst="rect">
            <a:avLst/>
          </a:prstGeom>
          <a:solidFill>
            <a:srgbClr val="F7F8FA"/>
          </a:solidFill>
          <a:ln w="9525">
            <a:solidFill>
              <a:srgbClr val="D1D5DB"/>
            </a:solidFill>
            <a:prstDash val="solid"/>
          </a:ln>
        </p:spPr>
      </p:sp>
      <p:sp>
        <p:nvSpPr>
          <p:cNvPr id="7" name="Text 4"/>
          <p:cNvSpPr txBox="1"/>
          <p:nvPr/>
        </p:nvSpPr>
        <p:spPr>
          <a:xfrm>
            <a:off x="685800" y="1280160"/>
            <a:ext cx="10820095" cy="3840480"/>
          </a:xfrm>
          <a:prstGeom prst="rect">
            <a:avLst/>
          </a:prstGeom>
          <a:noFill/>
          <a:ln/>
        </p:spPr>
        <p:txBody>
          <a:bodyPr wrap="square" lIns="0" tIns="0" rIns="0" bIns="0" rtlCol="0" anchor="t"/>
          <a:lstStyle/>
          <a:p>
            <a:pPr indent="0" marL="0">
              <a:buNone/>
            </a:pPr>
            <a:r>
              <a:rPr lang="en-US" sz="1500" dirty="0">
                <a:solidFill>
                  <a:srgbClr val="1F2937"/>
                </a:solidFill>
                <a:latin typeface="Courier New" pitchFamily="34" charset="0"/>
                <a:ea typeface="Courier New" pitchFamily="34" charset="-122"/>
                <a:cs typeface="Courier New" pitchFamily="34" charset="-120"/>
              </a:rPr>
              <a:t>g = torch.Generator().manual_seed(seed)</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w = (torch.rand(wshape, generator=g) * 2*np.pi).requires_grad_(True)   </a:t>
            </a:r>
            <a:r>
              <a:rPr lang="en-US" sz="1500" dirty="0">
                <a:solidFill>
                  <a:srgbClr val="6B7F99"/>
                </a:solidFill>
                <a:latin typeface="Courier New" pitchFamily="34" charset="0"/>
                <a:ea typeface="Courier New" pitchFamily="34" charset="-122"/>
                <a:cs typeface="Courier New" pitchFamily="34" charset="-120"/>
              </a:rPr>
              <a:t># θ başlat</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opt = torch.optim.Adam([w], lr=0.1)</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prob = lambda X: torch.clamp((1 - circ(X, w)) / 2, 1e-6, 1 - 1e-6)    </a:t>
            </a:r>
            <a:r>
              <a:rPr lang="en-US" sz="1500" dirty="0">
                <a:solidFill>
                  <a:srgbClr val="6B7F99"/>
                </a:solidFill>
                <a:latin typeface="Courier New" pitchFamily="34" charset="0"/>
                <a:ea typeface="Courier New" pitchFamily="34" charset="-122"/>
                <a:cs typeface="Courier New" pitchFamily="34" charset="-120"/>
              </a:rPr>
              <a:t># ⟨Z⟩ → p</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for ep in range(epochs):</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perm = torch.randperm(len(X), generator=g)                        </a:t>
            </a:r>
            <a:r>
              <a:rPr lang="en-US" sz="1500" dirty="0">
                <a:solidFill>
                  <a:srgbClr val="6B7F99"/>
                </a:solidFill>
                <a:latin typeface="Courier New" pitchFamily="34" charset="0"/>
                <a:ea typeface="Courier New" pitchFamily="34" charset="-122"/>
                <a:cs typeface="Courier New" pitchFamily="34" charset="-120"/>
              </a:rPr>
              <a:t># karıştır</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for i in range(0, len(X), 16):                                    </a:t>
            </a:r>
            <a:r>
              <a:rPr lang="en-US" sz="1500" dirty="0">
                <a:solidFill>
                  <a:srgbClr val="6B7F99"/>
                </a:solidFill>
                <a:latin typeface="Courier New" pitchFamily="34" charset="0"/>
                <a:ea typeface="Courier New" pitchFamily="34" charset="-122"/>
                <a:cs typeface="Courier New" pitchFamily="34" charset="-120"/>
              </a:rPr>
              <a:t># mini-batch</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idx = perm[i:i+16]</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opt.zero_grad()</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loss = torch.nn.functional.binary_cross_entropy(prob(X[idx]), y[idx])</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loss.backward()                                               </a:t>
            </a:r>
            <a:r>
              <a:rPr lang="en-US" sz="1500" dirty="0">
                <a:solidFill>
                  <a:srgbClr val="6B7F99"/>
                </a:solidFill>
                <a:latin typeface="Courier New" pitchFamily="34" charset="0"/>
                <a:ea typeface="Courier New" pitchFamily="34" charset="-122"/>
                <a:cs typeface="Courier New" pitchFamily="34" charset="-120"/>
              </a:rPr>
              <a:t># gradyan</a:t>
            </a:r>
            <a:endParaRPr lang="en-US" sz="1500" dirty="0"/>
          </a:p>
          <a:p>
            <a:pPr indent="0" marL="0">
              <a:buNone/>
            </a:pPr>
            <a:r>
              <a:rPr lang="en-US" sz="1500" dirty="0">
                <a:solidFill>
                  <a:srgbClr val="1F2937"/>
                </a:solidFill>
                <a:latin typeface="Courier New" pitchFamily="34" charset="0"/>
                <a:ea typeface="Courier New" pitchFamily="34" charset="-122"/>
                <a:cs typeface="Courier New" pitchFamily="34" charset="-120"/>
              </a:rPr>
              <a:t>        opt.step()                                                    </a:t>
            </a:r>
            <a:r>
              <a:rPr lang="en-US" sz="1500" dirty="0">
                <a:solidFill>
                  <a:srgbClr val="6B7F99"/>
                </a:solidFill>
                <a:latin typeface="Courier New" pitchFamily="34" charset="0"/>
                <a:ea typeface="Courier New" pitchFamily="34" charset="-122"/>
                <a:cs typeface="Courier New" pitchFamily="34" charset="-120"/>
              </a:rPr>
              <a:t># Adam adımı</a:t>
            </a:r>
            <a:endParaRPr lang="en-US" sz="1500" dirty="0"/>
          </a:p>
        </p:txBody>
      </p:sp>
      <p:sp>
        <p:nvSpPr>
          <p:cNvPr id="8" name="Shape 5"/>
          <p:cNvSpPr/>
          <p:nvPr/>
        </p:nvSpPr>
        <p:spPr>
          <a:xfrm>
            <a:off x="548640" y="5394960"/>
            <a:ext cx="11094415" cy="548640"/>
          </a:xfrm>
          <a:prstGeom prst="roundRect">
            <a:avLst>
              <a:gd name="adj" fmla="val 13333"/>
            </a:avLst>
          </a:prstGeom>
          <a:solidFill>
            <a:srgbClr val="E8EEF6"/>
          </a:solidFill>
          <a:ln w="12700">
            <a:solidFill>
              <a:srgbClr val="E8EEF6"/>
            </a:solidFill>
            <a:prstDash val="solid"/>
          </a:ln>
        </p:spPr>
      </p:sp>
      <p:sp>
        <p:nvSpPr>
          <p:cNvPr id="9" name="Text 6"/>
          <p:cNvSpPr txBox="1"/>
          <p:nvPr/>
        </p:nvSpPr>
        <p:spPr>
          <a:xfrm>
            <a:off x="731520" y="5504688"/>
            <a:ext cx="10728655" cy="329184"/>
          </a:xfrm>
          <a:prstGeom prst="rect">
            <a:avLst/>
          </a:prstGeom>
          <a:noFill/>
          <a:ln/>
        </p:spPr>
        <p:txBody>
          <a:bodyPr wrap="square" lIns="0" tIns="0" rIns="0" bIns="0" rtlCol="0" anchor="ctr"/>
          <a:lstStyle/>
          <a:p>
            <a:pPr algn="l" indent="0" marL="0">
              <a:spcAft>
                <a:spcPts val="500"/>
              </a:spcAft>
              <a:buNone/>
            </a:pPr>
            <a:r>
              <a:rPr lang="en-US" sz="1500" dirty="0">
                <a:solidFill>
                  <a:srgbClr val="1F3A5F"/>
                </a:solidFill>
                <a:latin typeface="Courier New" pitchFamily="34" charset="0"/>
                <a:ea typeface="Courier New" pitchFamily="34" charset="-122"/>
                <a:cs typeface="Courier New" pitchFamily="34" charset="-120"/>
              </a:rPr>
              <a:t>circ(X[idx], w)</a:t>
            </a:r>
            <a:r>
              <a:rPr lang="en-US" sz="1500" dirty="0">
                <a:solidFill>
                  <a:srgbClr val="1F2937"/>
                </a:solidFill>
                <a:latin typeface="Calibri" pitchFamily="34" charset="0"/>
                <a:ea typeface="Calibri" pitchFamily="34" charset="-122"/>
                <a:cs typeface="Calibri" pitchFamily="34" charset="-120"/>
              </a:rPr>
              <a:t>: 16 örnek </a:t>
            </a:r>
            <a:r>
              <a:rPr lang="en-US" sz="1500" b="1" dirty="0">
                <a:solidFill>
                  <a:srgbClr val="1F2937"/>
                </a:solidFill>
                <a:latin typeface="Calibri" pitchFamily="34" charset="0"/>
                <a:ea typeface="Calibri" pitchFamily="34" charset="-122"/>
                <a:cs typeface="Calibri" pitchFamily="34" charset="-120"/>
              </a:rPr>
              <a:t>tek çağrıda</a:t>
            </a:r>
            <a:r>
              <a:rPr lang="en-US" sz="1500" dirty="0">
                <a:solidFill>
                  <a:srgbClr val="1F2937"/>
                </a:solidFill>
                <a:latin typeface="Calibri" pitchFamily="34" charset="0"/>
                <a:ea typeface="Calibri" pitchFamily="34" charset="-122"/>
                <a:cs typeface="Calibri" pitchFamily="34" charset="-120"/>
              </a:rPr>
              <a:t> (yayınlama / broadcasting) → döngüden onlarca kat hızlı.</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03</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PennyLane'e giriş</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device · QNode · şablonlar · çizim · PyTorch arayüzü</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Cihaz ve QNode</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22</a:t>
            </a:r>
            <a:endParaRPr lang="en-US" sz="1000" dirty="0"/>
          </a:p>
        </p:txBody>
      </p:sp>
      <p:sp>
        <p:nvSpPr>
          <p:cNvPr id="6" name="Shape 3"/>
          <p:cNvSpPr/>
          <p:nvPr/>
        </p:nvSpPr>
        <p:spPr>
          <a:xfrm>
            <a:off x="548640" y="1188720"/>
            <a:ext cx="6400800" cy="3840480"/>
          </a:xfrm>
          <a:prstGeom prst="rect">
            <a:avLst/>
          </a:prstGeom>
          <a:solidFill>
            <a:srgbClr val="F7F8FA"/>
          </a:solidFill>
          <a:ln w="9525">
            <a:solidFill>
              <a:srgbClr val="D1D5DB"/>
            </a:solidFill>
            <a:prstDash val="solid"/>
          </a:ln>
        </p:spPr>
      </p:sp>
      <p:sp>
        <p:nvSpPr>
          <p:cNvPr id="7" name="Text 4"/>
          <p:cNvSpPr txBox="1"/>
          <p:nvPr/>
        </p:nvSpPr>
        <p:spPr>
          <a:xfrm>
            <a:off x="685800" y="1280160"/>
            <a:ext cx="6126480" cy="3657600"/>
          </a:xfrm>
          <a:prstGeom prst="rect">
            <a:avLst/>
          </a:prstGeom>
          <a:noFill/>
          <a:ln/>
        </p:spPr>
        <p:txBody>
          <a:bodyPr wrap="square" lIns="0" tIns="0" rIns="0" bIns="0" rtlCol="0" anchor="t"/>
          <a:lstStyle/>
          <a:p>
            <a:pPr indent="0" marL="0">
              <a:buNone/>
            </a:pPr>
            <a:r>
              <a:rPr lang="en-US" sz="1300" dirty="0">
                <a:solidFill>
                  <a:srgbClr val="1F2937"/>
                </a:solidFill>
                <a:latin typeface="Courier New" pitchFamily="34" charset="0"/>
                <a:ea typeface="Courier New" pitchFamily="34" charset="-122"/>
                <a:cs typeface="Courier New" pitchFamily="34" charset="-120"/>
              </a:rPr>
              <a:t>import pennylane as qml</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dev = qml.device("default.qubit", wires=2)</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@qml.qnode(dev)                       </a:t>
            </a:r>
            <a:r>
              <a:rPr lang="en-US" sz="1300" dirty="0">
                <a:solidFill>
                  <a:srgbClr val="6B7F99"/>
                </a:solidFill>
                <a:latin typeface="Courier New" pitchFamily="34" charset="0"/>
                <a:ea typeface="Courier New" pitchFamily="34" charset="-122"/>
                <a:cs typeface="Courier New" pitchFamily="34" charset="-120"/>
              </a:rPr>
              <a:t># -&gt; QNode</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def devre(x, theta):</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qml.RY(x[0], wires=0); qml.RY(x[1], wires=1)</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qml.RY(theta[0], wires=0); qml.RZ(theta[1], wires=0)</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qml.CNOT(wires=[0, 1])</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return qml.expval(qml.PauliZ(1))  </a:t>
            </a:r>
            <a:r>
              <a:rPr lang="en-US" sz="1300" dirty="0">
                <a:solidFill>
                  <a:srgbClr val="6B7F99"/>
                </a:solidFill>
                <a:latin typeface="Courier New" pitchFamily="34" charset="0"/>
                <a:ea typeface="Courier New" pitchFamily="34" charset="-122"/>
                <a:cs typeface="Courier New" pitchFamily="34" charset="-120"/>
              </a:rPr>
              <a:t># ⟨Z₁⟩</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devre([0.5, 1.0], [0.3, 0.4])</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223760" y="1188720"/>
          <a:ext cx="4419295" cy="914400"/>
        </p:xfrm>
        <a:graphic>
          <a:graphicData uri="http://schemas.openxmlformats.org/drawingml/2006/table">
            <a:tbl>
              <a:tblPr/>
              <a:tblGrid>
                <a:gridCol w="2121262"/>
                <a:gridCol w="2298034"/>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Parça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Benzetme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66928">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qml.device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Arka uç / runtime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@qml.qnode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Derleyici + JIT dekoratörü</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66928">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qml.RY(...)</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İşlem kuyruğuna ekle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qml.expval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Dönüş değeri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66928">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interface="torch"</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Framework adaptörü</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5212080"/>
            <a:ext cx="11094415" cy="731520"/>
          </a:xfrm>
          <a:prstGeom prst="roundRect">
            <a:avLst>
              <a:gd name="adj" fmla="val 10000"/>
            </a:avLst>
          </a:prstGeom>
          <a:solidFill>
            <a:srgbClr val="FDF3E8"/>
          </a:solidFill>
          <a:ln w="12700">
            <a:solidFill>
              <a:srgbClr val="FDF3E8"/>
            </a:solidFill>
            <a:prstDash val="solid"/>
          </a:ln>
        </p:spPr>
      </p:sp>
      <p:sp>
        <p:nvSpPr>
          <p:cNvPr id="10" name="Text 6"/>
          <p:cNvSpPr txBox="1"/>
          <p:nvPr/>
        </p:nvSpPr>
        <p:spPr>
          <a:xfrm>
            <a:off x="731520" y="5321808"/>
            <a:ext cx="10728655" cy="512064"/>
          </a:xfrm>
          <a:prstGeom prst="rect">
            <a:avLst/>
          </a:prstGeom>
          <a:noFill/>
          <a:ln/>
        </p:spPr>
        <p:txBody>
          <a:bodyPr wrap="square" lIns="0" tIns="0" rIns="0" bIns="0" rtlCol="0" anchor="ctr"/>
          <a:lstStyle/>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Colab: </a:t>
            </a:r>
            <a:r>
              <a:rPr lang="en-US" sz="1600" dirty="0">
                <a:solidFill>
                  <a:srgbClr val="1F3A5F"/>
                </a:solidFill>
                <a:latin typeface="Courier New" pitchFamily="34" charset="0"/>
                <a:ea typeface="Courier New" pitchFamily="34" charset="-122"/>
                <a:cs typeface="Courier New" pitchFamily="34" charset="-120"/>
              </a:rPr>
              <a:t>!pip install -q pennylane</a:t>
            </a:r>
            <a:r>
              <a:rPr lang="en-US" sz="1600" dirty="0">
                <a:solidFill>
                  <a:srgbClr val="1F2937"/>
                </a:solidFill>
                <a:latin typeface="Calibri" pitchFamily="34" charset="0"/>
                <a:ea typeface="Calibri" pitchFamily="34" charset="-122"/>
                <a:cs typeface="Calibri" pitchFamily="34" charset="-120"/>
              </a:rPr>
              <a:t> — PyTorch Colab'da hazır, </a:t>
            </a:r>
            <a:r>
              <a:rPr lang="en-US" sz="1600" b="1" dirty="0">
                <a:solidFill>
                  <a:srgbClr val="1F2937"/>
                </a:solidFill>
                <a:latin typeface="Calibri" pitchFamily="34" charset="0"/>
                <a:ea typeface="Calibri" pitchFamily="34" charset="-122"/>
                <a:cs typeface="Calibri" pitchFamily="34" charset="-120"/>
              </a:rPr>
              <a:t>kurmayın</a:t>
            </a:r>
            <a:r>
              <a:rPr lang="en-US" sz="1600" dirty="0">
                <a:solidFill>
                  <a:srgbClr val="1F2937"/>
                </a:solidFill>
                <a:latin typeface="Calibri" pitchFamily="34" charset="0"/>
                <a:ea typeface="Calibri" pitchFamily="34" charset="-122"/>
                <a:cs typeface="Calibri" pitchFamily="34" charset="-120"/>
              </a:rPr>
              <a:t>.</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Hazır şablonlar ve draw_mpl</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23</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6878537"/>
                <a:gridCol w="2218883"/>
                <a:gridCol w="1996995"/>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Şablon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Ağırlık şekli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Parametre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57200">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AngleEmbedding(x, wires, rotation="Y")</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 (veri)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BasicEntanglerLayers(w, wires, rotation=qml.RY)</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(L, 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57200">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StronglyEntanglingLayers(w, wires)</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(L, n, 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3·n·L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pic>
        <p:nvPicPr>
          <p:cNvPr id="7" name="Image 0" descr="AngleEmbedding + BasicEntanglerLayers (L = 2)">    </p:cNvPr>
          <p:cNvPicPr>
            <a:picLocks noChangeAspect="1"/>
          </p:cNvPicPr>
          <p:nvPr/>
        </p:nvPicPr>
        <p:blipFill>
          <a:blip r:embed="rId1"/>
          <a:stretch>
            <a:fillRect/>
          </a:stretch>
        </p:blipFill>
        <p:spPr>
          <a:xfrm>
            <a:off x="548640" y="3227919"/>
            <a:ext cx="5455768" cy="1819481"/>
          </a:xfrm>
          <a:prstGeom prst="rect">
            <a:avLst/>
          </a:prstGeom>
        </p:spPr>
      </p:pic>
      <p:sp>
        <p:nvSpPr>
          <p:cNvPr id="8" name="Text 3"/>
          <p:cNvSpPr txBox="1"/>
          <p:nvPr/>
        </p:nvSpPr>
        <p:spPr>
          <a:xfrm>
            <a:off x="548640" y="5148072"/>
            <a:ext cx="5455768" cy="274320"/>
          </a:xfrm>
          <a:prstGeom prst="rect">
            <a:avLst/>
          </a:prstGeom>
          <a:noFill/>
          <a:ln/>
        </p:spPr>
        <p:txBody>
          <a:bodyPr wrap="square" lIns="0" tIns="0" rIns="0" bIns="0" rtlCol="0" anchor="ctr"/>
          <a:lstStyle/>
          <a:p>
            <a:pPr algn="ctr" indent="0" marL="0">
              <a:buNone/>
            </a:pPr>
            <a:r>
              <a:rPr lang="en-US" sz="1100" i="1" dirty="0">
                <a:solidFill>
                  <a:srgbClr val="6B7280"/>
                </a:solidFill>
              </a:rPr>
              <a:t>AngleEmbedding + BasicEntanglerLayers (L = 2)</a:t>
            </a:r>
            <a:endParaRPr lang="en-US" sz="1100" dirty="0"/>
          </a:p>
        </p:txBody>
      </p:sp>
      <p:pic>
        <p:nvPicPr>
          <p:cNvPr id="9" name="Image 1" descr="AngleEmbedding + StronglyEntanglingLayers (L = 2)">    </p:cNvPr>
          <p:cNvPicPr>
            <a:picLocks noChangeAspect="1"/>
          </p:cNvPicPr>
          <p:nvPr/>
        </p:nvPicPr>
        <p:blipFill>
          <a:blip r:embed="rId2"/>
          <a:stretch>
            <a:fillRect/>
          </a:stretch>
        </p:blipFill>
        <p:spPr>
          <a:xfrm>
            <a:off x="6187288" y="3227919"/>
            <a:ext cx="5455768" cy="1819481"/>
          </a:xfrm>
          <a:prstGeom prst="rect">
            <a:avLst/>
          </a:prstGeom>
        </p:spPr>
      </p:pic>
      <p:sp>
        <p:nvSpPr>
          <p:cNvPr id="10" name="Text 4"/>
          <p:cNvSpPr txBox="1"/>
          <p:nvPr/>
        </p:nvSpPr>
        <p:spPr>
          <a:xfrm>
            <a:off x="6187288" y="5148072"/>
            <a:ext cx="5455768" cy="274320"/>
          </a:xfrm>
          <a:prstGeom prst="rect">
            <a:avLst/>
          </a:prstGeom>
          <a:noFill/>
          <a:ln/>
        </p:spPr>
        <p:txBody>
          <a:bodyPr wrap="square" lIns="0" tIns="0" rIns="0" bIns="0" rtlCol="0" anchor="ctr"/>
          <a:lstStyle/>
          <a:p>
            <a:pPr algn="ctr" indent="0" marL="0">
              <a:buNone/>
            </a:pPr>
            <a:r>
              <a:rPr lang="en-US" sz="1100" i="1" dirty="0">
                <a:solidFill>
                  <a:srgbClr val="6B7280"/>
                </a:solidFill>
              </a:rPr>
              <a:t>AngleEmbedding + StronglyEntanglingLayers (L = 2)</a:t>
            </a:r>
            <a:endParaRPr lang="en-US" sz="1100" dirty="0"/>
          </a:p>
        </p:txBody>
      </p:sp>
      <p:sp>
        <p:nvSpPr>
          <p:cNvPr id="11" name="Shape 5"/>
          <p:cNvSpPr/>
          <p:nvPr/>
        </p:nvSpPr>
        <p:spPr>
          <a:xfrm>
            <a:off x="548640" y="5486400"/>
            <a:ext cx="11094415" cy="457200"/>
          </a:xfrm>
          <a:prstGeom prst="rect">
            <a:avLst/>
          </a:prstGeom>
          <a:solidFill>
            <a:srgbClr val="F7F8FA"/>
          </a:solidFill>
          <a:ln w="9525">
            <a:solidFill>
              <a:srgbClr val="D1D5DB"/>
            </a:solidFill>
            <a:prstDash val="solid"/>
          </a:ln>
        </p:spPr>
      </p:sp>
      <p:sp>
        <p:nvSpPr>
          <p:cNvPr id="12" name="Text 6"/>
          <p:cNvSpPr txBox="1"/>
          <p:nvPr/>
        </p:nvSpPr>
        <p:spPr>
          <a:xfrm>
            <a:off x="685800" y="5577840"/>
            <a:ext cx="10820095" cy="274320"/>
          </a:xfrm>
          <a:prstGeom prst="rect">
            <a:avLst/>
          </a:prstGeom>
          <a:noFill/>
          <a:ln/>
        </p:spPr>
        <p:txBody>
          <a:bodyPr wrap="square" lIns="0" tIns="0" rIns="0" bIns="0" rtlCol="0" anchor="t"/>
          <a:lstStyle/>
          <a:p>
            <a:pPr indent="0" marL="0">
              <a:buNone/>
            </a:pPr>
            <a:r>
              <a:rPr lang="en-US" sz="1400" dirty="0">
                <a:solidFill>
                  <a:srgbClr val="1F2937"/>
                </a:solidFill>
                <a:latin typeface="Courier New" pitchFamily="34" charset="0"/>
                <a:ea typeface="Courier New" pitchFamily="34" charset="-122"/>
                <a:cs typeface="Courier New" pitchFamily="34" charset="-120"/>
              </a:rPr>
              <a:t>qml.draw_mpl(vqc, style="black_white", level="device")(x, w)</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PyTorch arayüzü ve yayınlama</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24</a:t>
            </a:r>
            <a:endParaRPr lang="en-US" sz="1000" dirty="0"/>
          </a:p>
        </p:txBody>
      </p:sp>
      <p:sp>
        <p:nvSpPr>
          <p:cNvPr id="6" name="Shape 3"/>
          <p:cNvSpPr/>
          <p:nvPr/>
        </p:nvSpPr>
        <p:spPr>
          <a:xfrm>
            <a:off x="548640" y="1188720"/>
            <a:ext cx="7498080" cy="4663440"/>
          </a:xfrm>
          <a:prstGeom prst="rect">
            <a:avLst/>
          </a:prstGeom>
          <a:solidFill>
            <a:srgbClr val="F7F8FA"/>
          </a:solidFill>
          <a:ln w="9525">
            <a:solidFill>
              <a:srgbClr val="D1D5DB"/>
            </a:solidFill>
            <a:prstDash val="solid"/>
          </a:ln>
        </p:spPr>
      </p:sp>
      <p:sp>
        <p:nvSpPr>
          <p:cNvPr id="7" name="Text 4"/>
          <p:cNvSpPr txBox="1"/>
          <p:nvPr/>
        </p:nvSpPr>
        <p:spPr>
          <a:xfrm>
            <a:off x="685800" y="1280160"/>
            <a:ext cx="7223760" cy="4480560"/>
          </a:xfrm>
          <a:prstGeom prst="rect">
            <a:avLst/>
          </a:prstGeom>
          <a:noFill/>
          <a:ln/>
        </p:spPr>
        <p:txBody>
          <a:bodyPr wrap="square" lIns="0" tIns="0" rIns="0" bIns="0" rtlCol="0" anchor="t"/>
          <a:lstStyle/>
          <a:p>
            <a:pPr indent="0" marL="0">
              <a:buNone/>
            </a:pPr>
            <a:r>
              <a:rPr lang="en-US" sz="1300" dirty="0">
                <a:solidFill>
                  <a:srgbClr val="1F2937"/>
                </a:solidFill>
                <a:latin typeface="Courier New" pitchFamily="34" charset="0"/>
                <a:ea typeface="Courier New" pitchFamily="34" charset="-122"/>
                <a:cs typeface="Courier New" pitchFamily="34" charset="-120"/>
              </a:rPr>
              <a:t>torch.set_default_dtype(torch.float64)</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@qml.qnode(dev, interface="torch",</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diff_method="backprop")</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def circ(x, w):                  </a:t>
            </a:r>
            <a:r>
              <a:rPr lang="en-US" sz="1300" dirty="0">
                <a:solidFill>
                  <a:srgbClr val="6B7F99"/>
                </a:solidFill>
                <a:latin typeface="Courier New" pitchFamily="34" charset="0"/>
                <a:ea typeface="Courier New" pitchFamily="34" charset="-122"/>
                <a:cs typeface="Courier New" pitchFamily="34" charset="-120"/>
              </a:rPr>
              <a:t># x: (batch, 2)</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qml.AngleEmbedding(x, wires=range(2), rotation="Y")</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for l in range(L):</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for i in range(2):</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qml.RY(w[l, i, 0], wires=i)</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qml.RZ(w[l, i, 1], wires=i)</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qml.CNOT(wires=[0, 1])</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return qml.expval(qml.PauliZ(1))</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circ(torch.tensor(X_train[:5]), w).shape   </a:t>
            </a:r>
            <a:r>
              <a:rPr lang="en-US" sz="1300" dirty="0">
                <a:solidFill>
                  <a:srgbClr val="6B7F99"/>
                </a:solidFill>
                <a:latin typeface="Courier New" pitchFamily="34" charset="0"/>
                <a:ea typeface="Courier New" pitchFamily="34" charset="-122"/>
                <a:cs typeface="Courier New" pitchFamily="34" charset="-120"/>
              </a:rPr>
              <a:t># (5,)</a:t>
            </a:r>
            <a:endParaRPr lang="en-US" sz="1300" dirty="0"/>
          </a:p>
        </p:txBody>
      </p:sp>
      <p:sp>
        <p:nvSpPr>
          <p:cNvPr id="8" name="Shape 5"/>
          <p:cNvSpPr/>
          <p:nvPr/>
        </p:nvSpPr>
        <p:spPr>
          <a:xfrm>
            <a:off x="8321040" y="1188720"/>
            <a:ext cx="3322015" cy="2011680"/>
          </a:xfrm>
          <a:prstGeom prst="roundRect">
            <a:avLst>
              <a:gd name="adj" fmla="val 3636"/>
            </a:avLst>
          </a:prstGeom>
          <a:solidFill>
            <a:srgbClr val="E8EEF6"/>
          </a:solidFill>
          <a:ln w="12700">
            <a:solidFill>
              <a:srgbClr val="E8EEF6"/>
            </a:solidFill>
            <a:prstDash val="solid"/>
          </a:ln>
        </p:spPr>
      </p:sp>
      <p:sp>
        <p:nvSpPr>
          <p:cNvPr id="9" name="Text 6"/>
          <p:cNvSpPr txBox="1"/>
          <p:nvPr/>
        </p:nvSpPr>
        <p:spPr>
          <a:xfrm>
            <a:off x="8503920" y="1298448"/>
            <a:ext cx="2956255" cy="179222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Yayınlama</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Girdi (B, d) → çıktı (B,)</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Döngüden </a:t>
            </a:r>
            <a:r>
              <a:rPr lang="en-US" sz="1600" b="1" dirty="0">
                <a:solidFill>
                  <a:srgbClr val="1F2937"/>
                </a:solidFill>
                <a:latin typeface="Calibri" pitchFamily="34" charset="0"/>
                <a:ea typeface="Calibri" pitchFamily="34" charset="-122"/>
                <a:cs typeface="Calibri" pitchFamily="34" charset="-120"/>
              </a:rPr>
              <a:t>onlarca kat</a:t>
            </a:r>
            <a:r>
              <a:rPr lang="en-US" sz="1600" dirty="0">
                <a:solidFill>
                  <a:srgbClr val="1F2937"/>
                </a:solidFill>
                <a:latin typeface="Calibri" pitchFamily="34" charset="0"/>
                <a:ea typeface="Calibri" pitchFamily="34" charset="-122"/>
                <a:cs typeface="Calibri" pitchFamily="34" charset="-120"/>
              </a:rPr>
              <a:t> hızlı</a:t>
            </a:r>
            <a:endParaRPr lang="en-US" sz="1700" dirty="0"/>
          </a:p>
        </p:txBody>
      </p:sp>
      <p:sp>
        <p:nvSpPr>
          <p:cNvPr id="10" name="Shape 7"/>
          <p:cNvSpPr/>
          <p:nvPr/>
        </p:nvSpPr>
        <p:spPr>
          <a:xfrm>
            <a:off x="8321040" y="3383280"/>
            <a:ext cx="3322015" cy="2011680"/>
          </a:xfrm>
          <a:prstGeom prst="roundRect">
            <a:avLst>
              <a:gd name="adj" fmla="val 3636"/>
            </a:avLst>
          </a:prstGeom>
          <a:solidFill>
            <a:srgbClr val="FDF3E8"/>
          </a:solidFill>
          <a:ln w="12700">
            <a:solidFill>
              <a:srgbClr val="FDF3E8"/>
            </a:solidFill>
            <a:prstDash val="solid"/>
          </a:ln>
        </p:spPr>
      </p:sp>
      <p:sp>
        <p:nvSpPr>
          <p:cNvPr id="11" name="Text 8"/>
          <p:cNvSpPr txBox="1"/>
          <p:nvPr/>
        </p:nvSpPr>
        <p:spPr>
          <a:xfrm>
            <a:off x="8503920" y="3493008"/>
            <a:ext cx="2956255" cy="1792224"/>
          </a:xfrm>
          <a:prstGeom prst="rect">
            <a:avLst/>
          </a:prstGeom>
          <a:noFill/>
          <a:ln/>
        </p:spPr>
        <p:txBody>
          <a:bodyPr wrap="square" lIns="0" tIns="0" rIns="0" bIns="0" rtlCol="0" anchor="t"/>
          <a:lstStyle/>
          <a:p>
            <a:pPr algn="l" indent="0" marL="0">
              <a:spcAft>
                <a:spcPts val="600"/>
              </a:spcAft>
              <a:buNone/>
            </a:pPr>
            <a:r>
              <a:rPr lang="en-US" sz="1700" b="1" dirty="0">
                <a:solidFill>
                  <a:srgbClr val="D9822B"/>
                </a:solidFill>
                <a:latin typeface="Calibri" pitchFamily="34" charset="0"/>
                <a:ea typeface="Calibri" pitchFamily="34" charset="-122"/>
                <a:cs typeface="Calibri" pitchFamily="34" charset="-120"/>
              </a:rPr>
              <a:t>float64</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Simülasyon çift duyarlıkta daha kararlı</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Unutulursa </a:t>
            </a:r>
            <a:r>
              <a:rPr lang="en-US" sz="1600" b="1" dirty="0">
                <a:solidFill>
                  <a:srgbClr val="1F2937"/>
                </a:solidFill>
                <a:latin typeface="Calibri" pitchFamily="34" charset="0"/>
                <a:ea typeface="Calibri" pitchFamily="34" charset="-122"/>
                <a:cs typeface="Calibri" pitchFamily="34" charset="-120"/>
              </a:rPr>
              <a:t>dtype</a:t>
            </a:r>
            <a:r>
              <a:rPr lang="en-US" sz="1600" dirty="0">
                <a:solidFill>
                  <a:srgbClr val="1F2937"/>
                </a:solidFill>
                <a:latin typeface="Calibri" pitchFamily="34" charset="0"/>
                <a:ea typeface="Calibri" pitchFamily="34" charset="-122"/>
                <a:cs typeface="Calibri" pitchFamily="34" charset="-120"/>
              </a:rPr>
              <a:t> hatası</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Aynı devre: PennyLane ↔ Qiskit</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25</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1775106"/>
                <a:gridCol w="4437766"/>
                <a:gridCol w="4881543"/>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İşlem</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PennyLane</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Qiskit 2.x</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5720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Simülatör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qml.device("default.qubit", wires=2)</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StatevectorEstimator()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Parametreli devre</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fonksiyon + </a:t>
                      </a:r>
                      <a:r>
                        <a:rPr lang="en-US" sz="1400" dirty="0">
                          <a:solidFill>
                            <a:srgbClr val="1F3A5F"/>
                          </a:solidFill>
                          <a:latin typeface="Courier New" pitchFamily="34" charset="0"/>
                          <a:ea typeface="Courier New" pitchFamily="34" charset="-122"/>
                          <a:cs typeface="Courier New" pitchFamily="34" charset="-120"/>
                        </a:rPr>
                        <a:t>@qml.qnode</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QuantumCircuit</a:t>
                      </a:r>
                      <a:r>
                        <a:rPr lang="en-US" sz="1400" dirty="0">
                          <a:solidFill>
                            <a:srgbClr val="1F2937"/>
                          </a:solidFill>
                          <a:latin typeface="Calibri" pitchFamily="34" charset="0"/>
                          <a:ea typeface="Calibri" pitchFamily="34" charset="-122"/>
                          <a:cs typeface="Calibri" pitchFamily="34" charset="-120"/>
                        </a:rPr>
                        <a:t> + </a:t>
                      </a:r>
                      <a:r>
                        <a:rPr lang="en-US" sz="1400" dirty="0">
                          <a:solidFill>
                            <a:srgbClr val="1F3A5F"/>
                          </a:solidFill>
                          <a:latin typeface="Courier New" pitchFamily="34" charset="0"/>
                          <a:ea typeface="Courier New" pitchFamily="34" charset="-122"/>
                          <a:cs typeface="Courier New" pitchFamily="34" charset="-120"/>
                        </a:rPr>
                        <a:t>ParameterVector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5720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Açı kodlama</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qml.AngleEmbedding(x, ...)</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qc.ry(x[0], 0); qc.ry(x[1], 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CNOT</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qml.CNOT(wires=[0, 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qc.cx(0, 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5720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⟨Z₁⟩</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qml.expval(qml.PauliZ(1))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SparsePauliOp("ZI")</a:t>
                      </a:r>
                      <a:r>
                        <a:rPr lang="en-US" sz="1400" dirty="0">
                          <a:solidFill>
                            <a:srgbClr val="1F2937"/>
                          </a:solidFill>
                          <a:latin typeface="Calibri" pitchFamily="34" charset="0"/>
                          <a:ea typeface="Calibri" pitchFamily="34" charset="-122"/>
                          <a:cs typeface="Calibri" pitchFamily="34" charset="-120"/>
                        </a:rPr>
                        <a:t> + Estimator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Hazır ansatz</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StronglyEntanglingLayers</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real_amplitudes</a:t>
                      </a:r>
                      <a:r>
                        <a:rPr lang="en-US" sz="1400" dirty="0">
                          <a:solidFill>
                            <a:srgbClr val="1F2937"/>
                          </a:solidFill>
                          <a:latin typeface="Calibri" pitchFamily="34" charset="0"/>
                          <a:ea typeface="Calibri" pitchFamily="34" charset="-122"/>
                          <a:cs typeface="Calibri" pitchFamily="34" charset="-120"/>
                        </a:rPr>
                        <a:t>, </a:t>
                      </a:r>
                      <a:r>
                        <a:rPr lang="en-US" sz="1400" dirty="0">
                          <a:solidFill>
                            <a:srgbClr val="1F3A5F"/>
                          </a:solidFill>
                          <a:latin typeface="Courier New" pitchFamily="34" charset="0"/>
                          <a:ea typeface="Courier New" pitchFamily="34" charset="-122"/>
                          <a:cs typeface="Courier New" pitchFamily="34" charset="-120"/>
                        </a:rPr>
                        <a:t>efficient_su2</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5720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Gradyan</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qml.grad</a:t>
                      </a:r>
                      <a:r>
                        <a:rPr lang="en-US" sz="1400" dirty="0">
                          <a:solidFill>
                            <a:srgbClr val="1F2937"/>
                          </a:solidFill>
                          <a:latin typeface="Calibri" pitchFamily="34" charset="0"/>
                          <a:ea typeface="Calibri" pitchFamily="34" charset="-122"/>
                          <a:cs typeface="Calibri" pitchFamily="34" charset="-120"/>
                        </a:rPr>
                        <a:t>, </a:t>
                      </a:r>
                      <a:r>
                        <a:rPr lang="en-US" sz="1400" dirty="0">
                          <a:solidFill>
                            <a:srgbClr val="1F3A5F"/>
                          </a:solidFill>
                          <a:latin typeface="Courier New" pitchFamily="34" charset="0"/>
                          <a:ea typeface="Courier New" pitchFamily="34" charset="-122"/>
                          <a:cs typeface="Courier New" pitchFamily="34" charset="-120"/>
                        </a:rPr>
                        <a:t>loss.backward()</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ParamShiftEstimatorGradient</a:t>
                      </a:r>
                      <a:r>
                        <a:rPr lang="en-US" sz="1400" dirty="0">
                          <a:solidFill>
                            <a:srgbClr val="1F2937"/>
                          </a:solidFill>
                          <a:latin typeface="Calibri" pitchFamily="34" charset="0"/>
                          <a:ea typeface="Calibri" pitchFamily="34" charset="-122"/>
                          <a:cs typeface="Calibri" pitchFamily="34" charset="-120"/>
                        </a:rPr>
                        <a:t> (qiskit-ml)</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Çizim</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qml.draw_mpl(f)(...)</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3A5F"/>
                          </a:solidFill>
                          <a:latin typeface="Courier New" pitchFamily="34" charset="0"/>
                          <a:ea typeface="Courier New" pitchFamily="34" charset="-122"/>
                          <a:cs typeface="Courier New" pitchFamily="34" charset="-120"/>
                        </a:rPr>
                        <a:t>qc.draw("mpl")</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7" name="Shape 3"/>
          <p:cNvSpPr/>
          <p:nvPr/>
        </p:nvSpPr>
        <p:spPr>
          <a:xfrm>
            <a:off x="548640" y="5577840"/>
            <a:ext cx="11094415" cy="457200"/>
          </a:xfrm>
          <a:prstGeom prst="roundRect">
            <a:avLst>
              <a:gd name="adj" fmla="val 16000"/>
            </a:avLst>
          </a:prstGeom>
          <a:solidFill>
            <a:srgbClr val="FDF3E8"/>
          </a:solidFill>
          <a:ln w="12700">
            <a:solidFill>
              <a:srgbClr val="FDF3E8"/>
            </a:solidFill>
            <a:prstDash val="solid"/>
          </a:ln>
        </p:spPr>
      </p:sp>
      <p:sp>
        <p:nvSpPr>
          <p:cNvPr id="8" name="Text 4"/>
          <p:cNvSpPr txBox="1"/>
          <p:nvPr/>
        </p:nvSpPr>
        <p:spPr>
          <a:xfrm>
            <a:off x="731520" y="5687568"/>
            <a:ext cx="10728655" cy="237744"/>
          </a:xfrm>
          <a:prstGeom prst="rect">
            <a:avLst/>
          </a:prstGeom>
          <a:noFill/>
          <a:ln/>
        </p:spPr>
        <p:txBody>
          <a:bodyPr wrap="square" lIns="0" tIns="0" rIns="0" bIns="0" rtlCol="0" anchor="ctr"/>
          <a:lstStyle/>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Bit sırası: Qiskit'te </a:t>
            </a:r>
            <a:r>
              <a:rPr lang="en-US" sz="1500" dirty="0">
                <a:solidFill>
                  <a:srgbClr val="1F3A5F"/>
                </a:solidFill>
                <a:latin typeface="Courier New" pitchFamily="34" charset="0"/>
                <a:ea typeface="Courier New" pitchFamily="34" charset="-122"/>
                <a:cs typeface="Courier New" pitchFamily="34" charset="-120"/>
              </a:rPr>
              <a:t>"ZI"</a:t>
            </a:r>
            <a:r>
              <a:rPr lang="en-US" sz="1500" dirty="0">
                <a:solidFill>
                  <a:srgbClr val="1F2937"/>
                </a:solidFill>
                <a:latin typeface="Calibri" pitchFamily="34" charset="0"/>
                <a:ea typeface="Calibri" pitchFamily="34" charset="-122"/>
                <a:cs typeface="Calibri" pitchFamily="34" charset="-120"/>
              </a:rPr>
              <a:t> = q₁ üzerinde Z (sağdaki karakter q₀).</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2. saat</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Çözümlü örnekler, hibrit model ve deneyler</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Elle hesaplama → PennyLane doğrulaması</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1 · Tek kübitlik VQC'de ileri geçiş</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27</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RY(x) → RY(θ) → ⟨Z⟩; x = 0,8, θ = 1,2. Durum, ⟨Z⟩, p ve tahmin?</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Aynı eksendeki döndürmeler toplanır: RY(2,0)</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|ψ⟩ = [cos 1,0 , sin 1,0] = [0,540 , 0,841]</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⟨Z⟩ = 0,292 − 0,708 = −0,416</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p = (1 + 0,416)/2 = 0,708  →  ŷ = 1</a:t>
            </a:r>
            <a:endParaRPr lang="en-US" sz="19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⟨Z⟩ = cos(x + θ) = −0,416; p = 0,708</a:t>
            </a:r>
            <a:endParaRPr lang="en-US" sz="1700" dirty="0"/>
          </a:p>
        </p:txBody>
      </p:sp>
      <p:pic>
        <p:nvPicPr>
          <p:cNvPr id="11" name="Image 0" descr="görsel">    </p:cNvPr>
          <p:cNvPicPr>
            <a:picLocks noChangeAspect="1"/>
          </p:cNvPicPr>
          <p:nvPr/>
        </p:nvPicPr>
        <p:blipFill>
          <a:blip r:embed="rId1"/>
          <a:stretch>
            <a:fillRect/>
          </a:stretch>
        </p:blipFill>
        <p:spPr>
          <a:xfrm>
            <a:off x="7498080" y="1312636"/>
            <a:ext cx="4144975" cy="1398087"/>
          </a:xfrm>
          <a:prstGeom prst="rect">
            <a:avLst/>
          </a:prstGeom>
        </p:spPr>
      </p:pic>
      <p:sp>
        <p:nvSpPr>
          <p:cNvPr id="12" name="Shape 8"/>
          <p:cNvSpPr/>
          <p:nvPr/>
        </p:nvSpPr>
        <p:spPr>
          <a:xfrm>
            <a:off x="7498080" y="2971800"/>
            <a:ext cx="4144975" cy="2651760"/>
          </a:xfrm>
          <a:prstGeom prst="rect">
            <a:avLst/>
          </a:prstGeom>
          <a:solidFill>
            <a:srgbClr val="F7F8FA"/>
          </a:solidFill>
          <a:ln w="9525">
            <a:solidFill>
              <a:srgbClr val="D1D5DB"/>
            </a:solidFill>
            <a:prstDash val="solid"/>
          </a:ln>
        </p:spPr>
      </p:sp>
      <p:sp>
        <p:nvSpPr>
          <p:cNvPr id="13" name="Text 9"/>
          <p:cNvSpPr txBox="1"/>
          <p:nvPr/>
        </p:nvSpPr>
        <p:spPr>
          <a:xfrm>
            <a:off x="7635240" y="3063240"/>
            <a:ext cx="3870655" cy="2468880"/>
          </a:xfrm>
          <a:prstGeom prst="rect">
            <a:avLst/>
          </a:prstGeom>
          <a:noFill/>
          <a:ln/>
        </p:spPr>
        <p:txBody>
          <a:bodyPr wrap="square" lIns="0" tIns="0" rIns="0" bIns="0" rtlCol="0" anchor="t"/>
          <a:lstStyle/>
          <a:p>
            <a:pPr indent="0" marL="0">
              <a:buNone/>
            </a:pPr>
            <a:r>
              <a:rPr lang="en-US" sz="1300" dirty="0">
                <a:solidFill>
                  <a:srgbClr val="1F2937"/>
                </a:solidFill>
                <a:latin typeface="Courier New" pitchFamily="34" charset="0"/>
                <a:ea typeface="Courier New" pitchFamily="34" charset="-122"/>
                <a:cs typeface="Courier New" pitchFamily="34" charset="-120"/>
              </a:rPr>
              <a:t>dev = qml.device("default.qubit",</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wires=1)</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@qml.qnode(dev)</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def f(x, t):</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qml.RY(x, wires=0)</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qml.RY(t, wires=0)</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return qml.expval(qml.PauliZ(0))</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f(0.8, 1.2)   </a:t>
            </a:r>
            <a:r>
              <a:rPr lang="en-US" sz="1300" dirty="0">
                <a:solidFill>
                  <a:srgbClr val="6B7F99"/>
                </a:solidFill>
                <a:latin typeface="Courier New" pitchFamily="34" charset="0"/>
                <a:ea typeface="Courier New" pitchFamily="34" charset="-122"/>
                <a:cs typeface="Courier New" pitchFamily="34" charset="-120"/>
              </a:rPr>
              <a:t># -0.4161</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2 · Üç döndürme: RY → RZ → RY</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28</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a = 1,0, b = 0,5, θ = 0,7: RY(a), RZ(b), RY(θ) sonrası ⟨Z⟩?</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RY(a): Bloch (sin a, 0, cos a) = (0,841, 0, 0,540)</a:t>
            </a:r>
            <a:endParaRPr lang="en-US" sz="19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2. RZ(b), z ekseni etrafında döndürür: x = sin a·cos b = 0,738</a:t>
            </a:r>
            <a:endParaRPr lang="en-US" sz="19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3. RY(θ) sonrası: z' = cos θ·z − sin θ·x</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⟨Z⟩ = 0,765·0,540 − 0,644·0,738 = −0,062</a:t>
            </a:r>
            <a:endParaRPr lang="en-US" sz="19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⟨Z⟩ ≈ −0,062 (p ≈ 0,53)</a:t>
            </a:r>
            <a:endParaRPr lang="en-US" sz="1700" dirty="0"/>
          </a:p>
        </p:txBody>
      </p:sp>
      <p:sp>
        <p:nvSpPr>
          <p:cNvPr id="11" name="Shape 8"/>
          <p:cNvSpPr/>
          <p:nvPr/>
        </p:nvSpPr>
        <p:spPr>
          <a:xfrm>
            <a:off x="7498080" y="1417320"/>
            <a:ext cx="4144975" cy="1188720"/>
          </a:xfrm>
          <a:prstGeom prst="roundRect">
            <a:avLst>
              <a:gd name="adj" fmla="val 7692"/>
            </a:avLst>
          </a:prstGeom>
          <a:solidFill>
            <a:srgbClr val="E8EEF6"/>
          </a:solidFill>
          <a:ln w="12700">
            <a:solidFill>
              <a:srgbClr val="E8EEF6"/>
            </a:solidFill>
            <a:prstDash val="solid"/>
          </a:ln>
        </p:spPr>
      </p:sp>
      <p:sp>
        <p:nvSpPr>
          <p:cNvPr id="12" name="Text 9"/>
          <p:cNvSpPr txBox="1"/>
          <p:nvPr/>
        </p:nvSpPr>
        <p:spPr>
          <a:xfrm>
            <a:off x="7498080" y="1417320"/>
            <a:ext cx="4144975" cy="1188720"/>
          </a:xfrm>
          <a:prstGeom prst="rect">
            <a:avLst/>
          </a:prstGeom>
          <a:noFill/>
          <a:ln/>
        </p:spPr>
        <p:txBody>
          <a:bodyPr wrap="square" lIns="0" tIns="0" rIns="0" bIns="0" rtlCol="0" anchor="ctr"/>
          <a:lstStyle/>
          <a:p>
            <a:pPr algn="ctr" indent="0" marL="0">
              <a:buNone/>
            </a:pPr>
            <a:r>
              <a:rPr lang="en-US" sz="1700" dirty="0">
                <a:solidFill>
                  <a:srgbClr val="1F3A5F"/>
                </a:solidFill>
                <a:latin typeface="Cambria" pitchFamily="34" charset="0"/>
                <a:ea typeface="Cambria" pitchFamily="34" charset="-122"/>
                <a:cs typeface="Cambria" pitchFamily="34" charset="-120"/>
              </a:rPr>
              <a:t>⟨Z⟩ = cos a·cos θ − sin a·cos b·sin θ</a:t>
            </a:r>
            <a:endParaRPr lang="en-US" sz="1700" dirty="0"/>
          </a:p>
        </p:txBody>
      </p:sp>
      <p:sp>
        <p:nvSpPr>
          <p:cNvPr id="13" name="Shape 10"/>
          <p:cNvSpPr/>
          <p:nvPr/>
        </p:nvSpPr>
        <p:spPr>
          <a:xfrm>
            <a:off x="7498080" y="2971800"/>
            <a:ext cx="4144975" cy="1280160"/>
          </a:xfrm>
          <a:prstGeom prst="rect">
            <a:avLst/>
          </a:prstGeom>
          <a:solidFill>
            <a:srgbClr val="F7F8FA"/>
          </a:solidFill>
          <a:ln w="9525">
            <a:solidFill>
              <a:srgbClr val="D1D5DB"/>
            </a:solidFill>
            <a:prstDash val="solid"/>
          </a:ln>
        </p:spPr>
      </p:sp>
      <p:sp>
        <p:nvSpPr>
          <p:cNvPr id="14" name="Text 11"/>
          <p:cNvSpPr txBox="1"/>
          <p:nvPr/>
        </p:nvSpPr>
        <p:spPr>
          <a:xfrm>
            <a:off x="7635240" y="3063240"/>
            <a:ext cx="3870655" cy="1097280"/>
          </a:xfrm>
          <a:prstGeom prst="rect">
            <a:avLst/>
          </a:prstGeom>
          <a:noFill/>
          <a:ln/>
        </p:spPr>
        <p:txBody>
          <a:bodyPr wrap="square" lIns="0" tIns="0" rIns="0" bIns="0" rtlCol="0" anchor="t"/>
          <a:lstStyle/>
          <a:p>
            <a:pPr indent="0" marL="0">
              <a:buNone/>
            </a:pPr>
            <a:r>
              <a:rPr lang="en-US" sz="1400" dirty="0">
                <a:solidFill>
                  <a:srgbClr val="1F2937"/>
                </a:solidFill>
                <a:latin typeface="Courier New" pitchFamily="34" charset="0"/>
                <a:ea typeface="Courier New" pitchFamily="34" charset="-122"/>
                <a:cs typeface="Courier New" pitchFamily="34" charset="-120"/>
              </a:rPr>
              <a:t>qml.RY(1.0, 0); qml.RZ(0.5, 0)</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qml.RY(0.7, 0)</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⟨Z⟩ = -0.0625</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3 · İki kübitlik VQC</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29</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Şekildeki devre: x = [0,5 ; 1,0], θ = [0,3 ; 0,4 ; −0,2 ; 0,9]. ⟨Z₁⟩?</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RZ'ler burada yalnız faz ekler; Z ölçümünü etkilemez.</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q₀: RY(0,8) → cos 0,8 = 0,697     q₁: RY(0,8) → 0,697</a:t>
            </a:r>
            <a:endParaRPr lang="en-US" sz="19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2. CNOT sonrası Z₁ → Z₀·Z₁ (bağımsız kübitlerde çarpım):</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⟨Z₁⟩ = 0,697 · 0,697 = 0,485   →   p = 0,257</a:t>
            </a:r>
            <a:endParaRPr lang="en-US" sz="19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⟨Z₁⟩ = 0,485; ŷ = 0</a:t>
            </a:r>
            <a:endParaRPr lang="en-US" sz="1700" dirty="0"/>
          </a:p>
        </p:txBody>
      </p:sp>
      <p:pic>
        <p:nvPicPr>
          <p:cNvPr id="11" name="Image 0" descr="görsel">    </p:cNvPr>
          <p:cNvPicPr>
            <a:picLocks noChangeAspect="1"/>
          </p:cNvPicPr>
          <p:nvPr/>
        </p:nvPicPr>
        <p:blipFill>
          <a:blip r:embed="rId1"/>
          <a:stretch>
            <a:fillRect/>
          </a:stretch>
        </p:blipFill>
        <p:spPr>
          <a:xfrm>
            <a:off x="7498080" y="1273827"/>
            <a:ext cx="4144975" cy="1750026"/>
          </a:xfrm>
          <a:prstGeom prst="rect">
            <a:avLst/>
          </a:prstGeom>
        </p:spPr>
      </p:pic>
      <p:sp>
        <p:nvSpPr>
          <p:cNvPr id="12" name="Shape 8"/>
          <p:cNvSpPr/>
          <p:nvPr/>
        </p:nvSpPr>
        <p:spPr>
          <a:xfrm>
            <a:off x="7498080" y="3337560"/>
            <a:ext cx="4144975" cy="1828800"/>
          </a:xfrm>
          <a:prstGeom prst="rect">
            <a:avLst/>
          </a:prstGeom>
          <a:solidFill>
            <a:srgbClr val="F7F8FA"/>
          </a:solidFill>
          <a:ln w="9525">
            <a:solidFill>
              <a:srgbClr val="D1D5DB"/>
            </a:solidFill>
            <a:prstDash val="solid"/>
          </a:ln>
        </p:spPr>
      </p:sp>
      <p:sp>
        <p:nvSpPr>
          <p:cNvPr id="13" name="Text 9"/>
          <p:cNvSpPr txBox="1"/>
          <p:nvPr/>
        </p:nvSpPr>
        <p:spPr>
          <a:xfrm>
            <a:off x="7635240" y="3429000"/>
            <a:ext cx="3870655" cy="1645920"/>
          </a:xfrm>
          <a:prstGeom prst="rect">
            <a:avLst/>
          </a:prstGeom>
          <a:noFill/>
          <a:ln/>
        </p:spPr>
        <p:txBody>
          <a:bodyPr wrap="square" lIns="0" tIns="0" rIns="0" bIns="0" rtlCol="0" anchor="t"/>
          <a:lstStyle/>
          <a:p>
            <a:pPr indent="0" marL="0">
              <a:buNone/>
            </a:pPr>
            <a:r>
              <a:rPr lang="en-US" sz="1300" dirty="0">
                <a:solidFill>
                  <a:srgbClr val="1F2937"/>
                </a:solidFill>
                <a:latin typeface="Courier New" pitchFamily="34" charset="0"/>
                <a:ea typeface="Courier New" pitchFamily="34" charset="-122"/>
                <a:cs typeface="Courier New" pitchFamily="34" charset="-120"/>
              </a:rPr>
              <a:t>obs = SparsePauliOp("ZI")</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est = StatevectorEstimator()</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est.run([(qc, obs, vals)])</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.result()[0].data.evs</a:t>
            </a:r>
            <a:endParaRPr lang="en-US" sz="1300" dirty="0"/>
          </a:p>
          <a:p>
            <a:pPr indent="0" marL="0">
              <a:buNone/>
            </a:pPr>
            <a:r>
              <a:rPr lang="en-US" sz="1300" dirty="0">
                <a:solidFill>
                  <a:srgbClr val="6B7F99"/>
                </a:solidFill>
                <a:latin typeface="Courier New" pitchFamily="34" charset="0"/>
                <a:ea typeface="Courier New" pitchFamily="34" charset="-122"/>
                <a:cs typeface="Courier New" pitchFamily="34" charset="-120"/>
              </a:rPr>
              <a:t># 0.4854</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4 · Mini-batch BCE</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30</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p = [0,9 ; 0,2 ; 0,6 ; 0,3], y = [1 ; 0 ; 1 ; 1]. Ortalama BCE ve kare hata?</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−log 0,9 = 0,105    −log 0,8 = 0,223</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−log 0,6 = 0,511    −log 0,3 = 1,204</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BCE = 2,043 / 4 = 0,511</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Kare hata = (0,01 + 0,04 + 0,16 + 0,49)/4 = 0,175</a:t>
            </a:r>
            <a:endParaRPr lang="en-US" sz="22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BCE = 0,511, MSE = 0,175</a:t>
            </a:r>
            <a:endParaRPr lang="en-US" sz="1700" dirty="0"/>
          </a:p>
        </p:txBody>
      </p:sp>
      <p:sp>
        <p:nvSpPr>
          <p:cNvPr id="11" name="Shape 8"/>
          <p:cNvSpPr/>
          <p:nvPr/>
        </p:nvSpPr>
        <p:spPr>
          <a:xfrm>
            <a:off x="7498080" y="1143000"/>
            <a:ext cx="4144975" cy="2560320"/>
          </a:xfrm>
          <a:prstGeom prst="rect">
            <a:avLst/>
          </a:prstGeom>
          <a:solidFill>
            <a:srgbClr val="F7F8FA"/>
          </a:solidFill>
          <a:ln w="9525">
            <a:solidFill>
              <a:srgbClr val="D1D5DB"/>
            </a:solidFill>
            <a:prstDash val="solid"/>
          </a:ln>
        </p:spPr>
      </p:sp>
      <p:sp>
        <p:nvSpPr>
          <p:cNvPr id="12" name="Text 9"/>
          <p:cNvSpPr txBox="1"/>
          <p:nvPr/>
        </p:nvSpPr>
        <p:spPr>
          <a:xfrm>
            <a:off x="7635240" y="1234440"/>
            <a:ext cx="3870655" cy="2377440"/>
          </a:xfrm>
          <a:prstGeom prst="rect">
            <a:avLst/>
          </a:prstGeom>
          <a:noFill/>
          <a:ln/>
        </p:spPr>
        <p:txBody>
          <a:bodyPr wrap="square" lIns="0" tIns="0" rIns="0" bIns="0" rtlCol="0" anchor="t"/>
          <a:lstStyle/>
          <a:p>
            <a:pPr indent="0" marL="0">
              <a:buNone/>
            </a:pPr>
            <a:r>
              <a:rPr lang="en-US" sz="1400" dirty="0">
                <a:solidFill>
                  <a:srgbClr val="1F2937"/>
                </a:solidFill>
                <a:latin typeface="Courier New" pitchFamily="34" charset="0"/>
                <a:ea typeface="Courier New" pitchFamily="34" charset="-122"/>
                <a:cs typeface="Courier New" pitchFamily="34" charset="-120"/>
              </a:rPr>
              <a:t>p = torch.tensor([.9, .2, .6, .3])</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y = torch.tensor([1., 0., 1., 1.])</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F.binary_cross_entropy(p, y)</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0.5108</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((p - y)**2).mean()</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0.1750</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5 · Parameter-shift gradyanı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31</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Örnek 1'deki model (x = 0,8, θ = 1,2): ∂⟨Z⟩/∂θ?</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f(θ + π/2) = cos(3,571) = −0,909</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f(θ − π/2) = cos(0,429) = +0,909</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∂⟨Z⟩/∂θ = (−0,909 − 0,909)/2 = −0,909</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Analitik: −sin(2,0) = −0,909 ✓</a:t>
            </a:r>
            <a:endParaRPr lang="en-US" sz="22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−0,909: iki devre çalıştırmasıyla tam sonuç</a:t>
            </a:r>
            <a:endParaRPr lang="en-US" sz="1700" dirty="0"/>
          </a:p>
        </p:txBody>
      </p:sp>
      <p:sp>
        <p:nvSpPr>
          <p:cNvPr id="11" name="Shape 8"/>
          <p:cNvSpPr/>
          <p:nvPr/>
        </p:nvSpPr>
        <p:spPr>
          <a:xfrm>
            <a:off x="7498080" y="1143000"/>
            <a:ext cx="4144975" cy="2743200"/>
          </a:xfrm>
          <a:prstGeom prst="rect">
            <a:avLst/>
          </a:prstGeom>
          <a:solidFill>
            <a:srgbClr val="F7F8FA"/>
          </a:solidFill>
          <a:ln w="9525">
            <a:solidFill>
              <a:srgbClr val="D1D5DB"/>
            </a:solidFill>
            <a:prstDash val="solid"/>
          </a:ln>
        </p:spPr>
      </p:sp>
      <p:sp>
        <p:nvSpPr>
          <p:cNvPr id="12" name="Text 9"/>
          <p:cNvSpPr txBox="1"/>
          <p:nvPr/>
        </p:nvSpPr>
        <p:spPr>
          <a:xfrm>
            <a:off x="7635240" y="1234440"/>
            <a:ext cx="3870655" cy="2560320"/>
          </a:xfrm>
          <a:prstGeom prst="rect">
            <a:avLst/>
          </a:prstGeom>
          <a:noFill/>
          <a:ln/>
        </p:spPr>
        <p:txBody>
          <a:bodyPr wrap="square" lIns="0" tIns="0" rIns="0" bIns="0" rtlCol="0" anchor="t"/>
          <a:lstStyle/>
          <a:p>
            <a:pPr indent="0" marL="0">
              <a:buNone/>
            </a:pPr>
            <a:r>
              <a:rPr lang="en-US" sz="1400" dirty="0">
                <a:solidFill>
                  <a:srgbClr val="1F2937"/>
                </a:solidFill>
                <a:latin typeface="Courier New" pitchFamily="34" charset="0"/>
                <a:ea typeface="Courier New" pitchFamily="34" charset="-122"/>
                <a:cs typeface="Courier New" pitchFamily="34" charset="-120"/>
              </a:rPr>
              <a:t>qn = qml.QNode(f, dev,</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diff_method="parameter-shift")</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qml.grad(qn, argnums=1)(0.8, θ)</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-0.909297</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(f(.8, 1.2+π/2) - f(.8, 1.2-π/2))/2</a:t>
            </a:r>
            <a:endParaRPr lang="en-US" sz="1400" dirty="0"/>
          </a:p>
          <a:p>
            <a:pPr indent="0" marL="0">
              <a:buNone/>
            </a:pPr>
            <a:r>
              <a:rPr lang="en-US" sz="1400" dirty="0">
                <a:solidFill>
                  <a:srgbClr val="6B7F99"/>
                </a:solidFill>
                <a:latin typeface="Courier New" pitchFamily="34" charset="0"/>
                <a:ea typeface="Courier New" pitchFamily="34" charset="-122"/>
                <a:cs typeface="Courier New" pitchFamily="34" charset="-120"/>
              </a:rPr>
              <a:t># -0.909297</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6 · Zincir kuralı + bir SGD adımı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32</a:t>
            </a:r>
            <a:endParaRPr lang="en-US" sz="1000" dirty="0"/>
          </a:p>
        </p:txBody>
      </p:sp>
      <p:sp>
        <p:nvSpPr>
          <p:cNvPr id="6" name="Shape 3"/>
          <p:cNvSpPr/>
          <p:nvPr/>
        </p:nvSpPr>
        <p:spPr>
          <a:xfrm>
            <a:off x="548640" y="1143000"/>
            <a:ext cx="11094415"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10728655"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Örnek 1, y = 1, η = 0,1. ∂L/∂θ ve bir adım sonrası kayıp?</a:t>
            </a:r>
            <a:endParaRPr lang="en-US" sz="1600" dirty="0"/>
          </a:p>
        </p:txBody>
      </p:sp>
      <p:sp>
        <p:nvSpPr>
          <p:cNvPr id="8" name="Text 5"/>
          <p:cNvSpPr txBox="1"/>
          <p:nvPr/>
        </p:nvSpPr>
        <p:spPr>
          <a:xfrm>
            <a:off x="548640" y="2286000"/>
            <a:ext cx="11094415"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∂L/∂θ = (−1/p) · (−1/2) · ∂⟨Z⟩/∂θ</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 (−1,412) · (−0,5) · (−0,909) = −0,642</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θ_yeni = 1,2 + 0,064 = 1,264</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p_yeni = 0,737    L: 0,345 → 0,305 ✓</a:t>
            </a:r>
            <a:endParaRPr lang="en-US" sz="2200" dirty="0"/>
          </a:p>
        </p:txBody>
      </p:sp>
      <p:sp>
        <p:nvSpPr>
          <p:cNvPr id="9" name="Shape 6"/>
          <p:cNvSpPr/>
          <p:nvPr/>
        </p:nvSpPr>
        <p:spPr>
          <a:xfrm>
            <a:off x="548640" y="5623560"/>
            <a:ext cx="11094415"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10728655"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Kayıp azaldı: 0,345 → 0,305</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7 · Parameter-shift maliyeti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33</a:t>
            </a:r>
            <a:endParaRPr lang="en-US" sz="1000" dirty="0"/>
          </a:p>
        </p:txBody>
      </p:sp>
      <p:sp>
        <p:nvSpPr>
          <p:cNvPr id="6" name="Shape 3"/>
          <p:cNvSpPr/>
          <p:nvPr/>
        </p:nvSpPr>
        <p:spPr>
          <a:xfrm>
            <a:off x="548640" y="1143000"/>
            <a:ext cx="6675120"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6309360"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P = 24 parametre, 140 örnek, 30 epoch, 1000 shot/çalıştırma. Toplam çalıştırma ve shot?</a:t>
            </a:r>
            <a:endParaRPr lang="en-US" sz="1600" dirty="0"/>
          </a:p>
        </p:txBody>
      </p:sp>
      <p:sp>
        <p:nvSpPr>
          <p:cNvPr id="8" name="Text 5"/>
          <p:cNvSpPr txBox="1"/>
          <p:nvPr/>
        </p:nvSpPr>
        <p:spPr>
          <a:xfrm>
            <a:off x="548640" y="2286000"/>
            <a:ext cx="6675120" cy="3291840"/>
          </a:xfrm>
          <a:prstGeom prst="rect">
            <a:avLst/>
          </a:prstGeom>
          <a:noFill/>
          <a:ln/>
        </p:spPr>
        <p:txBody>
          <a:bodyPr wrap="square" lIns="0" tIns="0" rIns="0" bIns="0" rtlCol="0" anchor="t"/>
          <a:lstStyle/>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Örnek başına 2P + 1 = 49 çalıştırma</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49 · 140 · 30 = 205 800 çalıştırma</a:t>
            </a:r>
            <a:endParaRPr lang="en-US" sz="19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205 800 · 1000 ≈ 2 · 10⁸ shot</a:t>
            </a:r>
            <a:endParaRPr lang="en-US" sz="19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2. Simülatörde backprop: 4 200 ileri + geri geçiş.</a:t>
            </a:r>
            <a:endParaRPr lang="en-US" sz="1900" dirty="0"/>
          </a:p>
        </p:txBody>
      </p:sp>
      <p:sp>
        <p:nvSpPr>
          <p:cNvPr id="9" name="Shape 6"/>
          <p:cNvSpPr/>
          <p:nvPr/>
        </p:nvSpPr>
        <p:spPr>
          <a:xfrm>
            <a:off x="548640" y="5623560"/>
            <a:ext cx="6675120"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6309360"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 2·10⁵ çalıştırma, ≈ 2·10⁸ shot</a:t>
            </a:r>
            <a:endParaRPr lang="en-US" sz="1700" dirty="0"/>
          </a:p>
        </p:txBody>
      </p:sp>
      <p:graphicFrame>
        <p:nvGraphicFramePr>
          <p:cNvPr id="11" name="Chart 0" descr=""/>
          <p:cNvGraphicFramePr/>
          <p:nvPr/>
        </p:nvGraphicFramePr>
        <p:xfrm>
          <a:off x="7498080" y="1143000"/>
          <a:ext cx="4144975" cy="36576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Hibrit model: kuantum katman PyTorch içinde</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34</a:t>
            </a:r>
            <a:endParaRPr lang="en-US" sz="1000" dirty="0"/>
          </a:p>
        </p:txBody>
      </p:sp>
      <p:pic>
        <p:nvPicPr>
          <p:cNvPr id="6" name="Image 0" descr="görsel">    </p:cNvPr>
          <p:cNvPicPr>
            <a:picLocks noChangeAspect="1"/>
          </p:cNvPicPr>
          <p:nvPr/>
        </p:nvPicPr>
        <p:blipFill>
          <a:blip r:embed="rId1"/>
          <a:stretch>
            <a:fillRect/>
          </a:stretch>
        </p:blipFill>
        <p:spPr>
          <a:xfrm>
            <a:off x="2185171" y="1097280"/>
            <a:ext cx="7821353" cy="2194560"/>
          </a:xfrm>
          <a:prstGeom prst="rect">
            <a:avLst/>
          </a:prstGeom>
        </p:spPr>
      </p:pic>
      <p:sp>
        <p:nvSpPr>
          <p:cNvPr id="7" name="Shape 3"/>
          <p:cNvSpPr/>
          <p:nvPr/>
        </p:nvSpPr>
        <p:spPr>
          <a:xfrm>
            <a:off x="548640" y="3429000"/>
            <a:ext cx="11094415" cy="2560320"/>
          </a:xfrm>
          <a:prstGeom prst="rect">
            <a:avLst/>
          </a:prstGeom>
          <a:solidFill>
            <a:srgbClr val="F7F8FA"/>
          </a:solidFill>
          <a:ln w="9525">
            <a:solidFill>
              <a:srgbClr val="D1D5DB"/>
            </a:solidFill>
            <a:prstDash val="solid"/>
          </a:ln>
        </p:spPr>
      </p:sp>
      <p:sp>
        <p:nvSpPr>
          <p:cNvPr id="8" name="Text 4"/>
          <p:cNvSpPr txBox="1"/>
          <p:nvPr/>
        </p:nvSpPr>
        <p:spPr>
          <a:xfrm>
            <a:off x="685800" y="3520440"/>
            <a:ext cx="10820095" cy="2377440"/>
          </a:xfrm>
          <a:prstGeom prst="rect">
            <a:avLst/>
          </a:prstGeom>
          <a:noFill/>
          <a:ln/>
        </p:spPr>
        <p:txBody>
          <a:bodyPr wrap="square" lIns="0" tIns="0" rIns="0" bIns="0" rtlCol="0" anchor="t"/>
          <a:lstStyle/>
          <a:p>
            <a:pPr indent="0" marL="0">
              <a:buNone/>
            </a:pPr>
            <a:r>
              <a:rPr lang="en-US" sz="1400" dirty="0">
                <a:solidFill>
                  <a:srgbClr val="1F2937"/>
                </a:solidFill>
                <a:latin typeface="Courier New" pitchFamily="34" charset="0"/>
                <a:ea typeface="Courier New" pitchFamily="34" charset="-122"/>
                <a:cs typeface="Courier New" pitchFamily="34" charset="-120"/>
              </a:rPr>
              <a:t>@qml.qnode(dev, interface="torch", diff_method="backprop")</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def qkatman(inputs, weights):                 </a:t>
            </a:r>
            <a:r>
              <a:rPr lang="en-US" sz="1400" dirty="0">
                <a:solidFill>
                  <a:srgbClr val="6B7F99"/>
                </a:solidFill>
                <a:latin typeface="Courier New" pitchFamily="34" charset="0"/>
                <a:ea typeface="Courier New" pitchFamily="34" charset="-122"/>
                <a:cs typeface="Courier New" pitchFamily="34" charset="-120"/>
              </a:rPr>
              <a:t># "inputs" adı ZORUNLU</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qml.AngleEmbedding(inputs, wires=range(2), rotation="Y")</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qml.StronglyEntanglingLayers(weights, wires=range(2))</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return [qml.expval(qml.PauliZ(i)) for i in range(2)]</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ql = qml.qnn.TorchLayer(qkatman, {"weights": (2, 2, 3)})</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model = nn.Sequential(nn.Linear(2, 2), ql, nn.Linear(2, 1))</a:t>
            </a:r>
            <a:endParaRPr lang="en-US" sz="1400" dirty="0"/>
          </a:p>
          <a:p>
            <a:pPr indent="0" marL="0">
              <a:buNone/>
            </a:pPr>
            <a:r>
              <a:rPr lang="en-US" sz="1400" dirty="0">
                <a:solidFill>
                  <a:srgbClr val="1F2937"/>
                </a:solidFill>
                <a:latin typeface="Courier New" pitchFamily="34" charset="0"/>
                <a:ea typeface="Courier New" pitchFamily="34" charset="-122"/>
                <a:cs typeface="Courier New" pitchFamily="34" charset="-120"/>
              </a:rPr>
              <a:t>lossf = nn.BCEWithLogitsLoss()                </a:t>
            </a:r>
            <a:r>
              <a:rPr lang="en-US" sz="1400" dirty="0">
                <a:solidFill>
                  <a:srgbClr val="6B7F99"/>
                </a:solidFill>
                <a:latin typeface="Courier New" pitchFamily="34" charset="0"/>
                <a:ea typeface="Courier New" pitchFamily="34" charset="-122"/>
                <a:cs typeface="Courier New" pitchFamily="34" charset="-120"/>
              </a:rPr>
              <a:t># sigmoid + BCE</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TorchLayer kuralları (PennyLane 0.45 ile doğrulandı)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35</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4992487"/>
                <a:gridCol w="6101928"/>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Kural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Uyulmazsa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64008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Veri argümanı adı </a:t>
                      </a:r>
                      <a:r>
                        <a:rPr lang="en-US" sz="1500" b="1" dirty="0">
                          <a:solidFill>
                            <a:srgbClr val="1F2937"/>
                          </a:solidFill>
                          <a:latin typeface="Calibri" pitchFamily="34" charset="0"/>
                          <a:ea typeface="Calibri" pitchFamily="34" charset="-122"/>
                          <a:cs typeface="Calibri" pitchFamily="34" charset="-120"/>
                        </a:rPr>
                        <a:t>`inputs`</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QNode must include an argument with name inputs</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64008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Her ağırlık için şekil: </a:t>
                      </a:r>
                      <a:r>
                        <a:rPr lang="en-US" sz="1500" dirty="0">
                          <a:solidFill>
                            <a:srgbClr val="1F3A5F"/>
                          </a:solidFill>
                          <a:latin typeface="Courier New" pitchFamily="34" charset="0"/>
                          <a:ea typeface="Courier New" pitchFamily="34" charset="-122"/>
                          <a:cs typeface="Courier New" pitchFamily="34" charset="-120"/>
                        </a:rPr>
                        <a:t>{"weights": (L, n, 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Must specify a shape for every non-input parameter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64008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Liste çıktı → katman genişliği = kübit sayısı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Sonraki Linear'da şekil hatası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640080">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BCEWithLogitsLoss</a:t>
                      </a:r>
                      <a:r>
                        <a:rPr lang="en-US" sz="1500" dirty="0">
                          <a:solidFill>
                            <a:srgbClr val="1F2937"/>
                          </a:solidFill>
                          <a:latin typeface="Calibri" pitchFamily="34" charset="0"/>
                          <a:ea typeface="Calibri" pitchFamily="34" charset="-122"/>
                          <a:cs typeface="Calibri" pitchFamily="34" charset="-120"/>
                        </a:rPr>
                        <a:t> + modelde sigmoid </a:t>
                      </a:r>
                      <a:r>
                        <a:rPr lang="en-US" sz="1500" b="1" dirty="0">
                          <a:solidFill>
                            <a:srgbClr val="1F2937"/>
                          </a:solidFill>
                          <a:latin typeface="Calibri" pitchFamily="34" charset="0"/>
                          <a:ea typeface="Calibri" pitchFamily="34" charset="-122"/>
                          <a:cs typeface="Calibri" pitchFamily="34" charset="-120"/>
                        </a:rPr>
                        <a:t>yok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Çift sigmoid → yavaş öğrenme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640080">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torch.set_default_dtype(torch.float64)</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float32/float64 uyuşmazlığı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4937760"/>
            <a:ext cx="11094415" cy="960120"/>
          </a:xfrm>
          <a:prstGeom prst="roundRect">
            <a:avLst>
              <a:gd name="adj" fmla="val 7619"/>
            </a:avLst>
          </a:prstGeom>
          <a:solidFill>
            <a:srgbClr val="E8EEF6"/>
          </a:solidFill>
          <a:ln w="12700">
            <a:solidFill>
              <a:srgbClr val="E8EEF6"/>
            </a:solidFill>
            <a:prstDash val="solid"/>
          </a:ln>
        </p:spPr>
      </p:sp>
      <p:sp>
        <p:nvSpPr>
          <p:cNvPr id="8" name="Text 4"/>
          <p:cNvSpPr txBox="1"/>
          <p:nvPr/>
        </p:nvSpPr>
        <p:spPr>
          <a:xfrm>
            <a:off x="731520" y="5047488"/>
            <a:ext cx="10728655" cy="740664"/>
          </a:xfrm>
          <a:prstGeom prst="rect">
            <a:avLst/>
          </a:prstGeom>
          <a:noFill/>
          <a:ln/>
        </p:spPr>
        <p:txBody>
          <a:bodyPr wrap="square" lIns="0" tIns="0" rIns="0" bIns="0" rtlCol="0" anchor="ctr"/>
          <a:lstStyle/>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TorchLayer ağırlıkları varsayılan olarak </a:t>
            </a:r>
            <a:r>
              <a:rPr lang="en-US" sz="1600" b="1" dirty="0">
                <a:solidFill>
                  <a:srgbClr val="1F2937"/>
                </a:solidFill>
                <a:latin typeface="Calibri" pitchFamily="34" charset="0"/>
                <a:ea typeface="Calibri" pitchFamily="34" charset="-122"/>
                <a:cs typeface="Calibri" pitchFamily="34" charset="-120"/>
              </a:rPr>
              <a:t>U(0, 2π)</a:t>
            </a:r>
            <a:r>
              <a:rPr lang="en-US" sz="1600" dirty="0">
                <a:solidFill>
                  <a:srgbClr val="1F2937"/>
                </a:solidFill>
                <a:latin typeface="Calibri" pitchFamily="34" charset="0"/>
                <a:ea typeface="Calibri" pitchFamily="34" charset="-122"/>
                <a:cs typeface="Calibri" pitchFamily="34" charset="-120"/>
              </a:rPr>
              <a:t> ile başlatılır. </a:t>
            </a:r>
            <a:r>
              <a:rPr lang="en-US" sz="1600" dirty="0">
                <a:solidFill>
                  <a:srgbClr val="1F3A5F"/>
                </a:solidFill>
                <a:latin typeface="Courier New" pitchFamily="34" charset="0"/>
                <a:ea typeface="Courier New" pitchFamily="34" charset="-122"/>
                <a:cs typeface="Courier New" pitchFamily="34" charset="-120"/>
              </a:rPr>
              <a:t>sum(p.numel() for p in model.parameters())</a:t>
            </a:r>
            <a:r>
              <a:rPr lang="en-US" sz="1600" dirty="0">
                <a:solidFill>
                  <a:srgbClr val="1F2937"/>
                </a:solidFill>
                <a:latin typeface="Calibri" pitchFamily="34" charset="0"/>
                <a:ea typeface="Calibri" pitchFamily="34" charset="-122"/>
                <a:cs typeface="Calibri" pitchFamily="34" charset="-120"/>
              </a:rPr>
              <a:t> → </a:t>
            </a:r>
            <a:r>
              <a:rPr lang="en-US" sz="1600" b="1" dirty="0">
                <a:solidFill>
                  <a:srgbClr val="1F2937"/>
                </a:solidFill>
                <a:latin typeface="Calibri" pitchFamily="34" charset="0"/>
                <a:ea typeface="Calibri" pitchFamily="34" charset="-122"/>
                <a:cs typeface="Calibri" pitchFamily="34" charset="-120"/>
              </a:rPr>
              <a:t>21</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8 · Hibrit modelin parametre sayısı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36</a:t>
            </a:r>
            <a:endParaRPr lang="en-US" sz="1000" dirty="0"/>
          </a:p>
        </p:txBody>
      </p:sp>
      <p:sp>
        <p:nvSpPr>
          <p:cNvPr id="6" name="Shape 3"/>
          <p:cNvSpPr/>
          <p:nvPr/>
        </p:nvSpPr>
        <p:spPr>
          <a:xfrm>
            <a:off x="548640" y="1143000"/>
            <a:ext cx="11094415"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10728655"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(a) Linear(2,2) → 2 kübit L = 2 StronglyEnt. → Linear(2,1); (b) Linear(4,2) → aynı → Linear(2,1); (c) Linear(4,6) → 6 kübit L = 3 → Linear(6,1)?</a:t>
            </a:r>
            <a:endParaRPr lang="en-US" sz="1600" dirty="0"/>
          </a:p>
        </p:txBody>
      </p:sp>
      <p:sp>
        <p:nvSpPr>
          <p:cNvPr id="8" name="Text 5"/>
          <p:cNvSpPr txBox="1"/>
          <p:nvPr/>
        </p:nvSpPr>
        <p:spPr>
          <a:xfrm>
            <a:off x="548640" y="2286000"/>
            <a:ext cx="11094415"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(a) (2·2 + 2) + 3·2·2 + (2 + 1) = 6 + 12 + 3 = 21</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(b) (4·2 + 2) + 12 + 3 = 25</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(c) (4·6 + 6) + 3·6·3 + (6 + 1) = 30 + 54 + 7 = 91</a:t>
            </a:r>
            <a:endParaRPr lang="en-US" sz="22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Ön katman: kübit sayısı </a:t>
            </a:r>
            <a:r>
              <a:rPr lang="en-US" sz="1900" b="1" dirty="0">
                <a:solidFill>
                  <a:srgbClr val="1F2937"/>
                </a:solidFill>
                <a:latin typeface="Calibri" pitchFamily="34" charset="0"/>
                <a:ea typeface="Calibri" pitchFamily="34" charset="-122"/>
                <a:cs typeface="Calibri" pitchFamily="34" charset="-120"/>
              </a:rPr>
              <a:t>özellik sayısından bağımsız</a:t>
            </a:r>
            <a:r>
              <a:rPr lang="en-US" sz="1900" dirty="0">
                <a:solidFill>
                  <a:srgbClr val="1F2937"/>
                </a:solidFill>
                <a:latin typeface="Calibri" pitchFamily="34" charset="0"/>
                <a:ea typeface="Calibri" pitchFamily="34" charset="-122"/>
                <a:cs typeface="Calibri" pitchFamily="34" charset="-120"/>
              </a:rPr>
              <a:t>.</a:t>
            </a:r>
            <a:endParaRPr lang="en-US" sz="2200" dirty="0"/>
          </a:p>
        </p:txBody>
      </p:sp>
      <p:sp>
        <p:nvSpPr>
          <p:cNvPr id="9" name="Shape 6"/>
          <p:cNvSpPr/>
          <p:nvPr/>
        </p:nvSpPr>
        <p:spPr>
          <a:xfrm>
            <a:off x="548640" y="5623560"/>
            <a:ext cx="11094415"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10728655"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21, 25, 91</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Veri yeniden yükleme (data re-uploading)</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37</a:t>
            </a:r>
            <a:endParaRPr lang="en-US" sz="1000" dirty="0"/>
          </a:p>
        </p:txBody>
      </p:sp>
      <p:pic>
        <p:nvPicPr>
          <p:cNvPr id="6" name="Image 0" descr="görsel">    </p:cNvPr>
          <p:cNvPicPr>
            <a:picLocks noChangeAspect="1"/>
          </p:cNvPicPr>
          <p:nvPr/>
        </p:nvPicPr>
        <p:blipFill>
          <a:blip r:embed="rId1"/>
          <a:stretch>
            <a:fillRect/>
          </a:stretch>
        </p:blipFill>
        <p:spPr>
          <a:xfrm>
            <a:off x="930114" y="1097280"/>
            <a:ext cx="10331467" cy="1463040"/>
          </a:xfrm>
          <a:prstGeom prst="rect">
            <a:avLst/>
          </a:prstGeom>
        </p:spPr>
      </p:pic>
      <p:sp>
        <p:nvSpPr>
          <p:cNvPr id="7" name="Shape 3"/>
          <p:cNvSpPr/>
          <p:nvPr/>
        </p:nvSpPr>
        <p:spPr>
          <a:xfrm>
            <a:off x="548640" y="2697480"/>
            <a:ext cx="11094415" cy="868680"/>
          </a:xfrm>
          <a:prstGeom prst="roundRect">
            <a:avLst>
              <a:gd name="adj" fmla="val 10526"/>
            </a:avLst>
          </a:prstGeom>
          <a:solidFill>
            <a:srgbClr val="E8EEF6"/>
          </a:solidFill>
          <a:ln w="12700">
            <a:solidFill>
              <a:srgbClr val="E8EEF6"/>
            </a:solidFill>
            <a:prstDash val="solid"/>
          </a:ln>
        </p:spPr>
      </p:sp>
      <p:sp>
        <p:nvSpPr>
          <p:cNvPr id="8" name="Text 4"/>
          <p:cNvSpPr txBox="1"/>
          <p:nvPr/>
        </p:nvSpPr>
        <p:spPr>
          <a:xfrm>
            <a:off x="548640" y="2697480"/>
            <a:ext cx="11094415" cy="868680"/>
          </a:xfrm>
          <a:prstGeom prst="rect">
            <a:avLst/>
          </a:prstGeom>
          <a:noFill/>
          <a:ln/>
        </p:spPr>
        <p:txBody>
          <a:bodyPr wrap="square" lIns="0" tIns="0" rIns="0" bIns="0" rtlCol="0" anchor="ctr"/>
          <a:lstStyle/>
          <a:p>
            <a:pPr algn="ctr" indent="0" marL="0">
              <a:buNone/>
            </a:pPr>
            <a:r>
              <a:rPr lang="en-US" sz="2200" dirty="0">
                <a:solidFill>
                  <a:srgbClr val="1F3A5F"/>
                </a:solidFill>
                <a:latin typeface="Cambria" pitchFamily="34" charset="0"/>
                <a:ea typeface="Cambria" pitchFamily="34" charset="-122"/>
                <a:cs typeface="Cambria" pitchFamily="34" charset="-120"/>
              </a:rPr>
              <a:t>Katman l:  RY(w₀ˡ·x̃₁ + w₁ˡ) → RZ(w₂ˡ·x̃₂ + w₃ˡ)      x̃ = x − π/2</a:t>
            </a:r>
            <a:endParaRPr lang="en-US" sz="2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3749040"/>
          <a:ext cx="11094415" cy="914400"/>
        </p:xfrm>
        <a:graphic>
          <a:graphicData uri="http://schemas.openxmlformats.org/drawingml/2006/table">
            <a:tbl>
              <a:tblPr/>
              <a:tblGrid>
                <a:gridCol w="2218883"/>
                <a:gridCol w="4215878"/>
                <a:gridCol w="4659654"/>
              </a:tblGrid>
              <a:tr h="475488">
                <a:tc>
                  <a:txBody>
                    <a:bodyPr/>
                    <a:lstStyle/>
                    <a:p>
                      <a:pPr indent="0" marL="0">
                        <a:buNone/>
                      </a:pP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Tek yükleme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 kez yükleme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Çıktı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cos(x + θ): tek frekans</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L. dereceye kadar trig. polinom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Parametre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b="1" dirty="0">
                          <a:solidFill>
                            <a:srgbClr val="1F2937"/>
                          </a:solidFill>
                          <a:latin typeface="Calibri" pitchFamily="34" charset="0"/>
                          <a:ea typeface="Calibri" pitchFamily="34" charset="-122"/>
                          <a:cs typeface="Calibri" pitchFamily="34" charset="-120"/>
                        </a:rPr>
                        <a:t>4L + 1</a:t>
                      </a:r>
                      <a:r>
                        <a:rPr lang="en-US" sz="1500" dirty="0">
                          <a:solidFill>
                            <a:srgbClr val="1F2937"/>
                          </a:solidFill>
                          <a:latin typeface="Calibri" pitchFamily="34" charset="0"/>
                          <a:ea typeface="Calibri" pitchFamily="34" charset="-122"/>
                          <a:cs typeface="Calibri" pitchFamily="34" charset="-120"/>
                        </a:rPr>
                        <a:t> (L = 3 → 13)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Kübit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circles?</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Ayıramaz</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L ≥ 3 ile ayırır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Deney: tek kübitle circles ve moons</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38</a:t>
            </a:r>
            <a:endParaRPr lang="en-US" sz="1000" dirty="0"/>
          </a:p>
        </p:txBody>
      </p:sp>
      <p:pic>
        <p:nvPicPr>
          <p:cNvPr id="6" name="Image 0" descr="görsel">    </p:cNvPr>
          <p:cNvPicPr>
            <a:picLocks noChangeAspect="1"/>
          </p:cNvPicPr>
          <p:nvPr/>
        </p:nvPicPr>
        <p:blipFill>
          <a:blip r:embed="rId1"/>
          <a:stretch>
            <a:fillRect/>
          </a:stretch>
        </p:blipFill>
        <p:spPr>
          <a:xfrm>
            <a:off x="548640" y="1459213"/>
            <a:ext cx="7863840" cy="4122454"/>
          </a:xfrm>
          <a:prstGeom prst="rect">
            <a:avLst/>
          </a:prstGeom>
        </p:spPr>
      </p:pic>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8595360" y="1188720"/>
          <a:ext cx="3047695" cy="914400"/>
        </p:xfrm>
        <a:graphic>
          <a:graphicData uri="http://schemas.openxmlformats.org/drawingml/2006/table">
            <a:tbl>
              <a:tblPr/>
              <a:tblGrid>
                <a:gridCol w="487631"/>
                <a:gridCol w="1280032"/>
                <a:gridCol w="1280032"/>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circles test</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moons test</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5720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0.63 ± 0.19</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0.69 ± 0.17</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0.79 ± 0.04</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0.86 ± 0.09</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5720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0.90 ± 0.09</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0.93 ± 0.05</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5720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0.90 ± 0.04</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0.93 ± 0.04</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8" name="Shape 3"/>
          <p:cNvSpPr/>
          <p:nvPr/>
        </p:nvSpPr>
        <p:spPr>
          <a:xfrm>
            <a:off x="8595360" y="3657600"/>
            <a:ext cx="3047695" cy="2194560"/>
          </a:xfrm>
          <a:prstGeom prst="roundRect">
            <a:avLst>
              <a:gd name="adj" fmla="val 3333"/>
            </a:avLst>
          </a:prstGeom>
          <a:solidFill>
            <a:srgbClr val="E8EEF6"/>
          </a:solidFill>
          <a:ln w="12700">
            <a:solidFill>
              <a:srgbClr val="E8EEF6"/>
            </a:solidFill>
            <a:prstDash val="solid"/>
          </a:ln>
        </p:spPr>
      </p:sp>
      <p:sp>
        <p:nvSpPr>
          <p:cNvPr id="9" name="Text 4"/>
          <p:cNvSpPr txBox="1"/>
          <p:nvPr/>
        </p:nvSpPr>
        <p:spPr>
          <a:xfrm>
            <a:off x="8778240" y="3767328"/>
            <a:ext cx="2681935" cy="197510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İki ders</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Lojistik regresyon circles'ta </a:t>
            </a:r>
            <a:r>
              <a:rPr lang="en-US" sz="1500" b="1" dirty="0">
                <a:solidFill>
                  <a:srgbClr val="1F2937"/>
                </a:solidFill>
                <a:latin typeface="Calibri" pitchFamily="34" charset="0"/>
                <a:ea typeface="Calibri" pitchFamily="34" charset="-122"/>
                <a:cs typeface="Calibri" pitchFamily="34" charset="-120"/>
              </a:rPr>
              <a:t>0.45</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L = 1'de tohuma çok duyarlı: </a:t>
            </a:r>
            <a:r>
              <a:rPr lang="en-US" sz="1500" b="1" dirty="0">
                <a:solidFill>
                  <a:srgbClr val="1F2937"/>
                </a:solidFill>
                <a:latin typeface="Calibri" pitchFamily="34" charset="0"/>
                <a:ea typeface="Calibri" pitchFamily="34" charset="-122"/>
                <a:cs typeface="Calibri" pitchFamily="34" charset="-120"/>
              </a:rPr>
              <a:t>çok tohumla</a:t>
            </a:r>
            <a:r>
              <a:rPr lang="en-US" sz="1500" dirty="0">
                <a:solidFill>
                  <a:srgbClr val="1F2937"/>
                </a:solidFill>
                <a:latin typeface="Calibri" pitchFamily="34" charset="0"/>
                <a:ea typeface="Calibri" pitchFamily="34" charset="-122"/>
                <a:cs typeface="Calibri" pitchFamily="34" charset="-120"/>
              </a:rPr>
              <a:t> deney şart</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Eğitim ve test eğrileri (moons)</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39</a:t>
            </a:r>
            <a:endParaRPr lang="en-US" sz="1000" dirty="0"/>
          </a:p>
        </p:txBody>
      </p:sp>
      <p:pic>
        <p:nvPicPr>
          <p:cNvPr id="6" name="Image 0" descr="görsel">    </p:cNvPr>
          <p:cNvPicPr>
            <a:picLocks noChangeAspect="1"/>
          </p:cNvPicPr>
          <p:nvPr/>
        </p:nvPicPr>
        <p:blipFill>
          <a:blip r:embed="rId1"/>
          <a:stretch>
            <a:fillRect/>
          </a:stretch>
        </p:blipFill>
        <p:spPr>
          <a:xfrm>
            <a:off x="548640" y="1198744"/>
            <a:ext cx="11094415" cy="3820431"/>
          </a:xfrm>
          <a:prstGeom prst="rect">
            <a:avLst/>
          </a:prstGeom>
        </p:spPr>
      </p:pic>
      <p:sp>
        <p:nvSpPr>
          <p:cNvPr id="7" name="Shape 3"/>
          <p:cNvSpPr/>
          <p:nvPr/>
        </p:nvSpPr>
        <p:spPr>
          <a:xfrm>
            <a:off x="548640" y="5257800"/>
            <a:ext cx="11094415" cy="685800"/>
          </a:xfrm>
          <a:prstGeom prst="roundRect">
            <a:avLst>
              <a:gd name="adj" fmla="val 10667"/>
            </a:avLst>
          </a:prstGeom>
          <a:solidFill>
            <a:srgbClr val="FDF3E8"/>
          </a:solidFill>
          <a:ln w="12700">
            <a:solidFill>
              <a:srgbClr val="FDF3E8"/>
            </a:solidFill>
            <a:prstDash val="solid"/>
          </a:ln>
        </p:spPr>
      </p:sp>
      <p:sp>
        <p:nvSpPr>
          <p:cNvPr id="8" name="Text 4"/>
          <p:cNvSpPr txBox="1"/>
          <p:nvPr/>
        </p:nvSpPr>
        <p:spPr>
          <a:xfrm>
            <a:off x="731520" y="5367528"/>
            <a:ext cx="10728655" cy="466344"/>
          </a:xfrm>
          <a:prstGeom prst="rect">
            <a:avLst/>
          </a:prstGeom>
          <a:noFill/>
          <a:ln/>
        </p:spPr>
        <p:txBody>
          <a:bodyPr wrap="square" lIns="0" tIns="0" rIns="0" bIns="0" rtlCol="0" anchor="ctr"/>
          <a:lstStyle/>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60 test örneği → bir örnek = </a:t>
            </a:r>
            <a:r>
              <a:rPr lang="en-US" sz="1600" b="1" dirty="0">
                <a:solidFill>
                  <a:srgbClr val="1F2937"/>
                </a:solidFill>
                <a:latin typeface="Calibri" pitchFamily="34" charset="0"/>
                <a:ea typeface="Calibri" pitchFamily="34" charset="-122"/>
                <a:cs typeface="Calibri" pitchFamily="34" charset="-120"/>
              </a:rPr>
              <a:t>0,017</a:t>
            </a:r>
            <a:r>
              <a:rPr lang="en-US" sz="1600" dirty="0">
                <a:solidFill>
                  <a:srgbClr val="1F2937"/>
                </a:solidFill>
                <a:latin typeface="Calibri" pitchFamily="34" charset="0"/>
                <a:ea typeface="Calibri" pitchFamily="34" charset="-122"/>
                <a:cs typeface="Calibri" pitchFamily="34" charset="-120"/>
              </a:rPr>
              <a:t> doğruluk. 0,90 ile 0,92 arasındaki fark istatistiksel olarak anlamlı değil.</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Karar sınırları: her modelin tümevarımsal yanlılığı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40</a:t>
            </a:r>
            <a:endParaRPr lang="en-US" sz="1000" dirty="0"/>
          </a:p>
        </p:txBody>
      </p:sp>
      <p:pic>
        <p:nvPicPr>
          <p:cNvPr id="6" name="Image 0" descr="görsel">    </p:cNvPr>
          <p:cNvPicPr>
            <a:picLocks noChangeAspect="1"/>
          </p:cNvPicPr>
          <p:nvPr/>
        </p:nvPicPr>
        <p:blipFill>
          <a:blip r:embed="rId1"/>
          <a:stretch>
            <a:fillRect/>
          </a:stretch>
        </p:blipFill>
        <p:spPr>
          <a:xfrm>
            <a:off x="558203" y="1097280"/>
            <a:ext cx="7113194" cy="4846320"/>
          </a:xfrm>
          <a:prstGeom prst="rect">
            <a:avLst/>
          </a:prstGeom>
        </p:spPr>
      </p:pic>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7955280" y="1188720"/>
          <a:ext cx="3687775" cy="914400"/>
        </p:xfrm>
        <a:graphic>
          <a:graphicData uri="http://schemas.openxmlformats.org/drawingml/2006/table">
            <a:tbl>
              <a:tblPr/>
              <a:tblGrid>
                <a:gridCol w="1253844"/>
                <a:gridCol w="1401355"/>
                <a:gridCol w="1032577"/>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 / yapı</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VQC</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L = 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VQC</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L = 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0.90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VQC</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L = 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0.90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Hibrit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TorchLayer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0.91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MLP</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16 nöron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0.92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LogReg</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doğrusal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0.90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
        <p:nvSpPr>
          <p:cNvPr id="8" name="Text 3"/>
          <p:cNvSpPr txBox="1"/>
          <p:nvPr/>
        </p:nvSpPr>
        <p:spPr>
          <a:xfrm>
            <a:off x="7955280" y="4937760"/>
            <a:ext cx="3687775" cy="365760"/>
          </a:xfrm>
          <a:prstGeom prst="rect">
            <a:avLst/>
          </a:prstGeom>
          <a:noFill/>
          <a:ln/>
        </p:spPr>
        <p:txBody>
          <a:bodyPr wrap="square" lIns="0" tIns="0" rIns="0" bIns="0" rtlCol="0" anchor="t"/>
          <a:lstStyle/>
          <a:p>
            <a:pPr algn="l" indent="0" marL="0">
              <a:spcAft>
                <a:spcPts val="600"/>
              </a:spcAft>
              <a:buNone/>
            </a:pPr>
            <a:r>
              <a:rPr lang="en-US" sz="1400" dirty="0">
                <a:solidFill>
                  <a:srgbClr val="6B7280"/>
                </a:solidFill>
                <a:latin typeface="Calibri" pitchFamily="34" charset="0"/>
                <a:ea typeface="Calibri" pitchFamily="34" charset="-122"/>
                <a:cs typeface="Calibri" pitchFamily="34" charset="-120"/>
              </a:rPr>
              <a:t>Renk: P(y = 1); çizgi: p = 0,5</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Doğruluk, parametre ve süre</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41</a:t>
            </a:r>
            <a:endParaRPr lang="en-US" sz="1000" dirty="0"/>
          </a:p>
        </p:txBody>
      </p:sp>
      <p:graphicFrame>
        <p:nvGraphicFramePr>
          <p:cNvPr id="6" name="Chart 0" descr=""/>
          <p:cNvGraphicFramePr/>
          <p:nvPr/>
        </p:nvGraphicFramePr>
        <p:xfrm>
          <a:off x="548640" y="1143000"/>
          <a:ext cx="658368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7406640" y="1188720"/>
          <a:ext cx="4236415" cy="914400"/>
        </p:xfrm>
        <a:graphic>
          <a:graphicData uri="http://schemas.openxmlformats.org/drawingml/2006/table">
            <a:tbl>
              <a:tblPr/>
              <a:tblGrid>
                <a:gridCol w="1864023"/>
                <a:gridCol w="1101468"/>
                <a:gridCol w="1270925"/>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Param.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Süre (s)</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LogReg</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0.09</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MLP-16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65</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0.23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VQC L=2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8.4</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Re-up L=3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5.3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02920">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Hibrit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21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12.0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
        <p:nvSpPr>
          <p:cNvPr id="8" name="Shape 3"/>
          <p:cNvSpPr/>
          <p:nvPr/>
        </p:nvSpPr>
        <p:spPr>
          <a:xfrm>
            <a:off x="7406640" y="4480560"/>
            <a:ext cx="4236415" cy="1371600"/>
          </a:xfrm>
          <a:prstGeom prst="roundRect">
            <a:avLst>
              <a:gd name="adj" fmla="val 5333"/>
            </a:avLst>
          </a:prstGeom>
          <a:solidFill>
            <a:srgbClr val="E8EEF6"/>
          </a:solidFill>
          <a:ln w="12700">
            <a:solidFill>
              <a:srgbClr val="E8EEF6"/>
            </a:solidFill>
            <a:prstDash val="solid"/>
          </a:ln>
        </p:spPr>
      </p:sp>
      <p:sp>
        <p:nvSpPr>
          <p:cNvPr id="9" name="Text 4"/>
          <p:cNvSpPr txBox="1"/>
          <p:nvPr/>
        </p:nvSpPr>
        <p:spPr>
          <a:xfrm>
            <a:off x="7589520" y="4590288"/>
            <a:ext cx="3870655" cy="1152144"/>
          </a:xfrm>
          <a:prstGeom prst="rect">
            <a:avLst/>
          </a:prstGeom>
          <a:noFill/>
          <a:ln/>
        </p:spPr>
        <p:txBody>
          <a:bodyPr wrap="square" lIns="0" tIns="0" rIns="0" bIns="0" rtlCol="0" anchor="ctr"/>
          <a:lstStyle/>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iris2: LogReg 0.87 · MLP 0.90 · VQC L=3 0.88</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Sonuçların dürüst yorumu</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42</a:t>
            </a:r>
            <a:endParaRPr lang="en-US" sz="1000" dirty="0"/>
          </a:p>
        </p:txBody>
      </p:sp>
      <p:sp>
        <p:nvSpPr>
          <p:cNvPr id="6" name="Shape 3"/>
          <p:cNvSpPr/>
          <p:nvPr/>
        </p:nvSpPr>
        <p:spPr>
          <a:xfrm>
            <a:off x="548640" y="1234440"/>
            <a:ext cx="5410048" cy="1600200"/>
          </a:xfrm>
          <a:prstGeom prst="roundRect">
            <a:avLst>
              <a:gd name="adj" fmla="val 4571"/>
            </a:avLst>
          </a:prstGeom>
          <a:solidFill>
            <a:srgbClr val="E8EEF6"/>
          </a:solidFill>
          <a:ln w="12700">
            <a:solidFill>
              <a:srgbClr val="E8EEF6"/>
            </a:solidFill>
            <a:prstDash val="solid"/>
          </a:ln>
        </p:spPr>
      </p:sp>
      <p:sp>
        <p:nvSpPr>
          <p:cNvPr id="7" name="Text 4"/>
          <p:cNvSpPr txBox="1"/>
          <p:nvPr/>
        </p:nvSpPr>
        <p:spPr>
          <a:xfrm>
            <a:off x="731520" y="1344168"/>
            <a:ext cx="5044288" cy="1380744"/>
          </a:xfrm>
          <a:prstGeom prst="rect">
            <a:avLst/>
          </a:prstGeom>
          <a:noFill/>
          <a:ln/>
        </p:spPr>
        <p:txBody>
          <a:bodyPr wrap="square" lIns="0" tIns="0" rIns="0" bIns="0" rtlCol="0" anchor="t"/>
          <a:lstStyle/>
          <a:p>
            <a:pPr algn="l" indent="0" marL="0">
              <a:spcAft>
                <a:spcPts val="600"/>
              </a:spcAft>
              <a:buNone/>
            </a:pPr>
            <a:r>
              <a:rPr lang="en-US" sz="1800" b="1" dirty="0">
                <a:solidFill>
                  <a:srgbClr val="2E6DB4"/>
                </a:solidFill>
                <a:latin typeface="Calibri" pitchFamily="34" charset="0"/>
                <a:ea typeface="Calibri" pitchFamily="34" charset="-122"/>
                <a:cs typeface="Calibri" pitchFamily="34" charset="-120"/>
              </a:rPr>
              <a:t>Doğruluk</a:t>
            </a:r>
            <a:endParaRPr lang="en-US" sz="18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Tüm modeller </a:t>
            </a:r>
            <a:r>
              <a:rPr lang="en-US" sz="1600" b="1" dirty="0">
                <a:solidFill>
                  <a:srgbClr val="1F2937"/>
                </a:solidFill>
                <a:latin typeface="Calibri" pitchFamily="34" charset="0"/>
                <a:ea typeface="Calibri" pitchFamily="34" charset="-122"/>
                <a:cs typeface="Calibri" pitchFamily="34" charset="-120"/>
              </a:rPr>
              <a:t>0,86–0,93</a:t>
            </a:r>
            <a:r>
              <a:rPr lang="en-US" sz="1600" dirty="0">
                <a:solidFill>
                  <a:srgbClr val="1F2937"/>
                </a:solidFill>
                <a:latin typeface="Calibri" pitchFamily="34" charset="0"/>
                <a:ea typeface="Calibri" pitchFamily="34" charset="-122"/>
                <a:cs typeface="Calibri" pitchFamily="34" charset="-120"/>
              </a:rPr>
              <a:t> bandında; farklar birkaç test örneği kadar</a:t>
            </a:r>
            <a:endParaRPr lang="en-US" sz="1800" dirty="0"/>
          </a:p>
        </p:txBody>
      </p:sp>
      <p:sp>
        <p:nvSpPr>
          <p:cNvPr id="8" name="Shape 5"/>
          <p:cNvSpPr/>
          <p:nvPr/>
        </p:nvSpPr>
        <p:spPr>
          <a:xfrm>
            <a:off x="6233008" y="1234440"/>
            <a:ext cx="5410048" cy="1600200"/>
          </a:xfrm>
          <a:prstGeom prst="roundRect">
            <a:avLst>
              <a:gd name="adj" fmla="val 4571"/>
            </a:avLst>
          </a:prstGeom>
          <a:solidFill>
            <a:srgbClr val="E8EEF6"/>
          </a:solidFill>
          <a:ln w="12700">
            <a:solidFill>
              <a:srgbClr val="E8EEF6"/>
            </a:solidFill>
            <a:prstDash val="solid"/>
          </a:ln>
        </p:spPr>
      </p:sp>
      <p:sp>
        <p:nvSpPr>
          <p:cNvPr id="9" name="Text 6"/>
          <p:cNvSpPr txBox="1"/>
          <p:nvPr/>
        </p:nvSpPr>
        <p:spPr>
          <a:xfrm>
            <a:off x="6415888" y="1344168"/>
            <a:ext cx="5044288" cy="1380744"/>
          </a:xfrm>
          <a:prstGeom prst="rect">
            <a:avLst/>
          </a:prstGeom>
          <a:noFill/>
          <a:ln/>
        </p:spPr>
        <p:txBody>
          <a:bodyPr wrap="square" lIns="0" tIns="0" rIns="0" bIns="0" rtlCol="0" anchor="t"/>
          <a:lstStyle/>
          <a:p>
            <a:pPr algn="l" indent="0" marL="0">
              <a:spcAft>
                <a:spcPts val="600"/>
              </a:spcAft>
              <a:buNone/>
            </a:pPr>
            <a:r>
              <a:rPr lang="en-US" sz="1800" b="1" dirty="0">
                <a:solidFill>
                  <a:srgbClr val="2E6DB4"/>
                </a:solidFill>
                <a:latin typeface="Calibri" pitchFamily="34" charset="0"/>
                <a:ea typeface="Calibri" pitchFamily="34" charset="-122"/>
                <a:cs typeface="Calibri" pitchFamily="34" charset="-120"/>
              </a:rPr>
              <a:t>Parametre</a:t>
            </a:r>
            <a:endParaRPr lang="en-US" sz="18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VQC 8, MLP 65 ama LogReg </a:t>
            </a:r>
            <a:r>
              <a:rPr lang="en-US" sz="1600" b="1" dirty="0">
                <a:solidFill>
                  <a:srgbClr val="1F2937"/>
                </a:solidFill>
                <a:latin typeface="Calibri" pitchFamily="34" charset="0"/>
                <a:ea typeface="Calibri" pitchFamily="34" charset="-122"/>
                <a:cs typeface="Calibri" pitchFamily="34" charset="-120"/>
              </a:rPr>
              <a:t>3</a:t>
            </a:r>
            <a:r>
              <a:rPr lang="en-US" sz="1600" dirty="0">
                <a:solidFill>
                  <a:srgbClr val="1F2937"/>
                </a:solidFill>
                <a:latin typeface="Calibri" pitchFamily="34" charset="0"/>
                <a:ea typeface="Calibri" pitchFamily="34" charset="-122"/>
                <a:cs typeface="Calibri" pitchFamily="34" charset="-120"/>
              </a:rPr>
              <a:t> parametreyle aynı doğrulukta</a:t>
            </a:r>
            <a:endParaRPr lang="en-US" sz="1800" dirty="0"/>
          </a:p>
        </p:txBody>
      </p:sp>
      <p:sp>
        <p:nvSpPr>
          <p:cNvPr id="10" name="Shape 7"/>
          <p:cNvSpPr/>
          <p:nvPr/>
        </p:nvSpPr>
        <p:spPr>
          <a:xfrm>
            <a:off x="548640" y="3017520"/>
            <a:ext cx="5410048" cy="1600200"/>
          </a:xfrm>
          <a:prstGeom prst="roundRect">
            <a:avLst>
              <a:gd name="adj" fmla="val 4571"/>
            </a:avLst>
          </a:prstGeom>
          <a:solidFill>
            <a:srgbClr val="FDF3E8"/>
          </a:solidFill>
          <a:ln w="12700">
            <a:solidFill>
              <a:srgbClr val="FDF3E8"/>
            </a:solidFill>
            <a:prstDash val="solid"/>
          </a:ln>
        </p:spPr>
      </p:sp>
      <p:sp>
        <p:nvSpPr>
          <p:cNvPr id="11" name="Text 8"/>
          <p:cNvSpPr txBox="1"/>
          <p:nvPr/>
        </p:nvSpPr>
        <p:spPr>
          <a:xfrm>
            <a:off x="731520" y="3127248"/>
            <a:ext cx="5044288" cy="1380744"/>
          </a:xfrm>
          <a:prstGeom prst="rect">
            <a:avLst/>
          </a:prstGeom>
          <a:noFill/>
          <a:ln/>
        </p:spPr>
        <p:txBody>
          <a:bodyPr wrap="square" lIns="0" tIns="0" rIns="0" bIns="0" rtlCol="0" anchor="t"/>
          <a:lstStyle/>
          <a:p>
            <a:pPr algn="l" indent="0" marL="0">
              <a:spcAft>
                <a:spcPts val="600"/>
              </a:spcAft>
              <a:buNone/>
            </a:pPr>
            <a:r>
              <a:rPr lang="en-US" sz="1800" b="1" dirty="0">
                <a:solidFill>
                  <a:srgbClr val="D9822B"/>
                </a:solidFill>
                <a:latin typeface="Calibri" pitchFamily="34" charset="0"/>
                <a:ea typeface="Calibri" pitchFamily="34" charset="-122"/>
                <a:cs typeface="Calibri" pitchFamily="34" charset="-120"/>
              </a:rPr>
              <a:t>Süre</a:t>
            </a:r>
            <a:endParaRPr lang="en-US" sz="18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Simülatörde </a:t>
            </a:r>
            <a:r>
              <a:rPr lang="en-US" sz="1600" b="1" dirty="0">
                <a:solidFill>
                  <a:srgbClr val="1F2937"/>
                </a:solidFill>
                <a:latin typeface="Calibri" pitchFamily="34" charset="0"/>
                <a:ea typeface="Calibri" pitchFamily="34" charset="-122"/>
                <a:cs typeface="Calibri" pitchFamily="34" charset="-120"/>
              </a:rPr>
              <a:t>10–100 kat</a:t>
            </a:r>
            <a:r>
              <a:rPr lang="en-US" sz="1600" dirty="0">
                <a:solidFill>
                  <a:srgbClr val="1F2937"/>
                </a:solidFill>
                <a:latin typeface="Calibri" pitchFamily="34" charset="0"/>
                <a:ea typeface="Calibri" pitchFamily="34" charset="-122"/>
                <a:cs typeface="Calibri" pitchFamily="34" charset="-120"/>
              </a:rPr>
              <a:t> yavaş; donanımda shot maliyeti eklenir</a:t>
            </a:r>
            <a:endParaRPr lang="en-US" sz="1800" dirty="0"/>
          </a:p>
        </p:txBody>
      </p:sp>
      <p:sp>
        <p:nvSpPr>
          <p:cNvPr id="12" name="Shape 9"/>
          <p:cNvSpPr/>
          <p:nvPr/>
        </p:nvSpPr>
        <p:spPr>
          <a:xfrm>
            <a:off x="6233008" y="3017520"/>
            <a:ext cx="5410048" cy="1600200"/>
          </a:xfrm>
          <a:prstGeom prst="roundRect">
            <a:avLst>
              <a:gd name="adj" fmla="val 4571"/>
            </a:avLst>
          </a:prstGeom>
          <a:solidFill>
            <a:srgbClr val="E8EEF6"/>
          </a:solidFill>
          <a:ln w="12700">
            <a:solidFill>
              <a:srgbClr val="E8EEF6"/>
            </a:solidFill>
            <a:prstDash val="solid"/>
          </a:ln>
        </p:spPr>
      </p:sp>
      <p:sp>
        <p:nvSpPr>
          <p:cNvPr id="13" name="Text 10"/>
          <p:cNvSpPr txBox="1"/>
          <p:nvPr/>
        </p:nvSpPr>
        <p:spPr>
          <a:xfrm>
            <a:off x="6415888" y="3127248"/>
            <a:ext cx="5044288" cy="1380744"/>
          </a:xfrm>
          <a:prstGeom prst="rect">
            <a:avLst/>
          </a:prstGeom>
          <a:noFill/>
          <a:ln/>
        </p:spPr>
        <p:txBody>
          <a:bodyPr wrap="square" lIns="0" tIns="0" rIns="0" bIns="0" rtlCol="0" anchor="t"/>
          <a:lstStyle/>
          <a:p>
            <a:pPr algn="l" indent="0" marL="0">
              <a:spcAft>
                <a:spcPts val="600"/>
              </a:spcAft>
              <a:buNone/>
            </a:pPr>
            <a:r>
              <a:rPr lang="en-US" sz="1800" b="1" dirty="0">
                <a:solidFill>
                  <a:srgbClr val="2E6DB4"/>
                </a:solidFill>
                <a:latin typeface="Calibri" pitchFamily="34" charset="0"/>
                <a:ea typeface="Calibri" pitchFamily="34" charset="-122"/>
                <a:cs typeface="Calibri" pitchFamily="34" charset="-120"/>
              </a:rPr>
              <a:t>İstatistik</a:t>
            </a:r>
            <a:endParaRPr lang="en-US" sz="18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Kuantum modeller </a:t>
            </a:r>
            <a:r>
              <a:rPr lang="en-US" sz="1600" b="1" dirty="0">
                <a:solidFill>
                  <a:srgbClr val="1F2937"/>
                </a:solidFill>
                <a:latin typeface="Calibri" pitchFamily="34" charset="0"/>
                <a:ea typeface="Calibri" pitchFamily="34" charset="-122"/>
                <a:cs typeface="Calibri" pitchFamily="34" charset="-120"/>
              </a:rPr>
              <a:t>tohuma duyarlı</a:t>
            </a:r>
            <a:r>
              <a:rPr lang="en-US" sz="1600" dirty="0">
                <a:solidFill>
                  <a:srgbClr val="1F2937"/>
                </a:solidFill>
                <a:latin typeface="Calibri" pitchFamily="34" charset="0"/>
                <a:ea typeface="Calibri" pitchFamily="34" charset="-122"/>
                <a:cs typeface="Calibri" pitchFamily="34" charset="-120"/>
              </a:rPr>
              <a:t>; ort. ± std raporlanmalı</a:t>
            </a:r>
            <a:endParaRPr lang="en-US" sz="1800" dirty="0"/>
          </a:p>
        </p:txBody>
      </p:sp>
      <p:sp>
        <p:nvSpPr>
          <p:cNvPr id="14" name="Shape 11"/>
          <p:cNvSpPr/>
          <p:nvPr/>
        </p:nvSpPr>
        <p:spPr>
          <a:xfrm>
            <a:off x="548640" y="4846320"/>
            <a:ext cx="11094415" cy="1051560"/>
          </a:xfrm>
          <a:prstGeom prst="roundRect">
            <a:avLst>
              <a:gd name="adj" fmla="val 6957"/>
            </a:avLst>
          </a:prstGeom>
          <a:solidFill>
            <a:srgbClr val="F3F4F6"/>
          </a:solidFill>
          <a:ln w="12700">
            <a:solidFill>
              <a:srgbClr val="F3F4F6"/>
            </a:solidFill>
            <a:prstDash val="solid"/>
          </a:ln>
        </p:spPr>
      </p:sp>
      <p:sp>
        <p:nvSpPr>
          <p:cNvPr id="15" name="Text 12"/>
          <p:cNvSpPr txBox="1"/>
          <p:nvPr/>
        </p:nvSpPr>
        <p:spPr>
          <a:xfrm>
            <a:off x="731520" y="4956048"/>
            <a:ext cx="10728655" cy="83210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Sonuç</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Küçük ve klasik olarak kolay veri setlerinde </a:t>
            </a:r>
            <a:r>
              <a:rPr lang="en-US" sz="1600" b="1" dirty="0">
                <a:solidFill>
                  <a:srgbClr val="1F2937"/>
                </a:solidFill>
                <a:latin typeface="Calibri" pitchFamily="34" charset="0"/>
                <a:ea typeface="Calibri" pitchFamily="34" charset="-122"/>
                <a:cs typeface="Calibri" pitchFamily="34" charset="-120"/>
              </a:rPr>
              <a:t>kuantum avantajı beklenmez</a:t>
            </a:r>
            <a:r>
              <a:rPr lang="en-US" sz="1600" dirty="0">
                <a:solidFill>
                  <a:srgbClr val="1F2937"/>
                </a:solidFill>
                <a:latin typeface="Calibri" pitchFamily="34" charset="0"/>
                <a:ea typeface="Calibri" pitchFamily="34" charset="-122"/>
                <a:cs typeface="Calibri" pitchFamily="34" charset="-120"/>
              </a:rPr>
              <a:t>. Adil kıyas: çapraz doğrulama, çok tohum, eşit hiperparametre bütçesi, ablasyon.</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Ağırlık başlatmanın etkisi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43</a:t>
            </a:r>
            <a:endParaRPr lang="en-US" sz="1000" dirty="0"/>
          </a:p>
        </p:txBody>
      </p:sp>
      <p:pic>
        <p:nvPicPr>
          <p:cNvPr id="6" name="Image 0" descr="görsel">    </p:cNvPr>
          <p:cNvPicPr>
            <a:picLocks noChangeAspect="1"/>
          </p:cNvPicPr>
          <p:nvPr/>
        </p:nvPicPr>
        <p:blipFill>
          <a:blip r:embed="rId1"/>
          <a:stretch>
            <a:fillRect/>
          </a:stretch>
        </p:blipFill>
        <p:spPr>
          <a:xfrm>
            <a:off x="548640" y="1585347"/>
            <a:ext cx="6766560" cy="3595866"/>
          </a:xfrm>
          <a:prstGeom prst="rect">
            <a:avLst/>
          </a:prstGeom>
        </p:spPr>
      </p:pic>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7589520" y="1280160"/>
          <a:ext cx="4053535" cy="914400"/>
        </p:xfrm>
        <a:graphic>
          <a:graphicData uri="http://schemas.openxmlformats.org/drawingml/2006/table">
            <a:tbl>
              <a:tblPr/>
              <a:tblGrid>
                <a:gridCol w="1297131"/>
                <a:gridCol w="1378202"/>
                <a:gridCol w="1378202"/>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Başlatma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Başlangıçta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Öneri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4864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U(0, 2π)</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Rastgele derin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Sığ devrede uygun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N(0, 0,1²)</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 kimlik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b="1" dirty="0">
                          <a:solidFill>
                            <a:srgbClr val="1F2937"/>
                          </a:solidFill>
                          <a:latin typeface="Calibri" pitchFamily="34" charset="0"/>
                          <a:ea typeface="Calibri" pitchFamily="34" charset="-122"/>
                          <a:cs typeface="Calibri" pitchFamily="34" charset="-120"/>
                        </a:rPr>
                        <a:t>Derin devrede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48640">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Sıfır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Yalnız CNOT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Kaçının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
        <p:nvSpPr>
          <p:cNvPr id="8" name="Shape 3"/>
          <p:cNvSpPr/>
          <p:nvPr/>
        </p:nvSpPr>
        <p:spPr>
          <a:xfrm>
            <a:off x="7589520" y="3657600"/>
            <a:ext cx="4053535" cy="2011680"/>
          </a:xfrm>
          <a:prstGeom prst="roundRect">
            <a:avLst>
              <a:gd name="adj" fmla="val 3636"/>
            </a:avLst>
          </a:prstGeom>
          <a:solidFill>
            <a:srgbClr val="E8EEF6"/>
          </a:solidFill>
          <a:ln w="12700">
            <a:solidFill>
              <a:srgbClr val="E8EEF6"/>
            </a:solidFill>
            <a:prstDash val="solid"/>
          </a:ln>
        </p:spPr>
      </p:sp>
      <p:sp>
        <p:nvSpPr>
          <p:cNvPr id="9" name="Text 4"/>
          <p:cNvSpPr txBox="1"/>
          <p:nvPr/>
        </p:nvSpPr>
        <p:spPr>
          <a:xfrm>
            <a:off x="7772400" y="3767328"/>
            <a:ext cx="3687775" cy="179222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Bağlantı</a:t>
            </a:r>
            <a:endParaRPr lang="en-US" sz="1700" dirty="0"/>
          </a:p>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Küçük başlatma, derin devreyi başlangıçta </a:t>
            </a:r>
            <a:r>
              <a:rPr lang="en-US" sz="1500" b="1" dirty="0">
                <a:solidFill>
                  <a:srgbClr val="1F2937"/>
                </a:solidFill>
                <a:latin typeface="Calibri" pitchFamily="34" charset="0"/>
                <a:ea typeface="Calibri" pitchFamily="34" charset="-122"/>
                <a:cs typeface="Calibri" pitchFamily="34" charset="-120"/>
              </a:rPr>
              <a:t>sığ gibi</a:t>
            </a:r>
            <a:r>
              <a:rPr lang="en-US" sz="1500" dirty="0">
                <a:solidFill>
                  <a:srgbClr val="1F2937"/>
                </a:solidFill>
                <a:latin typeface="Calibri" pitchFamily="34" charset="0"/>
                <a:ea typeface="Calibri" pitchFamily="34" charset="-122"/>
                <a:cs typeface="Calibri" pitchFamily="34" charset="-120"/>
              </a:rPr>
              <a:t> davrandırır → çorak düzlükten kaçınma (sonraki bölüm).</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04</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Çorak düzlük (barren plateau)</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Derin devrelerde gradyan neden kaybolur?</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Sezgi: sisli ve düz bir ovada vadi aramak</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45</a:t>
            </a:r>
            <a:endParaRPr lang="en-US" sz="1000" dirty="0"/>
          </a:p>
        </p:txBody>
      </p:sp>
      <p:pic>
        <p:nvPicPr>
          <p:cNvPr id="6" name="Image 0" descr="görsel">    </p:cNvPr>
          <p:cNvPicPr>
            <a:picLocks noChangeAspect="1"/>
          </p:cNvPicPr>
          <p:nvPr/>
        </p:nvPicPr>
        <p:blipFill>
          <a:blip r:embed="rId1"/>
          <a:stretch>
            <a:fillRect/>
          </a:stretch>
        </p:blipFill>
        <p:spPr>
          <a:xfrm>
            <a:off x="976819" y="1097280"/>
            <a:ext cx="10238057" cy="3291840"/>
          </a:xfrm>
          <a:prstGeom prst="rect">
            <a:avLst/>
          </a:prstGeom>
        </p:spPr>
      </p:pic>
      <p:sp>
        <p:nvSpPr>
          <p:cNvPr id="7" name="Shape 3"/>
          <p:cNvSpPr/>
          <p:nvPr/>
        </p:nvSpPr>
        <p:spPr>
          <a:xfrm>
            <a:off x="548640" y="4526280"/>
            <a:ext cx="5486400" cy="1188720"/>
          </a:xfrm>
          <a:prstGeom prst="roundRect">
            <a:avLst>
              <a:gd name="adj" fmla="val 7692"/>
            </a:avLst>
          </a:prstGeom>
          <a:solidFill>
            <a:srgbClr val="E8EEF6"/>
          </a:solidFill>
          <a:ln w="12700">
            <a:solidFill>
              <a:srgbClr val="E8EEF6"/>
            </a:solidFill>
            <a:prstDash val="solid"/>
          </a:ln>
        </p:spPr>
      </p:sp>
      <p:sp>
        <p:nvSpPr>
          <p:cNvPr id="8" name="Text 4"/>
          <p:cNvSpPr txBox="1"/>
          <p:nvPr/>
        </p:nvSpPr>
        <p:spPr>
          <a:xfrm>
            <a:off x="548640" y="4526280"/>
            <a:ext cx="5486400" cy="1188720"/>
          </a:xfrm>
          <a:prstGeom prst="rect">
            <a:avLst/>
          </a:prstGeom>
          <a:noFill/>
          <a:ln/>
        </p:spPr>
        <p:txBody>
          <a:bodyPr wrap="square" lIns="0" tIns="0" rIns="0" bIns="0" rtlCol="0" anchor="ctr"/>
          <a:lstStyle/>
          <a:p>
            <a:pPr algn="ctr" indent="0" marL="0">
              <a:buNone/>
            </a:pPr>
            <a:r>
              <a:rPr lang="en-US" sz="2600" dirty="0">
                <a:solidFill>
                  <a:srgbClr val="1F3A5F"/>
                </a:solidFill>
                <a:latin typeface="Cambria" pitchFamily="34" charset="0"/>
                <a:ea typeface="Cambria" pitchFamily="34" charset="-122"/>
                <a:cs typeface="Cambria" pitchFamily="34" charset="-120"/>
              </a:rPr>
              <a:t>E[∂C/∂θ] = 0          Var[∂C/∂θ] ∝ 2⁻ⁿ</a:t>
            </a:r>
            <a:endParaRPr lang="en-US" sz="2600" dirty="0"/>
          </a:p>
        </p:txBody>
      </p:sp>
      <p:sp>
        <p:nvSpPr>
          <p:cNvPr id="9" name="Shape 5"/>
          <p:cNvSpPr/>
          <p:nvPr/>
        </p:nvSpPr>
        <p:spPr>
          <a:xfrm>
            <a:off x="6309360" y="4526280"/>
            <a:ext cx="5333695" cy="1325880"/>
          </a:xfrm>
          <a:prstGeom prst="roundRect">
            <a:avLst>
              <a:gd name="adj" fmla="val 5517"/>
            </a:avLst>
          </a:prstGeom>
          <a:solidFill>
            <a:srgbClr val="E8EEF6"/>
          </a:solidFill>
          <a:ln w="12700">
            <a:solidFill>
              <a:srgbClr val="E8EEF6"/>
            </a:solidFill>
            <a:prstDash val="solid"/>
          </a:ln>
        </p:spPr>
      </p:sp>
      <p:sp>
        <p:nvSpPr>
          <p:cNvPr id="10" name="Text 6"/>
          <p:cNvSpPr txBox="1"/>
          <p:nvPr/>
        </p:nvSpPr>
        <p:spPr>
          <a:xfrm>
            <a:off x="6492240" y="4636008"/>
            <a:ext cx="4967935" cy="110642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Neden? (yazılımcı sezgisi)</a:t>
            </a:r>
            <a:endParaRPr lang="en-US" sz="1700" dirty="0"/>
          </a:p>
          <a:p>
            <a:pPr algn="l" indent="0" marL="0">
              <a:spcAft>
                <a:spcPts val="500"/>
              </a:spcAft>
              <a:buNone/>
            </a:pPr>
            <a:r>
              <a:rPr lang="en-US" sz="1400" dirty="0">
                <a:solidFill>
                  <a:srgbClr val="1F2937"/>
                </a:solidFill>
                <a:latin typeface="Calibri" pitchFamily="34" charset="0"/>
                <a:ea typeface="Calibri" pitchFamily="34" charset="-122"/>
                <a:cs typeface="Calibri" pitchFamily="34" charset="-120"/>
              </a:rPr>
              <a:t>Rastgele derin devre, durumu 2ⁿ boyutlu uzayda </a:t>
            </a:r>
            <a:r>
              <a:rPr lang="en-US" sz="1400" b="1" dirty="0">
                <a:solidFill>
                  <a:srgbClr val="1F2937"/>
                </a:solidFill>
                <a:latin typeface="Calibri" pitchFamily="34" charset="0"/>
                <a:ea typeface="Calibri" pitchFamily="34" charset="-122"/>
                <a:cs typeface="Calibri" pitchFamily="34" charset="-120"/>
              </a:rPr>
              <a:t>rastgele bir noktaya</a:t>
            </a:r>
            <a:r>
              <a:rPr lang="en-US" sz="1400" dirty="0">
                <a:solidFill>
                  <a:srgbClr val="1F2937"/>
                </a:solidFill>
                <a:latin typeface="Calibri" pitchFamily="34" charset="0"/>
                <a:ea typeface="Calibri" pitchFamily="34" charset="-122"/>
                <a:cs typeface="Calibri" pitchFamily="34" charset="-120"/>
              </a:rPr>
              <a:t> götürür; rastgele işaretli küçük terimler birbirini götürür → C ≈ 0 her yerde.</a:t>
            </a:r>
            <a:endParaRPr lang="en-US" sz="1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Deney: gradyan varyansı ve kübit sayısı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46</a:t>
            </a:r>
            <a:endParaRPr lang="en-US" sz="1000" dirty="0"/>
          </a:p>
        </p:txBody>
      </p:sp>
      <p:pic>
        <p:nvPicPr>
          <p:cNvPr id="6" name="Image 0" descr="görsel">    </p:cNvPr>
          <p:cNvPicPr>
            <a:picLocks noChangeAspect="1"/>
          </p:cNvPicPr>
          <p:nvPr/>
        </p:nvPicPr>
        <p:blipFill>
          <a:blip r:embed="rId1"/>
          <a:stretch>
            <a:fillRect/>
          </a:stretch>
        </p:blipFill>
        <p:spPr>
          <a:xfrm>
            <a:off x="694030" y="1097280"/>
            <a:ext cx="10803636" cy="3931920"/>
          </a:xfrm>
          <a:prstGeom prst="rect">
            <a:avLst/>
          </a:prstGeom>
        </p:spPr>
      </p:pic>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5074920"/>
          <a:ext cx="11094415" cy="914400"/>
        </p:xfrm>
        <a:graphic>
          <a:graphicData uri="http://schemas.openxmlformats.org/drawingml/2006/table">
            <a:tbl>
              <a:tblPr/>
              <a:tblGrid>
                <a:gridCol w="3106436"/>
                <a:gridCol w="1996995"/>
                <a:gridCol w="1996995"/>
                <a:gridCol w="1996995"/>
                <a:gridCol w="1996995"/>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Maliyet, L</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 = 2</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 = 4</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 = 6</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 = 8</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Global, L = 10</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1.3e-1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3.4e-2</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7.0e-3</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1.8e-3</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Yerel, L = 2</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2.9e-1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3.1e-1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3.1e-1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3.1e-1</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Derinlik ve maliyet yüzeyi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47</a:t>
            </a:r>
            <a:endParaRPr lang="en-US" sz="1000" dirty="0"/>
          </a:p>
        </p:txBody>
      </p:sp>
      <p:pic>
        <p:nvPicPr>
          <p:cNvPr id="6" name="Image 0" descr="görsel">    </p:cNvPr>
          <p:cNvPicPr>
            <a:picLocks noChangeAspect="1"/>
          </p:cNvPicPr>
          <p:nvPr/>
        </p:nvPicPr>
        <p:blipFill>
          <a:blip r:embed="rId1"/>
          <a:stretch>
            <a:fillRect/>
          </a:stretch>
        </p:blipFill>
        <p:spPr>
          <a:xfrm>
            <a:off x="548640" y="1704459"/>
            <a:ext cx="5120640" cy="2717563"/>
          </a:xfrm>
          <a:prstGeom prst="rect">
            <a:avLst/>
          </a:prstGeom>
        </p:spPr>
      </p:pic>
      <p:pic>
        <p:nvPicPr>
          <p:cNvPr id="7" name="Image 1" descr="görsel">    </p:cNvPr>
          <p:cNvPicPr>
            <a:picLocks noChangeAspect="1"/>
          </p:cNvPicPr>
          <p:nvPr/>
        </p:nvPicPr>
        <p:blipFill>
          <a:blip r:embed="rId2"/>
          <a:stretch>
            <a:fillRect/>
          </a:stretch>
        </p:blipFill>
        <p:spPr>
          <a:xfrm>
            <a:off x="5852160" y="1586545"/>
            <a:ext cx="5790895" cy="2953390"/>
          </a:xfrm>
          <a:prstGeom prst="rect">
            <a:avLst/>
          </a:prstGeom>
        </p:spPr>
      </p:pic>
      <p:sp>
        <p:nvSpPr>
          <p:cNvPr id="8" name="Shape 3"/>
          <p:cNvSpPr/>
          <p:nvPr/>
        </p:nvSpPr>
        <p:spPr>
          <a:xfrm>
            <a:off x="548640" y="5166360"/>
            <a:ext cx="11094415" cy="731520"/>
          </a:xfrm>
          <a:prstGeom prst="roundRect">
            <a:avLst>
              <a:gd name="adj" fmla="val 10000"/>
            </a:avLst>
          </a:prstGeom>
          <a:solidFill>
            <a:srgbClr val="FDF3E8"/>
          </a:solidFill>
          <a:ln w="12700">
            <a:solidFill>
              <a:srgbClr val="FDF3E8"/>
            </a:solidFill>
            <a:prstDash val="solid"/>
          </a:ln>
        </p:spPr>
      </p:sp>
      <p:sp>
        <p:nvSpPr>
          <p:cNvPr id="9" name="Text 4"/>
          <p:cNvSpPr txBox="1"/>
          <p:nvPr/>
        </p:nvSpPr>
        <p:spPr>
          <a:xfrm>
            <a:off x="731520" y="5276088"/>
            <a:ext cx="10728655" cy="512064"/>
          </a:xfrm>
          <a:prstGeom prst="rect">
            <a:avLst/>
          </a:prstGeom>
          <a:noFill/>
          <a:ln/>
        </p:spPr>
        <p:txBody>
          <a:bodyPr wrap="square" lIns="0" tIns="0" rIns="0" bIns="0" rtlCol="0" anchor="ctr"/>
          <a:lstStyle/>
          <a:p>
            <a:pPr algn="l" indent="0" marL="0">
              <a:spcAft>
                <a:spcPts val="500"/>
              </a:spcAft>
              <a:buNone/>
            </a:pPr>
            <a:r>
              <a:rPr lang="en-US" sz="1500" dirty="0">
                <a:solidFill>
                  <a:srgbClr val="1F2937"/>
                </a:solidFill>
                <a:latin typeface="Calibri" pitchFamily="34" charset="0"/>
                <a:ea typeface="Calibri" pitchFamily="34" charset="-122"/>
                <a:cs typeface="Calibri" pitchFamily="34" charset="-120"/>
              </a:rPr>
              <a:t>Çorak düzlük gradyan yönteminden </a:t>
            </a:r>
            <a:r>
              <a:rPr lang="en-US" sz="1500" b="1" dirty="0">
                <a:solidFill>
                  <a:srgbClr val="1F2937"/>
                </a:solidFill>
                <a:latin typeface="Calibri" pitchFamily="34" charset="0"/>
                <a:ea typeface="Calibri" pitchFamily="34" charset="-122"/>
                <a:cs typeface="Calibri" pitchFamily="34" charset="-120"/>
              </a:rPr>
              <a:t>bağımsızdır</a:t>
            </a:r>
            <a:r>
              <a:rPr lang="en-US" sz="1500" dirty="0">
                <a:solidFill>
                  <a:srgbClr val="1F2937"/>
                </a:solidFill>
                <a:latin typeface="Calibri" pitchFamily="34" charset="0"/>
                <a:ea typeface="Calibri" pitchFamily="34" charset="-122"/>
                <a:cs typeface="Calibri" pitchFamily="34" charset="-120"/>
              </a:rPr>
              <a:t>: sorun maliyet yüzeyinin kendisinde (COBYLA gibi gradyansız yöntemler de düzlükte kaybolur).</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Çözümlü Örnek 9 · Çorak düzlükte kaç shot gerekir?</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48</a:t>
            </a:r>
            <a:endParaRPr lang="en-US" sz="1000" dirty="0"/>
          </a:p>
        </p:txBody>
      </p:sp>
      <p:sp>
        <p:nvSpPr>
          <p:cNvPr id="6" name="Shape 3"/>
          <p:cNvSpPr/>
          <p:nvPr/>
        </p:nvSpPr>
        <p:spPr>
          <a:xfrm>
            <a:off x="548640" y="1143000"/>
            <a:ext cx="11094415" cy="960120"/>
          </a:xfrm>
          <a:prstGeom prst="roundRect">
            <a:avLst>
              <a:gd name="adj" fmla="val 7619"/>
            </a:avLst>
          </a:prstGeom>
          <a:solidFill>
            <a:srgbClr val="E8EEF6"/>
          </a:solidFill>
          <a:ln w="12700">
            <a:solidFill>
              <a:srgbClr val="E8EEF6"/>
            </a:solidFill>
            <a:prstDash val="solid"/>
          </a:ln>
        </p:spPr>
      </p:sp>
      <p:sp>
        <p:nvSpPr>
          <p:cNvPr id="7" name="Text 4"/>
          <p:cNvSpPr txBox="1"/>
          <p:nvPr/>
        </p:nvSpPr>
        <p:spPr>
          <a:xfrm>
            <a:off x="731520" y="1252728"/>
            <a:ext cx="10728655" cy="740664"/>
          </a:xfrm>
          <a:prstGeom prst="rect">
            <a:avLst/>
          </a:prstGeom>
          <a:noFill/>
          <a:ln/>
        </p:spPr>
        <p:txBody>
          <a:bodyPr wrap="square" lIns="0" tIns="0" rIns="0" bIns="0" rtlCol="0" anchor="t"/>
          <a:lstStyle/>
          <a:p>
            <a:pPr algn="l" indent="0" marL="0">
              <a:spcAft>
                <a:spcPts val="600"/>
              </a:spcAft>
              <a:buNone/>
            </a:pPr>
            <a:r>
              <a:rPr lang="en-US" sz="1600" b="1" dirty="0">
                <a:solidFill>
                  <a:srgbClr val="2E6DB4"/>
                </a:solidFill>
                <a:latin typeface="Calibri" pitchFamily="34" charset="0"/>
                <a:ea typeface="Calibri" pitchFamily="34" charset="-122"/>
                <a:cs typeface="Calibri" pitchFamily="34" charset="-120"/>
              </a:rPr>
              <a:t>Soru</a:t>
            </a:r>
            <a:endParaRPr lang="en-US" sz="1600" dirty="0"/>
          </a:p>
          <a:p>
            <a:pPr algn="l" indent="0" marL="0">
              <a:spcAft>
                <a:spcPts val="500"/>
              </a:spcAft>
              <a:buNone/>
            </a:pPr>
            <a:r>
              <a:rPr lang="en-US" sz="1700" dirty="0">
                <a:solidFill>
                  <a:srgbClr val="1F2937"/>
                </a:solidFill>
                <a:latin typeface="Calibri" pitchFamily="34" charset="0"/>
                <a:ea typeface="Calibri" pitchFamily="34" charset="-122"/>
                <a:cs typeface="Calibri" pitchFamily="34" charset="-120"/>
              </a:rPr>
              <a:t>Var ≈ 0,03 · 2⁻ⁿ, n = 16. Tipik gradyan ve bunu görmek için gereken shot (SE ≈ 1/√N)?</a:t>
            </a:r>
            <a:endParaRPr lang="en-US" sz="1600" dirty="0"/>
          </a:p>
        </p:txBody>
      </p:sp>
      <p:sp>
        <p:nvSpPr>
          <p:cNvPr id="8" name="Text 5"/>
          <p:cNvSpPr txBox="1"/>
          <p:nvPr/>
        </p:nvSpPr>
        <p:spPr>
          <a:xfrm>
            <a:off x="548640" y="2286000"/>
            <a:ext cx="11094415" cy="3291840"/>
          </a:xfrm>
          <a:prstGeom prst="rect">
            <a:avLst/>
          </a:prstGeom>
          <a:noFill/>
          <a:ln/>
        </p:spPr>
        <p:txBody>
          <a:bodyPr wrap="square" lIns="0" tIns="0" rIns="0" bIns="0" rtlCol="0" anchor="t"/>
          <a:lstStyle/>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Var = 0,03 / 65 536 ≈ 4,6 · 10⁻⁷</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Tipik gradyan ≈ √Var ≈ 6,8 · 10⁻⁴</a:t>
            </a:r>
            <a:endParaRPr lang="en-US" sz="2200" dirty="0"/>
          </a:p>
          <a:p>
            <a:pPr lvl="1" indent="0" marL="0">
              <a:spcAft>
                <a:spcPts val="1000"/>
              </a:spcAft>
              <a:buNone/>
            </a:pPr>
            <a:r>
              <a:rPr lang="en-US" sz="2200" dirty="0">
                <a:solidFill>
                  <a:srgbClr val="1F3A5F"/>
                </a:solidFill>
                <a:latin typeface="Cambria" pitchFamily="34" charset="0"/>
                <a:ea typeface="Cambria" pitchFamily="34" charset="-122"/>
                <a:cs typeface="Cambria" pitchFamily="34" charset="-120"/>
              </a:rPr>
              <a:t>1/√N &lt; 6,8 · 10⁻⁴  →  N &gt; 2,2 · 10⁶ shot</a:t>
            </a:r>
            <a:endParaRPr lang="en-US" sz="2200" dirty="0"/>
          </a:p>
          <a:p>
            <a:pPr indent="0" marL="0">
              <a:spcAft>
                <a:spcPts val="1000"/>
              </a:spcAft>
              <a:buNone/>
            </a:pPr>
            <a:r>
              <a:rPr lang="en-US" sz="1900" dirty="0">
                <a:solidFill>
                  <a:srgbClr val="1F2937"/>
                </a:solidFill>
                <a:latin typeface="Calibri" pitchFamily="34" charset="0"/>
                <a:ea typeface="Calibri" pitchFamily="34" charset="-122"/>
                <a:cs typeface="Calibri" pitchFamily="34" charset="-120"/>
              </a:rPr>
              <a:t>1. Tek parametre, tek adım için! n = 30'da 16 000 kat daha fazla.</a:t>
            </a:r>
            <a:endParaRPr lang="en-US" sz="2200" dirty="0"/>
          </a:p>
        </p:txBody>
      </p:sp>
      <p:sp>
        <p:nvSpPr>
          <p:cNvPr id="9" name="Shape 6"/>
          <p:cNvSpPr/>
          <p:nvPr/>
        </p:nvSpPr>
        <p:spPr>
          <a:xfrm>
            <a:off x="548640" y="5623560"/>
            <a:ext cx="11094415" cy="685800"/>
          </a:xfrm>
          <a:prstGeom prst="roundRect">
            <a:avLst>
              <a:gd name="adj" fmla="val 10667"/>
            </a:avLst>
          </a:prstGeom>
          <a:solidFill>
            <a:srgbClr val="E8EEF6"/>
          </a:solidFill>
          <a:ln w="12700">
            <a:solidFill>
              <a:srgbClr val="E8EEF6"/>
            </a:solidFill>
            <a:prstDash val="solid"/>
          </a:ln>
        </p:spPr>
      </p:sp>
      <p:sp>
        <p:nvSpPr>
          <p:cNvPr id="10" name="Text 7"/>
          <p:cNvSpPr txBox="1"/>
          <p:nvPr/>
        </p:nvSpPr>
        <p:spPr>
          <a:xfrm>
            <a:off x="731520" y="5733288"/>
            <a:ext cx="10728655" cy="466344"/>
          </a:xfrm>
          <a:prstGeom prst="rect">
            <a:avLst/>
          </a:prstGeom>
          <a:noFill/>
          <a:ln/>
        </p:spPr>
        <p:txBody>
          <a:bodyPr wrap="square" lIns="0" tIns="0" rIns="0" bIns="0" rtlCol="0" anchor="ctr"/>
          <a:lstStyle/>
          <a:p>
            <a:pPr algn="l" indent="0" marL="0">
              <a:spcAft>
                <a:spcPts val="500"/>
              </a:spcAft>
              <a:buNone/>
            </a:pPr>
            <a:r>
              <a:rPr lang="en-US" sz="1700" b="1" dirty="0">
                <a:solidFill>
                  <a:srgbClr val="1F2937"/>
                </a:solidFill>
                <a:latin typeface="Calibri" pitchFamily="34" charset="0"/>
                <a:ea typeface="Calibri" pitchFamily="34" charset="-122"/>
                <a:cs typeface="Calibri" pitchFamily="34" charset="-120"/>
              </a:rPr>
              <a:t>Cevap:</a:t>
            </a:r>
            <a:r>
              <a:rPr lang="en-US" sz="1700" dirty="0">
                <a:solidFill>
                  <a:srgbClr val="1F2937"/>
                </a:solidFill>
                <a:latin typeface="Calibri" pitchFamily="34" charset="0"/>
                <a:ea typeface="Calibri" pitchFamily="34" charset="-122"/>
                <a:cs typeface="Calibri" pitchFamily="34" charset="-120"/>
              </a:rPr>
              <a:t> ≈ 2 milyon shot / gradyan bileşeni</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Çözüm önerileri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49</a:t>
            </a:r>
            <a:endParaRPr lang="en-US" sz="1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949440" cy="914400"/>
        </p:xfrm>
        <a:graphic>
          <a:graphicData uri="http://schemas.openxmlformats.org/drawingml/2006/table">
            <a:tbl>
              <a:tblPr/>
              <a:tblGrid>
                <a:gridCol w="2084832"/>
                <a:gridCol w="2362810"/>
                <a:gridCol w="2501798"/>
              </a:tblGrid>
              <a:tr h="65836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Çözüm</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Fikir</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Bu haftaki kanıt</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658368">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Sığ devre</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Az katman: devre yeterince karışmaz</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Yerel, L = 1–2: n'den bağımsız</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658368">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Yerel maliyet</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Tek kübitin ⟨Z⟩'si</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 = 6, L = 4: ≈ 25 kat büyük varyans</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658368">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Akıllı başlatma</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Küçük açılar → ≈ kimlik</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 = 8, L = 20: ≈ 4 kat büyük</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658368">
                <a:tc>
                  <a:txBody>
                    <a:bodyPr/>
                    <a:lstStyle/>
                    <a:p>
                      <a:pPr algn="l" indent="0" marL="0">
                        <a:buNone/>
                      </a:pPr>
                      <a:r>
                        <a:rPr lang="en-US" sz="1400" b="1" dirty="0">
                          <a:solidFill>
                            <a:srgbClr val="1F2937"/>
                          </a:solidFill>
                          <a:latin typeface="Calibri" pitchFamily="34" charset="0"/>
                          <a:ea typeface="Calibri" pitchFamily="34" charset="-122"/>
                          <a:cs typeface="Calibri" pitchFamily="34" charset="-120"/>
                        </a:rPr>
                        <a:t>Katman katman eğitim</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 katman eğit, dondur, ekle</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15. hafta proje önerisi</a:t>
                      </a:r>
                      <a:endParaRPr lang="en-US" sz="14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pic>
        <p:nvPicPr>
          <p:cNvPr id="7" name="Image 0" descr="görsel">    </p:cNvPr>
          <p:cNvPicPr>
            <a:picLocks noChangeAspect="1"/>
          </p:cNvPicPr>
          <p:nvPr/>
        </p:nvPicPr>
        <p:blipFill>
          <a:blip r:embed="rId1"/>
          <a:stretch>
            <a:fillRect/>
          </a:stretch>
        </p:blipFill>
        <p:spPr>
          <a:xfrm>
            <a:off x="7772400" y="1826926"/>
            <a:ext cx="3870655" cy="2015428"/>
          </a:xfrm>
          <a:prstGeom prst="rect">
            <a:avLst/>
          </a:prstGeom>
        </p:spPr>
      </p:pic>
      <p:sp>
        <p:nvSpPr>
          <p:cNvPr id="8" name="Shape 3"/>
          <p:cNvSpPr/>
          <p:nvPr/>
        </p:nvSpPr>
        <p:spPr>
          <a:xfrm>
            <a:off x="548640" y="4572000"/>
            <a:ext cx="11094415" cy="1280160"/>
          </a:xfrm>
          <a:prstGeom prst="roundRect">
            <a:avLst>
              <a:gd name="adj" fmla="val 5714"/>
            </a:avLst>
          </a:prstGeom>
          <a:solidFill>
            <a:srgbClr val="E8EEF6"/>
          </a:solidFill>
          <a:ln w="12700">
            <a:solidFill>
              <a:srgbClr val="E8EEF6"/>
            </a:solidFill>
            <a:prstDash val="solid"/>
          </a:ln>
        </p:spPr>
      </p:sp>
      <p:sp>
        <p:nvSpPr>
          <p:cNvPr id="9" name="Text 4"/>
          <p:cNvSpPr txBox="1"/>
          <p:nvPr/>
        </p:nvSpPr>
        <p:spPr>
          <a:xfrm>
            <a:off x="731520" y="4681728"/>
            <a:ext cx="10728655" cy="1060704"/>
          </a:xfrm>
          <a:prstGeom prst="rect">
            <a:avLst/>
          </a:prstGeom>
          <a:noFill/>
          <a:ln/>
        </p:spPr>
        <p:txBody>
          <a:bodyPr wrap="square" lIns="0" tIns="0" rIns="0" bIns="0" rtlCol="0" anchor="t"/>
          <a:lstStyle/>
          <a:p>
            <a:pPr algn="l" indent="0" marL="0">
              <a:spcAft>
                <a:spcPts val="600"/>
              </a:spcAft>
              <a:buNone/>
            </a:pPr>
            <a:r>
              <a:rPr lang="en-US" sz="1700" b="1" dirty="0">
                <a:solidFill>
                  <a:srgbClr val="2E6DB4"/>
                </a:solidFill>
                <a:latin typeface="Calibri" pitchFamily="34" charset="0"/>
                <a:ea typeface="Calibri" pitchFamily="34" charset="-122"/>
                <a:cs typeface="Calibri" pitchFamily="34" charset="-120"/>
              </a:rPr>
              <a:t>Pratik kural</a:t>
            </a:r>
            <a:endParaRPr lang="en-US" sz="1700" dirty="0"/>
          </a:p>
          <a:p>
            <a:pPr algn="l" indent="0" marL="0">
              <a:spcAft>
                <a:spcPts val="500"/>
              </a:spcAft>
              <a:buNone/>
            </a:pPr>
            <a:r>
              <a:rPr lang="en-US" sz="1600" dirty="0">
                <a:solidFill>
                  <a:srgbClr val="1F2937"/>
                </a:solidFill>
                <a:latin typeface="Calibri" pitchFamily="34" charset="0"/>
                <a:ea typeface="Calibri" pitchFamily="34" charset="-122"/>
                <a:cs typeface="Calibri" pitchFamily="34" charset="-120"/>
              </a:rPr>
              <a:t>Az kübit (hibrit ön katmanla boyut indir) · 1–3 katman · yerel maliyet · küçük başlatma · eğitim başında gradyan büyüklüğünü ölç (≪ 10⁻³ ise mimariyi küçült).</a:t>
            </a:r>
            <a:endParaRPr lang="en-US" sz="1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011680"/>
            <a:ext cx="2743200" cy="1097280"/>
          </a:xfrm>
          <a:prstGeom prst="rect">
            <a:avLst/>
          </a:prstGeom>
          <a:noFill/>
          <a:ln/>
        </p:spPr>
        <p:txBody>
          <a:bodyPr wrap="square" lIns="0" tIns="0" rIns="0" bIns="0" rtlCol="0" anchor="ctr"/>
          <a:lstStyle/>
          <a:p>
            <a:pPr indent="0" marL="0">
              <a:buNone/>
            </a:pPr>
            <a:r>
              <a:rPr lang="en-US" sz="7200" b="1" dirty="0">
                <a:solidFill>
                  <a:srgbClr val="5B84B8"/>
                </a:solidFill>
              </a:rPr>
              <a:t>3. saat</a:t>
            </a:r>
            <a:endParaRPr lang="en-US" sz="7200" dirty="0"/>
          </a:p>
        </p:txBody>
      </p:sp>
      <p:sp>
        <p:nvSpPr>
          <p:cNvPr id="3" name="Text 1"/>
          <p:cNvSpPr txBox="1"/>
          <p:nvPr/>
        </p:nvSpPr>
        <p:spPr>
          <a:xfrm>
            <a:off x="731520" y="3108960"/>
            <a:ext cx="10972800" cy="822960"/>
          </a:xfrm>
          <a:prstGeom prst="rect">
            <a:avLst/>
          </a:prstGeom>
          <a:noFill/>
          <a:ln/>
        </p:spPr>
        <p:txBody>
          <a:bodyPr wrap="square" lIns="0" tIns="0" rIns="0" bIns="0" rtlCol="0" anchor="ctr"/>
          <a:lstStyle/>
          <a:p>
            <a:pPr indent="0" marL="0">
              <a:buNone/>
            </a:pPr>
            <a:r>
              <a:rPr lang="en-US" sz="3800" b="1" dirty="0">
                <a:solidFill>
                  <a:srgbClr val="FFFFFF"/>
                </a:solidFill>
              </a:rPr>
              <a:t>Lab: PennyLane + PyTorch</a:t>
            </a:r>
            <a:endParaRPr lang="en-US" sz="3800" dirty="0"/>
          </a:p>
        </p:txBody>
      </p:sp>
      <p:sp>
        <p:nvSpPr>
          <p:cNvPr id="4" name="Text 2"/>
          <p:cNvSpPr txBox="1"/>
          <p:nvPr/>
        </p:nvSpPr>
        <p:spPr>
          <a:xfrm>
            <a:off x="731520" y="3977640"/>
            <a:ext cx="10515600" cy="731520"/>
          </a:xfrm>
          <a:prstGeom prst="rect">
            <a:avLst/>
          </a:prstGeom>
          <a:noFill/>
          <a:ln/>
        </p:spPr>
        <p:txBody>
          <a:bodyPr wrap="square" lIns="0" tIns="0" rIns="0" bIns="0" rtlCol="0" anchor="t"/>
          <a:lstStyle/>
          <a:p>
            <a:pPr indent="0" marL="0">
              <a:buNone/>
            </a:pPr>
            <a:r>
              <a:rPr lang="en-US" sz="1800" dirty="0">
                <a:solidFill>
                  <a:srgbClr val="C7D2E3"/>
                </a:solidFill>
              </a:rPr>
              <a:t>Hafta14_Lab.ipynb (Colab, ~50 dk, çözümlü sürüm &lt; 1,5 dk CPU)</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Lab akışı</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51</a:t>
            </a:r>
            <a:endParaRPr lang="en-US" sz="1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1109442"/>
                <a:gridCol w="8320811"/>
                <a:gridCol w="1664162"/>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Bölüm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Konu</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Süre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Kurulum (</a:t>
                      </a:r>
                      <a:r>
                        <a:rPr lang="en-US" sz="1500" dirty="0">
                          <a:solidFill>
                            <a:srgbClr val="1F3A5F"/>
                          </a:solidFill>
                          <a:latin typeface="Courier New" pitchFamily="34" charset="0"/>
                          <a:ea typeface="Courier New" pitchFamily="34" charset="-122"/>
                          <a:cs typeface="Courier New" pitchFamily="34" charset="-120"/>
                        </a:rPr>
                        <a:t>pip install -q pennylane</a:t>
                      </a:r>
                      <a:r>
                        <a:rPr lang="en-US" sz="1500" dirty="0">
                          <a:solidFill>
                            <a:srgbClr val="1F2937"/>
                          </a:solidFill>
                          <a:latin typeface="Calibri" pitchFamily="34" charset="0"/>
                          <a:ea typeface="Calibri" pitchFamily="34" charset="-122"/>
                          <a:cs typeface="Calibri" pitchFamily="34" charset="-120"/>
                        </a:rPr>
                        <a:t>), veri setleri, yardımcılar</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4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PennyLane temelleri: QNode, şablonlar, draw_mpl, gradyan</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8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F2937"/>
                          </a:solidFill>
                          <a:latin typeface="Calibri" pitchFamily="34" charset="0"/>
                          <a:ea typeface="Calibri" pitchFamily="34" charset="-122"/>
                          <a:cs typeface="Calibri" pitchFamily="34" charset="-120"/>
                        </a:rPr>
                        <a:t>VQC'yi sıfırdan</a:t>
                      </a:r>
                      <a:r>
                        <a:rPr lang="en-US" sz="1500" dirty="0">
                          <a:solidFill>
                            <a:srgbClr val="1F2937"/>
                          </a:solidFill>
                          <a:latin typeface="Calibri" pitchFamily="34" charset="0"/>
                          <a:ea typeface="Calibri" pitchFamily="34" charset="-122"/>
                          <a:cs typeface="Calibri" pitchFamily="34" charset="-120"/>
                        </a:rPr>
                        <a:t> yazıp PyTorch ile eğitmek (moons)</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10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Katman sayısı deneyi (iris2, 4 kübit)</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5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Hibrit model: </a:t>
                      </a:r>
                      <a:r>
                        <a:rPr lang="en-US" sz="1500" dirty="0">
                          <a:solidFill>
                            <a:srgbClr val="1F3A5F"/>
                          </a:solidFill>
                          <a:latin typeface="Courier New" pitchFamily="34" charset="0"/>
                          <a:ea typeface="Courier New" pitchFamily="34" charset="-122"/>
                          <a:cs typeface="Courier New" pitchFamily="34" charset="-120"/>
                        </a:rPr>
                        <a:t>TorchLayer</a:t>
                      </a:r>
                      <a:r>
                        <a:rPr lang="en-US" sz="1500" dirty="0">
                          <a:solidFill>
                            <a:srgbClr val="1F2937"/>
                          </a:solidFill>
                          <a:latin typeface="Calibri" pitchFamily="34" charset="0"/>
                          <a:ea typeface="Calibri" pitchFamily="34" charset="-122"/>
                          <a:cs typeface="Calibri" pitchFamily="34" charset="-120"/>
                        </a:rPr>
                        <a:t> + </a:t>
                      </a:r>
                      <a:r>
                        <a:rPr lang="en-US" sz="1500" dirty="0">
                          <a:solidFill>
                            <a:srgbClr val="1F3A5F"/>
                          </a:solidFill>
                          <a:latin typeface="Courier New" pitchFamily="34" charset="0"/>
                          <a:ea typeface="Courier New" pitchFamily="34" charset="-122"/>
                          <a:cs typeface="Courier New" pitchFamily="34" charset="-120"/>
                        </a:rPr>
                        <a:t>nn.Sequential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6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Data re-uploading: tek kübitle circles</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6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F–G</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Klasik karşılaştırma, başlatmanın etkisi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7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H</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Barren plateau deneyi (yayınlama ile)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4 dk</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475488">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I</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8 alıştırma (assert ile)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Ödev</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Alıştırmalar</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52</a:t>
            </a:r>
            <a:endParaRPr lang="en-US" sz="1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4415" cy="914400"/>
        </p:xfrm>
        <a:graphic>
          <a:graphicData uri="http://schemas.openxmlformats.org/drawingml/2006/table">
            <a:tbl>
              <a:tblPr/>
              <a:tblGrid>
                <a:gridCol w="887553"/>
                <a:gridCol w="6212873"/>
                <a:gridCol w="3993989"/>
              </a:tblGrid>
              <a:tr h="51206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Görev</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Kontrol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1F3A5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⟨Z⟩ → p → BCE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BCE = 0,3452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n_params(n, L, kind)</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PennyLane shape + hibrit = 21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3A5F"/>
                          </a:solidFill>
                          <a:latin typeface="Courier New" pitchFamily="34" charset="0"/>
                          <a:ea typeface="Courier New" pitchFamily="34" charset="-122"/>
                          <a:cs typeface="Courier New" pitchFamily="34" charset="-120"/>
                        </a:rPr>
                        <a:t>ps_grad</a:t>
                      </a:r>
                      <a:r>
                        <a:rPr lang="en-US" sz="1500" dirty="0">
                          <a:solidFill>
                            <a:srgbClr val="1F2937"/>
                          </a:solidFill>
                          <a:latin typeface="Calibri" pitchFamily="34" charset="0"/>
                          <a:ea typeface="Calibri" pitchFamily="34" charset="-122"/>
                          <a:cs typeface="Calibri" pitchFamily="34" charset="-120"/>
                        </a:rPr>
                        <a:t>: parameter-shift elle</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 otomatik türev</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StronglyEnt. VQC, iris2</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test ≥ 0,80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Re-uploading L = 3, moons</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test ≥ 0,85, 13 param.</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Hibrit Linear(4,2) → 2 kübit → Linear(2,1)</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25 param., test ≥ 0,80</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Yerel vs global varyans (n = 6)</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yerel &gt; 5 × global</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Küçük başlatma, n = 2 → 8</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 20 kat azalma</a:t>
                      </a:r>
                      <a:endParaRPr lang="en-US" sz="1500" dirty="0">
                        <a:latin typeface="Calibri" charset="0"/>
                        <a:ea typeface="Calibri" charset="0"/>
                        <a:cs typeface="Calibri" charset="0"/>
                      </a:endParaRPr>
                    </a:p>
                  </a:txBody>
                  <a:tcPr marL="76200" marR="76200" marT="50800" marB="50800" anchor="ctr">
                    <a:lnL w="9525" cap="flat" cmpd="sng" algn="ctr">
                      <a:solidFill>
                        <a:srgbClr val="C9D1DC"/>
                      </a:solidFill>
                      <a:prstDash val="solid"/>
                      <a:round/>
                      <a:headEnd type="none" w="med" len="med"/>
                      <a:tailEnd type="none" w="med" len="med"/>
                    </a:lnL>
                    <a:lnR w="9525" cap="flat" cmpd="sng" algn="ctr">
                      <a:solidFill>
                        <a:srgbClr val="C9D1DC"/>
                      </a:solidFill>
                      <a:prstDash val="solid"/>
                      <a:round/>
                      <a:headEnd type="none" w="med" len="med"/>
                      <a:tailEnd type="none" w="med" len="med"/>
                    </a:lnR>
                    <a:lnT w="9525" cap="flat" cmpd="sng" algn="ctr">
                      <a:solidFill>
                        <a:srgbClr val="C9D1DC"/>
                      </a:solidFill>
                      <a:prstDash val="solid"/>
                      <a:round/>
                      <a:headEnd type="none" w="med" len="med"/>
                      <a:tailEnd type="none" w="med" len="med"/>
                    </a:lnT>
                    <a:lnB w="9525" cap="flat" cmpd="sng" algn="ctr">
                      <a:solidFill>
                        <a:srgbClr val="C9D1DC"/>
                      </a:solidFill>
                      <a:prstDash val="solid"/>
                      <a:round/>
                      <a:headEnd type="none" w="med" len="med"/>
                      <a:tailEnd type="none" w="med" len="med"/>
                    </a:lnB>
                    <a:solidFill>
                      <a:srgbClr val="F3F4F6"/>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Haftanın özeti</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53</a:t>
            </a:r>
            <a:endParaRPr lang="en-US" sz="1000" dirty="0"/>
          </a:p>
        </p:txBody>
      </p:sp>
      <p:sp>
        <p:nvSpPr>
          <p:cNvPr id="6" name="Text 3"/>
          <p:cNvSpPr txBox="1"/>
          <p:nvPr/>
        </p:nvSpPr>
        <p:spPr>
          <a:xfrm>
            <a:off x="548640" y="1234440"/>
            <a:ext cx="11094415" cy="4754880"/>
          </a:xfrm>
          <a:prstGeom prst="rect">
            <a:avLst/>
          </a:prstGeom>
          <a:noFill/>
          <a:ln/>
        </p:spPr>
        <p:txBody>
          <a:bodyPr wrap="square" lIns="0" tIns="0" rIns="0" bIns="0" rtlCol="0" anchor="t"/>
          <a:lstStyle/>
          <a:p>
            <a:pPr marL="254000" indent="-254000">
              <a:spcAft>
                <a:spcPts val="1100"/>
              </a:spcAft>
              <a:buSzPct val="100000"/>
              <a:buChar char="•"/>
            </a:pPr>
            <a:r>
              <a:rPr lang="en-US" sz="1900" b="1" dirty="0">
                <a:solidFill>
                  <a:srgbClr val="1F2937"/>
                </a:solidFill>
                <a:latin typeface="Calibri" pitchFamily="34" charset="0"/>
                <a:ea typeface="Calibri" pitchFamily="34" charset="-122"/>
                <a:cs typeface="Calibri" pitchFamily="34" charset="-120"/>
              </a:rPr>
              <a:t>VQC = kodlama + ansatz + ⟨Z⟩</a:t>
            </a:r>
            <a:r>
              <a:rPr lang="en-US" sz="1900" dirty="0">
                <a:solidFill>
                  <a:srgbClr val="1F2937"/>
                </a:solidFill>
                <a:latin typeface="Calibri" pitchFamily="34" charset="0"/>
                <a:ea typeface="Calibri" pitchFamily="34" charset="-122"/>
                <a:cs typeface="Calibri" pitchFamily="34" charset="-120"/>
              </a:rPr>
              <a:t>; p = (1 − ⟨Z⟩)/2, kayıp BCE, optimizer Adam</a:t>
            </a:r>
            <a:endParaRPr lang="en-US" sz="1900" dirty="0"/>
          </a:p>
          <a:p>
            <a:pPr marL="254000" indent="-254000">
              <a:spcAft>
                <a:spcPts val="1100"/>
              </a:spcAft>
              <a:buSzPct val="100000"/>
              <a:buChar char="•"/>
            </a:pPr>
            <a:r>
              <a:rPr lang="en-US" sz="1900" dirty="0">
                <a:solidFill>
                  <a:srgbClr val="1F2937"/>
                </a:solidFill>
                <a:latin typeface="Calibri" pitchFamily="34" charset="0"/>
                <a:ea typeface="Calibri" pitchFamily="34" charset="-122"/>
                <a:cs typeface="Calibri" pitchFamily="34" charset="-120"/>
              </a:rPr>
              <a:t>Aktivasyon yok: doğrusal olmama </a:t>
            </a:r>
            <a:r>
              <a:rPr lang="en-US" sz="1900" b="1" dirty="0">
                <a:solidFill>
                  <a:srgbClr val="1F2937"/>
                </a:solidFill>
                <a:latin typeface="Calibri" pitchFamily="34" charset="0"/>
                <a:ea typeface="Calibri" pitchFamily="34" charset="-122"/>
                <a:cs typeface="Calibri" pitchFamily="34" charset="-120"/>
              </a:rPr>
              <a:t>kodlama + ölçümden</a:t>
            </a:r>
            <a:r>
              <a:rPr lang="en-US" sz="1900" dirty="0">
                <a:solidFill>
                  <a:srgbClr val="1F2937"/>
                </a:solidFill>
                <a:latin typeface="Calibri" pitchFamily="34" charset="0"/>
                <a:ea typeface="Calibri" pitchFamily="34" charset="-122"/>
                <a:cs typeface="Calibri" pitchFamily="34" charset="-120"/>
              </a:rPr>
              <a:t>; model bir trigonometrik polinom</a:t>
            </a:r>
            <a:endParaRPr lang="en-US" sz="1900" dirty="0"/>
          </a:p>
          <a:p>
            <a:pPr marL="254000" indent="-254000">
              <a:spcAft>
                <a:spcPts val="1100"/>
              </a:spcAft>
              <a:buSzPct val="100000"/>
              <a:buChar char="•"/>
            </a:pPr>
            <a:r>
              <a:rPr lang="en-US" sz="1900" dirty="0">
                <a:solidFill>
                  <a:srgbClr val="1F2937"/>
                </a:solidFill>
                <a:latin typeface="Calibri" pitchFamily="34" charset="0"/>
                <a:ea typeface="Calibri" pitchFamily="34" charset="-122"/>
                <a:cs typeface="Calibri" pitchFamily="34" charset="-120"/>
              </a:rPr>
              <a:t>Parametre: RY+RZ </a:t>
            </a:r>
            <a:r>
              <a:rPr lang="en-US" sz="1900" b="1" dirty="0">
                <a:solidFill>
                  <a:srgbClr val="1F2937"/>
                </a:solidFill>
                <a:latin typeface="Calibri" pitchFamily="34" charset="0"/>
                <a:ea typeface="Calibri" pitchFamily="34" charset="-122"/>
                <a:cs typeface="Calibri" pitchFamily="34" charset="-120"/>
              </a:rPr>
              <a:t>2nL</a:t>
            </a:r>
            <a:r>
              <a:rPr lang="en-US" sz="1900" dirty="0">
                <a:solidFill>
                  <a:srgbClr val="1F2937"/>
                </a:solidFill>
                <a:latin typeface="Calibri" pitchFamily="34" charset="0"/>
                <a:ea typeface="Calibri" pitchFamily="34" charset="-122"/>
                <a:cs typeface="Calibri" pitchFamily="34" charset="-120"/>
              </a:rPr>
              <a:t>, Basic </a:t>
            </a:r>
            <a:r>
              <a:rPr lang="en-US" sz="1900" b="1" dirty="0">
                <a:solidFill>
                  <a:srgbClr val="1F2937"/>
                </a:solidFill>
                <a:latin typeface="Calibri" pitchFamily="34" charset="0"/>
                <a:ea typeface="Calibri" pitchFamily="34" charset="-122"/>
                <a:cs typeface="Calibri" pitchFamily="34" charset="-120"/>
              </a:rPr>
              <a:t>nL</a:t>
            </a:r>
            <a:r>
              <a:rPr lang="en-US" sz="1900" dirty="0">
                <a:solidFill>
                  <a:srgbClr val="1F2937"/>
                </a:solidFill>
                <a:latin typeface="Calibri" pitchFamily="34" charset="0"/>
                <a:ea typeface="Calibri" pitchFamily="34" charset="-122"/>
                <a:cs typeface="Calibri" pitchFamily="34" charset="-120"/>
              </a:rPr>
              <a:t>, Strongly </a:t>
            </a:r>
            <a:r>
              <a:rPr lang="en-US" sz="1900" b="1" dirty="0">
                <a:solidFill>
                  <a:srgbClr val="1F2937"/>
                </a:solidFill>
                <a:latin typeface="Calibri" pitchFamily="34" charset="0"/>
                <a:ea typeface="Calibri" pitchFamily="34" charset="-122"/>
                <a:cs typeface="Calibri" pitchFamily="34" charset="-120"/>
              </a:rPr>
              <a:t>3nL</a:t>
            </a:r>
            <a:endParaRPr lang="en-US" sz="1900" dirty="0"/>
          </a:p>
          <a:p>
            <a:pPr marL="254000" indent="-254000">
              <a:spcAft>
                <a:spcPts val="1100"/>
              </a:spcAft>
              <a:buSzPct val="100000"/>
              <a:buChar char="•"/>
            </a:pPr>
            <a:r>
              <a:rPr lang="en-US" sz="1900" dirty="0">
                <a:solidFill>
                  <a:srgbClr val="1F2937"/>
                </a:solidFill>
                <a:latin typeface="Calibri" pitchFamily="34" charset="0"/>
                <a:ea typeface="Calibri" pitchFamily="34" charset="-122"/>
                <a:cs typeface="Calibri" pitchFamily="34" charset="-120"/>
              </a:rPr>
              <a:t>Gradyan: donanımda </a:t>
            </a:r>
            <a:r>
              <a:rPr lang="en-US" sz="1900" b="1" dirty="0">
                <a:solidFill>
                  <a:srgbClr val="1F2937"/>
                </a:solidFill>
                <a:latin typeface="Calibri" pitchFamily="34" charset="0"/>
                <a:ea typeface="Calibri" pitchFamily="34" charset="-122"/>
                <a:cs typeface="Calibri" pitchFamily="34" charset="-120"/>
              </a:rPr>
              <a:t>parameter-shift</a:t>
            </a:r>
            <a:r>
              <a:rPr lang="en-US" sz="1900" dirty="0">
                <a:solidFill>
                  <a:srgbClr val="1F2937"/>
                </a:solidFill>
                <a:latin typeface="Calibri" pitchFamily="34" charset="0"/>
                <a:ea typeface="Calibri" pitchFamily="34" charset="-122"/>
                <a:cs typeface="Calibri" pitchFamily="34" charset="-120"/>
              </a:rPr>
              <a:t>, simülatörde </a:t>
            </a:r>
            <a:r>
              <a:rPr lang="en-US" sz="1900" b="1" dirty="0">
                <a:solidFill>
                  <a:srgbClr val="1F2937"/>
                </a:solidFill>
                <a:latin typeface="Calibri" pitchFamily="34" charset="0"/>
                <a:ea typeface="Calibri" pitchFamily="34" charset="-122"/>
                <a:cs typeface="Calibri" pitchFamily="34" charset="-120"/>
              </a:rPr>
              <a:t>backprop</a:t>
            </a:r>
            <a:endParaRPr lang="en-US" sz="1900" dirty="0"/>
          </a:p>
          <a:p>
            <a:pPr marL="254000" indent="-254000">
              <a:spcAft>
                <a:spcPts val="1100"/>
              </a:spcAft>
              <a:buSzPct val="100000"/>
              <a:buChar char="•"/>
            </a:pPr>
            <a:r>
              <a:rPr lang="en-US" sz="1900" dirty="0">
                <a:solidFill>
                  <a:srgbClr val="1F3A5F"/>
                </a:solidFill>
                <a:latin typeface="Courier New" pitchFamily="34" charset="0"/>
                <a:ea typeface="Courier New" pitchFamily="34" charset="-122"/>
                <a:cs typeface="Courier New" pitchFamily="34" charset="-120"/>
              </a:rPr>
              <a:t>qml.qnn.TorchLayer</a:t>
            </a:r>
            <a:r>
              <a:rPr lang="en-US" sz="1900" dirty="0">
                <a:solidFill>
                  <a:srgbClr val="1F2937"/>
                </a:solidFill>
                <a:latin typeface="Calibri" pitchFamily="34" charset="0"/>
                <a:ea typeface="Calibri" pitchFamily="34" charset="-122"/>
                <a:cs typeface="Calibri" pitchFamily="34" charset="-120"/>
              </a:rPr>
              <a:t>: QNode → </a:t>
            </a:r>
            <a:r>
              <a:rPr lang="en-US" sz="1900" dirty="0">
                <a:solidFill>
                  <a:srgbClr val="1F3A5F"/>
                </a:solidFill>
                <a:latin typeface="Courier New" pitchFamily="34" charset="0"/>
                <a:ea typeface="Courier New" pitchFamily="34" charset="-122"/>
                <a:cs typeface="Courier New" pitchFamily="34" charset="-120"/>
              </a:rPr>
              <a:t>nn.Module</a:t>
            </a:r>
            <a:r>
              <a:rPr lang="en-US" sz="1900" dirty="0">
                <a:solidFill>
                  <a:srgbClr val="1F2937"/>
                </a:solidFill>
                <a:latin typeface="Calibri" pitchFamily="34" charset="0"/>
                <a:ea typeface="Calibri" pitchFamily="34" charset="-122"/>
                <a:cs typeface="Calibri" pitchFamily="34" charset="-120"/>
              </a:rPr>
              <a:t> (</a:t>
            </a:r>
            <a:r>
              <a:rPr lang="en-US" sz="1900" dirty="0">
                <a:solidFill>
                  <a:srgbClr val="1F3A5F"/>
                </a:solidFill>
                <a:latin typeface="Courier New" pitchFamily="34" charset="0"/>
                <a:ea typeface="Courier New" pitchFamily="34" charset="-122"/>
                <a:cs typeface="Courier New" pitchFamily="34" charset="-120"/>
              </a:rPr>
              <a:t>inputs</a:t>
            </a:r>
            <a:r>
              <a:rPr lang="en-US" sz="1900" dirty="0">
                <a:solidFill>
                  <a:srgbClr val="1F2937"/>
                </a:solidFill>
                <a:latin typeface="Calibri" pitchFamily="34" charset="0"/>
                <a:ea typeface="Calibri" pitchFamily="34" charset="-122"/>
                <a:cs typeface="Calibri" pitchFamily="34" charset="-120"/>
              </a:rPr>
              <a:t> adı zorunlu)</a:t>
            </a:r>
            <a:endParaRPr lang="en-US" sz="1900" dirty="0"/>
          </a:p>
          <a:p>
            <a:pPr marL="254000" indent="-254000">
              <a:spcAft>
                <a:spcPts val="1100"/>
              </a:spcAft>
              <a:buSzPct val="100000"/>
              <a:buChar char="•"/>
            </a:pPr>
            <a:r>
              <a:rPr lang="en-US" sz="1900" b="1" dirty="0">
                <a:solidFill>
                  <a:srgbClr val="1F2937"/>
                </a:solidFill>
                <a:latin typeface="Calibri" pitchFamily="34" charset="0"/>
                <a:ea typeface="Calibri" pitchFamily="34" charset="-122"/>
                <a:cs typeface="Calibri" pitchFamily="34" charset="-120"/>
              </a:rPr>
              <a:t>Data re-uploading</a:t>
            </a:r>
            <a:r>
              <a:rPr lang="en-US" sz="1900" dirty="0">
                <a:solidFill>
                  <a:srgbClr val="1F2937"/>
                </a:solidFill>
                <a:latin typeface="Calibri" pitchFamily="34" charset="0"/>
                <a:ea typeface="Calibri" pitchFamily="34" charset="-122"/>
                <a:cs typeface="Calibri" pitchFamily="34" charset="-120"/>
              </a:rPr>
              <a:t>: tek kübitle doğrusal olmayan sınır</a:t>
            </a:r>
            <a:endParaRPr lang="en-US" sz="1900" dirty="0"/>
          </a:p>
          <a:p>
            <a:pPr marL="254000" indent="-254000">
              <a:spcAft>
                <a:spcPts val="1100"/>
              </a:spcAft>
              <a:buSzPct val="100000"/>
              <a:buChar char="•"/>
            </a:pPr>
            <a:r>
              <a:rPr lang="en-US" sz="1900" dirty="0">
                <a:solidFill>
                  <a:srgbClr val="1F2937"/>
                </a:solidFill>
                <a:latin typeface="Calibri" pitchFamily="34" charset="0"/>
                <a:ea typeface="Calibri" pitchFamily="34" charset="-122"/>
                <a:cs typeface="Calibri" pitchFamily="34" charset="-120"/>
              </a:rPr>
              <a:t>Küçük veride kuantum modeller klasikleri </a:t>
            </a:r>
            <a:r>
              <a:rPr lang="en-US" sz="1900" b="1" dirty="0">
                <a:solidFill>
                  <a:srgbClr val="1F2937"/>
                </a:solidFill>
                <a:latin typeface="Calibri" pitchFamily="34" charset="0"/>
                <a:ea typeface="Calibri" pitchFamily="34" charset="-122"/>
                <a:cs typeface="Calibri" pitchFamily="34" charset="-120"/>
              </a:rPr>
              <a:t>geçmiyor</a:t>
            </a:r>
            <a:r>
              <a:rPr lang="en-US" sz="1900" dirty="0">
                <a:solidFill>
                  <a:srgbClr val="1F2937"/>
                </a:solidFill>
                <a:latin typeface="Calibri" pitchFamily="34" charset="0"/>
                <a:ea typeface="Calibri" pitchFamily="34" charset="-122"/>
                <a:cs typeface="Calibri" pitchFamily="34" charset="-120"/>
              </a:rPr>
              <a:t>, daha yavaş</a:t>
            </a:r>
            <a:endParaRPr lang="en-US" sz="1900" dirty="0"/>
          </a:p>
          <a:p>
            <a:pPr marL="254000" indent="-254000">
              <a:spcAft>
                <a:spcPts val="1100"/>
              </a:spcAft>
              <a:buSzPct val="100000"/>
              <a:buChar char="•"/>
            </a:pPr>
            <a:r>
              <a:rPr lang="en-US" sz="1900" b="1" dirty="0">
                <a:solidFill>
                  <a:srgbClr val="1F2937"/>
                </a:solidFill>
                <a:latin typeface="Calibri" pitchFamily="34" charset="0"/>
                <a:ea typeface="Calibri" pitchFamily="34" charset="-122"/>
                <a:cs typeface="Calibri" pitchFamily="34" charset="-120"/>
              </a:rPr>
              <a:t>Çorak düzlük</a:t>
            </a:r>
            <a:r>
              <a:rPr lang="en-US" sz="1900" dirty="0">
                <a:solidFill>
                  <a:srgbClr val="1F2937"/>
                </a:solidFill>
                <a:latin typeface="Calibri" pitchFamily="34" charset="0"/>
                <a:ea typeface="Calibri" pitchFamily="34" charset="-122"/>
                <a:cs typeface="Calibri" pitchFamily="34" charset="-120"/>
              </a:rPr>
              <a:t>: Var ∝ 2⁻ⁿ → sığ devre, yerel maliyet, küçük başlatma</a:t>
            </a:r>
            <a:endParaRPr lang="en-US" sz="1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40080"/>
          </a:xfrm>
          <a:prstGeom prst="rect">
            <a:avLst/>
          </a:prstGeom>
          <a:noFill/>
          <a:ln/>
        </p:spPr>
        <p:txBody>
          <a:bodyPr wrap="square" lIns="0" tIns="0" rIns="0" bIns="0" rtlCol="0" anchor="ctr"/>
          <a:lstStyle/>
          <a:p>
            <a:pPr indent="0" marL="0">
              <a:buNone/>
            </a:pPr>
            <a:r>
              <a:rPr lang="en-US" sz="2800" b="1" dirty="0">
                <a:solidFill>
                  <a:srgbClr val="1F3A5F"/>
                </a:solidFill>
                <a:latin typeface="Calibri" pitchFamily="34" charset="0"/>
                <a:ea typeface="Calibri" pitchFamily="34" charset="-122"/>
                <a:cs typeface="Calibri" pitchFamily="34" charset="-120"/>
              </a:rPr>
              <a:t>Ödev ve gelecek hafta</a:t>
            </a:r>
            <a:endParaRPr lang="en-US" sz="2800" dirty="0"/>
          </a:p>
        </p:txBody>
      </p:sp>
      <p:sp>
        <p:nvSpPr>
          <p:cNvPr id="4" name="Text 1"/>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Kuantum Hesaplama ve Uygulamaları · Hafta 14</a:t>
            </a:r>
            <a:endParaRPr lang="en-US" sz="1000" dirty="0"/>
          </a:p>
        </p:txBody>
      </p:sp>
      <p:sp>
        <p:nvSpPr>
          <p:cNvPr id="5" name="Text 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alibri" pitchFamily="34" charset="0"/>
                <a:ea typeface="Calibri" pitchFamily="34" charset="-122"/>
                <a:cs typeface="Calibri" pitchFamily="34" charset="-120"/>
              </a:rPr>
              <a:t>54</a:t>
            </a:r>
            <a:endParaRPr lang="en-US" sz="1000" dirty="0"/>
          </a:p>
        </p:txBody>
      </p:sp>
      <p:sp>
        <p:nvSpPr>
          <p:cNvPr id="6" name="Shape 3"/>
          <p:cNvSpPr/>
          <p:nvPr/>
        </p:nvSpPr>
        <p:spPr>
          <a:xfrm>
            <a:off x="548640" y="1280160"/>
            <a:ext cx="5410048" cy="3840480"/>
          </a:xfrm>
          <a:prstGeom prst="roundRect">
            <a:avLst>
              <a:gd name="adj" fmla="val 1905"/>
            </a:avLst>
          </a:prstGeom>
          <a:solidFill>
            <a:srgbClr val="F3F4F6"/>
          </a:solidFill>
          <a:ln w="12700">
            <a:solidFill>
              <a:srgbClr val="F3F4F6"/>
            </a:solidFill>
            <a:prstDash val="solid"/>
          </a:ln>
        </p:spPr>
      </p:sp>
      <p:sp>
        <p:nvSpPr>
          <p:cNvPr id="7" name="Text 4"/>
          <p:cNvSpPr txBox="1"/>
          <p:nvPr/>
        </p:nvSpPr>
        <p:spPr>
          <a:xfrm>
            <a:off x="731520" y="1389888"/>
            <a:ext cx="5044288" cy="3621024"/>
          </a:xfrm>
          <a:prstGeom prst="rect">
            <a:avLst/>
          </a:prstGeom>
          <a:noFill/>
          <a:ln/>
        </p:spPr>
        <p:txBody>
          <a:bodyPr wrap="square" lIns="0" tIns="0" rIns="0" bIns="0" rtlCol="0" anchor="t"/>
          <a:lstStyle/>
          <a:p>
            <a:pPr algn="l" indent="0" marL="0">
              <a:spcAft>
                <a:spcPts val="600"/>
              </a:spcAft>
              <a:buNone/>
            </a:pPr>
            <a:r>
              <a:rPr lang="en-US" sz="2000" b="1" dirty="0">
                <a:solidFill>
                  <a:srgbClr val="2E6DB4"/>
                </a:solidFill>
                <a:latin typeface="Calibri" pitchFamily="34" charset="0"/>
                <a:ea typeface="Calibri" pitchFamily="34" charset="-122"/>
                <a:cs typeface="Calibri" pitchFamily="34" charset="-120"/>
              </a:rPr>
              <a:t>Ödev</a:t>
            </a:r>
            <a:endParaRPr lang="en-US" sz="20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Ders notu </a:t>
            </a:r>
            <a:r>
              <a:rPr lang="en-US" sz="1800" b="1" dirty="0">
                <a:solidFill>
                  <a:srgbClr val="1F2937"/>
                </a:solidFill>
                <a:latin typeface="Calibri" pitchFamily="34" charset="0"/>
                <a:ea typeface="Calibri" pitchFamily="34" charset="-122"/>
                <a:cs typeface="Calibri" pitchFamily="34" charset="-120"/>
              </a:rPr>
              <a:t>Bölüm 10</a:t>
            </a:r>
            <a:r>
              <a:rPr lang="en-US" sz="1800" dirty="0">
                <a:solidFill>
                  <a:srgbClr val="1F2937"/>
                </a:solidFill>
                <a:latin typeface="Calibri" pitchFamily="34" charset="0"/>
                <a:ea typeface="Calibri" pitchFamily="34" charset="-122"/>
                <a:cs typeface="Calibri" pitchFamily="34" charset="-120"/>
              </a:rPr>
              <a:t>: 10 yazılı soru</a:t>
            </a:r>
            <a:endParaRPr lang="en-US" sz="20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Lab </a:t>
            </a:r>
            <a:r>
              <a:rPr lang="en-US" sz="1800" b="1" dirty="0">
                <a:solidFill>
                  <a:srgbClr val="1F2937"/>
                </a:solidFill>
                <a:latin typeface="Calibri" pitchFamily="34" charset="0"/>
                <a:ea typeface="Calibri" pitchFamily="34" charset="-122"/>
                <a:cs typeface="Calibri" pitchFamily="34" charset="-120"/>
              </a:rPr>
              <a:t>Bölüm I</a:t>
            </a:r>
            <a:r>
              <a:rPr lang="en-US" sz="1800" dirty="0">
                <a:solidFill>
                  <a:srgbClr val="1F2937"/>
                </a:solidFill>
                <a:latin typeface="Calibri" pitchFamily="34" charset="0"/>
                <a:ea typeface="Calibri" pitchFamily="34" charset="-122"/>
                <a:cs typeface="Calibri" pitchFamily="34" charset="-120"/>
              </a:rPr>
              <a:t>: 8 kodlama alıştırması</a:t>
            </a:r>
            <a:endParaRPr lang="en-US" sz="20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Ek: hibrit modelde kuantum katmanı </a:t>
            </a:r>
            <a:r>
              <a:rPr lang="en-US" sz="1800" dirty="0">
                <a:solidFill>
                  <a:srgbClr val="1F3A5F"/>
                </a:solidFill>
                <a:latin typeface="Courier New" pitchFamily="34" charset="0"/>
                <a:ea typeface="Courier New" pitchFamily="34" charset="-122"/>
                <a:cs typeface="Courier New" pitchFamily="34" charset="-120"/>
              </a:rPr>
              <a:t>Linear + tanh</a:t>
            </a:r>
            <a:r>
              <a:rPr lang="en-US" sz="1800" dirty="0">
                <a:solidFill>
                  <a:srgbClr val="1F2937"/>
                </a:solidFill>
                <a:latin typeface="Calibri" pitchFamily="34" charset="0"/>
                <a:ea typeface="Calibri" pitchFamily="34" charset="-122"/>
                <a:cs typeface="Calibri" pitchFamily="34" charset="-120"/>
              </a:rPr>
              <a:t> ile değiştirip karşılaştırın (ablasyon)</a:t>
            </a:r>
            <a:endParaRPr lang="en-US" sz="20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Teslim: notebook + yazılı cevaplar</a:t>
            </a:r>
            <a:endParaRPr lang="en-US" sz="2000" dirty="0"/>
          </a:p>
        </p:txBody>
      </p:sp>
      <p:sp>
        <p:nvSpPr>
          <p:cNvPr id="8" name="Shape 5"/>
          <p:cNvSpPr/>
          <p:nvPr/>
        </p:nvSpPr>
        <p:spPr>
          <a:xfrm>
            <a:off x="6233008" y="1280160"/>
            <a:ext cx="5410048" cy="3840480"/>
          </a:xfrm>
          <a:prstGeom prst="roundRect">
            <a:avLst>
              <a:gd name="adj" fmla="val 1905"/>
            </a:avLst>
          </a:prstGeom>
          <a:solidFill>
            <a:srgbClr val="E8EEF6"/>
          </a:solidFill>
          <a:ln w="12700">
            <a:solidFill>
              <a:srgbClr val="E8EEF6"/>
            </a:solidFill>
            <a:prstDash val="solid"/>
          </a:ln>
        </p:spPr>
      </p:sp>
      <p:sp>
        <p:nvSpPr>
          <p:cNvPr id="9" name="Text 6"/>
          <p:cNvSpPr txBox="1"/>
          <p:nvPr/>
        </p:nvSpPr>
        <p:spPr>
          <a:xfrm>
            <a:off x="6415888" y="1389888"/>
            <a:ext cx="5044288" cy="3621024"/>
          </a:xfrm>
          <a:prstGeom prst="rect">
            <a:avLst/>
          </a:prstGeom>
          <a:noFill/>
          <a:ln/>
        </p:spPr>
        <p:txBody>
          <a:bodyPr wrap="square" lIns="0" tIns="0" rIns="0" bIns="0" rtlCol="0" anchor="t"/>
          <a:lstStyle/>
          <a:p>
            <a:pPr algn="l" indent="0" marL="0">
              <a:spcAft>
                <a:spcPts val="600"/>
              </a:spcAft>
              <a:buNone/>
            </a:pPr>
            <a:r>
              <a:rPr lang="en-US" sz="2000" b="1" dirty="0">
                <a:solidFill>
                  <a:srgbClr val="2E6DB4"/>
                </a:solidFill>
                <a:latin typeface="Calibri" pitchFamily="34" charset="0"/>
                <a:ea typeface="Calibri" pitchFamily="34" charset="-122"/>
                <a:cs typeface="Calibri" pitchFamily="34" charset="-120"/>
              </a:rPr>
              <a:t>Hafta 15: Uçtan uca QML projesi</a:t>
            </a:r>
            <a:endParaRPr lang="en-US" sz="20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Veri → kodlama → model → değerlendirme hattı</a:t>
            </a:r>
            <a:endParaRPr lang="en-US" sz="20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Klasik vs kuantum </a:t>
            </a:r>
            <a:r>
              <a:rPr lang="en-US" sz="1800" b="1" dirty="0">
                <a:solidFill>
                  <a:srgbClr val="1F2937"/>
                </a:solidFill>
                <a:latin typeface="Calibri" pitchFamily="34" charset="0"/>
                <a:ea typeface="Calibri" pitchFamily="34" charset="-122"/>
                <a:cs typeface="Calibri" pitchFamily="34" charset="-120"/>
              </a:rPr>
              <a:t>adil benchmark</a:t>
            </a:r>
            <a:endParaRPr lang="en-US" sz="20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"Kuantum avantajı gerçekte var mı?"</a:t>
            </a:r>
            <a:endParaRPr lang="en-US" sz="2000" dirty="0"/>
          </a:p>
          <a:p>
            <a:pPr algn="l" indent="0" marL="0">
              <a:spcAft>
                <a:spcPts val="500"/>
              </a:spcAft>
              <a:buNone/>
            </a:pPr>
            <a:r>
              <a:rPr lang="en-US" sz="1800" dirty="0">
                <a:solidFill>
                  <a:srgbClr val="1F2937"/>
                </a:solidFill>
                <a:latin typeface="Calibri" pitchFamily="34" charset="0"/>
                <a:ea typeface="Calibri" pitchFamily="34" charset="-122"/>
                <a:cs typeface="Calibri" pitchFamily="34" charset="-120"/>
              </a:rPr>
              <a:t>Dönem projesi önerileri</a:t>
            </a:r>
            <a:endParaRPr lang="en-US" sz="2000" dirty="0"/>
          </a:p>
        </p:txBody>
      </p:sp>
      <p:sp>
        <p:nvSpPr>
          <p:cNvPr id="10" name="Text 7"/>
          <p:cNvSpPr txBox="1"/>
          <p:nvPr/>
        </p:nvSpPr>
        <p:spPr>
          <a:xfrm>
            <a:off x="548640" y="5394960"/>
            <a:ext cx="11094415" cy="457200"/>
          </a:xfrm>
          <a:prstGeom prst="rect">
            <a:avLst/>
          </a:prstGeom>
          <a:noFill/>
          <a:ln/>
        </p:spPr>
        <p:txBody>
          <a:bodyPr wrap="square" lIns="0" tIns="0" rIns="0" bIns="0" rtlCol="0" anchor="t"/>
          <a:lstStyle/>
          <a:p>
            <a:pPr algn="l" indent="0" marL="0">
              <a:spcAft>
                <a:spcPts val="600"/>
              </a:spcAft>
              <a:buNone/>
            </a:pPr>
            <a:r>
              <a:rPr lang="en-US" sz="1600" dirty="0">
                <a:solidFill>
                  <a:srgbClr val="1F3A5F"/>
                </a:solidFill>
                <a:latin typeface="Calibri" pitchFamily="34" charset="0"/>
                <a:ea typeface="Calibri" pitchFamily="34" charset="-122"/>
                <a:cs typeface="Calibri" pitchFamily="34" charset="-120"/>
              </a:rPr>
              <a:t>Hazırlık: bu haftanın karşılaştırma tablosunu (doğruluk, parametre, süre) yanınızda getirin.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2026-09-23T15:56:46Z</dcterms:created>
  <dcterms:modified xsi:type="dcterms:W3CDTF">2026-09-23T15:56:46Z</dcterms:modified>
</cp:coreProperties>
</file>