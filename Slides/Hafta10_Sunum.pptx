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2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QPE, φ = 1/3, t = 3: ölçüm olasılıkları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Olasılık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0.016</c:v>
                </c:pt>
                <c:pt idx="1">
                  <c:v>0.032</c:v>
                </c:pt>
                <c:pt idx="2">
                  <c:v>0.175</c:v>
                </c:pt>
                <c:pt idx="3">
                  <c:v>0.688</c:v>
                </c:pt>
                <c:pt idx="4">
                  <c:v>0.047</c:v>
                </c:pt>
                <c:pt idx="5">
                  <c:v>0.019</c:v>
                </c:pt>
                <c:pt idx="6">
                  <c:v>0.013</c:v>
                </c:pt>
                <c:pt idx="7">
                  <c:v>0.012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Ölçülen y (2048 shot, sadece dolu değerler)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64</c:v>
                  </c:pt>
                  <c:pt idx="2">
                    <c:v>128</c:v>
                  </c:pt>
                  <c:pt idx="3">
                    <c:v>192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503</c:v>
                </c:pt>
                <c:pt idx="1">
                  <c:v>534</c:v>
                </c:pt>
                <c:pt idx="2">
                  <c:v>507</c:v>
                </c:pt>
                <c:pt idx="3">
                  <c:v>504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dersin en algoritmik haftası. Üç sezgiyle anlatın: FFT (sinyal işlemeden bildikleri), saat ibreleri (her kübitin ekvatordaki açısı) ve periyot bulma (döngüye giren bir dizinin döngü uzunluğu). Fizik yok; tüm yeni kapılar tanıdık: H, faz, kontrollü faz, SWAP ve bir permütasyon matrisi. Haftanın sonunda öğrenciler 15'i simülatörde Shor ile çarpanlarına ayırmış olacak.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saatte QFT ve QPE'nin fikrini, ikinci saatte çözümlü örneklerle QPE ve Shor'u, üçüncü saatte lab'ı yapıyoruz. En çok zorlanılan yer çarpan gösterimi (saat ibreleri); oraya zaman ayırın, geri kalan her şey onun üstüne kurulu.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kısaca okuyun. Son hedef (kriptografi) için 'temkinli ifade' vurgusu yapın: tarih ve kübit sayısı vermiyoruz.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Kütüphane benzetmesi: Shor, QPE'yi çağırır; QPE, QFT'yi alt rutin olarak kullanır. Aşağıdaki akışta sadece 3. adımın kuantum olduğunu vurgulayın; gerisi sıradan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 FFT'yi büyük ihtimalle sinyal işleme ya da algoritmalar dersinden biliyor. Kısa tutun; asıl mesaj: periyodik dizinin tepeleri N/r'nin katlarında.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Formülü gösterin ama üzerinde durmayın: her X_k, dizinin k devirlik bir saat ibresiyle ne kadar örtüştüğünü ölçer. Kullanım alanlarını yazılımcı örnekleriyle ilişkilendirin. Naif DFT N², FFT N log N; bunu QFT ile karşılaştıracağız.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Shor'un özünü taşıyor. Periyot r ise tepeler N/r'nin katlarında çıkar; aralıktan r'yi okuruz. Sebep: diğer k'larda faz çarpanları çemberde eşit dağılıp birbirini götürür (saatin 12 konumunun vektör toplamı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2 dakika verin. (−i)^(2k) = (−1)^k adımını tahtada gösterin. Ders notunda Örnek 2 aynı fikri N = 16 ile genelliyor.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QFT'yi 'np.fft'nin kuantum kardeşi' olarak tanıtın; iki farkı (işaret ve ölçek) ve en önemlisi okunamama sorununu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Matris görselindeki her ok bir birim karmaşık sayı. Satır j'de ok her sütunda j/8 tur dönüyor: her satır farklı hızda dönen bir saat. Tablonun son satırı kritik: sonucu sadece ölçümle, tek bir k olarak görebiliyoruz.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 yazarken en sık hata QFT sonucunu np.fft.fft ile karşılaştırmak. Doğrusu ifft'in √N katı ya da norm='ortho'. Lab Bölüm B'de dört satırla gösteriliyor. Kaynaklarda işaret konvansiyonu farklı olabilir; Qiskit + işaret kullanır.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Bazal vektörle çarpmak matrisin ilgili sütununu seçer. QFT|2⟩'nin |+⟩⊗|−⟩ olduğunu 2. hafta kron kuralıyla gösterin; bu gözlem çarpan gösterimine köprü. Ders notunda Örnek 3: QFT n=1 =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önemli slayt. QFT|x⟩ dolanık değil; her kübit ekvatorda ayrı bir açıda. q0 en yavaş (x başına 1/8 tur), en yüksek kübit en hızlı (yarım tur). Mekanik sayaç ya da saat-dakika-saniye ibresi benzetmesi. Sol şekilde satırları yukarıdan aşağı takip ettirin.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Bölüm C'de aynı sonucu QFTGate ve plot_bloch ile görecekler. Turuncu noktalı yol |+⟩'dan itibaren dönüşü gösteriyor.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Tarif: her kübite H (yarım tur hassasiyeti), daha düşük kübitlerden CP(π/2^m) ile ince ayar, sonda SWAP ile sırayı düzelt. CP simetrik; CZ = CP(π). n=4 devresinde π/8'e kadar açıları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bir de |01⟩ girdisini izletin: bu kez CP etkili olur ve q1'e 90° ekler.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 2.x'te QFTGate kullanılır. Eski QFT sınıfı 2.1'den beri deprecation uyarısı veriyor, 3.0'da kalkacak. Sandbox'ta Qiskit 2.5 ile doğrulandı. Lab'da elle kurulan devre ile QFTGate'in Operator.equiv ile eşitliği test ediliyor.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etkileyici görünüyor ama dürüst olun: 2^n genliği ölçemeyiz, girdiyi yüklemek de pahalı. QFT'nin gücü, tek bir tepeyi ölçmek istediğimizde ortaya çıkar: periyot bulma ve faz kestirimi. Yaklaşık QFT (küçük açıları atmak) O(n log n) kapıya 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QPE'yi 'U'nun özvektörüne eklediği fazı dijital sayaçla okumak' olarak anlatın. Kickback 8. haftadaki oracle'lardan tanıdık.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U, özvektörünü değiştirmez; sadece bir faz etiketi yapıştırır. Üniterde özdeğer hep birim çemberde, yani bir açı. 2. haftadaki ⟨Z⟩ bağlantısı: |0⟩ ve |1⟩, Z'nin özvektörleriydi. Tabloda T satırını işaretleyin: bir sonraki örneklerde kullanacağız.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Onlu tabandaki 1/3 = 0.333… ile benzetme yapın. 1/3 için 'ikiyle çarp, tam kısmı al' algoritmasını tahtada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haftadaki oracle hilesi. Hedef özvektörse değişmez; faz kontrol kübitine taşınır ve kontrol kübiti φ tur açısında bir saat ibresine döner. Hedefin değişmemesi, aynı hedefi tekrar tekrar kullanabilmemizi sağlıyor.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Anahtar gözlem: kickback sonrası kübit k'nın ibresi 2^k·φ tur. Bu, QFT|y⟩'nin tam ibre deseni (y = 2^t·φ)! Bu yüzden QFT† uygulayıp ölçünce φ'nin ikili açılımını okuyoruz.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 kapıları için U^(2^k) = P(2^k·λ); tek bir CP ile yapılabiliyor. Genel U için bu her zaman mümkün değil; Shor'da modüler üs sayesinde mümkün olacak. T için hep 001, S için hep 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Önce QPE'nin iki uç durumu (kesin ve dağılımlı), sonra Shor'un klasik ve kuantum kısmı.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Saat ibreleri tablosuna geri dönün; x = 1 satırıyla birebir aynı. Faz tam ikili kesir olduğunda QPE deterministiktir.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Bölüm D'de aynı üç küreyi plot_bloch ile çizecekler. Bu üçlünün QFT|001⟩ ile aynı olduğunu, saat ibreleri slaytındaki x=1 satırıyla karşılaştırarak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 tam ikili kesir değilse ibre deseni hiçbir QFT|y⟩'ye tam uymaz; olasılık φ'ye en yakın değerlerde toplanır. Tepe 011 = 3/8 ≈ 0.69, komşu 010 = 2/8 ≈ 0.17. Grafik native; değerler analitik formülden.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qpe_probs fonksiyonunu lab'da çalıştırıp doğrulayacaklar. Neden 'en sık değer' kullanıyoruz sorusunu tartıştırın.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ek kübit çözünürlüğü ikiye katlar ama bir kontrollü-U^(2^t) daha ekler. φ = 1/3 için en olası sonucun olasılığı ≈ 0.68'de sabitleniyor, hata ise yarıya iniyor. Nielsen-Chuang formülü: n bit doğruluk ve 1−ε başarı için t = n + ⌈log2(2 + 1/2ε)⌉.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Shor'u iki parçada anlatın: klasik indirgeme (tamamen Python) ve kuantum periyot bulma (QPE). Sonra ölçümden r'yi sürekli kesirlerle çıkarma.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Adımları sırayla okuyun. 'Neden işe yarıyor' kartındaki sezgi: mod N'de 1'in ±1 dışında karekökleri vardır ve bunlar çarpan yapısını ele verir. mod 15'te 4² = 16 ≡ 1 ama 4 ≠ ±1.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Bölüm E bu tabloyu üretiyor. 14 = −1 mod 15 olduğu için başarısız: a^(r/2) ≡ −1 durumunun örneği. gcd(a, 15) &gt; 1 olan a'lar kuantum gerektirmeden çarpanı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Kuantum kısımda bu r'yi QPE ile bulacağız; bu örnekte klasik kaba kuvvetle bulduk.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başarısızlık türünü (r tek ve a^(r/2) ≡ −1) bu örnekte birlikte gösterin. Lab Alıştırma 6 bu iki durumu assert ile test ediyor.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Square-and-multiply yazılımcıların bildiği bir algoritma. pow(a, x, N) bunu yapar. ×1 kapıları birim matris: r = 4'ün işareti.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Kuantum kısım y verir, y/2^t ≈ s/r. Paydası N'den küçük en yakın kesri arıyoruz; Python'da tek satır: Fraction.limit_denominator(N). Payda r adayı; a^r ≡ 1 ile doğrulanır. Şekildeki örnek bir yanlış aday: 2/3 → 7³ ≠ 1 → reddet.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Alıştırma 7'deki period_from_measurement fonksiyonu tam olarak bu kat deneme mantığını kuruyor.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gcd(a, N) = 1 olduğundan a ile çarpma 0..N-1'i karıştırır ama kaybetmez: permütasyon, dolayısıyla üniter (CNOT, SWAP gibi). |1⟩'den döngü 1→7→4→13→1: döngü uzunluğu = periyot. Periyot bulmak = döngü uzunluğunu bulmak.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Döngü elemanlarını farklı ritimlerde fazlarla toplayınca U_a'nın özvektörleri çıkar ve özdeğer fazları s/r. Bu özvektörlerin eşit toplamı |1⟩ olduğundan özvektörü bilmemize gerek yok: hedefi |1⟩ ile başlatırız, QPE rastgele bir s için s/r'yi ölçer.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sayım kübiti (q0–q7), 4 hedef kübit (q8–q11). q8'e X ile hedef |0001⟩ = |1⟩. Her sayım kübiti ×(7^(2^k) mod 15) kapısını kontrol ediyor; UnitaryGate(...).control(1). Sonra QFT† ve ölçüm. Simülatörde 1 sn'den kısa sürüyor.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2048 shot, seed 2026. Dört tepe y = 0, 64, 128, 192, her biri ≈ %25: y/256 = s/4. Bölüm 2'deki periyodik spektrumun kuantum karşılığı. Tepe aralığı 256/r = 64.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Alıştırma 8 (shor_15) tam olarak bu döngüyü yazıyor: en sık ölçümden başla, r'yi bul, çarpanları dene.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 başarısız durumların hepsini özetliyor. Sağdaki kart önemli: modüler çarpmayı hazır matris olarak verdik; gerçek uygulamada bu aritmetik devrelerden kurulur ve kapıların büyük kısmını oluşturur. Erken deneysel N=15 gösterimleri de cevabı bilerek sadeleştirilmiş devreler kullandı.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bölümde abartıdan kaçının. Kesin tarih ve kübit sayısı vermiyoruz; 'büyük ve hata düzeltmeli kuantum bilgisayar' ifadesini kullanıyoruz.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RSA'nın güvenliği tamamen N'yi çarpanlarına ayırmanın zorluğuna dayanıyor. Aynı fikir ayrık logaritmaya da uygulanır: ECDH/ECDSA da etkilenir. AES ve SHA ise Shor'dan etkilenmez.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 tahminleri yıllar içinde düştü (2019: ~20 milyon fiziksel kübit; 2025 Gidney: 1 milyonun altında gürültülü kübit, yaklaşık bir hafta). Ama bugünkü cihazlar bu ölçeğin çok gerisinde. Asıl risk: bugün kaydedilen trafik ileride çözülebilir; uzun ömürlü sırlar için geçiş aciliyeti yüksek.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Ağustos 2024'te üç FIPS yayımlandı. Klasik bilgisayarda çalışırlar; güvenlikleri kafes problemlerine ve özet fonksiyonlarına dayanır. Mart 2025'te HQC yedek KEM olarak seçildi. NIST IR 8547 taslağı RSA/ECC'nin 2030'larda aşamalı kaldırılmasını öngörüyor. Yazılımcı için: envanter, kripto çevikliği, hibrit TLS (X25519 + ML-KEM).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Bölüm C ve F'yi birlikte yapın; D ve E'yi öğrenciler kendi çalıştırsın. Çözümlü notebook CPU'da yaklaşık 25 sn'de çalışıyor.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alıştırmalar assert ile otomatik kontrol ediliyor. Alıştırma 8 uçtan uca Shor: diğer alıştırmaların fonksiyonlarını birleştiriyor, bu yüzden sırayla yapılmalı.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edin; zinciri (QFT → QPE → Shor) tahtada bir kez daha çizin.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varyasyonel algoritmalar: bugünkü algoritmalar büyük ve hatasız makine isterken, varyasyonel yöntemler bugünün küçük ve gürültülü cihazları için tasarlandı. Bu karşıtlığı köprü olarak kullanın.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Kuantum Fourier Dönüşümü, Faz Kestirimi ve Shor Algoritması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FFT → QFT → faz kestirimi (QPE) → periyot bulma → çarpanlara ayırma → RSA ve kuantum sonrası şifreleme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420624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hatırlatma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 = durum vektörüne DFT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ibreleri, QFT devresi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kestirimi fikri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420624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QPE: T kapısı, φ = 1/3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klasik: N = 15, 21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kesirler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kuantum + RSA/PQC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420624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QFT'yi elle kur, np.fft ile karşılaştır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QPE (T, S, keyfi faz)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N = 15 uçtan uca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alıştırma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np.fft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spektrum hesaplayıp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periyodik dizinin tepelerinden periyodu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okumak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QFT'yi durum vektörüne DFT olarak tanımlamak: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QFT(a) = √N · np.fft.ifft(a)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QFT|x⟩'te her kübitin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ibresi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açısını hesaplamak; devreyi H + CP + SWAP ile kurmak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kestirimi (QPE)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devresini kurup T, S ve φ = 1/3 için sonucu yorumlamak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Shor'un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çarpanlara ayırma → periyot bulma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indirgemesini N = 15 ve N = 21'de uygulamak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kesirlerle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ölçümden periyodu çıkarmak (</a:t>
            </a:r>
            <a:r>
              <a:rPr lang="en-US" sz="2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Fraction.limit_denominator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RSA'ya etkisini ve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203/204/205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standartlarını doğru ifadelerle tartışmak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resim: üç halkalı bir zincir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1553218"/>
                <a:gridCol w="4881543"/>
                <a:gridCol w="465965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Girdi → Çıktı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Benzetme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 vektörü → Fourier dönüşümü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np.fft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(ama sonuç okunamaz)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ve özvektörü → fazın t biti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ibresini dijital sayaca çevirmek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→ çarpanları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periyot bulan alt rutin + klasik son işlem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068" y="2971800"/>
            <a:ext cx="76555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Klasik DFT ve FFT hatırlatma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Frekans analizi ve periyodik dizinin spektrumu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DFT: diziyi frekans bileşenlerine ayırmak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305" y="1097280"/>
            <a:ext cx="9279085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31920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3931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X_k = Σₓ a_x · e^(−2πi·xk/N)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31920"/>
          <a:ext cx="5333695" cy="914400"/>
        </p:xfrm>
        <a:graphic>
          <a:graphicData uri="http://schemas.openxmlformats.org/drawingml/2006/table">
            <a:tbl>
              <a:tblPr/>
              <a:tblGrid>
                <a:gridCol w="1600109"/>
                <a:gridCol w="1866793"/>
                <a:gridCol w="1866793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Naif DFT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 = 4ⁿ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 @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log N = n·2ⁿ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np.fft.fft(a)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ses işleme, JPEG, büyük sayı çarpımı, zaman serisinde döngü tespiti, hızlı evrişim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kilit gözlemi: periyodik dizinin tepeleri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1456"/>
            <a:ext cx="11094415" cy="33263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54880"/>
            <a:ext cx="5410048" cy="1143000"/>
          </a:xfrm>
          <a:prstGeom prst="roundRect">
            <a:avLst>
              <a:gd name="adj" fmla="val 64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864608"/>
            <a:ext cx="504428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Periyot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tepeler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N/r'nin katlarında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Burada N = 16, r = 4 → tepeler 0, 4, 8, 12.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33008" y="4754880"/>
            <a:ext cx="5410048" cy="1143000"/>
          </a:xfrm>
          <a:prstGeom prst="roundRect">
            <a:avLst>
              <a:gd name="adj" fmla="val 64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864608"/>
            <a:ext cx="504428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Shor'da: a^x mod N'nin periyodu genliklere kodlanır, QFT sonrası ölçüm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bir tepe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DFT'yi elle hesaplamak (N = 4)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[1, 0, 1, 0] dizisinin np.fft.fft tanımıyla DFT'si? Periyot açısından yorumlayın.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 = 4: e^(−2πi·xk/4) = (−i)^(xk) → faz çarpanları 1, −i, −1, i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Sadece x = 0 ve x = 2 terimleri var: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X_k = 1 + (−1)^k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[2, 0, 2, 0]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Periyot r = 2 → tepeler N/r = 2'nin katlarında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= [2, 0, 2, 0]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np.fft.fft([1, 0, 1, 0])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[2.+0.j, 0.+0.j,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2.+0.j, 0.+0.j]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periyot 4, N = 16: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[x % 4 ==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for x in range(16)]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np.abs(np.fft.fft(f))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 at k = 0, 4, 8, 12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Kuantum Fourier dönüşümü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Durum vektörüne DFT, saat ibreleri ve devre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QFT: 2ⁿ genlikli durum vektörüne DFT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954" y="1097280"/>
            <a:ext cx="4461691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0" y="1188720"/>
            <a:ext cx="597377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69280" y="1188720"/>
            <a:ext cx="5973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QFT|x⟩ = (1/√N) Σₖ e^(+2πi·xk/N) |k⟩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331720"/>
          <a:ext cx="5973775" cy="914400"/>
        </p:xfrm>
        <a:graphic>
          <a:graphicData uri="http://schemas.openxmlformats.org/drawingml/2006/table">
            <a:tbl>
              <a:tblPr/>
              <a:tblGrid>
                <a:gridCol w="1314231"/>
                <a:gridCol w="2329772"/>
                <a:gridCol w="23297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DFT (np.fft.fft)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İşaret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e^(−2πi…)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e^(+2πi…)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1/√N (üniter)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Maliyet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O(n·2ⁿ) işlem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kapı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değer bellekte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ölçüm: tek bir 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669280" y="4846320"/>
            <a:ext cx="5973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 için QFT = H: Hadamard 2 noktalı Fourier dönüşümüdür.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np.fft ile konvansiyon farkı: en sık hata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182" y="1097280"/>
            <a:ext cx="8023332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657600"/>
            <a:ext cx="11094415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749040"/>
            <a:ext cx="108200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 = qft_matrix(3)         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(j,k) = ω^(jk)/√8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np.allclose(F8 @ a, np.sqrt(8) * np.fft.ifft(a))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np.allclose(F8 @ a, np.fft.ifft(a, norm="ortho"))    #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np.allclose(F8 @ a, np.fft.fft(a))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  &lt;- yaygın hata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np.allclose(Operator(QFTGate(3)).data, F8)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 (Qiskit aynı)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QFT n = 2 elle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için QFT matrisi, QFT|1⟩ ve QFT|2⟩? np.fft ile doğrulayın.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ω = e^(2πi/4) = i, eleman (j, k) = i^(jk)/2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QFT|1⟩ = (1/2)[1, i, −1, −i]   → fazlar 0, ¼, ½, ¾ tur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QFT|2⟩ = (1/2)[1, −1, 1, −1]  = |+⟩ ⊗ |−⟩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Tüm |genlik|² = 1/4: bilgi tamamen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fazlarda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QFT|2⟩ bir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çarpım durumu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sonraki slaytın fikri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QFT|1⟩ = [1, i, −1, −i]/2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np.fft.ifft([0,1,0,0],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norm="ortho")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[0.5, 0.5j,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-0.5, -0.5j]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np.fft.ifft([0,0,1,0],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norm="ortho")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[0.5, -0.5, 0.5, -0.5]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Çarpan gösterimi: her kübit bir saat ibresi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315" y="1051560"/>
            <a:ext cx="1909849" cy="4937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66160" y="1188720"/>
            <a:ext cx="807689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566160" y="1188720"/>
            <a:ext cx="8076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QFT|x⟩ = ⊗ⱼ (|0⟩ + e^(2πi·x·2ʲ/N)|1⟩)/√2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2331720"/>
          <a:ext cx="8076895" cy="914400"/>
        </p:xfrm>
        <a:graphic>
          <a:graphicData uri="http://schemas.openxmlformats.org/drawingml/2006/table">
            <a:tbl>
              <a:tblPr/>
              <a:tblGrid>
                <a:gridCol w="1049996"/>
                <a:gridCol w="2342300"/>
                <a:gridCol w="2342300"/>
                <a:gridCol w="23423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q₂ (½ tur/adım)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q₁ (¼ tur/adım)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 (⅛ tur/adım)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3566160" y="4892040"/>
            <a:ext cx="8076895" cy="1005840"/>
          </a:xfrm>
          <a:prstGeom prst="roundRect">
            <a:avLst>
              <a:gd name="adj" fmla="val 727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3749040" y="5001768"/>
            <a:ext cx="77111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İbre açılarını bilirsek x'i geri kurarız →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QFT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bunu yapar. QPE'nin tüm fikri bu.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QFT|5⟩ ibre açıları (n = 3)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QFT|101⟩'de her kübitin Bloch ekvatorundaki açısı?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θⱼ = 360° · 5 · 2ʲ / 8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q₀ = 225°     q₁ = 450° ≡ 90°     q₂ = 900° ≡ 180°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Kontrol: k = 3 = 011 genliğinin fazı = 90° + 225° = 315° = 0.875 tur ✓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Hepsi ekvatorda → ölçüm %50/%50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q₀ = 225°, q₁ = 90°, q₂ = 180°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801409"/>
            <a:ext cx="4327855" cy="16092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 devresi: H + kontrollü faz + SWAP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6527"/>
            <a:ext cx="3657600" cy="1450306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364" y="1097280"/>
            <a:ext cx="5826887" cy="1828800"/>
          </a:xfrm>
          <a:prstGeom prst="rect">
            <a:avLst/>
          </a:prstGeom>
        </p:spPr>
      </p:pic>
      <p:pic>
        <p:nvPicPr>
          <p:cNvPr id="8" name="Image 2" descr="gör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1165"/>
            <a:ext cx="6949440" cy="1750229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7680960" y="3108960"/>
            <a:ext cx="3962095" cy="28346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7818120" y="3200400"/>
            <a:ext cx="368777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qft_circuit(n):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reversed(range(n)):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qc.h(j)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 in reversed(range(j)):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qc.cp(np.pi/2**(j-k), k, j)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 // 2):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qc.swap(i, n-1-i)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n = 2 devresini izlemek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 devresine |10⟩ = |2⟩ girdisi (q₁ = 1, q₀ = 0). Sonuç Örnek 4 ile aynı mı?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q₁'e H → |−⟩ (180°)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CP(π/2), kontrol q₀ = 0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etkisiz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q₀'a H → |+⟩ (0°)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SWAP → q₁ = |+⟩, q₀ = |−⟩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|+⟩ ⊗ |−⟩ = [1, −1, 1, −1]/2 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QFT|2⟩ = [1, −1, 1, −1]/2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784261"/>
            <a:ext cx="4144975" cy="16435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2.x: QFTGate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3772101"/>
                <a:gridCol w="532531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QFTGate(n)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qc.append(QFTGate(n), qubits)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 QFT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QFTGate(n).inverse()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QPE ve Shor'da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 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synth_qft_full(n)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qiskit.synthesis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Eski 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QFT(n)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kullanmayın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(kaldırılıyor)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749040"/>
            <a:ext cx="11094415" cy="21031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840480"/>
            <a:ext cx="108200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qiskit.circuit.library import QFTGate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qc.x([0, 2])        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|101⟩ = |5⟩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qc.append(QFTGate(3), [0, 1, 2])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Statevector(qc).data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QFT|5⟩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Operator(qft_circuit(4)).equiv(Operator(QFTGate(4)))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 sayısı O(n²) … ama sonucu okuyamayız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59" y="1097280"/>
            <a:ext cx="5991563" cy="329184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234440"/>
          <a:ext cx="4419295" cy="914400"/>
        </p:xfrm>
        <a:graphic>
          <a:graphicData uri="http://schemas.openxmlformats.org/drawingml/2006/table">
            <a:tbl>
              <a:tblPr/>
              <a:tblGrid>
                <a:gridCol w="1104824"/>
                <a:gridCol w="1546753"/>
                <a:gridCol w="176771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QFT kapı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işlem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2 048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10⁶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10¹¹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223760" y="3200400"/>
            <a:ext cx="4419295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406640" y="3310128"/>
            <a:ext cx="405353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n(n+1)/2 CP+H  +  ⌊n/2⌋ SWAP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48640" y="4572000"/>
            <a:ext cx="11094415" cy="1325880"/>
          </a:xfrm>
          <a:prstGeom prst="roundRect">
            <a:avLst>
              <a:gd name="adj" fmla="val 551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4681728"/>
            <a:ext cx="1072865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QFT tek başına "hızlı FFT" değildir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2ⁿ genlik ama ölçüm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k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verir; girdiyi yüklemek de pahalıdır. Güç,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tepe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aradığımızda ortaya çıkar.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Faz kestirimi (QPE)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Gizli açıyı bitlerle okumak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Özvektör ve özdeğer: sade tanım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|u⟩ = e^(2πiφ) |u⟩        0 ≤ φ &lt; 1 (tur)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7315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609344"/>
                <a:gridCol w="1316736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Özvektör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Özdeğer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 (tur)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 ikili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e^(iπ/4)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P(λ)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e^(iλ)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λ/2π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 zaman sonsuz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138160" y="2377440"/>
            <a:ext cx="3504895" cy="3474720"/>
          </a:xfrm>
          <a:prstGeom prst="roundRect">
            <a:avLst>
              <a:gd name="adj" fmla="val 210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321040" y="2487168"/>
            <a:ext cx="3139135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bir fonksiyon, |u⟩ onun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noktası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gibi: çıktı aynı vektör, sadece bir faz etiketi.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hafta: ⟨Z⟩ hesabında |0⟩, |1⟩ Z'nin özvektörleriydi (özdeğer ±1).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İkili kesirler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0.625, 1/8 ve 1/3'ü ikili yazın. t = 3 QPE hangi y'yi ölçer?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0.b₁b₂b₃… = b₁/2 + b₂/4 + b₃/8 + …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0.625 = 1/2 + 1/8 = 0.101₂  → y = 101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1/8 = 0.001₂  → y = 001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= 0.010101…₂  (sonsuz!)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Payda 2'nin kuvveti değilse tam yazılamaz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dağılımı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101, 001; 1/3 tam yazılamaz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geri tepmesi (phase kickback)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788" y="1097280"/>
            <a:ext cx="9636119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389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 · |+⟩|u⟩ = (|0⟩ + e^(2πiφ)|1⟩)/√2 ⊗ |u⟩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kolunda U uygulanmaz; |1⟩ kolunda sadece e^(2πiφ) çarpanı gelir → kontrol kübiti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turluk ibre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olur.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QPE: kübit k, U'yu 2ᵏ kez kontrol eder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529" y="1097280"/>
            <a:ext cx="7908636" cy="2286000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775" y="3520440"/>
            <a:ext cx="3160131" cy="24231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309360" y="3520440"/>
            <a:ext cx="5333695" cy="2423160"/>
          </a:xfrm>
          <a:prstGeom prst="roundRect">
            <a:avLst>
              <a:gd name="adj" fmla="val 30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492240" y="3630168"/>
            <a:ext cx="4967935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çalışıyor?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 k'nın ibresi: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2ᵏ · φ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= QFT|y⟩'nin deseni, y = 2ᵗ · φ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QFT† → |y⟩ →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≈ y / 2ᵗ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QPE kodu (Qiskit 2.x)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38404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qpe_circuit(lam, t):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"""P(lam) kapısının |1⟩ özvektörü için QPE. Gerçek faz φ = lam / 2π."""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QuantumCircuit(t + 1, 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qc.x(t)         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hedef = özvektör |1⟩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qc.h(range(t))  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sayım kübitleri ekvatora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range(t):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qc.cp(lam * 2**k, k, t)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kontrollü-U^(2^k)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qc.append(QFTGate(t).inverse(), range(t))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qc.measure(range(t), range(t))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run_counts(qpe_circuit(np.pi/4, 3))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T: {'001': 2048}  -&gt; φ = 1/8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run_counts(qpe_circuit(np.pi/2, 3))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S: {'010': 2048}  -&gt; φ = 1/4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5321808"/>
            <a:ext cx="10728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kapılarında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U^(2^k) = P(2ᵏ·λ)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tek kapı. Genel U'da pahalı; Shor'da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 üs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kurtarır.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Çözümlü örnekler: QPE ve Shor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T kapısı, φ = 1/3, periyot bulma, sürekli kesirler, RSA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T kapısıyla QPE (t = 3)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QFT† öncesi sayım kübitlerinin ibre açıları ve ölçüm sonucu?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T|1⟩ = e^(iπ/4)|1⟩ → φ = 1/8 = 45°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q₀: 45°     q₁ (T² = S): 90°     q₂ (T⁴ = Z): 180°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Tablo: (180°, 90°, 45°) =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QFT|001⟩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satırı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QFT†·QFT|001⟩ = |001⟩ → %100 y = 001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φ̃ = 1/8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seferinde 001 → φ = 1/8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95332"/>
            <a:ext cx="4144975" cy="16042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Kickback'i Bloch küresinde görmek (T kapısı)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665" y="1097280"/>
            <a:ext cx="10328366" cy="3840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0749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184648"/>
            <a:ext cx="107286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kübitleri =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QFT|001⟩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ibreleri → QFT† bunları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|001⟩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 geri çevirir.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temsil edilemeyen faz: φ = 1/3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234440"/>
            <a:ext cx="387065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0" y="1234440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P(y) = |(1/2ᵗ) Σₖ e^(2πi·k(φ − y/2ᵗ))|²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72400" y="2377440"/>
            <a:ext cx="3870655" cy="2606040"/>
          </a:xfrm>
          <a:prstGeom prst="roundRect">
            <a:avLst>
              <a:gd name="adj" fmla="val 280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2487168"/>
            <a:ext cx="3504895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sonuçlar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ikili kesir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Değilse en yakın y: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4/π² ≈ 0.41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(burada 0.69)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komşudan biri: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8/π² ≈ 0.81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6 ile: tepe y = 21 → 21/64 ≈ 0.328, dağılım çok daha dar (ders notu Şekil 6.7).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φ = 1/3, t = 3: en olası sonuç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 y/8 değerlerinden hangisi en olası? Olasılığı? İkincisi?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1/3 ≈ 0.333 → en yakın y/8: 0.375 (y = 3, fark 0.042) ve 0.25 (y = 2, fark 0.083)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P(y), δ = φ − y/8 küçüldükçe artar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P(011) ≈ 0.688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P(010) ≈ 0.175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Kalan ≈ %14 diğer y'lere dağılır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olası 011 → 0.375 (P ≈ 0.69)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8404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qpe_probs(t, phi):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 = 2**t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np.arange(Nn)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np.arange(Nn)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= np.exp(2j*np.pi*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np.outer(phi - y/Nn, k))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abs(E.sum(1)/Nn)**2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qpe_probs(3, 1/3).round(2)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[.02 .03 .17 .69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.05 .02 .01 .01]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 kübiti sayısı ve hassasiyet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9411"/>
            <a:ext cx="6766560" cy="2033257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188720"/>
          <a:ext cx="4144975" cy="914400"/>
        </p:xfrm>
        <a:graphic>
          <a:graphicData uri="http://schemas.openxmlformats.org/drawingml/2006/table">
            <a:tbl>
              <a:tblPr/>
              <a:tblGrid>
                <a:gridCol w="580297"/>
                <a:gridCol w="1077694"/>
                <a:gridCol w="1326392"/>
                <a:gridCol w="1160593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olası φ̃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29768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407408"/>
            <a:ext cx="1072865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kestirimi neden önemli?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alt rutin: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kuantum sayma (Grover'la çözüm sayısı), doğrusal sistemler (HHL). Sınırı: derin ve hatasız kontrollü-U^(2^k) ister → bugünün gürültülü cihazları için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varyasyonel yöntemler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(gelecek hafta).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Shor algoritması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Çarpanlara ayırma → periyot bulma → QPE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İndirgeme: çarpanlara ayırma → periyot bulma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a seç;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gcd(a, N) &gt; 1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ise çarpan bulundu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Değilse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a^r ≡ 1 (mod N)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olan en küçük r'yi bul ←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çift ve a^(r/2) ≢ −1 ise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gcd(a^(r/2) − 1, N)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gcd(a^(r/2) + 1, N)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 çarpanlar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Değilse yeni a (başarı olasılığı ≥ 1/2)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493008"/>
            <a:ext cx="38404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işe yarıyor?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(a^(r/2))² ≡ 1 (mod N)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a^r − 1 = (a^(r/2) − 1)(a^(r/2) + 1) ≡ 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15: 4² ≡ 1 ama 4 ≢ ±1 → gcd(3, 15) = 3, gcd(5, 15) = 5</a:t>
            </a:r>
            <a:endParaRPr lang="en-US" sz="1700" dirty="0"/>
          </a:p>
        </p:txBody>
      </p:sp>
      <p:pic>
        <p:nvPicPr>
          <p:cNvPr id="9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4325" y="3291840"/>
            <a:ext cx="6052164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 için tüm a değerleri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887553"/>
                <a:gridCol w="3106436"/>
                <a:gridCol w="887553"/>
                <a:gridCol w="1775106"/>
                <a:gridCol w="1442274"/>
                <a:gridCol w="1442274"/>
                <a:gridCol w="155321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a^x mod 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a^(r/2)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gcd(−1)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gcd(+1)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1, 2, 4, 8, 1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1, 4, 1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1, 7, 4, 13, 1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1, 8, 4, 2, 1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1, 11, 1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1, 13, 4, 7, 1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1, 14, 1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≡ 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∈ {3, 5, 6, 9, 10, 12}: gcd(a, 15) &gt; 1 → çarpan doğrudan bulunur (kuantum gerekmez).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N = 15, a = 7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Periyodu bulun ve çarpanları hesaplayın.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gcd(7, 15) = 1 → devam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→ 49 ≡ 4 → 28 ≡ 13 → 91 ≡ 1   (mod 15)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 = 4 (çift ✓);  7² mod 15 = 4 ≢ 14 ✓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gcd(3, 15) = 3      gcd(5, 15) = 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 · 5 = 15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= 4 → 15 = 3 × 5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2004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gcd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N = 7, 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[pow(a, x, 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x in range(5)]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7, 4, 13, 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pow(a, 2, N)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gcd(h-1, N), gcd(h+1, 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(3, 5)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11 · N = 21: başarı ve iki başarısızlık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2, 4, 5 dene.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= 2: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 2, 4, 8, 16, 11, 1 → r = 6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2³ = 8 → gcd(7, 21) = 7,  gcd(9, 21) = 3 ✓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= 4: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 4, 16, 1 → r = 3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= 5: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= 6 ama 5³ = 125 ≡ 20 ≡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✗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Tabloda 11 a'dan 7'si başarılı (ders notu Tablo 7.2)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= 2 → 21 = 3 × 7; a = 4, 5 başarısız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12 · Modüler üs: tekrarlı kare alma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15, a = 7: 7^(2ᵏ) mod 15 değerleri ve 7^13 mod 15?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7¹ = 7    7² ≡ 4    7⁴ ≡ 16 ≡ 1    7⁸ ≡ 1 …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Shor devresinde sayım kübiti k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7^(2ᵏ) mod 15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kapısı: ×7, ×4, ×1, ×1, …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13 = 1101₂ = 8 + 4 + 1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7^13 = 7⁸ · 7⁴ · 7¹ ≡ 1 · 1 · 7 = 7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7, 4, 1, 1, …;  7^13 mod 15 = 7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377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[pow(7, 2**k, 15)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k in range(8)]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[7, 4, 1, 1, 1, 1, 1, 1]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pow(7, 13, 15)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kesirler: ölçümden periyoda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878" y="1097280"/>
            <a:ext cx="1005394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160520"/>
            <a:ext cx="11094415" cy="17373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2519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fractions import Fraction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Fraction(64, 256).limit_denominator(15)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1/4  -&gt; r = 4 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Fraction(128, 256).limit_denominator(15)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1/2  -&gt; r = 2 ✗ (7² ≠ 1) -&gt; katı: 4 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Fraction(171, 256).limit_denominator(15)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2/3  -&gt; r = 3 ✗ -&gt; reddet, tekrar ölç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13 · Sürekli kesirle r (N = 21, a = 2, t = 9)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Ölçümler y = 85 ve y = 171. r = 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2ᵗ = 512; gerçek r = 6 → tepeler ≈ 0, 85.3, 170.7, 256, …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85/512 = [0; 6, 42, 2] → 1/6 → r = 6;  2⁶ ≡ 1 ✓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171/512 = [0; 2, 1, 170] → 1/3 → r = 3;  2³ = 8 ≢ 1 ✗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 = 2 ve r = 6 ortak bölenli (2/6 = 1/3)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katları dene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iki ölçüm de r = 6 → 21 = 3 × 7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Fraction(85, 512)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.limit_denominator(21)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1/6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Fraction(171, 512)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.limit_denominator(21)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1/3 -&gt; 3 ✗, 6 ✓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kısım: modüler çarpma bir permütasyon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9590"/>
            <a:ext cx="7498080" cy="365018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21040" y="1280160"/>
            <a:ext cx="33220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321040" y="1280160"/>
            <a:ext cx="3322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U_a|y⟩ = |a·y mod N⟩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8321040" y="2468880"/>
            <a:ext cx="3322015" cy="2743200"/>
          </a:xfrm>
          <a:prstGeom prst="roundRect">
            <a:avLst>
              <a:gd name="adj" fmla="val 2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2578608"/>
            <a:ext cx="2956255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Permütasyon = üniter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satır/sütunda tek 1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≥ N (15) değişmez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uzunluğu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349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kübit (0…15), U₇ = 16 × 16 permütasyon matrisi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Periyot neden bir faz? QPE ile bağlantı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U_a|u_s⟩ = e^(2πi·s/r)|u_s⟩        |1⟩ = (1/√r) Σ_s |u_s⟩</a:t>
            </a:r>
            <a:endParaRPr lang="en-US" sz="2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7766091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QPE kavramı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 karşılığı (N = 15, a = 7)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U₇: |y⟩ → |7y mod 15⟩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başlangıcı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 (özvektörlerin eşit karışımı)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φ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s/4 ∈ {0, ¼, ½, ¾}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Kontrollü-U^(2^k)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×7, ×4, ×1, ×1, … (modüler üs)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(t = 8)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∈ {0, 64, 128, 192}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işlem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 kesir → r = 4 → gcd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devresi: N = 15, a = 7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1441"/>
            <a:ext cx="6309360" cy="413799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40880" y="1097280"/>
            <a:ext cx="4602175" cy="48463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178040" y="1188720"/>
            <a:ext cx="432785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shor_circuit(a, N=15, t=8, n=4):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QuantumCircuit(t + n, 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qc.h(range(t))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qc.x(t) 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hedef = |1⟩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range(t):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mult_mod_gate(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pow(a, 2**k, N))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qc.append(U.control(1),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[k] + list(range(t, t+n)))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qc.append(QFTGate(t).inverse(),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range(t))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qc.measure(range(t), range(t))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dört eşit tepe → r = 4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Image 0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49182"/>
            <a:ext cx="4785055" cy="1873635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3520440"/>
          <a:ext cx="4785055" cy="914400"/>
        </p:xfrm>
        <a:graphic>
          <a:graphicData uri="http://schemas.openxmlformats.org/drawingml/2006/table">
            <a:tbl>
              <a:tblPr/>
              <a:tblGrid>
                <a:gridCol w="1196264"/>
                <a:gridCol w="1435517"/>
                <a:gridCol w="2153275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y/256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adayı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 yok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→ katı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 txBox="1"/>
          <p:nvPr/>
        </p:nvSpPr>
        <p:spPr>
          <a:xfrm>
            <a:off x="548640" y="49834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Tepe aralığı 2ᵗ/r = 256/4 =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Bölüm 2'deki N/r kuralının kuantum karşılığı.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14 · Ölçümlerden r = 4 çıkarımı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tepe için r adayları? Bir ölçümün başarı olasılığı?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0 → 0 → bilgi yok (s = 0)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64 → 1/4 → r = 4 ✓      y = 192 → 3/4 → r = 4 ✓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128 → 1/2 → 2 ✗ → katı 4 ✓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Doğrudan başarı %50; kat deneme ile %75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4 → gcd(7² − 1, 15) = 3, gcd(7² + 1, 15) = 5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 = 3 × 5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Başarısız durumlar ve dürüst bir not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583680" cy="914400"/>
        </p:xfrm>
        <a:graphic>
          <a:graphicData uri="http://schemas.openxmlformats.org/drawingml/2006/table">
            <a:tbl>
              <a:tblPr/>
              <a:tblGrid>
                <a:gridCol w="2370125"/>
                <a:gridCol w="2106778"/>
                <a:gridCol w="210677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Çözüm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gcd(a, N) &gt;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 a = 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çarpan bulundu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 ölç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s, r ortak bölenli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128 → 1/2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katları dene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tek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 a =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a^(r/2) ≡ 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 a = 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a^r ≡ 1 kontrolü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06640" y="1234440"/>
            <a:ext cx="4236415" cy="4663440"/>
          </a:xfrm>
          <a:prstGeom prst="roundRect">
            <a:avLst>
              <a:gd name="adj" fmla="val 172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589520" y="1344168"/>
            <a:ext cx="3870655" cy="444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olalım: bu bir gösterim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 çarpmayı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16×16 matris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UnitaryGate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olarak verdik; bunu kurmak için cevabı zaten biliyoruz.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Shor: modüler çarpma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toplayıcı/çarpıcı devrelerinden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kurulur (6. haftadaki tersinir mantık) → kapıların çoğu buradadır.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algoritmanın mantığını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etmek.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Kriptografiye etkisi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RSA, "şimdi topla sonra çöz" ve kuantum sonrası şifreleme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15 · Oyuncak RSA ve Shor ile kırılması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33, e = 3, m = 4. Şifreli metin? Shor ile gizli anahtar?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4³ mod 33 = 64 mod 33 = 31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Shor: a = 5 → r = 10 → 5⁵ ≡ 23 → gcd(22, 33) = 11, gcd(24, 33) = 3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(p−1)(q−1) = 2 · 10 = 20      3d ≡ 1 (mod 20) → d = 7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31⁷ mod 33 = 4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 = 3, q = 11 → d = 7 → mesaj geri kazanıldı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15544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pow(4, 3, 33)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pow(3, -1, 20)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pow(31, 7, 33)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zaman? Temkinli değerlendirme ve "şimdi topla, sonra çöz"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44168"/>
            <a:ext cx="1072865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kullanacağımız ifade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Shor,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ölçekli ve hata düzeltmeli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kuantum bilgisayarda RSA ve ECC'yi kırabilir. Ne zaman yapılabileceği belirsizdir; kaynak tahminleri düşmektedir; kurumlar geçişi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şimdiden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planlamaktadır.</a:t>
            </a:r>
            <a:endParaRPr lang="en-US" sz="17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3705" y="2834640"/>
            <a:ext cx="8164286" cy="2286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Simetrik şifreleme (AES) ve özet fonksiyonları Shor'dan etkilenmez; Grover karekök hızlanma verir → </a:t>
            </a: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yeterli kabul edilir.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sonrası şifreleme: NIST standartları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1442274"/>
                <a:gridCol w="2440771"/>
                <a:gridCol w="2218883"/>
                <a:gridCol w="1996995"/>
                <a:gridCol w="29954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Dayanak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Yerine geçtiği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FIPS 203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ML-KEM (Kyber)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kapsülleme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Modül kafes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RSA/ECDH anahtar değişimi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FIPS 204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ML-DSA (Dilithium)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Dijital imza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Modül kafes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RSA/ECDSA imza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FIPS 205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SLH-DSA (SPHINCS+)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Dijital imza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Özet fonksiyonları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Yedek imza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18319"/>
            <a:ext cx="7498080" cy="241592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0" y="3108960"/>
            <a:ext cx="3413455" cy="2834640"/>
          </a:xfrm>
          <a:prstGeom prst="roundRect">
            <a:avLst>
              <a:gd name="adj" fmla="val 258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412480" y="3218688"/>
            <a:ext cx="3047695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Yazılımcı için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envanteri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Kripto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çevikliği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TLS: X25519 + ML-KEM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AES-256, SHA-384/512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QFT, QPE ve Shor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Hafta10_Lab.ipynb (Google Colab)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8320811"/>
                <a:gridCol w="166416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plot_bloch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run_counts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np.fft: sinyal, periyodik dizi, naif DFT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QFT matrisi,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√N·ifft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QFTGate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kontrolü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QFT'yi elle kur, kapı sayısı, Bloch'ta QFT|5⟩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QPE: T, S, φ = 1/3, hassasiyet, kickback 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 klasik: periyot tablosu, gcd, sürekli kesir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 kuantum: U₇, devre, histogram, çarpanlar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alıştırma (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assert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Periyot r ⇒ spektrum tepeleri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N/r'nin katlarında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QFT(a) = √N · np.fft.ifft(a)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 = 1'de QFT = H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QFT|x⟩ çarpım durumu: kübit qⱼ ekvatorda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x·2ʲ/N tur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devre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kapı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kübit k → U^(2^k), kickback, QFT† →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≈ y/2ᵗ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tam değilse dağılım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a^x mod N'nin periyodu r →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gcd(a^(r/2) ± 1, N)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Ölçümden r: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kesirler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limit_denominator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başarısızlık: y = 0, r tek, a^(r/2) ≡ −1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RSA/ECC risk altında →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203/204/205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"şimdi topla, sonra çöz"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4206240"/>
          </a:xfrm>
          <a:prstGeom prst="roundRect">
            <a:avLst>
              <a:gd name="adj" fmla="val 173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12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G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Ek: </a:t>
            </a:r>
            <a:r>
              <a:rPr lang="en-US" sz="18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shor_15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 "yeni a ile tekrar" döngüsü ekleyin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+ yazılı cevaplar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4206240"/>
          </a:xfrm>
          <a:prstGeom prst="roundRect">
            <a:avLst>
              <a:gd name="adj" fmla="val 173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11: Varyasyonel algoritmalar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Parametreli devreler ve hibrit döngü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Parameter-shift ile gradyan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fikri: en küçük beklenen değeri aramak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ile MaxCut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gürültülü cihazlara uygun?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2026-09-23T16:01:33Z</dcterms:created>
  <dcterms:modified xsi:type="dcterms:W3CDTF">2026-09-23T16:01:33Z</dcterms:modified>
</cp:coreProperties>
</file>