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2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Sayımlar (1000 shot)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Sayım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00</c:v>
                  </c:pt>
                  <c:pt idx="1">
                    <c:v>01</c:v>
                  </c:pt>
                  <c:pt idx="2">
                    <c:v>10</c:v>
                  </c:pt>
                  <c:pt idx="3">
                    <c:v>11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412</c:v>
                </c:pt>
                <c:pt idx="1">
                  <c:v>95</c:v>
                </c:pt>
                <c:pt idx="2">
                  <c:v>88</c:v>
                </c:pt>
                <c:pt idx="3">
                  <c:v>405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Yaklaşım oranı 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 = 1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kare_4</c:v>
                  </c:pt>
                  <c:pt idx="1">
                    <c:v>halka_5</c:v>
                  </c:pt>
                  <c:pt idx="2">
                    <c:v>rastgele_6</c:v>
                  </c:pt>
                  <c:pt idx="3">
                    <c:v>agirlikli_5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</c:v>
                </c:pt>
                <c:pt idx="1">
                  <c:v>0.938</c:v>
                </c:pt>
                <c:pt idx="2">
                  <c:v>0.704</c:v>
                </c:pt>
                <c:pt idx="3">
                  <c:v>0.805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 = 2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kare_4</c:v>
                  </c:pt>
                  <c:pt idx="1">
                    <c:v>halka_5</c:v>
                  </c:pt>
                  <c:pt idx="2">
                    <c:v>rastgele_6</c:v>
                  </c:pt>
                  <c:pt idx="3">
                    <c:v>agirlikli_5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0.879</c:v>
                </c:pt>
                <c:pt idx="3">
                  <c:v>0.886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 = 3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kare_4</c:v>
                  </c:pt>
                  <c:pt idx="1">
                    <c:v>halka_5</c:v>
                  </c:pt>
                  <c:pt idx="2">
                    <c:v>rastgele_6</c:v>
                  </c:pt>
                  <c:pt idx="3">
                    <c:v>agirlikli_5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0.975</c:v>
                </c:pt>
                <c:pt idx="3">
                  <c:v>0.944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 kuantum devresini eğitilebilir bir fonksiyon olarak kullanıyoruz. Açılışta şu mesajı verin: 'Makine öğrenmesinde model eğitmeyi biliyorsanız, varyasyonel algoritmaları da biliyorsunuz; tek fark modelin bir kuantum devresi olması.' Fizik yok: her yerde 'maliyet operatörü' ya da 'puan fonksiyonu' diyoruz.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saatin akışı. Birinci saat araçlar (ansatz, beklenen değer, türev, optimizer), ikinci saat iki uygulama (VQE fikri ve QAOA-MaxCut), üçüncü saat lab. En çok zaman QAOA'ya ayrılmalı.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Hedefleri tek tek okumayın; sağdaki 'haftanın sonunda yazabileceğiniz kod' kartını vurgulayın. Hedeflerin hepsi lab'daki bir alıştırmayla ölçülüyor.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Varyasyonel algoritmaların ortak iskeleti. Bu bölüm kısa ama haftanın geri kalanını çerçeveliyor.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8-10. haftalardaki algoritmalar sabit ve derin devreler. Bugünkü gürültülü donanımlar (NISQ) derin devreleri güvenilir çalıştıramıyor. Varyasyonel algoritmalar kısa devre + klasik optimizasyon ile bu kısıta uyum sağlıyor. Kuramsal garanti olmadığını da baştan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Döngüyü diyagram üzerinden takip edin: başlangıç θ, kuantumda çalıştır-ölç, sayımlardan maliyet, optimizer yeni θ önerir, yakınsayana kadar tekrar. Alttaki sözde kod haftanın tamamının özeti.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Yazılımcılar için en güçlü benzetme bu. Her satırı klasik ML karşılığıyla eşleyin. Tek gerçek fark: geri yayılım yok, türev devre çalıştırarak hesaplanıyor (parameter-shift). Bu benzetme 12-15. haftaların temeli.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Qiskit'in Parameter mekanizması. Parametre sırası tuzağını mutlaka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Ansatz Almanca 'taslak'. def devre(theta) gibi düşünün. Qiskit'te açılar sembolik; devre bir kez kurulur, her değerlendirmede değer atanır. SQL'deki prepared statement benzetmesi işe yarar.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Ry(θ) |0⟩'ı xz düzleminde döndürür. θ = 0'da kuzey kutbu (⟨Z⟩ = 1), θ = π'de güney kutbu (⟨Z⟩ = −1). ⟨Z⟩ = cos θ ilişkisi haftanın her yerinde kullanılacak.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Çift açı formülü cos²−sin² = cos θ'yı hatırlatın. Sağdaki kodla doğrulayın.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Donanıma verimli ansatz: dönme katmanı, CNOT, dönme katmanı. Daha çok katman = daha fazla ifade gücü ama daha fazla gürültü ve zor eğitim. Parametre sırası uyarısı QAOA'da çok önemli: β, γ'dan önce gelir.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Maliyeti 'her bit dizisine puan veren fonksiyon' olarak anlatın. Fizik yok.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Beklenen değer = olasılıkla ağırlıklı ortalama puan. Z dizileri için kural çok basit: Z olan kübitlerdeki 1'lerin eşliği. Çift → +1, tek → −1. Bu bir XOR.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Grafikteki renkler ZZ puanını gösteriyor. Ardından expval_counts fonksiyonunu lab'da yazacaklarını söyleyin (Alıştırma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haftadaki taban değiştirmeyi hatırlatın. Çok terimli maliyette her taban grubu için ayrı devre çalıştırılır.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haftanın VQE matrisi M. Beklenen değer doğrusal: terim terim ölçülüp ağırlıklarla toplanabilir. SparsePauliOp nesnesi hem matrisi hem de Estimator girdisini sağlıyor.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örnek VQE bölümüne köprü: en küçük değer bir süperpozisyon + dolanıklık gerektiriyor.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Estimator primitive'i PUB listesi alır: (devre, gözlemlenebilir, parametre değerleri). Broadcasting ile tek çağrıda binlerce nokta hesaplanır; ızgara taramasında kullanacağız. Gerçek donanımda aynı arayüz EstimatorV2.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Donanımda beklenen değer tahmin edilir. 10 kat daha iyi doğruluk için 100 kat shot. Varyasyonel algoritmalar maliyeti yüzlerce kez değerlendirdiği için bu maliyet çok önemli. Örnek 5'i burada hızlıca çözün.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Geri yayılım yapamıyoruz; ara durumlara erişim yok. Çözüm parameter-shift.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Dönme kapılarında maliyet a + b cos θ + c sin θ biçiminde. Böyle bir fonksiyonun türevi θ ± π/2 değerlerinden kesin hesaplanır. Grafikte turuncu kesikli doğrunun eğimi ile mavi teğetin eğimi aynı. Yaklaşık değil, kesin!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Gürültüsüz durumda sonlu fark da iyi. Asıl fark bir sonraki slaytta: shot gürültüsü.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Sonlu farkta iki gürültülü sayının farkı küçük h'ye bölünüyor; gürültü büyütülüyor. Parameter-shift uzak iki noktayı 2'ye bölüyor. Grafikte turuncu çizgi (sonlu fark, 1000 shot) h küçüldükçe kötüleşiyor; mavi çizgi sabit ve küçük.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parametreyi ayrı kaydırıyoruz: 2P değerlendirme. Klasik geri yayılımda gradyan maliyeti parametre sayısından neredeyse bağımsız; burada doğrusal. Büyük modellerin önündeki pratik engellerden biri. Örnek 8 lab alıştırma 2'nin aynısı.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Optimizer'ları devre çalıştırma sayısı üzerinden karşılaştırın; kuantumda asıl maliyet 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Grafikte 10 adımın tamamı var. η çok büyük olursa minimumun etrafında salınım olur, bunu tahtada gösterebilirsiniz.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COBYLA: türevsiz, küçük problemlerde en az çalıştırma. SPSA: tüm parametreleri aynı anda rastgele iter, P'den bağımsız 2 değerlendirme; gürültülü donanım için. Adam: ML'deki Adam, gradyanı parameter-shift ile besliyoruz.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saat: aynı döngüyü iki probleme uyguluyoruz. Önce VQE (özdeğer), sonra QAOA (MaxCut).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simetrik M'nin en küçük özdeğeri. Klasik yol eigvalsh ama 2^n boyut. Rayleigh bölümü: her birim vektör için ⟨ψ|M|ψ⟩ ≥ λ_min. Maliyeti minimize edersek yukarıdan yaklaşırız. Fizik anlatmayın: 'en düşük puanlı durum' deyin.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Maliyet manzarası kavramını bu grafikle tanıtın. Tek kübitte manzaranın tamamını çizebiliyoruz; çok parametrede çizemeyiz.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Yatay eksen devre çalıştırma sayısı: optimizer'ları adil karşılaştırmanın yolu. COBYLA 96 değerlendirmede tam sonucu buluyor. Adam ve SPSA daha çok değerlendirme istiyor ama gürültülü ortamda avantajlı olabilirler.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durum çarpım durumu değil (2. haftadaki rank testi). Taban durumlarının neden yetmediğini burada kapatın.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düğüm bir bit = bir kübit. Uçları farklı kümede olan kenarlar kesilir; amaç kesilen ağırlık toplamını maksimize etmek. NP-zor. Veri setindeki altı grafı gösterin; kare_4 ve ağırlıklı_5 ile çalışacağız.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 dizisini sağdan okumayı tahtada tekrar gösterin. Sağdaki grafikte 16 bölmenin tamamı: kaba kuvvet.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Ağırlıklı graflarda QAOA daha zorlanıyor; sonuç tablosunda göreceğiz.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Maliyet operatörü köşegen: köşegeni tam olarak kesim değerleri. QAOA'da ⟨C⟩'yi maksimize edeceğiz; minimize fonksiyonuna eksi işaretle vereceğiz.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Farhi, Goldstone, Gutmann 2014. Yapı maliyetten türetiliyor. Maliyet katmanı Grover'daki oracle gibi iyi bölmeleri fazla işaretler; karıştırıcı difüzyon gibi fazı olasılığa çevirir. 2p parametre.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kare_4 için devre: H katmanı, her kenar için bir RZZ (4 adet), her kübite RX. Qiskit RZZ'yi iki nokta arası çizgi ve ZZ etiketiyle çiziyor. Kodda parametre sırasına dikkat: β, γ. Lab'da aynı fonksiyonu kullanacaklar.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Aynı blok iki kez: γ[0], β[0] sonra γ[1], β[1]. Derinlik p ile doğrusal artıyor; gürültülü donanımda bu yüzden küçük p tercih ediliyor. Sonuç tablosunda p arttıkça yaklaşım oranının arttığını göreceğiz.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faz atılabilir (2. hafta). Olasılıklar değişmedi ama göreli fazlar işaretlendi: Grover'daki oracle'ın yaptığı şey.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Isı haritasında tek kenarın bütün manzarası var; yıldız optimum. γ = 0'da sonuç her β için 0.5 (soru 9c).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= 1'de sadece iki parametre var; manzaranın tamamını ızgarada hesaplayabiliriz. Estimator broadcasting ile tek çağrı. kare_4 için en iyi 3.0 (r = 0.75): 2-düzenli halka graflar için p = 1'in bilinen sınırı. Simetrik kopyalara dikkat çekin.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≥ 2'de COBYLA. Sıcak başlangıç: p−1 çözümüne sıfır katman ekleyip başla; sonuç kötüleşemez. Sağda kare_4'ün çıkış dağılımı: p = 2'de optimum bölmeler olasılığın tamamını alıyor.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Tabloyu yorumlayın: p arttıkça r artıyor; simetrik graflar p = 2'de mükemmel; düzensiz ve ağırlıklı graflar daha çok katman istiyor. En olası bitstring çoğu zaman optimum. Ama kaba kuvvet bu boyutta anında çözüyor: amaç yöntemi öğrenmek.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Görsel olarak doğrulayın: turuncu kesikli kenarlar kesilen kenarlar, mavi düğümler 1 kümesi. Dört grafın hepsinde p = 2'deki en olası bitstring optimum kesim veriyor.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Manzara dışbükey değil; optimizer başladığı çukura düşer. Çözüm: çoklu başlangıç, sıcak başlangıç, ızgara ön taraması. Tablo lab'da karşılaşacakları pratik sorunların listesi.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Derin, rastgele başlatılmış devrelerde türev varyansı kübit sayısıyla üstel küçülüyor: optimizer düz bir çölde yön bulamıyor. 14. haftada ayrıntılı. Gerçekçi beklenti: bugün için büyük pratik problemlerde kanıtlanmış bir kuantum avantajı yok.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Lab'a geçiş. Bölüm F (QAOA) en uzun kısım; birlikte yapın. Alıştırmalar assert ile kendini kontrol ediyor.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Colab'da tek başına çalışır; veri seti ds_maxcut_graphs() ile notebook içinde üretilir. Çözümlü sürüm CPU'da yaklaşık 1,5 dakikada çalışıyor.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Özeti birlikte tekrar edin; her maddeyi lab'daki bir hücreyle ilişkilendirin.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Gelecek hafta kuantum makine öğrenmesine giriyoruz. Bu haftaki parametreli devreler orada model olacak; önce klasik veriyi kübitlere nasıl yükleyeceğimizi (veri kodlama) göreceğiz.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7D2E3"/>
                </a:solidFill>
              </a:rPr>
              <a:t>KUANTUM HESAPLAMA VE UYGULAMALARI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Hafta 11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Varyasyonel Kuantum Algoritmaları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Hibrit döngü · parametreli devreler · beklenen değer · parameter-shift · VQE fikri · QAOA ile MaxCut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planı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423818" cy="420624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751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döngü, ML benzetmesi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Parametreli devreler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= beklenen değer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Parameter-shift, optimizer'lar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246778" y="1280160"/>
            <a:ext cx="3423818" cy="420624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1098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1098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örnekler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521098" y="2651760"/>
            <a:ext cx="28751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VQE: en küçük özdeğer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MaxCut ve kesim değerleri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devresi, elle hesap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ve sınırlamalar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944917" y="1280160"/>
            <a:ext cx="3423818" cy="4206240"/>
          </a:xfrm>
          <a:prstGeom prst="roundRect">
            <a:avLst>
              <a:gd name="adj" fmla="val 267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9237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saat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19237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19237" y="2651760"/>
            <a:ext cx="28751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Parametreli devre + Estimator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Parameter-shift doğrulama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VQE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uçtan uca, 8 alıştırma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hedefleri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döngüyü çizip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eğitim döngüsüyle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eşleyebilmek</a:t>
            </a:r>
            <a:endParaRPr lang="en-US" sz="1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ParameterVector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kurmak</a:t>
            </a:r>
            <a:endParaRPr lang="en-US" sz="1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değeri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sayımlardan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hesaplamak</a:t>
            </a:r>
            <a:endParaRPr lang="en-US" sz="1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Parameter-shift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türev almak, sonlu farkla karşılaştırmak</a:t>
            </a:r>
            <a:endParaRPr lang="en-US" sz="1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COBYLA, SPSA, Adam ile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etmek</a:t>
            </a:r>
            <a:endParaRPr lang="en-US" sz="1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fikri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 küçük özdeğeri yaklaşık bulmak</a:t>
            </a:r>
            <a:endParaRPr lang="en-US" sz="1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MaxCut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maliyet operatörü →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yaklaşım oranı</a:t>
            </a:r>
            <a:endParaRPr lang="en-US" sz="1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Sınırlamaları gerçekçi değerlendirmek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72400" y="1280160"/>
            <a:ext cx="3870655" cy="4572000"/>
          </a:xfrm>
          <a:prstGeom prst="roundRect">
            <a:avLst>
              <a:gd name="adj" fmla="val 189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389888"/>
            <a:ext cx="3504895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sonunda yazacağınız kod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qaoa_circuit(n, edges, p)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 = maxcut_op(n, edges)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lambda x: -estimator(qc, op, x)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minimize(f, x0, method="COBYLA")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bir grafın en iyi kesimini bulan, kaba kuvvetle doğrulanmış bir hibrit algoritma.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Hibrit kuantum–klasik döngü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Kuantum değerlendirir, klasik günceller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varyasyonel algoritmalar?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498080" cy="914400"/>
        </p:xfrm>
        <a:graphic>
          <a:graphicData uri="http://schemas.openxmlformats.org/drawingml/2006/table">
            <a:tbl>
              <a:tblPr/>
              <a:tblGrid>
                <a:gridCol w="1799539"/>
                <a:gridCol w="2699309"/>
                <a:gridCol w="29992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 (Hafta 8–10)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Varyasyonel (Hafta 11–15)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Yapı ve açılar belli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Yapı belli, </a:t>
                      </a: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açılar öğrenilir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 (Shor, QPE)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 (NISQ uyumlu)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bilgisayar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Ön/son işlem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Döngünün yarısı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Kesin / yüksek olasılık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Yaklaşık + kalite ölçüsü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(ör. Grover √N)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Genelde yok (sezgisel)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Grover, QFT, Shor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VQE, QAOA, VQC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321040" y="1280160"/>
            <a:ext cx="3322015" cy="2103120"/>
          </a:xfrm>
          <a:prstGeom prst="roundRect">
            <a:avLst>
              <a:gd name="adj" fmla="val 3478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503920" y="1389888"/>
            <a:ext cx="2956255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Intermediate-Scale Quantum: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gürültülü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orta ölçekli, hata düzeltmesiz donanım dönemi.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321040" y="3566160"/>
            <a:ext cx="3322015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0" y="3675888"/>
            <a:ext cx="2956255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Fikir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bilgisayar sadece bir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değerlendirici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"Bu θ ile maliyet kaç?"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döngü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2310" y="1097280"/>
            <a:ext cx="7907075" cy="3291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11094415" cy="14630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617720"/>
            <a:ext cx="10820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theta = theta0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not converged: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counts = backend.run(U(theta))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kuantum: çalıştır, ölç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cost   = expectation_from(counts, M)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maliyet = beklenen değer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theta  = optimizer.step(theta, cost)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klasik: güncelle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eğitim döngüsü benzetmesi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1033" y="1097280"/>
            <a:ext cx="7149630" cy="274320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ML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Varyasyonel kuantum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f(x; w), ağırlıklar 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 U(θ), açılar θ (ansatz)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Kayıp L(w)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Maliyet ⟨M⟩(θ) = beklenen değer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 yayılım ∇L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Parameter-shift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∇C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SGD, Adam; mini-batch gürültüsü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GD, Adam, COBYLA, SPSA; </a:t>
                      </a: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shot gürültüsü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Parametreli devreler (ansatz)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Devre = parametreli fonksiyon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 = parametreli fonksiyon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235" y="1188720"/>
            <a:ext cx="3024409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47472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3474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|ψ(θ)⟩ = U(θ)|0…0⟩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548640" y="457200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681728"/>
            <a:ext cx="3291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benzetmesi: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bir kez derle, parametreyi her seferinde değiştir.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234440"/>
          <a:ext cx="7162495" cy="914400"/>
        </p:xfrm>
        <a:graphic>
          <a:graphicData uri="http://schemas.openxmlformats.org/drawingml/2006/table">
            <a:tbl>
              <a:tblPr/>
              <a:tblGrid>
                <a:gridCol w="3724498"/>
                <a:gridCol w="343799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Parameter("θ")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sembolik parametre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ParameterVector("θ", 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θ[0] … θ[3]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qc.parameters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Parametreler (</a:t>
                      </a: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alfabetik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qc.num_parameters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 sayısı 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qc.assign_parameters(x)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 atanmış yeni devre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480560" y="4434840"/>
            <a:ext cx="7162495" cy="12801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617720" y="4526280"/>
            <a:ext cx="68881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theta = Parameter("θ")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QuantumCircuit(1); qc.ry(theta,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Statevector(qc.assign_parameters([np.pi/3])).data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[0.866, 0.5]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Ry(θ) taraması: θ değiştikçe durum döner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3788"/>
            <a:ext cx="11094415" cy="31560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983480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98348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Ry(θ)|0⟩ = [cos(θ/2), sin(θ/2)]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6492240" y="4983480"/>
            <a:ext cx="5150815" cy="868680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92240" y="4983480"/>
            <a:ext cx="5150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⟨Z⟩ = cos θ      ⟨X⟩ = sin θ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 · Parametreli tek kübit durumu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Ry(θ)|0⟩ için P(0), P(1), ⟨Z⟩'yi θ cinsinden yazın; θ = π/3 için hesaplayın.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Ry(θ)|0⟩ = matrisin 1. sütunu = [cos(θ/2), sin(θ/2)]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cos²(θ/2)     P(1) = sin²(θ/2)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⟨Z⟩ = cos²(θ/2) − sin²(θ/2) = cos θ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θ = π/3: |ψ⟩ = [0.866, 0.5]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0.75   P(1) = 0.25   ⟨Z⟩ = 0.5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⟨Z⟩ = cos θ; θ = π/3 → P(0) = 0.75, ⟨Z⟩ = 0.5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0175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theta = Parameter("θ")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qc.ry(theta,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 = Statevector(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qc.assign_parameters([np.pi/3]))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sv.data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[0.866, 0.5]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sv.probabilities()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[0.75, 0.25]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kübitlik ansatz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835" y="1143000"/>
            <a:ext cx="4204010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703320"/>
            <a:ext cx="5486400" cy="17373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379476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 = ParameterVector("θ", 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ansatz = QuantumCircuit(2)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ansatz.ry(th[0], 0); ansatz.ry(th[1],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ansatz.cx(0,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ansatz.ry(th[2], 0); ansatz.ry(th[3], 1)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234440"/>
          <a:ext cx="5333695" cy="914400"/>
        </p:xfrm>
        <a:graphic>
          <a:graphicData uri="http://schemas.openxmlformats.org/drawingml/2006/table">
            <a:tbl>
              <a:tblPr/>
              <a:tblGrid>
                <a:gridCol w="1706782"/>
                <a:gridCol w="1600109"/>
                <a:gridCol w="202680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Artırırsak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Kazanç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İfade gücü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Gürültü, zor eğitim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Dolanıklık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gürültülü kapı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Probleme özel yapı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arama uzayı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probleme yeni tasarım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6309360" y="3429000"/>
            <a:ext cx="5333695" cy="2011680"/>
          </a:xfrm>
          <a:prstGeom prst="roundRect">
            <a:avLst>
              <a:gd name="adj" fmla="val 3636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492240" y="3538728"/>
            <a:ext cx="4967935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sırası tuzağı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qc.parameters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alfabetik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sıralı.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QAOA'da sıra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β, γ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(β &lt; γ).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Emin değilseniz: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print(list(qc.parameters))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Maliyet = beklenen değer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Pauli dizileri, SparsePauliOp, sayımlar, Estimator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 fonksiyonu: her bit dizisine bir puan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⟨M⟩ = Σₓ P(x) · puan(x)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5486400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1207008"/>
                <a:gridCol w="822960"/>
                <a:gridCol w="822960"/>
                <a:gridCol w="822960"/>
                <a:gridCol w="822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Etiket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Z₀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Z₀Z₁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504895"/>
            <a:ext cx="5333695" cy="247661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309360" y="4480560"/>
            <a:ext cx="5333695" cy="1371600"/>
          </a:xfrm>
          <a:prstGeom prst="roundRect">
            <a:avLst>
              <a:gd name="adj" fmla="val 5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492240" y="4590288"/>
            <a:ext cx="496793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dizisinin puanı = Z bulunan bitlerin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eşliği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(XOR): çift → +1, tek → −1.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507492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31520" y="5184648"/>
            <a:ext cx="5120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Etikette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sağdaki karakter q₀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"IZ"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Z kübit 0'da.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2 · Sayımlardan ⟨Z₀Z₁⟩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Sayımlar {00: 412, 01: 95, 10: 88, 11: 405}. ⟨Z₀Z₁⟩, ⟨Z₀⟩, ⟨Z₁⟩?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ZZ: aynı bitler (00, 11) +1, farklı (01, 10) −1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⟨Z₀Z₁⟩ = (412 + 405 − 95 − 88)/1000 = 0.634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⟨Z₀⟩ = (412 + 88 − 95 − 405)/1000 = 0.000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⟨Z₁⟩ = (412 + 95 − 88 − 405)/1000 = 0.014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Tek tek rastgele, birlikte çoğunlukla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dolanıklık işareti.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⟨ZZ⟩ ≈ 0.634, ⟨Z₀⟩ ≈ 0, ⟨Z₁⟩ ≈ 0.014</a:t>
            </a:r>
            <a:endParaRPr lang="en-US" sz="1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498080" y="1325880"/>
          <a:ext cx="4144975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3 · ⟨X⟩ için taban değiştirme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Ry(π/3)|0⟩ için ⟨X⟩? Ölçümden önce H uygulanırsa P(0), P(1)?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|ψ⟩ = [0.866, 0.5],  X|ψ⟩ = [0.5, 0.866]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⟨X⟩ = 0.866·0.5 + 0.5·0.866 = 0.866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H|ψ⟩ = [0.966, 0.259]  →  P(0) = 0.933, P(1) = 0.067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− P(1) = 0.866 = ⟨X⟩ ✓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Donanım yalnız Z tabanında ölçer → X için önce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(H·X·H = Z).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⟨X⟩ = 0.866 = sin(π/3)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5603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qc.ry(np.pi/3,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qx = qc.copy(); qx.h(0)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qx.measure_all()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sayımlar -&gt; Z gibi oku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P(0)-P(1) ≈ 0.866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SparsePauliOp: maliyeti Pauli terimleriyle yazmak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Z₀Z₁ + 0.5·X₀ + 0.5·X₁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6949440" cy="35661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37744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SparsePauliOp.from_list([("ZZ", 1.0), ("IX", 0.5), ("XI", 0.5)])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M.to_matrix().real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[[ 1.   0.5  0.5  0. 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[ 0.5 -1.   0.   0.5]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[ 0.5  0.  -1.   0.5]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[ 0.   0.5  0.5  1. ]]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seyrek yazım (büyük graflar için):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SparsePauliOp.from_sparse_list([("ZZ", [0, 1], 1.0)], num_qubits=4)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2286000"/>
            <a:ext cx="3870655" cy="1645920"/>
          </a:xfrm>
          <a:prstGeom prst="roundRect">
            <a:avLst>
              <a:gd name="adj" fmla="val 444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2395728"/>
            <a:ext cx="350489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Doğrusallık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⟨M⟩ = ⟨Z₀Z₁⟩ + 0.5⟨X₀⟩ + 0.5⟨X₁⟩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772400" y="4114800"/>
            <a:ext cx="3870655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55280" y="4224528"/>
            <a:ext cx="3504895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grupları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 → 1 devre (doğrudan)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X₀, X₁ → 1 devre (önce H⊗H)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4 · M'yi elle kurmak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Z⊗Z + 0.5·(I⊗X) + 0.5·(X⊗I). |00⟩, |01⟩, |++⟩ için ⟨M⟩?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Z⊗Z = diag(1, −1, −1, 1)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I⊗X: 00↔01, 10↔11 ;  X⊗I: 00↔10, 01↔11 → 0.5'lik köşegen dışı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⟨00|M|00⟩ = 1      ⟨01|M|01⟩ = −1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|++⟩: ⟨ZZ⟩ = 0, ⟨X₀⟩ = ⟨X₁⟩ = 1 → ⟨M⟩ = 1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Hiçbir taban durumu −1'in altına inemiyor; en iyisi −√2 (VQE bölümü).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⟨M⟩ = 1, −1, 1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StatevectorEstimator (Qiskit 2.x)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7223760" cy="39319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6949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qiskit.primitives import StatevectorEstimator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estimator = StatevectorEstimator()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= estimator.run([(ansatz, M, [0.1, 0.2, 0.3, 0.4])])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job.result()[0].data.evs    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1.2382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vals = np.array([[0.1,0.2,0.3,0.4], [0,0,0,0], [np.pi,0,0,0]])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estimator.run([(ansatz, M, vals)]).result()[0].data.evs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[1.2382, 1.0, 1.0]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cost(x):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float(estimator.run([(ansatz, M, x)]).result()[0].data.evs)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234440"/>
          <a:ext cx="3596335" cy="914400"/>
        </p:xfrm>
        <a:graphic>
          <a:graphicData uri="http://schemas.openxmlformats.org/drawingml/2006/table">
            <a:tbl>
              <a:tblPr/>
              <a:tblGrid>
                <a:gridCol w="2085874"/>
                <a:gridCol w="1510461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Statevector(...).expectation_value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Kesin, tek nokta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StatevectorEstimator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Kesin, toplu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Sayımlar + puan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Shot gürültülü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EstimatorV2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(Runtime)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donanım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30352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5413248"/>
            <a:ext cx="1072865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 = (devre, gözlemlenebilir, parametre değerleri)  ·  sonuç: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result()[i].data.evs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gürültüsü: hata ~ 1/√N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751" y="1097280"/>
            <a:ext cx="6610897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98080" y="1234440"/>
            <a:ext cx="414497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0" y="1234440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SE(⟨Z⟩) = √(1 − ⟨Z⟩²) / √N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7498080" y="2377440"/>
            <a:ext cx="4144975" cy="2926080"/>
          </a:xfrm>
          <a:prstGeom prst="roundRect">
            <a:avLst>
              <a:gd name="adj" fmla="val 25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680960" y="2487168"/>
            <a:ext cx="3779215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5 · Kaç shot?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⟨Z⟩ = 0.5, SE ≤ 0.01 isteniyor: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0.866/√N ≤ 0.01 →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≥ 7500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1000 → SE ≈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0.027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9377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Hatayı 10 kat azaltmak = </a:t>
            </a: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kat</a:t>
            </a: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daha çok shot.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Türev: parameter-shift kuralı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Devreyi iki kez daha çalıştırarak kesin türev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Parameter-shift kuralı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∂C/∂θ = [ C(θ + π/2) − C(θ − π/2) ] / 2</a:t>
            </a:r>
            <a:endParaRPr lang="en-US" sz="28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51399"/>
            <a:ext cx="6949440" cy="363536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72400" y="2286000"/>
            <a:ext cx="3870655" cy="1737360"/>
          </a:xfrm>
          <a:prstGeom prst="roundRect">
            <a:avLst>
              <a:gd name="adj" fmla="val 42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2395728"/>
            <a:ext cx="3504895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kesin?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cos(θ+π/2) − cos(θ−π/2) = −2 sin θ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sin(θ+π/2) − sin(θ−π/2) = 2 cos θ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772400" y="4206240"/>
            <a:ext cx="3870655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955280" y="4315968"/>
            <a:ext cx="3504895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 olduğu kapılar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Rx, Ry, Rz, RZZ… (dönme kapıları). Her parametre için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devre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6 · Parameter-shift sayısal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f(θ) = cos θ için θ = π/3'te türev? Analitik ve sonlu fark (h = 0.1) ile karşılaştırın.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f(π/3 + π/2) = cos(5π/6) = −0.8660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f(π/3 − π/2) = cos(−π/6) = +0.8660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PS: (−0.8660 − 0.8660)/2 = −0.8660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Analitik: −sin(π/3) = −0.8660  ✓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Sonlu fark h = 0.1: −0.8646 (hata ≈ 0.0014)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−0.866 (kesin)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lambda t: np.cos(t)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np.pi/3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(f(t+np.pi/2)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f(t-np.pi/2)) /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-0.8660254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-np.sin(t)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-0.8660254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(f(t+.1)-f(t-.1))/.2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-0.8645827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gürültüsü varken sonlu fark çöker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69" y="1097280"/>
            <a:ext cx="6191303" cy="3291840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234440"/>
          <a:ext cx="4053535" cy="914400"/>
        </p:xfrm>
        <a:graphic>
          <a:graphicData uri="http://schemas.openxmlformats.org/drawingml/2006/table">
            <a:tbl>
              <a:tblPr/>
              <a:tblGrid>
                <a:gridCol w="1053919"/>
                <a:gridCol w="1783555"/>
                <a:gridCol w="1216061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Sonlu fark (kesin f)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−0.716161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1.2e−3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−0.717344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1.2e−5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−0.717356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1.2e−7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(π/2)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−0.717356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589520" y="3657600"/>
            <a:ext cx="4053535" cy="2240280"/>
          </a:xfrm>
          <a:prstGeom prst="roundRect">
            <a:avLst>
              <a:gd name="adj" fmla="val 3265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772400" y="3767328"/>
            <a:ext cx="3687775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7 · 1000 shot, θ = 0.8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SE(PS) = √2·0.022/2 ≈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SE(FD, h=0.01) = √2·0.023/0.02 ≈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türev −0.717 → FD kullanılamaz!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45720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Gürültüsüz simülatörde sonlu fark iyi görünür; </a:t>
            </a: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donanımda</a:t>
            </a: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parameter-shift şart.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parametreli gradyan: 2P devre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7315200" cy="30175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7040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ps_gradient(fun, x):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np.asarray(x, float); g = np.zeros_like(x)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 in range(len(x)):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 = np.zeros_like(x); e[k] = np.pi /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g[k] = (fun(x + e) - fun(x - e)) /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ps_gradient(cost, [0.1, 0.2, 0.3, 0.4])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[ 0.1825, -0.078 ,  0.2655, -0.101 ]  == sonlu fark (h=1e-5)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234440"/>
          <a:ext cx="3504895" cy="914400"/>
        </p:xfrm>
        <a:graphic>
          <a:graphicData uri="http://schemas.openxmlformats.org/drawingml/2006/table">
            <a:tbl>
              <a:tblPr/>
              <a:tblGrid>
                <a:gridCol w="1401958"/>
                <a:gridCol w="2102937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 / gradyan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38912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498848"/>
            <a:ext cx="10728655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8 · f(a, b) = cos a · cos b, (a, b) = (0.7, 0.4)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∂f/∂a = [f(0.7+π/2, 0.4) − f(0.7−π/2, 0.4)]/2 = (−0.5934 − 0.5934)/2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−0.5934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−sin 0.7 · cos 0.4 ✓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Optimizer'lar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Gradyan inişi, Adam, COBYLA, SPSA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9 · Elle iki adım gradyan inişi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C(θ) = cos θ, θ₀ = 0.4, η = 0.6. Parameter-shift türevi ile iki adım.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θ ← θ − η · ∂C/∂θ,   ∂C/∂θ = −sin θ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g₀ = −0.3894 → θ₁ = 0.634, C = 0.806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g₁ = −0.5921 → θ₂ = 0.989, C = 0.550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Maliyet 0.921 → 0.806 → 0.550 azalıyor.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Her adım 2 devre (θ ± π/2).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θ₁ = 0.634, θ₂ = 0.989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51236"/>
            <a:ext cx="4144975" cy="205824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COBYLA, SPSA, Adam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766560" cy="914400"/>
        </p:xfrm>
        <a:graphic>
          <a:graphicData uri="http://schemas.openxmlformats.org/drawingml/2006/table">
            <a:tbl>
              <a:tblPr/>
              <a:tblGrid>
                <a:gridCol w="1623974"/>
                <a:gridCol w="1082650"/>
                <a:gridCol w="1353312"/>
                <a:gridCol w="2706624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Türev?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 / adım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Gradyan inişi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Öğretim, basit problemler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QML (Hafta 12–15), PyTorch 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COBYLA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Simülatör, az parametre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Gürültülü donanım, çok parametre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114800"/>
            <a:ext cx="6766560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114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SPSA:  ĝ = [C(θ + cΔ) − C(θ − cΔ)] / 2c · Δ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074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∈ {−1, +1}ᴾ rastgele; a_k, c_k zamanla küçültülür.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589520" y="1234440"/>
            <a:ext cx="4053535" cy="23774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26680" y="1325880"/>
            <a:ext cx="37792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scipy.optimize import minimize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minimize(cost, x0,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method="COBYLA",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options={"maxiter": 150})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res.fun, res.nfev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(-1.41421, ~100)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589520" y="3794760"/>
            <a:ext cx="4053535" cy="2057400"/>
          </a:xfrm>
          <a:prstGeom prst="roundRect">
            <a:avLst>
              <a:gd name="adj" fmla="val 355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0" y="3904488"/>
            <a:ext cx="3687775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öneri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Simülatörde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COBYLA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çoklu başlangıç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Donanımda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QML'de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(PyTorch)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2.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VQE fikri ve QAOA ile MaxCut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Bir matrisin en küçük özdeğeri · graf bölme problemi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fikri: en küçük özdeğer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⟨ψ(θ)|M|ψ(θ)⟩ ≥ λ_min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6888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Klasik: </a:t>
            </a:r>
            <a:r>
              <a:rPr lang="en-US" sz="17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np.linalg.eigvalsh(M)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2ⁿ × 2ⁿ matris gerekir</a:t>
            </a:r>
            <a:endParaRPr lang="en-US" sz="17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ise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birkaç Pauli terimiyle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kısa yazılır</a:t>
            </a:r>
            <a:endParaRPr lang="en-US" sz="17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VQE: maliyet = ⟨M⟩, minimize et → λ_min'e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yukarıdan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yaklaş</a:t>
            </a:r>
            <a:endParaRPr lang="en-US" sz="17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Köşegen M → en düşük puanlı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dizisi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(kombinatoryal problem)</a:t>
            </a:r>
            <a:endParaRPr lang="en-US" sz="1700" dirty="0"/>
          </a:p>
        </p:txBody>
      </p:sp>
      <p:pic>
        <p:nvPicPr>
          <p:cNvPr id="9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38077"/>
            <a:ext cx="5333695" cy="206160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931920"/>
          <a:ext cx="5333695" cy="914400"/>
        </p:xfrm>
        <a:graphic>
          <a:graphicData uri="http://schemas.openxmlformats.org/drawingml/2006/table">
            <a:tbl>
              <a:tblPr/>
              <a:tblGrid>
                <a:gridCol w="1493435"/>
                <a:gridCol w="1173413"/>
                <a:gridCol w="1386761"/>
                <a:gridCol w="128008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⟨ZZ⟩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katkısı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⟨M⟩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|00⟩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|01⟩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|++⟩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−1.414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10 · Tek kübit VQE (elle)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M₁ = Z + X, ansatz Ry(θ)|0⟩. C(θ)'nın minimumu? eigvalsh ile karşılaştırın.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C(θ) = cos θ + sin θ = √2 · sin(θ + π/4)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Minimum −√2, θ + π/4 = 3π/2 → θ* = 5π/4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M₁ = [[1, 1], [1, −1]] → λ² = 2 → λ = ±√2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λ_min = −√2 = C(θ*)  ✓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Ansatz optimumu içeriyor → VQE tam sonucu bulur.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θ* = 5π/4, C = −√2 ≈ −1.414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35585"/>
            <a:ext cx="4144975" cy="208955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kübit VQE: yakınsama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00508"/>
            <a:ext cx="7132320" cy="3559703"/>
          </a:xfrm>
          <a:prstGeom prst="rect">
            <a:avLst/>
          </a:prstGeom>
        </p:spPr>
      </p:pic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234440"/>
          <a:ext cx="3687775" cy="914400"/>
        </p:xfrm>
        <a:graphic>
          <a:graphicData uri="http://schemas.openxmlformats.org/drawingml/2006/table">
            <a:tbl>
              <a:tblPr/>
              <a:tblGrid>
                <a:gridCol w="1475110"/>
                <a:gridCol w="811311"/>
                <a:gridCol w="140135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⟨M⟩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COBYLA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−1.41421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−1.40853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−1.40409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eigvalsh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−1.41421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800600"/>
            <a:ext cx="7132320" cy="11430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85800" y="489204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= np.linalg.eigvalsh(M.to_matrix())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ev[0] 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-1.41421 = -√2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minimize(cost, x0, method="COBYLA")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res.fun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-1.41421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7955280" y="3931920"/>
            <a:ext cx="3687775" cy="1920240"/>
          </a:xfrm>
          <a:prstGeom prst="roundRect">
            <a:avLst>
              <a:gd name="adj" fmla="val 381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38160" y="4041648"/>
            <a:ext cx="3322015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başlangıç: θ = [0.1, 0.2, 0.3, 0.4]. Rastgele 4 başlangıçta COBYLA hep −√2'yi buldu.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11 · VQE sonucunu doğrulamak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Bulunan durum ψ = [0.271, −0.653, −0.653, 0.271] (00, 01, 10, 11). ⟨M⟩?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P(00) = P(11) = 0.073,   P(01) = P(10) = 0.427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⟨Z₀Z₁⟩ = 0.146 − 0.854 = −0.707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⟨X₀⟩ = 2(ψ₀₀ψ₀₁ + ψ₁₀ψ₁₁) = −0.707 = ⟨X₁⟩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⟨M⟩ = −0.707 − 0.354 − 0.354 = −1.414 ✓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ZZ ve X katkılarını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kullanan dolanık süperpozisyon.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⟨M⟩ = −√2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MaxCut: bir grafı ikiye bölmek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kesim(x) = Σ w_ij · [xᵢ ≠ xⱼ]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774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dizisi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bölme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(0: A kümesi, 1: B kümesi)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sırası: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sağdaki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karakter düğüm 0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düğüm →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2ⁿ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bölme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NP-zor; klasik en iyi yaklaşım (Goemans–Williamson) ≈ %87,8 garanti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475488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4864608"/>
            <a:ext cx="4754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Veri: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ds_maxcut_graphs()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graph_id, u, v, weight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(maxcut_graflar.csv)</a:t>
            </a:r>
            <a:endParaRPr lang="en-US" sz="15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567619"/>
            <a:ext cx="5699455" cy="390564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12 · Kare grafta kesim değerleri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kare_4 (0–1, 1–2, 2–3, 3–0) için 0011 ve 0101 kesimleri? Bitleri çevirmek neden kesimi değiştirmez?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0011 → x₀=1, x₁=1, x₂=0, x₃=0: kesilen 1–2, 3–0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kesim(0011) = 2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0101 → x₀=1, x₁=0, x₂=1, x₃=0: tüm kenarlar kesilir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kesim(0101) = 4 = MaxCut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Tüm bitleri çevirmek kümeleri takas eder → optimumlar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gelir (0101, 1010).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ve 4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11130"/>
            <a:ext cx="4144975" cy="1326779"/>
          </a:xfrm>
          <a:prstGeom prst="rect">
            <a:avLst/>
          </a:prstGeom>
        </p:spPr>
      </p:pic>
      <p:pic>
        <p:nvPicPr>
          <p:cNvPr id="12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7622"/>
            <a:ext cx="4144975" cy="181427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13 · Ağırlıklı grafta kesim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agirlikli_5 için 01101 bit dizisinin kesim değeri?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x₀=1, x₁=0, x₂=1, x₃=1, x₄=0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Kesilen: 0–1 (1.66), 1–2 (1.79), 1–3 (1.55), 3–4 (1.96), 2–4 (1.64)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Kesilmeyen: 0–2 (1.16), 2–3 (0.64)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 = 1.66 + 1.79 + 1.55 + 1.96 + 1.64 = 8.60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Toplam ağırlık 10.40 → MaxCut = 8.60 (kaba kuvvet).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8.60 = MaxCut</a:t>
            </a:r>
            <a:endParaRPr lang="en-US" sz="17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325880"/>
          <a:ext cx="4144975" cy="914400"/>
        </p:xfrm>
        <a:graphic>
          <a:graphicData uri="http://schemas.openxmlformats.org/drawingml/2006/table">
            <a:tbl>
              <a:tblPr/>
              <a:tblGrid>
                <a:gridCol w="1906689"/>
                <a:gridCol w="580297"/>
                <a:gridCol w="580297"/>
                <a:gridCol w="107769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MaxCut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kare_4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ucgen_kuyruk_4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tam_4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halka_5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rastgele_6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agirlikli_5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14 · MaxCut → maliyet operatörü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kenar (w = 1): C = (1 − Z₀Z₁)/2 matrisini yazın; eşit süperpozisyonda ⟨C⟩?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ZᵢZⱼ: aynı bitler +1, farklı −1 → (1 − ZᵢZⱼ)/2 = [kenar kesildi mi?]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diag(0, 1, 1, 0)   (00, 01, 10, 11)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H⊗H|00⟩ → her bölme ¼ → ⟨C⟩ = 0.5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Genel: rastgele bölme ⟨C⟩ = W/2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 çizgisi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 = 0.5)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 = diag(0, 1, 1, 0), ⟨C⟩ = 0.5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0" y="1143000"/>
            <a:ext cx="4144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Σ w (1 − ZᵢZⱼ) / 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498080" y="2148840"/>
            <a:ext cx="4144975" cy="29260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35240" y="2240280"/>
            <a:ext cx="38706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maxcut_op(n, edges):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 = [("ZZ", [u, v], -w/2)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for u, v, w in edges]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 = sum(w for *_, w in edges)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SparsePauliOp\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.from_sparse_list(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 + [("", [], W/2)],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num_qubits=n).simplify()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QAOA: probleme özel ansatz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8128" y="1097280"/>
            <a:ext cx="6695440" cy="2011680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7589520" cy="914400"/>
        </p:xfrm>
        <a:graphic>
          <a:graphicData uri="http://schemas.openxmlformats.org/drawingml/2006/table">
            <a:tbl>
              <a:tblPr/>
              <a:tblGrid>
                <a:gridCol w="1821485"/>
                <a:gridCol w="2276856"/>
                <a:gridCol w="349117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Başlangıç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her kübite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bölmelerin eşit süperpozisyonu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Maliyet U_C(γ)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RZZ(2γ·w) her kenara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Kesim değerine göre </a:t>
                      </a: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(oracle benzeri)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Karıştırıcı U_M(β)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RX(2β) her kübite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Fazı </a:t>
                      </a: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olasılığa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çevirir (difüzyon benzeri)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Tekrar / ölçüm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kez, sonra ölç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dizisi = bölme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3246120"/>
          <a:ext cx="3230575" cy="914400"/>
        </p:xfrm>
        <a:graphic>
          <a:graphicData uri="http://schemas.openxmlformats.org/drawingml/2006/table">
            <a:tbl>
              <a:tblPr/>
              <a:tblGrid>
                <a:gridCol w="1453759"/>
                <a:gridCol w="17768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RZZ(2γ) fazı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00, 11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e^(−iγ)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01, 10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e^(+iγ)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Shape 3"/>
          <p:cNvSpPr/>
          <p:nvPr/>
        </p:nvSpPr>
        <p:spPr>
          <a:xfrm>
            <a:off x="8412480" y="4709160"/>
            <a:ext cx="3230575" cy="1143000"/>
          </a:xfrm>
          <a:prstGeom prst="roundRect">
            <a:avLst>
              <a:gd name="adj" fmla="val 64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8595360" y="4818888"/>
            <a:ext cx="28648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Kesilen bölmeler farklı faz alır; olasılıklar henüz değişmez.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devresi: kare_4, p = 1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pic>
        <p:nvPicPr>
          <p:cNvPr id="6" name="Image 0" descr="p = 1: 4 RZZ + 4 RX, 2 parametre (γ[0], β[0]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758" y="1097280"/>
            <a:ext cx="5577444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3649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p = 1: 4 RZZ + 4 RX, 2 parametre (γ[0], β[0])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406640" y="1188720"/>
            <a:ext cx="4236415" cy="2377440"/>
          </a:xfrm>
          <a:prstGeom prst="roundRect">
            <a:avLst>
              <a:gd name="adj" fmla="val 307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589520" y="1298448"/>
            <a:ext cx="3870655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Sayılarla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Kübit = düğüm sayısı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RZZ sayısı = kenar sayısı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(katman başına)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sayısı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(katman başına)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sayısı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48640" y="3749040"/>
            <a:ext cx="11094415" cy="2148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3840480"/>
            <a:ext cx="108200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qaoa_circuit(n, edges, p):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gam = ParameterVector("γ", p); bet = ParameterVector("β", 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QuantumCircuit(n); qc.h(range(n))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 in range(p):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u, v, w in edges: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qc.rzz(2 * gam[k] * w, u, v)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maliyet katmanı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qc.rx(2 * bet[k], range(n))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karıştırıcı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list(qaoa_circuit(4, E, 1).parameters)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[β[0], γ[0]]  &lt;- alfabetik!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devresi: p = 2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pic>
        <p:nvPicPr>
          <p:cNvPr id="6" name="Image 0" descr="p = 2: maliyet + karıştırıcı bloğu iki kez (4 parametr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13367"/>
            <a:ext cx="11094415" cy="253962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09651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p = 2: maliyet + karıştırıcı bloğu iki kez (4 parametre)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4572000"/>
            <a:ext cx="5410048" cy="1280160"/>
          </a:xfrm>
          <a:prstGeom prst="roundRect">
            <a:avLst>
              <a:gd name="adj" fmla="val 571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4681728"/>
            <a:ext cx="50442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başına m RZZ + n RX → toplam derinlik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ile doğrusal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artar.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233008" y="4572000"/>
            <a:ext cx="5410048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15888" y="4681728"/>
            <a:ext cx="50442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Ödünleşim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↑ → daha iyi yaklaşım, ama daha fazla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15a · Tek kenar QAOA p = 1 (1/2)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kenar, γ = π/4, β = 3π/8. Adım 1–2: H ve maliyet katmanı.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H⊗H|00⟩ = ½[1, 1, 1, 1]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RZZ(2γ) = diag(e^(−iγ), e^(iγ), e^(iγ), e^(−iγ)),  γ = π/4: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|ψ₁⟩ = ½[e^(−iπ/4), e^(iπ/4), e^(iπ/4), e^(−iπ/4)]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e^(−iπ/4) · ½[1, i, i, 1]  ≅  ½[1, i, i, 1]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Olasılıklar hâlâ ¼; kesilen bölmeler (01, 10)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fazı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aldı.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|ψ₁⟩ ≅ ½[1, i, i, 1]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053587"/>
            <a:ext cx="4144975" cy="165354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15b · Tek kenar QAOA p = 1 (2/2)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3: karıştırıcı RX(2β) = RX(3π/4), c = cos(3π/8) = 0.383, s = sin(3π/8) = 0.924.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genlik(00) = ½[c² + 2cs − s²] = ½[cos(3π/4) + sin(3π/4)] = 0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genlik(01) = (i/2)[c² − s² − 2cs] = −i/√2 = genlik(10)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P(01) = P(10) = 0.5,  P(00) = P(11) = 0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⟨kesim⟩ = 1 = MaxCut;  genel: [1 − sin 4β · sin 2γ]/2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Fazlar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girişimle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olasılığa döndü: kötü bölmeler yıkıcı girişimle 0.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⟨kesim⟩ = 1 (yaklaşım oranı 1)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606468"/>
            <a:ext cx="4144975" cy="291354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Izgara taraması: kare_4, p = 1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241" y="1097280"/>
            <a:ext cx="5659837" cy="4023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0" y="1188720"/>
            <a:ext cx="4785055" cy="26517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995160" y="1280160"/>
            <a:ext cx="451073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 = np.linspace(0, np.pi, 41)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 = np.linspace(0, np.pi/2, 41)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GG, BB = np.meshgrid(Gs, Bs)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pts = np.stack([BB.ravel(), GG.ravel()], 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sıra: β, γ 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estimator.run([(qc_p1, C_op, pts)])\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.result()[0].data.evs.reshape(GG.shape)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858000" y="4023360"/>
            <a:ext cx="4785055" cy="18288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040880" y="4133088"/>
            <a:ext cx="4419295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⟨kesim⟩ =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3.000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(γ = 3π/8, β = π/8)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3/4 =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Manzarada simetrik kopyalar var.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Optimizasyon ve çıkış dağılımı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477" y="1097280"/>
            <a:ext cx="5433606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931920"/>
            <a:ext cx="5669280" cy="19202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0233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eksi işaret: &lt;kesim&gt;'i maksimize 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lambda x: -float(estimator.run(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[(qc, op, x)]).result()[0].data.evs)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minimize(f, x0, method="COBYLA")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sample_qaoa(qc, res.x)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Sampler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max(counts, key=counts.get)</a:t>
            </a:r>
            <a:endParaRPr lang="en-US" sz="1300" dirty="0"/>
          </a:p>
        </p:txBody>
      </p:sp>
      <p:pic>
        <p:nvPicPr>
          <p:cNvPr id="9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6304"/>
            <a:ext cx="5242255" cy="155939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400800" y="3657600"/>
            <a:ext cx="5242255" cy="2194560"/>
          </a:xfrm>
          <a:prstGeom prst="roundRect">
            <a:avLst>
              <a:gd name="adj" fmla="val 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583680" y="3767328"/>
            <a:ext cx="4876495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kalite ölçüsü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⟨kesim⟩ / MaxCut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P(opt)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optimum bölmeyi görme olasılığı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kare_4: p=1 → P(opt) = 0.53;  p=2 →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Sonuçlar: dört graf, kaba kuvvetle karşılaştırma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309360" cy="914400"/>
        </p:xfrm>
        <a:graphic>
          <a:graphicData uri="http://schemas.openxmlformats.org/drawingml/2006/table">
            <a:tbl>
              <a:tblPr/>
              <a:tblGrid>
                <a:gridCol w="1640434"/>
                <a:gridCol w="883310"/>
                <a:gridCol w="946404"/>
                <a:gridCol w="946404"/>
                <a:gridCol w="946404"/>
                <a:gridCol w="946404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MaxCut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p=1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p=2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p=3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P(opt) p=3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kare_4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halka_5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rastgele_6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agirlikli_5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7040880" y="1143000"/>
          <a:ext cx="4602175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3931920"/>
            <a:ext cx="6309360" cy="1920240"/>
          </a:xfrm>
          <a:prstGeom prst="roundRect">
            <a:avLst>
              <a:gd name="adj" fmla="val 381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4041648"/>
            <a:ext cx="59436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Gözlemler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↑ → r ↑ (daha zengin ansatz)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Simetrik graflar kolay; ağırlıklı/düzensiz zor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olası bitstring (p = 2)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grafta da optimum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7040880" y="5029200"/>
            <a:ext cx="4602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Referans: kaba kuvvet (2ⁿ ≤ 64 bölme) — klasik bilgisayar mikrosaniyede çözer.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olası bitstring'lerin kesimleri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19628"/>
            <a:ext cx="11094415" cy="3504344"/>
          </a:xfrm>
          <a:prstGeom prst="rect">
            <a:avLst/>
          </a:prstGeom>
        </p:spPr>
      </p:pic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4632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3328325"/>
                <a:gridCol w="2218883"/>
                <a:gridCol w="2218883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olası (p=2)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MaxCut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kare_4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halka_5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rastgele_6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agirlikli_5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Sınırlamalar: yerel minimumlar ve gürültü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746" y="1097280"/>
            <a:ext cx="4731547" cy="3749040"/>
          </a:xfrm>
          <a:prstGeom prst="rect">
            <a:avLst/>
          </a:prstGeom>
        </p:spPr>
      </p:pic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34440"/>
          <a:ext cx="5882335" cy="914400"/>
        </p:xfrm>
        <a:graphic>
          <a:graphicData uri="http://schemas.openxmlformats.org/drawingml/2006/table">
            <a:tbl>
              <a:tblPr/>
              <a:tblGrid>
                <a:gridCol w="2235287"/>
                <a:gridCol w="364704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Hafifletme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Yerel minimumlar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Çoklu / sıcak başlangıç, ızgara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Shot gürültüsü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Daha çok shot, SPSA, parameter-shift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Donanım gürültüsü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Sığ ansatz, hata azaltma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 maliyeti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Terimleri gruplama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Barren plateau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Yerel maliyet, akıllı başlatma (H14)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 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referansla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karşılaştır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4864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global, ● yerel minimumlar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5760720" y="4937760"/>
            <a:ext cx="5882335" cy="914400"/>
          </a:xfrm>
          <a:prstGeom prst="roundRect">
            <a:avLst>
              <a:gd name="adj" fmla="val 80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0" y="5047488"/>
            <a:ext cx="55165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hata: ⟨kesim⟩'i eksi işaretsiz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minimize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 vermek →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kötü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kesim!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 plateau önizlemesi ve gerçekçi beklentiler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369" y="1097280"/>
            <a:ext cx="5978462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389120"/>
            <a:ext cx="6217920" cy="146304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498848"/>
            <a:ext cx="5852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 plateau (çorak düzlük)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Var[∂C/∂θ] ~ 2⁻ⁿ → türevi tahmin etmek için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üstel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shot. Ayrıntı: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14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040880" y="1234440"/>
            <a:ext cx="4602175" cy="4617720"/>
          </a:xfrm>
          <a:prstGeom prst="roundRect">
            <a:avLst>
              <a:gd name="adj" fmla="val 159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223760" y="1344168"/>
            <a:ext cx="4236415" cy="4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Gerçekçi beklentiler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QAOA/VQE'nin büyük problemlerde klasik algoritmaları geçtiği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kanıtlanmış değil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haftaki problemler klasik olarak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anında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çözülür.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raporlarken: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referans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 çalıştırma sayısı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Asıl kazanç: parametreli devre + beklenen değer + optimizer çerçevesi →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QML'nin iskeleti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(Hafta 12–15).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3.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Lab: Hafta11_Lab.ipynb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Parametreli devreler → Estimator → parameter-shift → VQE → QAOA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akışı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109442"/>
                <a:gridCol w="8320811"/>
                <a:gridCol w="166416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Kurulum, veri seti,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draw_graph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Parameter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ParameterVector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ansatz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Pauli dizileri, sayımlardan ⟨ZZ⟩/⟨X⟩,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StatevectorEstimator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Parameter-shift, sonlu fark tablosu, shot deneyi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Gradyan inişi, Adam, SPSA, COBYLA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VQE: eigvalsh, manzara, 2 kübit VQE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QAOA-MaxCut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uçtan uca, 4 graf sonuç tablosu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G–H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Sınırlamalar + </a:t>
                      </a: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alıştırma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(assert)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özeti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parametreli devre = parametreli fonksiyon (</a:t>
            </a:r>
            <a:r>
              <a:rPr lang="en-US" sz="19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9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assign_parameters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9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beklenen değer; Z dizileri bitlerin eşliğine ±1 puan; </a:t>
            </a:r>
            <a:r>
              <a:rPr lang="en-US" sz="19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SparsePauliOp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9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StatevectorEstimator</a:t>
            </a:r>
            <a:endParaRPr lang="en-US" sz="19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Parameter-shift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[C(θ+π/2) − C(θ−π/2)]/2 — kesin, gürültüye dayanıklı, 2P devre</a:t>
            </a:r>
            <a:endParaRPr lang="en-US" sz="19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COBYLA (türevsiz), SPSA (2 değ./adım), Adam (PS ile)</a:t>
            </a:r>
            <a:endParaRPr lang="en-US" sz="19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fikri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⟨ψ(θ)|M|ψ(θ)⟩ ≥ λ_min → minimize ederek en küçük özdeğer</a:t>
            </a:r>
            <a:endParaRPr lang="en-US" sz="19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QAOA-MaxCut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 = Σ w(1 − ZZ)/2; H → [RZZ(2γw) → RX(2β)] × p; r = ⟨kesim⟩/MaxCut</a:t>
            </a:r>
            <a:endParaRPr lang="en-US" sz="19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Gerçekçi ol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yerel minimum, shot gürültüsü, barren plateau; klasik referansla karşılaştır</a:t>
            </a:r>
            <a:endParaRPr lang="en-US" sz="1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ve gelecek hafta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10048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044288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notu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13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 yazılı soru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H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 kodlama alıştırması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r>
              <a:rPr lang="en-US" sz="18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ucgen_kuyruk_4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için p = 1, 2, 3 yaklaşım oranı grafiği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Teslim: notebook + yazılı cevaplar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410048" cy="4206240"/>
          </a:xfrm>
          <a:prstGeom prst="roundRect">
            <a:avLst>
              <a:gd name="adj" fmla="val 173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89888"/>
            <a:ext cx="5044288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12: QML I — veri kodlama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hatırlatması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veriyi kübitlere yüklemek: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kodlama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setleri: moons, iris (açı kodlamasına hazır [0, π])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ansatz + Estimator + optimizer üçlüsü →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2026-09-23T15:59:52Z</dcterms:created>
  <dcterms:modified xsi:type="dcterms:W3CDTF">2026-09-23T15:59:52Z</dcterms:modified>
</cp:coreProperties>
</file>