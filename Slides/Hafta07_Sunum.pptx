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3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4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5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6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GHZ-3, 1000 shot: sayımlar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000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Qiskit</c:v>
                  </c:pt>
                  <c:pt idx="1">
                    <c:v>Cirq</c:v>
                  </c:pt>
                  <c:pt idx="2">
                    <c:v>PennyLane</c:v>
                  </c:pt>
                  <c:pt idx="3">
                    <c:v>Braket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502</c:v>
                </c:pt>
                <c:pt idx="1">
                  <c:v>512</c:v>
                </c:pt>
                <c:pt idx="2">
                  <c:v>502</c:v>
                </c:pt>
                <c:pt idx="3">
                  <c:v>518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111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Qiskit</c:v>
                  </c:pt>
                  <c:pt idx="1">
                    <c:v>Cirq</c:v>
                  </c:pt>
                  <c:pt idx="2">
                    <c:v>PennyLane</c:v>
                  </c:pt>
                  <c:pt idx="3">
                    <c:v>Braket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498</c:v>
                </c:pt>
                <c:pt idx="1">
                  <c:v>488</c:v>
                </c:pt>
                <c:pt idx="2">
                  <c:v>498</c:v>
                </c:pt>
                <c:pt idx="3">
                  <c:v>482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Bellek (GiB)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GiB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SV 28</c:v>
                  </c:pt>
                  <c:pt idx="1">
                    <c:v>SV 30</c:v>
                  </c:pt>
                  <c:pt idx="2">
                    <c:v>SV 32</c:v>
                  </c:pt>
                  <c:pt idx="3">
                    <c:v>DM 14</c:v>
                  </c:pt>
                  <c:pt idx="4">
                    <c:v>DM 15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16</c:v>
                </c:pt>
                <c:pt idx="2">
                  <c:v>64</c:v>
                </c:pt>
                <c:pt idx="3">
                  <c:v>4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P(doğru sonuç = 0), Aer 10000 shot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P(doğru)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bit-flip</c:v>
                  </c:pt>
                  <c:pt idx="1">
                    <c:v>faz (H–hata–H)</c:v>
                  </c:pt>
                  <c:pt idx="2">
                    <c:v>depolarize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0.902</c:v>
                </c:pt>
                <c:pt idx="1">
                  <c:v>0.902</c:v>
                </c:pt>
                <c:pt idx="2">
                  <c:v>0.952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P(doğru = 0) — derinlik = 2k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Teori ½+½(0.98)^(2k)</c:v>
                </c:pt>
              </c:strCache>
            </c:strRef>
          </c:tx>
          <c:spPr>
            <a:solidFill>
              <a:srgbClr val="1F3A5F"/>
            </a:solidFill>
            <a:ln w="254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40</c:v>
                  </c:pt>
                  <c:pt idx="6">
                    <c:v>60</c:v>
                  </c:pt>
                  <c:pt idx="7">
                    <c:v>80</c:v>
                  </c:pt>
                  <c:pt idx="8">
                    <c:v>100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0.909</c:v>
                </c:pt>
                <c:pt idx="2">
                  <c:v>0.834</c:v>
                </c:pt>
                <c:pt idx="3">
                  <c:v>0.723</c:v>
                </c:pt>
                <c:pt idx="4">
                  <c:v>0.649</c:v>
                </c:pt>
                <c:pt idx="5">
                  <c:v>0.599</c:v>
                </c:pt>
                <c:pt idx="6">
                  <c:v>0.544</c:v>
                </c:pt>
                <c:pt idx="7">
                  <c:v>0.52</c:v>
                </c:pt>
                <c:pt idx="8">
                  <c:v>0.509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Aer (4000 shot)</c:v>
                </c:pt>
              </c:strCache>
            </c:strRef>
          </c:tx>
          <c:spPr>
            <a:solidFill>
              <a:srgbClr val="D9822B"/>
            </a:solidFill>
            <a:ln w="25400" cap="flat">
              <a:solidFill>
                <a:srgbClr val="D982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9822B"/>
              </a:solidFill>
              <a:ln w="9525" cap="flat">
                <a:solidFill>
                  <a:srgbClr val="D982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20</c:v>
                  </c:pt>
                  <c:pt idx="4">
                    <c:v>30</c:v>
                  </c:pt>
                  <c:pt idx="5">
                    <c:v>40</c:v>
                  </c:pt>
                  <c:pt idx="6">
                    <c:v>60</c:v>
                  </c:pt>
                  <c:pt idx="7">
                    <c:v>80</c:v>
                  </c:pt>
                  <c:pt idx="8">
                    <c:v>100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</c:v>
                </c:pt>
                <c:pt idx="1">
                  <c:v>0.908</c:v>
                </c:pt>
                <c:pt idx="2">
                  <c:v>0.832</c:v>
                </c:pt>
                <c:pt idx="3">
                  <c:v>0.719</c:v>
                </c:pt>
                <c:pt idx="4">
                  <c:v>0.652</c:v>
                </c:pt>
                <c:pt idx="5">
                  <c:v>0.605</c:v>
                </c:pt>
                <c:pt idx="6">
                  <c:v>0.549</c:v>
                </c:pt>
                <c:pt idx="7">
                  <c:v>0.526</c:v>
                </c:pt>
                <c:pt idx="8">
                  <c:v>0.513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X–X çifti sayısı 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Yıldız GHZ-5 → FakeManilaV2 (mantıksal: derinlik 6, 4 CX)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Derinlik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level 0</c:v>
                  </c:pt>
                  <c:pt idx="1">
                    <c:v>level 1</c:v>
                  </c:pt>
                  <c:pt idx="2">
                    <c:v>level 2</c:v>
                  </c:pt>
                  <c:pt idx="3">
                    <c:v>level 3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CX sayısı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level 0</c:v>
                  </c:pt>
                  <c:pt idx="1">
                    <c:v>level 1</c:v>
                  </c:pt>
                  <c:pt idx="2">
                    <c:v>level 2</c:v>
                  </c:pt>
                  <c:pt idx="3">
                    <c:v>level 3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FakeManilaV2 gürültüsüyle GHZ (4000 shot)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Hellinger F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GHZ-2</c:v>
                  </c:pt>
                  <c:pt idx="1">
                    <c:v>GHZ-3</c:v>
                  </c:pt>
                  <c:pt idx="2">
                    <c:v>GHZ-4</c:v>
                  </c:pt>
                  <c:pt idx="3">
                    <c:v>GHZ-5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0.962</c:v>
                </c:pt>
                <c:pt idx="1">
                  <c:v>0.872</c:v>
                </c:pt>
                <c:pt idx="2">
                  <c:v>0.851</c:v>
                </c:pt>
                <c:pt idx="3">
                  <c:v>0.803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 iki amaç var: (1) genel kültür olarak diğer framework'leri tanımak ve okuyabilmek, (2) simülatörün mükemmel dünyasından gerçek donanımın gürültülü dünyasına geçmek. Dersin geri kalanında Qiskit ile devam edeceğimizi en başta söyleyin; bu hafta 'neden Qiskit, diğerleri ne yapıyor' sorusunun cevabı.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 karşılaştırma ve taşıma, ikinci saat gürültü ve donanım, üçüncü saat lab. Lab'ın kurulum hücresi Colab'da birkaç dakika sürebilir; öğrencilere ders başında çalıştırmalarını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okuyun. Özellikle bit sırası ve gürültü konularının sonraki haftalarda sürekli karşılarına çıkacağını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Web ve derin öğrenme benzetmesi öğrencilere çok tanıdık. Kavramlar aynı, API farklı. Ortak ara dil (OpenQASM) bytecode rolünde.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Birinci saat. Önce her framework'e kısa bakış ve üç karşılaştırma tablosu. Bu bölümde her framework'e kısa bakış ve üç karşılaştırma tablosu var. Sürüm numaralarına girmeyin; hızla değişiyorlar.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Qiskit: metot çağrılarıyla devre, 2.x'te primitives. Cirq: kübit nesnesi, moment yapısı, ölçüm anahtarı. İkisinin sonuç formatını ve bit sırasını karşılaştırın.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PennyLane: fonksiyon = devre, dönüş değeri = ölçüm; 14. haftada PyTorch ile kullanacağız. Braket: zincirleme yazım, LocalSimulator ücretsiz ve hesapsız; buluttaki cihazlar ücretli.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ikisini derste çalıştırmıyoruz; yalnızca okuyacağız. Q# ayrı bir dil: tip sistemi, use ile kübit ayırma, Reset zorunluluğu. CUDA-Q: kernel dekoratörü, GPU hedefleri. Kodlar resmi dokümandaki örneklere dayanıyor.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Hepsi açık kaynak. Soyutlama düzeyi farkına dikkat çekin: Cirq en düşük (donanıma yakın), PennyLane ve Q# en yüksek. Lisans bilgileri resmi depolardan; değişebilir.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Hangi durumda hangisini seçerim sorusu. Tek doğru yok; ekip, donanım ve amaç belirler. Yazılı sorulardaki açık uçlu soru bununla ilgili.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tablo haftanın en pratik tablosu. Turuncu vurgulanmış satıra dikkat: Qiskit diğerlerinden farklı. Sonuç tipleri de farklı: dict, Counter, int anahtar, str anahtar.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Hedef: 6. haftadaki GHZ-3 (H + 2 CNOT); ideal sonuç yalnız 000 ve 111. Qiskit: run bir PUB listesi alır, sonuç klasik yazmacın adıyla (meas) erişilir. Cirq: histogram tamsayı döndürür: 7 = 111. Çıktılar sandbox'ta gerçekten alındı.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PennyLane'de shot sayısı set_shots dekoratörüyle veriliyor (güncel API). Braket'te ölçüm eklemiyoruz; LocalSimulator her şeyi ölçüyor.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Native grafik: sandbox sonuçları. Hepsi yaklaşık yarı yarıya. Sonuç tiplerindeki farkı tabloda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satır satır okuyun. En büyük farklar: kübitin nesne mi indeks mi olduğu ve ölçümün nasıl tanımlandığı.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Yalnız q0'a X uygulanmış 3 kübit. Qiskit q0'ı sağa yazar (little-endian), diğerleri sola. Veri aynı, yazılış farklı. x86 ile ağ bayt sırası benzetmesi.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 fonksiyonla tüm framework çıktıları ortak biçime. Cirq tamsayısını önce n bitlik stringe çevirip sonra ters çeviriyoruz.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2 dakika verin. Tablo 4.2'yi de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dağılım palindrom değil: çevirmeden Qiskit fonksiyonlarına vermek yanlış sonuç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 → LLVM IR → x86/ARM; Java → bytecode → JVM. Kuantumda: framework → OpenQASM/QIR → donanım kapıları. Transpiler geçişleri optimizasyon geçişleri gibi.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dumps metin üretir, loads geri okur. Gidiş-dönüş eşitliği bir regresyon testi. Metnin okunabilir olduğunu gösterin: assembly gibi.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Tuzakların hepsi sandbox'ta gerçekten karşılaşıldı: Braket cx tanımıyor, stdgates.inc bulamıyor; Cirq okuyucusu barrier tanımıyor. Taşıdıktan sonra mutlaka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Statevector 2^n, density matrix 4^n bellek. MPS dolanıklık azsa çok kübitle çalışır: 60 kübit GHZ sandbox'ta 0.4 saniye.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ek kübit SV belleğini 2, DM belleğini 4 katına çıkarır.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arayüz yerelde ve donanımda: yalnızca sınıf değişir. JDBC sürücüsü benzetmesi. Estimator ölçümsüz devre alır; ZI'de Z q1'e etki eder (Qiskit sırası).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sayımları 2. saatte gürültü modeliyle üreteceğiz. Estimator donanımda tam olarak bunu yapar: sayımlardan beklenen değer.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Fizik yok: hataları 'rastgele araya giren istenmeyen kapılar' olarak anlatın. Ağdaki paket bozulması benzetmesi.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Bit-flip X, faz Z, depolarize rastgele Pauli, okuma hatası sadece kaydı bozar. Faz hatası |0⟩'da görünmez; H-hata-H hilesiyle görünür (2. hafta).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Sandbox'ta 10000 shot. Depolarize neden 0.95? Rastgeleleşen durum yarı yarıya yine doğru çıkıyor: 1 − p/2.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Olasılık ağacı çizerek anlatın.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Bloch vektörünün kısalması olarak görselleştirin (3. hafta).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NoiseModel bir yapılandırma dosyası gibi: devre kodu değişmiyor. Değerler öğretim amaçlı abartılı.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Kübit ve kapı sayısı arttıkça bozulma büyüyor: Bell 0.896, GHZ 0.829. Hellinger fidelity'yi bir sonraki slaytta tanımlıyoruz.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Başarı olasılığı doğru sonuçların toplamı; ama doğru sonuçlar arasındaki oranı görmez. Hellinger tüm dağılımı karşılaştırır. Lab alıştırma 3'te kendileri yazacaklar.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 hellinger_fidelity ile aynı sonucu verdiğini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X·X = I; devre idealde hiçbir şey yapmıyor. Her X'te p=0.02 depolarize. Teori ile Aer örtüşüyor. optimization_level=0 şart: yoksa transpiler X-X'leri siliyor!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alıştırma 7 bunun kodu. ln negatif olduğu için eşitsizliğin yön değiştirdiğini vurgulayın. Genel kural: n hatalı kapının hepsinin hatasız çalışma olasılığı ≈ (1−e)^n; e=0.01, 40 CX → 0.67. Bu yüzden iki kübitli kapı sayısı ana maliyet ölçütü (ders notu Şekil 7.5).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Sensör kalibrasyonu benzetmesi: bilinen girdiler (|0⟩, |1⟩) hazırla, ölç, sapmayı matrisle tanımla. Sütun = gerçek durum, sütun toplamı 1. Bağımsız hatalarda A⊗A (2. haftadaki kron).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2x2 ters matris formülünü hatırlatın: (1/det)[[d,−b],[−c,a]].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Sağdaki grafik Aer, 20000 shot. Düzeltmenin sadece okuma hatasını giderdiğini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Hata azaltma (mitigation) ile hata düzeltme (correction) farkını belirtin. Düzeltme kapı hatalarını gidermez.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FakeManilaV2 5 kübitli doğrusal bir cihaz. Hata oranları kalibrasyon anlık görüntüsü; gerçek cihazlarda sürekli değişir. Hesap ve internet gerekmez.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Ağ yönlendirmesi (routing) benzetmesi: paket ara düğümlerden geçer. 1 SWAP = 3 CX. Transpiler yerleşimi (layout) kaydeder, sonuçlar doğru kübite eşlenir.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Yerleşim serbest olsaydı transpiler q0'ı ortaya koyup SWAP'i önleyebilirdi; bunu tartıştırın.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Yıldız GHZ-5 (q0 herkese CX) doğrusal Manila'da. Level 0 çok SWAP, level 1+ daha iyi yerleşim. Küçük devrede 1-3 arası fark yok; büyük devrelerde belirginleşir.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from_backend kalibrasyon verilerinden gürültü modeli kurar. SamplerV2(mode=fake_backend) IBM'in primitive'ini yerel test modunda kullanır; aynı kod gerçek cihazda da çalışır.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Bulut API'si gibi: hesap, token, servis, arka uç, transpile, çalıştır, sonuç. Open Plan: 28 günlük kayan pencerede 10 dk QPU (Eylül 2026; değişebilir). Token'ı asla notebook'a yazmayın; Colab Secrets.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Kurulum hücresi Colab'da birkaç dakika sürebilir. Hatayla karşılaşan olursa oturumu yeniden başlatsın.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A ve F en uzun kısımlar. Alıştırmaların hepsi assert ile otomatik kontrol ediliyor. Gerçek donanım hücresi bayrakla kapalı.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ilk algoritmalar. Oracle kavramını 'kara kutu fonksiyon' olarak tanıtacağız; bu haftanın fake backend bilgisi o algoritmaları gerçekçi koşullarda denemek için kullanılacak.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7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Kuantum Yazılım Framework'leri ve Donanıma Erişim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Qiskit · Cirq · PennyLane · Braket · Q# · CUDA-Q  —  aynı devre dört framework'te · OpenQASM · simülatörler · gürültü · gerçek donanım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Framework'ler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Ekosistem ve karşılaştırma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devre 4 framework'te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sırası farkı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OpenQASM, simülatörler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ve donanım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modelleri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 fidelity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hatası düzeltme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backend, SWAP, IBM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framework'te Bell/GHZ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QASM ile taşıma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NoiseModel, düzeltme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alıştırma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Öğretim üyesinin isteği: "Qiskit güzel bir seçenek, ancak genel kültür açısından diğer framework'leri de bilsinler."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665665"/>
                <a:gridCol w="1042875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sonunda öğrenci…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Altı framework'ü geliştirici, dil, soyutlama ve kullanım alanıyla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karşılaştırabilir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Bell/GHZ devresini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framework'te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yazıp çalıştırabilir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sırası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farkını açıklar, dönüştürücü fonksiyon yazar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Devreyi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OpenQASM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ile framework'ler arasında taşır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simülatörü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seçer; Sampler/Estimator kullanır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modellerini kurar,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Hellinger fidelity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hesaplar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Okuma hatasını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kalibrasyon matrisiyle düzeltir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backend'de transpile eder;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ve optimization_level etkisini ölçer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birden fazla framework var?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66739"/>
            <a:ext cx="6766560" cy="2970042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188720"/>
          <a:ext cx="4053535" cy="914400"/>
        </p:xfrm>
        <a:graphic>
          <a:graphicData uri="http://schemas.openxmlformats.org/drawingml/2006/table">
            <a:tbl>
              <a:tblPr/>
              <a:tblGrid>
                <a:gridCol w="2107838"/>
                <a:gridCol w="194569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Yazılım dünyası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 karşılığı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/ Vue / Angular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/ Cirq / PennyLane / 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+ otomatik türev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 çekirdekleri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CUDA-Q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JVM bytecode / LLVM 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OpenQASM 2/3, QIR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-O0 … -O3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optimization_level 0…3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Mock nesne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 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389120"/>
            <a:ext cx="6766560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498848"/>
            <a:ext cx="640080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mesaj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Kübit, kapı, devre, ölçüm, shot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yerde aynı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Değişen: yazım biçimi, sonuç formatı ve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sırası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1.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Framework'ler ve taşınabilirlik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Altı framework · aynı devre dört framework'te · bit sırası · OpenQASM · simülatörler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(IBM) ve Cirq (Google)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410048" cy="2468880"/>
          </a:xfrm>
          <a:prstGeom prst="roundRect">
            <a:avLst>
              <a:gd name="adj" fmla="val 296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44168"/>
            <a:ext cx="504428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· IBM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QuantumCircuit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üzerinde metotlar: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2.x: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 / Estimator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primitives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transpiler, Aer simülatörü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donanımına doğrudan erişim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sırası: q₀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sağda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234440"/>
            <a:ext cx="5410048" cy="2468880"/>
          </a:xfrm>
          <a:prstGeom prst="roundRect">
            <a:avLst>
              <a:gd name="adj" fmla="val 296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44168"/>
            <a:ext cx="504428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Cirq · Google Quantum AI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 = nesne: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LineQubit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GridQubit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dizisi (zaman dilimi)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Donanıma yakın ince kontrol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(key) ile saklanır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histogram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tamsayı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anahtar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5410048" cy="9144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402336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qc.h(0); qc.cx(0, 1); qc.measure_all()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33008" y="3931920"/>
            <a:ext cx="5410048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70168" y="4023360"/>
            <a:ext cx="51357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cirq.LineQubit.range(2)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cirq.Circuit(cirq.H(q[0]), cirq.CNOT(q[0], q[1]),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cirq.measure(*q, key="m"))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(Xanadu) ve Amazon Braket SDK (AWS)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410048" cy="2468880"/>
          </a:xfrm>
          <a:prstGeom prst="roundRect">
            <a:avLst>
              <a:gd name="adj" fmla="val 296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44168"/>
            <a:ext cx="504428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· Xanadu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= Python fonksiyonu (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QNode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 değeri ölçümü tanımlar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türev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PyTorch / JAX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Eklentilerle farklı arka uçlar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0 bit dizisinin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solunda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234440"/>
            <a:ext cx="5410048" cy="2468880"/>
          </a:xfrm>
          <a:prstGeom prst="roundRect">
            <a:avLst>
              <a:gd name="adj" fmla="val 296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44168"/>
            <a:ext cx="504428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Braket SDK · AWS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Zincirleme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yazım: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.h(0).cnot(0,1)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otomatik (tüm kübitler)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LocalSimulator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yerel, hesapsız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API ile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birden çok sağlayıcı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 0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kapı adı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cnot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3931920"/>
            <a:ext cx="5410048" cy="14630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4023360"/>
            <a:ext cx="513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@qml.qnode(qml.device("default.qubit", wires=2))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bell():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qml.Hadamard(0); qml.CNOT([0, 1])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qml.probs()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33008" y="3931920"/>
            <a:ext cx="5410048" cy="9144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70168" y="4023360"/>
            <a:ext cx="513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Circuit().h(0).cnot(0, 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LocalSimulator().run(c, shots=1000)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Q# (Microsoft QDK) ve CUDA-Q (NVIDIA)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44168"/>
            <a:ext cx="504428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Q# · Microsoft Quantum Development Kit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 bir dil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tip güvenli: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q = Qubit();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sonunda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yanı: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kestirimi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Quantum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234440"/>
            <a:ext cx="5410048" cy="2103120"/>
          </a:xfrm>
          <a:prstGeom prst="roundRect">
            <a:avLst>
              <a:gd name="adj" fmla="val 347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44168"/>
            <a:ext cx="5044288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CUDA-Q · NVIDIA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@cudaq.kernel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(Python),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__qpu__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(C++)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hızlandırmalı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simülasyon, HPC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değiştirerek CPU / GPU / QPU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MLIR tabanlı derleyici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474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kodlar gösterim amaçlıdır — derste ÇALIŞTIRILMAZ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840480"/>
            <a:ext cx="5410048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931920"/>
            <a:ext cx="513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Main() : (Result, Result)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 (q1, q2) = (Qubit(), Qubit());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H(q1);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CNOT(q1, q2);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(m1, m2) = (M(q1), M(q2));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Reset(q1); Reset(q2);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(m1, m2);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33008" y="3840480"/>
            <a:ext cx="5410048" cy="21945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0168" y="3931920"/>
            <a:ext cx="513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@cudaq.kernel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ghz(n: int):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qv = cudaq.qvector(n)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h(qv[0])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range(n - 1):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x.ctrl(qv[i], qv[i + 1])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mz(qv)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print(cudaq.sample(ghz, 3, shots_count=1000))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1: geliştirici, dil, soyutlama, lisans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664162"/>
                <a:gridCol w="2218883"/>
                <a:gridCol w="2662660"/>
                <a:gridCol w="2884548"/>
                <a:gridCol w="166416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Geliştirici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Soyutlama düzeyi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Lisans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(çekirdek kısmen Rust)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 + primitives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Quantum AI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Düşük: moment, yerleşim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Xanadu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Yüksek: fonksiyon = devre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 SDK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Devre, satıcıdan bağımsız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Q# / QDK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Q# + 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düzey dil, tipler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CUDA-Q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C++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Kernel, GPU odaklı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açık kaynak. Sürüm numaraları hızla değişir → lab notebook'u kullanılan sürümleri yazdırır.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2: güçlü yan ve tipik kullanım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4881543"/>
                <a:gridCol w="4437766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Güçlü yanı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Tipik kullanım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Transpiler, Aer, IBM donanımı, eğitim kaynağı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Eğitim, algoritma, IBM deneyleri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İnce donanım kontrolü, gürültü kanalları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Donanıma yakın araştırma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Otomatik türev, PyTorch/JAX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QML, varyasyonel algoritmalar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 SDK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API, çok sağlayıcı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 karşılaştırma, AWS projeleri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Q# / QDK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 güvenliği, kaynak kestirimi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ölçekli algoritma tasarımı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CUDA-Q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simülasyon, HPC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devre simülasyonu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3: bit sırası, sonuç formatı, donanım erişimi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553218"/>
                <a:gridCol w="2662660"/>
                <a:gridCol w="4215878"/>
                <a:gridCol w="26626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sırası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 formatı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 erişimi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 sağda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(little-endian)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get_counts()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{'00': 502, …}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Quantum Platform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ilk kübit solda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histogram()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Counter({0: 512, 3: 488})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(sınırlı), eklentiler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 0 solda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QNode dönüşü: counts / probs / expval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Eklentiler (IBM, Braket…)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 0 solda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measurement_counts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Counter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Braket (ücretli)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Q#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sıralı Result dizisi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(Zero / One)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Quantum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CUDA-Q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ilk ayrılan solda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SampleResult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GPU; desteklenen QPU'lar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4924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458968"/>
            <a:ext cx="10728655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listeleri, kotalar ve fiyatlar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 değişir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projeye başlarken resmi dokümantasyona bakın (Eylül 2026 itibarıyla).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ve Cirq ile GHZ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410048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51357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Qiskit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QuantumCircuit(3); qc.h(0)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qc.cx(0, 1); qc.cx(1, 2); qc.measure_all()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StatevectorSampler(seed=7).run(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[qc], shots=1000).result()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res[0].data.meas.get_counts()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{'111': 498, '000': 502}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33008" y="1188720"/>
            <a:ext cx="5410048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70168" y="1280160"/>
            <a:ext cx="51357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Cirq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cirq.LineQubit.range(3)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cirq.Circuit(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cirq.H(q[0]),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cirq.CNOT(q[0], q[1]),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cirq.CNOT(q[1], q[2]),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cirq.measure(*q, key="m"))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cirq.Simulator(seed=7)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sim.run(c, repetitions=1000)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r.histogram(key="m")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Counter({0: 502, 7: 498})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5410048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818888"/>
            <a:ext cx="5044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anahtar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(q₀ sağda). Ham veri: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get_bitstrings()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33008" y="4709160"/>
            <a:ext cx="5410048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15888" y="4818888"/>
            <a:ext cx="504428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anahtar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(7 = 0b111). Ham veri: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measurements['m']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PennyLane ve Braket ile GHZ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410048" cy="3657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51357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PennyLane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 = qml.device("default.qubit", wires=3, seed=7)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@qml.set_shots(1000)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@qml.qnode(dev)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ghz():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qml.Hadamard(0)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qml.CNOT([0, 1]); qml.CNOT([1, 2])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qml.counts()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ghz()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{'000': 511, '111': 489}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33008" y="1188720"/>
            <a:ext cx="5410048" cy="3657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70168" y="1280160"/>
            <a:ext cx="51357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Amazon Braket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braket.circuits import Circuit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braket.devices import LocalSimulator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Circuit().h(0).cnot(0, 1).cnot(1,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LocalSimulator().run(c, shots=1000)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.result().measurement_counts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Counter({'000': 533, '111': 467})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02920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138928"/>
            <a:ext cx="107286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framework,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dağılım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yalnızca 000 ve 111. Sayımlardaki küçük farklar rastgele örneklemeden (farklı tohumlar).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dört framework, aynı GHZ dağılımı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6583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280160"/>
          <a:ext cx="4236415" cy="914400"/>
        </p:xfrm>
        <a:graphic>
          <a:graphicData uri="http://schemas.openxmlformats.org/drawingml/2006/table">
            <a:tbl>
              <a:tblPr/>
              <a:tblGrid>
                <a:gridCol w="1525109"/>
                <a:gridCol w="1270925"/>
                <a:gridCol w="1440381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'111'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'111'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 '111'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406640" y="4023360"/>
            <a:ext cx="4236415" cy="1828800"/>
          </a:xfrm>
          <a:prstGeom prst="roundRect">
            <a:avLst>
              <a:gd name="adj" fmla="val 4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589520" y="4133088"/>
            <a:ext cx="3870655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 ve 111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bit sırası farkı burada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görünmez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Asimetrik bir test gerekir.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yana kod karşılaştırması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1331330"/>
                <a:gridCol w="2551715"/>
                <a:gridCol w="2551715"/>
                <a:gridCol w="2440771"/>
                <a:gridCol w="2218883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İşlem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QuantumCircuit(3)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LineQubit.range(3)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device(wires=3)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otomatik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Hadamard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qc.h(0)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cirq.H(q[0])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qml.Hadamard(0)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.h(0)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qc.cx(0,1)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cirq.CNOT(q0,q1)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qml.CNOT([0,1])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.cnot(0,1)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measure_all()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measure(*q,key=)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 qml.counts()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otomatik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Simülatör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StatevectorSampler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cirq.Simulator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default.qubit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LocalSimulator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Çalıştır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.run([qc],shots=)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.run(c,repetitions=)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QNode çağrısı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.run(c,shots=)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data.meas.get_counts()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.histogram(key=)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dönüş değeri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.measurement_counts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Çizim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qc.draw('mpl')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print(c)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qml.draw(f)()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print(c)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durum: Qiskit '001', diğerleri '100'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30102"/>
            <a:ext cx="7498080" cy="2951876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21040" y="1188720"/>
          <a:ext cx="3322015" cy="914400"/>
        </p:xfrm>
        <a:graphic>
          <a:graphicData uri="http://schemas.openxmlformats.org/drawingml/2006/table">
            <a:tbl>
              <a:tblPr/>
              <a:tblGrid>
                <a:gridCol w="1494907"/>
                <a:gridCol w="182710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{'001': 10}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Counter({4: 10})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probs[4] =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{'100': 10}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34340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453128"/>
            <a:ext cx="10728655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bir hata değil, bir sözleşme (convention)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Tehlike: iki sözleşmeyi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 etmeden karıştırmak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Dönüşüm tek satır: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s[::-1]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 her zaman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sırası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(q₀ sağda) kullanılır.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Dönüştürücü fonksiyon: to_qiskit_order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3108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to_qiskit_order(counts, n=None, big_endian=True):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{}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 v in counts.items():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Cirq anahtarı int ise önce n bitlik stringe çevir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 format(int(k), f"0{n}b") if not isinstance(k, str) else str(k)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 = s[::-1] if big_endian else s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ters çevir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out[s] = out.get(s, 0) + int(v)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out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to_qiskit_order({4: 10}, n=3)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Cirq   -&gt; {'001': 10}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to_qiskit_order({"100": 10})         # Braket -&gt; {'001': 10}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636008"/>
            <a:ext cx="50442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ipucu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Palindromlar (00, 11, 101…) hatayı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Test için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asimetrik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durum: yalnız q₀ = 1.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3008" y="452628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5888" y="4636008"/>
            <a:ext cx="50442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karşılığı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testte simetrik test verisi bazı hataları saklar —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kenar durumları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seç.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Aynı durum, dört yazılış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kübit: q₀ = 1, q₁ = 1, q₂ = 0. Qiskit, Braket ve Cirq'te nasıl görünür? Qiskit indeksi?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Qiskit sırası q₂q₁q₀: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Qiskit = '011'   →   indeks 3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Braket/PennyLane sırası q₀q₁q₂: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Braket = '110'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Cirq = big-endian stringin tamsayısı: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Cirq = 4 + 2 = 6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Qiskit '011' (3), Braket '110', Cirq 6</a:t>
            </a:r>
            <a:endParaRPr lang="en-US" sz="1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325880"/>
          <a:ext cx="4144975" cy="914400"/>
        </p:xfrm>
        <a:graphic>
          <a:graphicData uri="http://schemas.openxmlformats.org/drawingml/2006/table">
            <a:tbl>
              <a:tblPr/>
              <a:tblGrid>
                <a:gridCol w="1160593"/>
                <a:gridCol w="994794"/>
                <a:gridCol w="1077694"/>
                <a:gridCol w="9118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Big-end.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q₀=1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q₁=1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q₂=1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q₀q₁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q₀q₂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Braket → Qiskit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Braket: {'100': 480, '011': 520}. Qiskit sırasına çevirin. Hangi kübit ilişkisi var?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Her anahtarı ters çevir: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'100' → '001'      '011' → '110'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{'001': 480, '110': 520}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'001': q₀=1, q₁=0, q₂=0   ·   '110': q₀=0, q₁=1, q₂=1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q₀ her zaman diğer iki kübitin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{'001': 480, '110': 520}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417320"/>
            <a:ext cx="4144975" cy="14630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508760"/>
            <a:ext cx="38706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to_qiskit_order(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{'100': 480, '011': 520})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{'001': 480, '110': 520}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 temsil (IR): derleyici benzetmesi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5568"/>
            <a:ext cx="6949440" cy="3072384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188720"/>
          <a:ext cx="3870655" cy="914400"/>
        </p:xfrm>
        <a:graphic>
          <a:graphicData uri="http://schemas.openxmlformats.org/drawingml/2006/table">
            <a:tbl>
              <a:tblPr/>
              <a:tblGrid>
                <a:gridCol w="1006370"/>
                <a:gridCol w="1432142"/>
                <a:gridCol w="143214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OpenQASM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OpenQASM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Bildirim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qreg q[3];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qubit[3] q;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 q -&gt;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 = measure 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basit </a:t>
                      </a: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if/else, döngü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qasm2.dumps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qasm3.dumps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4348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544568"/>
            <a:ext cx="10728655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Makaledeki bir Cirq devresini Qiskit'e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taşıyabilmek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framework'te yazıp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sağlayıcının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donanımında çalıştırabilmek (Braket, Azure)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→ OpenQASM 2 / 3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410048" cy="4663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51357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QuantumCircuit(3, 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qc.h(0); qc.cx(0, 1); qc.cx(1, 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qc.measure([0,1,2], [0,1,2])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print(qasm2.dumps(qc))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OPENQASM 2.0;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include "qelib1.inc";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qreg q[3];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creg c[3];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 q[0];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cx q[0],q[1];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cx q[1],q[2];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measure q[0] -&gt; c[0]; ...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33008" y="1188720"/>
            <a:ext cx="5410048" cy="4663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70168" y="1280160"/>
            <a:ext cx="51357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print(qasm3.dumps(qc))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OPENQASM 3.0;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include "stdgates.inc";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bit[3] c;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qubit[3] q;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 q[0];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cx q[0], q[1];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cx q[1], q[2];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c[0] = measure q[0]; ...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qasm2.loads(qasm2.dumps(qc)) == qc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 (gidiş-dönüş testi)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↔ Cirq ↔ Braket taşıma ve tuzakları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4931" y="1097280"/>
            <a:ext cx="6301833" cy="201168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4881543"/>
                <a:gridCol w="421587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Tuzak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Belirti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Çözüm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adı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Braket: "Gate cx is not defined"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cx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cnot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 </a:t>
                      </a: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stdgates.inc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bulamıyor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satırını kaldır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Yönerge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Cirq: "Unknown gate barrier"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measure_all</a:t>
                      </a: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yerine </a:t>
                      </a: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Cirq: c_0, c_1, c_2 ayrı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anahtarda topla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sırası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sayımlar ters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to_qiskit_order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simülatör türü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675120" cy="914400"/>
        </p:xfrm>
        <a:graphic>
          <a:graphicData uri="http://schemas.openxmlformats.org/drawingml/2006/table">
            <a:tbl>
              <a:tblPr/>
              <a:tblGrid>
                <a:gridCol w="1602029"/>
                <a:gridCol w="1602029"/>
                <a:gridCol w="1335024"/>
                <a:gridCol w="213603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zaman?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Statevector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 genlik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16·2ⁿ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ayıklama, n ≲ 30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 sampler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 + örnekleme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 gibi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Gerçekçi sayımlar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matrix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2ⁿ×2ⁿ matris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16·4ⁿ 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n ≲ 12–15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tensör zinciri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dolanıklığa bağlı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kübit, az dolanıklık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431072"/>
            <a:ext cx="4144975" cy="225849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48640" y="4251960"/>
            <a:ext cx="11094415" cy="11887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685800" y="434340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AerSimulator(method="statevector")            # n=20 GHZ ≈ 1.6 sn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AerSimulator(method="density_matrix")         # n=10     ≈ 0.5 sn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AerSimulator(method="matrix_product_state")   # n=60     ≈ 0.4 sn !</a:t>
            </a:r>
            <a:endParaRPr lang="en-US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Süreler sandbox ölçümüdür; makineye göre değişir.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Bellek hesabı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complex128 (16 bayt/genlik): (a) 30 kübit SV, (b) 40 kübit SV, (c) 16 GiB ile en fazla kaç kübit density matrix?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16 × 2³⁰ = 2³⁴ B = 16 GiB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16 × 2⁴⁰ = 2⁴⁴ B = 16 TiB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(c) yoğunluk matrisi 16 × 4ⁿ = 2⁴⁺²ⁿ bayt ≤ 2³⁴: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2n ≤ 30  →  n ≤ 15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16 GiB · 16 TiB · 15 kübit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2.x primitives: Sampler ve Estimator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9734"/>
            <a:ext cx="5669280" cy="1909652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188720"/>
          <a:ext cx="5242255" cy="914400"/>
        </p:xfrm>
        <a:graphic>
          <a:graphicData uri="http://schemas.openxmlformats.org/drawingml/2006/table">
            <a:tbl>
              <a:tblPr/>
              <a:tblGrid>
                <a:gridCol w="1153296"/>
                <a:gridCol w="2411437"/>
                <a:gridCol w="167752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Yerel (ideal)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donanımı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StatevectorSampler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SamplerV2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StatevectorEstimator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EstimatorV2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6400800" y="2697480"/>
            <a:ext cx="5242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(gürültülü, yerel): </a:t>
            </a:r>
            <a:r>
              <a:rPr lang="en-US" sz="13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qiskit_aer.primitives.SamplerV2 / EstimatorV2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548640" y="3566160"/>
            <a:ext cx="11094415" cy="1371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85800" y="3657600"/>
            <a:ext cx="10820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bell = QuantumCircuit(2); bell.h(0); bell.cx(0, 1)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ölçüm YOK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 = [SparsePauliOp("ZZ"), SparsePauliOp("ZI"), SparsePauliOp("XX")]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StatevectorEstimator().run([(bell, obs)]).result()[0].data.evs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[1. 0. 1.]   -&gt; ⟨ZZ⟩=1: bitler hep aynı · ⟨ZI⟩=0: q1 tek başına rastgele · ⟨XX⟩=1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5230368"/>
            <a:ext cx="1072865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Sampler: "hangi bit dizileri kaç kez?"  ·  Estimator: "⟨O⟩ kaç?" → QML, VQE, QAOA (11–15. haftalar)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Sayımlardan ⟨ZZ⟩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Bell: {'00': 1829, '01': 199, '10': 216, '11': 1756} (4000 shot). ⟨ZZ⟩?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Bitler aynı → +1, farklı → −1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⟨ZZ⟩ ≈ (N₀₀ + N₁₁ − N₀₁ − N₁₀) / N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(1829 + 1756 − 199 − 216) / 4000 = 0.7925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İdeal Bell: ⟨ZZ⟩ = 1; fark tamamen gürültüden.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⟨ZZ⟩ ≈ 0.79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Gürültü: yazılımcı gözüyle hata modelleri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Simülatörün mükemmel dünyasından gerçek donanıma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hata modeli: rastgele araya giren kapılar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0626" y="1097280"/>
            <a:ext cx="7570443" cy="256032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3328325"/>
                <a:gridCol w="576909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Bozduğu şey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Aer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Bit-flip (p)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↔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pauli_error([('X',p),('I',1-p)])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Faz (p)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 ↔ |−⟩ (göreli faz)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pauli_error([('Z',p),('I',1-p)])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Depolarize (p)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şey (rastgeleleşir)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depolarizing_error(p, 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Okuma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 kayıt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ReadoutError([[.97,.03],[.05,.95]])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bir hatalı kapının etkisi (p = 0.1)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64008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223760" y="1280160"/>
            <a:ext cx="4419295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223760" y="1280160"/>
            <a:ext cx="44192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P(doğru) = (1 − p)·1 + p·½ = 1 − p/2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7223760" y="2560320"/>
            <a:ext cx="4419295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06640" y="2670048"/>
            <a:ext cx="405353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Bit-flip, faz: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p = 0.90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Depolarize: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p/2 = 0.95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223760" y="4206240"/>
            <a:ext cx="4419295" cy="1645920"/>
          </a:xfrm>
          <a:prstGeom prst="roundRect">
            <a:avLst>
              <a:gd name="adj" fmla="val 444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406640" y="4315968"/>
            <a:ext cx="405353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hatası hilesi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Z|0⟩ = |0⟩ → görünmez.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→ hata → H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faz hatası bit hatasına dönüşür.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Art arda iki bit-flip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|0⟩'a p = 0.1 bit-flip taşıyan iki boş kapı. P(0)? Neden 0.81 değil?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Hiç hata: (1 − p)² = 0.81 → 0 ✓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hata: 2p(1 − p) = 0.18 → 1 ✗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hata: p² = 0.01 → XX = I → 0 ✓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0.81 + 0.01 = 0.82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İki hata birbirini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iptal eder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P(0) = 0.82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Depolarize hata ve derinlik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0.02, k = 10 X–X çifti (20 kapı). P(0)?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Her kapı ⟨Z⟩'yi (1 − p) katına kısaltır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⟨Z⟩ = (0.98)²⁰ = 0.6676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(1 + ⟨Z⟩)/2 = 0.5 + 0.3338 = 0.834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Aer: 0.832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P(0) ≈ 0.834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 NoiseModel: devre aynı, yapılandırma farklı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my_noise(p1=0.02, p2=0.05, ro=(0.03, 0.05)):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nm = NoiseModel()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nm.add_all_qubit_quantum_error(depolarizing_error(p1, 1), ["h", "x", "sx", "rz", "id"])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nm.add_all_qubit_quantum_error(depolarizing_error(p2, 2), ["cx"])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nm.add_all_qubit_readout_error(ReadoutError([[1-ro[0], ro[0]], [ro[1], 1-ro[1]]]))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AerSimulator(noise_model=my_noise(), seed_simulator=11)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sim.run(transpile(bell, sim), shots=4000).result().get_counts()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{'00': 1829, '11': 1756, '01': 199, '10': 216}</a:t>
            </a:r>
            <a:endParaRPr lang="en-US" sz="14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kübit depolarize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CX depolarize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P(1|0) / P(0|1)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 / 0.05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309360" y="4663440"/>
            <a:ext cx="5333695" cy="1234440"/>
          </a:xfrm>
          <a:prstGeom prst="roundRect">
            <a:avLst>
              <a:gd name="adj" fmla="val 5926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92240" y="4773168"/>
            <a:ext cx="496793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sonuçlar: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ideal Bell'de hiç yoktu!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 Bell ve GHZ histogramları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73508"/>
            <a:ext cx="11094415" cy="32137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4632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956048"/>
            <a:ext cx="5044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Bell: Hellinger F =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0.896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 CX)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233008" y="484632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956048"/>
            <a:ext cx="5044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GHZ-3: Hellinger F =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 CX)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olasılığı ve Hellinger fidelity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F(p, q) = ( Σₓ √(p(x) · q(x)) )²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70048"/>
            <a:ext cx="504428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 olasılığı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Bell: P(00) + P(11)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Basit, ama %90 '00' + %0 '11' 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verir!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3008" y="2560320"/>
            <a:ext cx="5410048" cy="18288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5888" y="2670048"/>
            <a:ext cx="5044288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 fidelity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özdeş dağılım, 0 = ortak sonuç yok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hellinger_fidelity(c1, c2)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4617720"/>
            <a:ext cx="11094415" cy="12344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4709160"/>
            <a:ext cx="1082009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my_hellinger(p, q):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sp, sq = sum(p.values()), sum(q.values())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sum(np.sqrt(p.get(k,0)/sp * q.get(k,0)/sq) for k in set(p)|set(q)) ** 2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Hellinger fidelity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{00: .5, 11: .5}, Q = {00: .46, 11: .44, 01: .05, 10: .05}. Başarı olasılığı ve F?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Başarı = 0.46 + 0.44 = 0.90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P(01) = P(10) = 0 → katkı yok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√(0.5·0.46) + √(0.5·0.44) = 0.4796 + 0.4690 = 0.9486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0.9486² = 0.8999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Başarı 0.90, F ≈ 0.900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417320"/>
            <a:ext cx="4144975" cy="20116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508760"/>
            <a:ext cx="3870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{"00": .5, "11": .5}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{"00": .46, "11": .44,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"01": .05, "10": .05}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hellinger_fidelity(P, Q)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0.89989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arttıkça doğruluk düşer: X–X zinciri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69494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280160"/>
            <a:ext cx="3870655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0" y="1280160"/>
            <a:ext cx="3870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½ + ½ (1 − p)²ᵏ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772400" y="2560320"/>
            <a:ext cx="3870655" cy="1463040"/>
          </a:xfrm>
          <a:prstGeom prst="roundRect">
            <a:avLst>
              <a:gd name="adj" fmla="val 5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2670048"/>
            <a:ext cx="3504895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Depolarize hata vektörü her kapıda (1 − p) kısaltır → üstel yaklaşım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 (rastgele).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772400" y="4206240"/>
            <a:ext cx="3870655" cy="1691640"/>
          </a:xfrm>
          <a:prstGeom prst="roundRect">
            <a:avLst>
              <a:gd name="adj" fmla="val 432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955280" y="4315968"/>
            <a:ext cx="3504895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Transpiler tuzağı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optimization_level=1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X–X çiftlerini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(derinlik 0). Deney için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Derinlik bütçesi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0.02; P(0) ≥ 0.75 için en fazla kaç X–X çifti?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 + ½(0.98)²ᵏ ≥ 0.75  →  (0.98)²ᵏ ≥ 0.5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2k ≤ ln 0.5 / ln 0.98 = 34.31  →  k ≤ 17.15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17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Kontrol: k=17 → 0.751 ✓   k=18 → 0.742 ✗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= 17 (34 kapı)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417320"/>
            <a:ext cx="4144975" cy="25603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508760"/>
            <a:ext cx="38706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max_pairs(p, hedef):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int(np.floor(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np.log(2*hedef - 1)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 np.log(1 - p) / 2))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max_pairs(0.02, 0.75)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Aer: P(0) = 0.752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hatası: kalibrasyon matrisi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78" y="1097280"/>
            <a:ext cx="6498445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55280" y="1280160"/>
            <a:ext cx="368777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55280" y="1280160"/>
            <a:ext cx="3687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p_ölçülen = A · p_gerçek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7955280" y="2423160"/>
            <a:ext cx="3687775" cy="1691640"/>
          </a:xfrm>
          <a:prstGeom prst="roundRect">
            <a:avLst>
              <a:gd name="adj" fmla="val 432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38160" y="2532888"/>
            <a:ext cx="3322015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Kalibrasyon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taban durumu hazırla ve ölç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Sonuçlar = A'nın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sütunları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343400"/>
            <a:ext cx="5410048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" y="4343400"/>
            <a:ext cx="5410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p_gerçek ≈ A⁻¹ · p_ölçülen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6233008" y="4343400"/>
            <a:ext cx="5410048" cy="155448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415888" y="4453128"/>
            <a:ext cx="504428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Kodda: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np.linalg.solve(A, p)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Negatifleri 0'a kırp, normalize et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Tek kübitte okuma düzeltmesi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P(1|0) = 0.04, P(0|1) = 0.10. Ölçülen [0.616, 0.384]. Gerçek dağılım?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[[0.96, 0.10], [0.04, 0.90]]     det A = 0.86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p₀ = (0.90·0.616 − 0.10·0.384) / 0.86 = 0.600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p₁ = (−0.04·0.616 + 0.96·0.384) / 0.86 = 0.400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Kontrol: A·[0.6, 0.4] = [0.616, 0.384]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 dağılım [0.6, 0.4]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417320"/>
            <a:ext cx="4144975" cy="20116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508760"/>
            <a:ext cx="38706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np.array([[0.96, 0.10],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[0.04, 0.90]])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np.linalg.solve(A,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[0.616, 0.384])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[0.6, 0.4]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Bell'de iki kübit okuma hatası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P(1|0)=0.03, P(0|1)=0.05, bağımsız. İdeal Bell ölçülünce ham dağılım ve F?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p_ölç = 0.5·(A⊗A)[:, 00] + 0.5·(A⊗A)[:, 11]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[0.9409, .0291, .0291, .0009] ve [.0025, .0475, .0475, .9025]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p_ölç = [0.472, 0.038, 0.038, 0.452]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(√.2359 + √.2259)² ≈ 0.923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Ham F ≈ 0.92 → düzeltme sonrası ≈ 1.00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86678"/>
            <a:ext cx="4144975" cy="202160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düzeltmesi: kod ve sınırları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20116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mitigate(counts, A, labels):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 = sum(counts.values())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p_meas = np.array([counts.get(l, 0)/tot for l in labels])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np.linalg.solve(A, p_meas)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A^-1 · 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np.clip(p, 0, None); p /= p.sum()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olasılık negatif olamaz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dict(zip(labels, p))</a:t>
            </a:r>
            <a:endParaRPr lang="en-US" sz="14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2218883"/>
                <a:gridCol w="1775106"/>
                <a:gridCol w="1775106"/>
                <a:gridCol w="1775106"/>
                <a:gridCol w="1775106"/>
                <a:gridCol w="177510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Düzeltilmiş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75488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864608"/>
            <a:ext cx="1072865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Sınırlar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hatasını düzeltir · A matrisi 2ⁿ×2ⁿ → çok kübitte kübit başına matris · kalibrasyon zamanla değişir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bir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azaltma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(mitigation) yöntemidir; hata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düzeltme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(correction) ayrı bir alandır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backend: gerçek cihazın yerel taklidi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91" y="1097280"/>
            <a:ext cx="8049314" cy="26517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886200"/>
            <a:ext cx="7498080" cy="20116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97764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qiskit_ibm_runtime.fake_provider import FakeManilaV2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= FakeManilaV2()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backend.num_qubits     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backend.target["cx"][(0, 1)].error          # 0.0088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backend.target["measure"][(0,)].error       # 0.0353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8321040" y="3886200"/>
            <a:ext cx="3322015" cy="2011680"/>
          </a:xfrm>
          <a:prstGeom prst="roundRect">
            <a:avLst>
              <a:gd name="adj" fmla="val 363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503920" y="3995928"/>
            <a:ext cx="2956255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kısıtları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 kapılar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rz, sx, x, cx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yalnız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komşular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arasında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işlem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gürültülü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SWAP: komşu olmayan kübitler arasında CNOT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pic>
        <p:nvPicPr>
          <p:cNvPr id="6" name="Image 0" descr="Mantıksal dev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773" y="1188720"/>
            <a:ext cx="3341333" cy="2606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Mantıksal devre</a:t>
            </a:r>
            <a:endParaRPr lang="en-US" sz="1100" dirty="0"/>
          </a:p>
        </p:txBody>
      </p:sp>
      <p:pic>
        <p:nvPicPr>
          <p:cNvPr id="8" name="Image 1" descr="0–1–2 doğrusal cihaz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276" y="1188720"/>
            <a:ext cx="4485448" cy="260604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480560" y="38221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0–1–2 doğrusal cihazda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9509760" y="1188720"/>
            <a:ext cx="2133295" cy="2926080"/>
          </a:xfrm>
          <a:prstGeom prst="roundRect">
            <a:avLst>
              <a:gd name="adj" fmla="val 342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692640" y="1298448"/>
            <a:ext cx="1767535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{'cx': 2, 'swap': 1, 'h': 1}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3 → 4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yerleşim [1, 0, 2]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4343400"/>
            <a:ext cx="11094415" cy="1508760"/>
          </a:xfrm>
          <a:prstGeom prst="roundRect">
            <a:avLst>
              <a:gd name="adj" fmla="val 4848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31520" y="4453128"/>
            <a:ext cx="10728655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 ile q₂ komşu değil →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SWAP(0,1)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sonra CX(1,2). Bir SWAP donanımda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CX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 ayrışır → daha derin, daha gürültülü devre.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11 · SWAP maliyeti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devre 0–1–2 cihazında (q₀→0, q₁→1, q₂→2). Kaç CNOT? CX hatası 0.01 ise?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CX(q₀,q₁): komşu → 1 CX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CX(q₀,q₂): komşu değil → SWAP(0,1) + CX(1,2)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Toplam = 1 + 3 + 1 = 5 CX   (mantıksal: 2)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0.99² = 0.980   →   0.99⁵ = 0.951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CNOT; ≈ 0.98 → ≈ 0.95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optimization_level: derleyici -O0 … -O3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676656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1188720"/>
            <a:ext cx="4053535" cy="22860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26680" y="1280160"/>
            <a:ext cx="377921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lvl in range(4):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transpile(star, backend,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optimization_level=lvl,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seed_transpiler=7)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print(lvl, t.depth(),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t.count_ops()["cx"])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589520" y="3657600"/>
            <a:ext cx="4053535" cy="2240280"/>
          </a:xfrm>
          <a:prstGeom prst="roundRect">
            <a:avLst>
              <a:gd name="adj" fmla="val 326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0" y="3767328"/>
            <a:ext cx="3687775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Donanıma uygun tasarım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GHZ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doğrusal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zincirle (CX(0,1), CX(1,2)…) hazırlanırsa: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CX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SWAP yok (Lab alıştırma 8).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backend gürültüsüyle simülasyon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6035040" cy="4709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6858000" y="1188720"/>
            <a:ext cx="4785055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995160" y="1280160"/>
            <a:ext cx="451073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noisy = AerSimulator.from_backend(backend)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tq = transpile(ghz(n), backend,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optimization_level=3)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noisy.run(tq, shots=4000)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IBM primitive, yerel test modu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qiskit_ibm_runtime import SamplerV2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SamplerV2(mode=backend).run([tq_bell])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{'11': 486, '00': 471, '10': 18, '01': 25}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858000" y="4663440"/>
            <a:ext cx="4785055" cy="1234440"/>
          </a:xfrm>
          <a:prstGeom prst="roundRect">
            <a:avLst>
              <a:gd name="adj" fmla="val 59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040880" y="4773168"/>
            <a:ext cx="4419295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 ve CX sayısı arttıkça fidelity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0.96 → 0.80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IBM donanımına erişim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5067" y="1097280"/>
            <a:ext cx="8481561" cy="21031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337560"/>
            <a:ext cx="11094415" cy="19202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85800" y="3429000"/>
            <a:ext cx="1082009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GERCEK_DONANIM = False                   </a:t>
            </a:r>
            <a:r>
              <a:rPr lang="en-US" sz="13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notebook'ta korunan hücre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GERCEK_DONANIM: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 = QiskitRuntimeService(channel="ibm_quantum_platform", token=userdata.get("IBM_TOKEN"))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real = service.least_busy(operational=True, simulator=False)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isa  = generate_preset_pass_manager(backend=real, optimization_level=3).run(bell)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job  = SamplerV2(mode=real).run([isa], shots=1000); print(job.job_id())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counts = job.result()[0].data.meas.get_counts()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5394960"/>
            <a:ext cx="11094415" cy="548640"/>
          </a:xfrm>
          <a:prstGeom prst="roundRect">
            <a:avLst>
              <a:gd name="adj" fmla="val 13333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550468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Plan: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günlük kayan pencerede 10 dk QPU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(Eylül 2026 itibarıyla; değişebilir) · işler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kuyruğa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girer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dört framework, gürültü ve donanım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Hafta07_Lab.ipynb (Google Colab)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8431756"/>
                <a:gridCol w="155321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Kurulum: qiskit, qiskit-aer, cirq-core, pennylane, amazon-braket-sdk, qiskit-ibm-runtime, ply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Bell/GHZ devresi 4 framework'te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 sırası ve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to_qiskit_order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Q# ve CUDA-Q okuma (çalıştırılmaz)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OpenQASM ile taşıma (Qiskit ↔ Cirq, Qiskit → Braket)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Simülatörler, Sampler / Estimator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F–G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modelleri, fidelity, X–X derinliği; okuma düzeltmesi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FakeManilaV2, SWAP, optimization_level; IBM hücresi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alıştırma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 framework,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kavramlar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seçim ekosisteme, donanıma ve amaca bağlı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devre = aynı dağılım; fark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formatında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sırasında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(Qiskit q₀ sağda → </a:t>
            </a:r>
            <a:r>
              <a:rPr lang="en-US" sz="2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s[::-1]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OpenQASM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ortak ara temsil; taşıdıktan sonra mutlaka test et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Simülatör seçimi: statevector · sampler · density matrix · MPS; Qiskit 2.x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 / Estimator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Gürültü = rastgele araya giren kapılar; derinlikle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üstel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bozulma;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Hellinger fidelity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ölç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Okuma hatası: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A⁻¹ · p_ölçülen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Donanım: yerel kapılar + sınırlı bağlantı →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 CX); </a:t>
            </a:r>
            <a:r>
              <a:rPr lang="en-US" sz="20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optimization_level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donanıma uygun tasarım</a:t>
            </a:r>
            <a:endParaRPr lang="en-US" sz="2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566160"/>
          </a:xfrm>
          <a:prstGeom prst="roundRect">
            <a:avLst>
              <a:gd name="adj" fmla="val 205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12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J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İsteğe bağlı: IBM hesabı açıp Bell devresini gerçek QPU'da çalıştırın (kotaya dikkat)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566160"/>
          </a:xfrm>
          <a:prstGeom prst="roundRect">
            <a:avLst>
              <a:gd name="adj" fmla="val 205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8: Oracle ve ilk algoritmalar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kara kutu fonksiyon, devre olarak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Deutsch-Jozsa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sabit mi dengeli mi? Tek sorgu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Bernstein-Vazirani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gizli bit dizisi, tek sorgu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backend'de gürültü etkisi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Kaynaklar: Qiskit, Cirq, PennyLane, Braket, Microsoft QDK ve NVIDIA CUDA-Q resmi dokümantasyonları; IBM Quantum "Plans overview" sayfası.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2026-09-23T15:45:06Z</dcterms:created>
  <dcterms:modified xsi:type="dcterms:W3CDTF">2026-09-23T15:45:06Z</dcterms:modified>
</cp:coreProperties>
</file>