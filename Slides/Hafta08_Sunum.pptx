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1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charts/chart2.xml" ContentType="application/vnd.openxmlformats-officedocument.drawingml.chart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charts/chart3.xml" ContentType="application/vnd.openxmlformats-officedocument.drawingml.chart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İşaretler; ortalama = 0.5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(−1)^f(x)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000</c:v>
                  </c:pt>
                  <c:pt idx="1">
                    <c:v>001</c:v>
                  </c:pt>
                  <c:pt idx="2">
                    <c:v>010</c:v>
                  </c:pt>
                  <c:pt idx="3">
                    <c:v>011</c:v>
                  </c:pt>
                  <c:pt idx="4">
                    <c:v>100</c:v>
                  </c:pt>
                  <c:pt idx="5">
                    <c:v>101</c:v>
                  </c:pt>
                  <c:pt idx="6">
                    <c:v>110</c:v>
                  </c:pt>
                  <c:pt idx="7">
                    <c:v>111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>-1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-1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-1.2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Olasılıksal klasik: k sorgu → güven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Güven (%)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</c:v>
                  </c:pt>
                  <c:pt idx="1">
                    <c:v>4</c:v>
                  </c:pt>
                  <c:pt idx="2">
                    <c:v>6</c:v>
                  </c:pt>
                  <c:pt idx="3">
                    <c:v>8</c:v>
                  </c:pt>
                  <c:pt idx="4">
                    <c:v>10</c:v>
                  </c:pt>
                  <c:pt idx="5">
                    <c:v>12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</c:v>
                </c:pt>
                <c:pt idx="1">
                  <c:v>87.5</c:v>
                </c:pt>
                <c:pt idx="2">
                  <c:v>96.9</c:v>
                </c:pt>
                <c:pt idx="3">
                  <c:v>99.2</c:v>
                </c:pt>
                <c:pt idx="4">
                  <c:v>99.8</c:v>
                </c:pt>
                <c:pt idx="5">
                  <c:v>99.95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k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BV, s = 101101 (1024 shot)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Sayım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000000</c:v>
                  </c:pt>
                  <c:pt idx="1">
                    <c:v>001101</c:v>
                  </c:pt>
                  <c:pt idx="2">
                    <c:v>100101</c:v>
                  </c:pt>
                  <c:pt idx="3">
                    <c:v>101100</c:v>
                  </c:pt>
                  <c:pt idx="4">
                    <c:v>101101</c:v>
                  </c:pt>
                  <c:pt idx="5">
                    <c:v>101111</c:v>
                  </c:pt>
                  <c:pt idx="6">
                    <c:v>111101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1024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hafta ilk gerçek kuantum algoritmalarını görüyoruz. Öğrencilere en başta şunu söyleyin: üç algoritma da aynı iskeleti kullanıyor (H, oracle, H, ölç); değişen yalnızca oracle'ın içi. Haftanın anahtar kavramı faz geri tepmesi; oraya en çok zamanı ayırın. Ayrıca kuantum avantajı konusunda dürüst olacağız: olasılıksal klasik algoritmalarla karşılaştırmayı mutlaka yapın.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saatin akışı. Birinci saatin sonunda Deutsch algoritmasını bitirmiş olmalısınız; ikinci saat DJ'nin genelleştirilmesi, dürüst karşılaştırma ve BV. Üçüncü saat lab: oracle fabrikası.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Hedefleri kısaca okuyun. Son hedef (dürüst değerlendirme) yazılımcı öğrenciler için çok önemli: kuantum avantajı iddialarını eleştirel okumayı bu hafta öğreniyorlar.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Oracle'ı API benzetmesiyle açın. Öğrencilerin hepsi kaynak kodunu görmediği bir API kullanmıştır.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İçini göremiyoruz, sadece sorabiliyoruz. Maliyet artık çalışma süresi değil, sorgu sayısı. Ücretli API, yavaş veritabanı gibi örneklerle bu ölçütün gerçek hayatta anlamlı olduğunu vurgulayın.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Söz (promise) kavramını vurgulayın: f'nin bu iki sınıftan birinde olduğu garanti. Söz dışı fonksiyonlara 2. saatte döneceğiz (Örnek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Kötü şans senaryosunu anlatın: dengeli fonksiyonun ilk yarısı hep aynı çıkabilir. Kesinlik için yarıdan bir fazla sorgu şart. Kodda sorgu sayacı var; lab'da bunu çalıştıracaklar.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Öğrencilere önce tahmin ettirin; çoğu 8 der. Yarıdan bir fazlanın yettiğini fark etmeleri önemli.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Üniterlik (2. hafta) ve tersinir klasik mantık (6. hafta) hatırlatması ile başlayın.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|x⟩ → |f(x)⟩ tersinir değil (AND örneği). Çözüm 6. haftadaki hile: girdiyi koru, sonucu yardımcı kübite XOR'la. U_f kendi tersidir; matrisi bir permütasyon.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Tabloyu tahtada 8 satır yazın; iki satırın yer değiştirdiğini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 oracle köşegen bir matris, yardımcı kübit gerektirmez. Sonuç ölçümde görünmez ama bir sonraki H kapısı onu olasılığa çevirir (2. haftadaki |+⟩/|−⟩ tablosu). Tüm algoritmalar faz oracle'ını kullanıyor.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Haftanın en önemli kavramı. Yavaş gidin, genlik tablolarını tahtada birlikte yazın.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 durumu ayrı ayrı gösterin. f = 1 iken X uygulanıyor ve X|−⟩ = −|−⟩. Eksi işaret tüm duruma ait; girdinin önüne yazılabilir. Tabloda iki genliğin takas edildiğini ve bunun işaret değişimiyle aynı olduğunu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Takas ile işaret değişiminin aynı sonucu vermesi bu hilenin kalbi.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Klasik sezgi 'kontrol değişmez' der. Ama kontrol |+⟩ ve hedef |−⟩ iken CNOT kontrolü |−⟩'ye çeviriyor, hedef aynı kalıyor. Bloch küresinde ekvator üzerinde 180 derece dönüş.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Bunu bir tarif gibi verin. Bu hafta ve sonraki haftalarda (Grover, QPE) sürekli kullanılacak.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H'yi her kübite uygulamak. İşaret desenini yazılımcılara popcount(x AND z) olarak verin.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x in range(2**n) döngüsünün tüm değerlerini tek vektörde hazırlamak gibi. Ama uyarı: ölçünce sadece rastgele bir x görürüz. Hızlanma süperpozisyondan değil, arkasından gelen girişimden gelir.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x·z = iki stringde birden 1 olan bitlerin paritesi. Kodda bin(x &amp; z).count('1') % 2. Üç özelliği vurgulayın: ilk satır hep +, satırlar dik (0 dışında her satır dengeli), H⊗n kendi tersi.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Tensör çarpımı sırasını (q₁ solda) hatırlatın.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küçük örnek; tüm fikirler burada. Adım adım genlik tablosunu birlikte doldurun.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Klasikte 2 sorgu gerekir: f(0) ve f(1). Aslında sorulan tek bit f(0) XOR f(1). Kuantum algoritması tek tek değerleri hiç öğrenmeden sadece XOR'u öğrenir.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Adımları tabloyla verin. Adım 3'te girdi ±|+⟩ (sabit) ya da ±|−⟩ (dengeli) oluyor. H bunları |0⟩ ve |1⟩'e götürüyor. Baştaki ± global faz, ölçümü etkilemez.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Isı haritasında mavi pozitif, turuncu negatif. Son sütuna bakın: sabitlerde yalnızca q₀ = 0 olan satırlar (|00⟩, |10⟩) dolu, dengelilerde yalnızca q₀ = 1 olanlar.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Bölüm D'de aynı tabloyu Statevector ile üretiyorlar.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İkinci saat. DJ'nin Deutsch'tan tek farkı n girdi kübiti. Asıl yeni fikir: |0…0⟩ genliği = işaretlerin ortalaması.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Aynı iskelet, n girdi kübiti. Akış diyagramındaki turuncu kutu tek sorgu. Hedef kübit ölçülmüyor.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 = 0 satırı hep + olduğu için son H⊗n, |0…0⟩ çıkışına tüm işaretleri toplayıp N'e bölüyor. Sabitte ±1, dengelide tam 0. Sağdaki panel sözü bozan bir fonksiyon: kesinlik kayboluyor.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Walsh-Hadamard tablosuna geri dönün; desenin bir satıra eşit olduğunu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 −1 işaretinin ölçümü etkilemediğini hatırlatın.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Sabitlerde hep 000, dengelilerde hiç 000 yok. Dengeli fonksiyon bir parite ise sonuç tam olarak s'yi veriyor (f = x₀ → 001, tam parite → 111). Bu, BV'nin habercisi.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Grafik logaritmik. Deterministik çizgi üstel büyüyor. Gri kesik çizgiyi şimdilik geçin; birkaç slayt sonra dürüst karşılaştırmada ona döneceğiz.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yöntem. Parite oracle'ı en ucuz (her seçilen bit için bir CNOT). XOR maskeli sürüm X-CNOT-X kalıbı; sondaki X'ler girdiyi geri alıyor (uncompute, 6. hafta). Lab'da bu fonksiyonları yazıyorlar.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fonksiyon için çalışan genel yöntem: f(x) = 1 olan her x için ctrl_state=x olan çoklu kontrollü X. İçi boş daire 'kontrol 0 iken tetikle'. Uyarı kutusunu mutlaka okuyun: tabloyu bilen biri problemi zaten çözmüş demektir.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Söz (promise) kavramının neden önemli olduğunu burada pekiştirin.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 çok önemli. k rastgele girdi sor; hepsi aynıysa sabit de. Sabit f'de hiç yanılmaz; dengeli f'de yanılma olasılığı 2^(1-k). n'den bağımsız! k = 10 ile hata yüzde 0.2'nin altında. Yani DJ'nin üstel avantajı sadece yüzde 100 kesinlik istenirse 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Lab'da bu deneyi 2000 rastgele dengeli fonksiyonla yapıyorlar: ölçülen hata oranı teorik sınırla örtüşüyor.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BV devresi DJ devresinin aynısı. Yeni olan yorum: ölçülen string s'nin kendisi.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f(x) = s·x mod 2: x'in s ile seçilen bitlerinin paritesi. Benzetmeler: kapalı bir API'nin hangi feature flag'leri dikkate aldığı; iş mülakatında gizli yetkinlik listesi.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BV'de klasik alt sınır olasılıksal algoritmalar için de geçerli; bu önemli bir fark.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Oracle: s'nin 1 olan her biti için hedefe CNOT. Faz geri tepmesinden sonra girdi durumu Walsh-Hadamard matrisinin s satırı; H⊗n kendi tersi olduğu için son katman bizi tam |s⟩'ye götürüyor.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1024 shot'un hepsi 101101. DJ ve BV karşılaştırma tablosu: devre aynı, vaat ve yorum farklı. BV'nin ayrımı polinom (n'ye 1) ama olasılıksal klasiğe karşı da geçerli.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Öğrencilere başka bir x için işareti hesaplatın (ör. 1010 → 1 ⊕ 0 = ... 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Sadece kavramsal. f 2'ye-1, f(x) = f(x XOR s). Her çalıştırma s·z = 0 sağlayan bir z verir; yaklaşık n tane toplayıp mod 2 lineer denklem çözülür. Klasikte olasılıksal bile doğum günü paradoksu nedeniyle 2^(n/2). Shor'a ilham kaynağı (10. hafta).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Lab'a geçiş. Oracle fabrikasını birlikte yazın, DJ/BV kısmını öğrenciler çalıştırsın.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random_balanced_oracle XOR maskeli parite kullanıyor; s sıfırdan farklı olduğu için her zaman dengeli. truth_table_of bir birim test aracı: 2^n klasik sorgu yapar, algoritmanın parçası değil.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Oracle to_gate ile tek kutu; oracle_calls devredeki U_f sayısını sayıyor. Klasik tarafta CountingOracle aynı işi yapıyor. Böylece iki dünya aynı ölçütle kıyaslanıyor.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Alıştırmaların hepsi assert ile otomatik kontrol ediliyor. Sağdaki hatalar lab sırasında en çok karşılaşılanlar; önceden uyarın.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Özeti birlikte tekrar edin. Son maddeyi (dürüst karşılaştırma) özellikle vurgulayın.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Gelecek hafta Grover: bu haftaki faz oracle'ı 'işaretleyici' olacak, üzerine bir yansıtma (difüzyon) ekleyip döngüyle genlik yükselteceğiz.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7D2E3"/>
                </a:solidFill>
              </a:rPr>
              <a:t>KUANTUM HESAPLAMA VE UYGULAMALARI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Hafta 8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6032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Oracle Kavramı ve İlk Kuantum Algoritmaları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97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Kara kutu fonksiyonlar · faz geri tepmesi · Walsh-Hadamard · Deutsch · Deutsch-Jozsa · Bernstein-Vazirani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haftanın planı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3423818" cy="3931920"/>
          </a:xfrm>
          <a:prstGeom prst="roundRect">
            <a:avLst>
              <a:gd name="adj" fmla="val 26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saat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51760"/>
            <a:ext cx="28751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ve sorgu sayısı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oracle, faz oracle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geri tepmesi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Walsh-Hadamard, Deutsch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4246778" y="1280160"/>
            <a:ext cx="3423818" cy="3931920"/>
          </a:xfrm>
          <a:prstGeom prst="roundRect">
            <a:avLst>
              <a:gd name="adj" fmla="val 26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1098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saat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21098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örnekler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4521098" y="2651760"/>
            <a:ext cx="28751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Deutsch-Jozsa (n = 2, 3)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Dengeli oracle kurmak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Olasılıksal klasik ile dürüst kıyas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Bernstein-Vazirani, Simon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7944917" y="1280160"/>
            <a:ext cx="3423818" cy="3931920"/>
          </a:xfrm>
          <a:prstGeom prst="roundRect">
            <a:avLst>
              <a:gd name="adj" fmla="val 267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19237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saat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219237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(Colab)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8219237" y="2651760"/>
            <a:ext cx="28751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fabrikası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 ve BV çalıştırma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Sorgu sayacı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alıştırma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iskelet:  </a:t>
            </a: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→ oracle (1 kez) → H → ölç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hedefleri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'ı kara kutu fonksiyon (API) olarak açıklamak, maliyeti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sorgu sayısıyla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ölçmek</a:t>
            </a:r>
            <a:endParaRPr lang="en-US" sz="19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Tersinir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oracle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U_f|x⟩|y⟩ = |x⟩|y ⊕ f(x)⟩ kurmak</a:t>
            </a:r>
            <a:endParaRPr lang="en-US" sz="19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geri tepmesini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genlik tablolarıyla göstermek</a:t>
            </a:r>
            <a:endParaRPr lang="en-US" sz="19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H⊗n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eşit süperpozisyonu ve (−1)^(x·z) işaret desenini hesaplamak</a:t>
            </a:r>
            <a:endParaRPr lang="en-US" sz="19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Deutsch-Jozsa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'yı elle izlemek ve Qiskit'te kodlamak</a:t>
            </a:r>
            <a:endParaRPr lang="en-US" sz="19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Dengeli oracle'ları farklı yollarla üretip test etmek (oracle fabrikası)</a:t>
            </a:r>
            <a:endParaRPr lang="en-US" sz="19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Bernstein-Vazirani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gizli stringi tek sorguda bulmak</a:t>
            </a:r>
            <a:endParaRPr lang="en-US" sz="19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avantajını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olasılıksal klasik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algoritmalarla dürüstçe kıyaslamak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01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Oracle ve sorgu karmaşıklığı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İçini göremediğimiz fonksiyonlar ve maliyetin yeni ölçüsü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= kara kutu fonksiyon (bir API gibi)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6090" y="1097280"/>
            <a:ext cx="9359515" cy="292608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11094415" cy="914400"/>
        </p:xfrm>
        <a:graphic>
          <a:graphicData uri="http://schemas.openxmlformats.org/drawingml/2006/table">
            <a:tbl>
              <a:tblPr/>
              <a:tblGrid>
                <a:gridCol w="2440771"/>
                <a:gridCol w="4215878"/>
                <a:gridCol w="4437766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Bağlam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 sorgunun maliyeti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Ücretli API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Uzak servis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Ücret, kota, gecikme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Veritabanı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Koşul sorgusu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Disk, ağ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Kuantum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Üniter devre U_f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Devrenin bir kez uygulanması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Deutsch-Jozsa problemi: sabit mi, dengeli mi?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949440" cy="914400"/>
        </p:xfrm>
        <a:graphic>
          <a:graphicData uri="http://schemas.openxmlformats.org/drawingml/2006/table">
            <a:tbl>
              <a:tblPr/>
              <a:tblGrid>
                <a:gridCol w="1250899"/>
                <a:gridCol w="2779776"/>
                <a:gridCol w="2918765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Tanım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2 örneği (00, 01, 10, 11)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Sabit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girdilerde aynı değer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 veya 1111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Dengeli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 yarısında 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0110, 0011, 1010, … (6 tane)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Söz dışı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İkisi de değil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0001 gibi (problem dışı)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863840" y="1280160"/>
            <a:ext cx="3779215" cy="1097280"/>
          </a:xfrm>
          <a:prstGeom prst="roundRect">
            <a:avLst>
              <a:gd name="adj" fmla="val 8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863840" y="1280160"/>
            <a:ext cx="3779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: {0,1}ⁿ → {0,1}</a:t>
            </a:r>
            <a:endParaRPr lang="en-US" sz="2600" dirty="0"/>
          </a:p>
        </p:txBody>
      </p:sp>
      <p:sp>
        <p:nvSpPr>
          <p:cNvPr id="9" name="Shape 5"/>
          <p:cNvSpPr/>
          <p:nvPr/>
        </p:nvSpPr>
        <p:spPr>
          <a:xfrm>
            <a:off x="7863840" y="2651760"/>
            <a:ext cx="3779215" cy="2011680"/>
          </a:xfrm>
          <a:prstGeom prst="roundRect">
            <a:avLst>
              <a:gd name="adj" fmla="val 363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046720" y="2761488"/>
            <a:ext cx="3413455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f'yi sorgulayarak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dengeli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 olduğunu bul.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sorgu = iyi algoritma.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3931920"/>
            <a:ext cx="6949440" cy="192024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31520" y="4041648"/>
            <a:ext cx="65836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benzetmesi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özellik bayrağının (feature flag) tüm kullanıcılar için aynı mı yoksa yarı yarıya A/B testi mi olduğunu, kullanıcıları tek tek deneyerek anlamaya çalışmak.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deterministik algoritma: en kötü durum 2ⁿ⁻¹ + 1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23444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Klasik en kötü durum = 2ⁿ⁻¹ + 1 sorgu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2423160"/>
            <a:ext cx="7589520" cy="35661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514600"/>
            <a:ext cx="7315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CountingOracle: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table):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self.table = list(table)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 = int(np.log2(len(table))); self.queries =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__call__(self, x):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self.queries += 1           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her çağrıyı say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self.table[x]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classical_dj(f):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first = f(0)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x in range(1, 2**(f.n - 1) + 1):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f(x) != first: return "dengeli"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"sabit"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kotu = CountingOracle([0]*8 + [1]*8)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 = 4, ilk yarı hep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classical_dj(kotu), kotu.queries    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('dengeli', 9)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0" y="2468880"/>
          <a:ext cx="3230575" cy="914400"/>
        </p:xfrm>
        <a:graphic>
          <a:graphicData uri="http://schemas.openxmlformats.org/drawingml/2006/table">
            <a:tbl>
              <a:tblPr/>
              <a:tblGrid>
                <a:gridCol w="1292230"/>
                <a:gridCol w="193834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Sorgu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524 289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5.4 × 10⁸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8412480" y="5212080"/>
            <a:ext cx="3230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Deutsch-Jozsa: her n için </a:t>
            </a: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sorgu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 · Klasik en kötü durum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 bitlik f için klasik deterministik algoritma en kötü durumda kaç sorgu yapar? n = 10, 30?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8 girdi; dengeli f'de 4 tane 0, 4 tane 1.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Kötü senaryo: 000, 001, 010, 011 hepsi 0 → hâlâ belirsiz.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5. sorgu karar verir (5 tane 0 olan dengeli f yoktur).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3: 2² + 1 = 5     n = 10: 513     n = 30: ≈ 5.4 × 10⁸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5, 513, ≈ 537 milyon sorgu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325880"/>
          <a:ext cx="4144975" cy="914400"/>
        </p:xfrm>
        <a:graphic>
          <a:graphicData uri="http://schemas.openxmlformats.org/drawingml/2006/table">
            <a:tbl>
              <a:tblPr/>
              <a:tblGrid>
                <a:gridCol w="1036244"/>
                <a:gridCol w="1450741"/>
                <a:gridCol w="165799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Sorgu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f(x)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 → karar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02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Tersinir oracle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Bit oracle ve faz oracle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oracle: sonucu yardımcı kübite XOR'la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8147" y="1097280"/>
            <a:ext cx="9315402" cy="32918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572000"/>
            <a:ext cx="5760720" cy="1188720"/>
          </a:xfrm>
          <a:prstGeom prst="roundRect">
            <a:avLst>
              <a:gd name="adj" fmla="val 7692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457200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U_f |x⟩|y⟩ = |x⟩ |y ⊕ f(x)⟩</a:t>
            </a:r>
            <a:endParaRPr lang="en-US" sz="2600" dirty="0"/>
          </a:p>
        </p:txBody>
      </p:sp>
      <p:sp>
        <p:nvSpPr>
          <p:cNvPr id="9" name="Shape 5"/>
          <p:cNvSpPr/>
          <p:nvPr/>
        </p:nvSpPr>
        <p:spPr>
          <a:xfrm>
            <a:off x="6583680" y="4572000"/>
            <a:ext cx="5059375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720840" y="4663440"/>
            <a:ext cx="4785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bit_oracle(x, y, f):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x, y ^ f(x)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iki kez çağır -&gt; (x, y) geri gelir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2 · AND fonksiyonunun bit oracle'ı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f(x₁x₀) = x₁ AND x₀ için bit oracle'ın tablosu? Hangi kapı? Neden tersinir?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y' = y ⊕ f(x); f yalnızca x = 11'de 1.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(11, 0) → (11, 1)     (11, 1) → (11, 0)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Diğer 6 satır değişmez → yalnızca x = 11 iken hedef çevrilir.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Toffoli (CCX)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kapısıdır (6. hafta); 8 girdi → 8 farklı çıktı (permütasyon).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Bit oracle = Toffoli; kendi tersi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201168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oracle = QuantumCircuit(3)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oracle.ccx(0, 1, 2)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truth_table_of(oracle, 2)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[0, 0, 0, 1]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oracle: sonucu genliğin işaretine yaz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5120640" cy="1005840"/>
          </a:xfrm>
          <a:prstGeom prst="roundRect">
            <a:avLst>
              <a:gd name="adj" fmla="val 909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1887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O_f |x⟩ = (−1)^f(x) |x⟩</a:t>
            </a:r>
            <a:endParaRPr lang="en-US" sz="2800" dirty="0"/>
          </a:p>
        </p:txBody>
      </p:sp>
      <p:pic>
        <p:nvPicPr>
          <p:cNvPr id="8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8922" y="1143000"/>
            <a:ext cx="5528811" cy="201168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11094415" cy="914400"/>
        </p:xfrm>
        <a:graphic>
          <a:graphicData uri="http://schemas.openxmlformats.org/drawingml/2006/table">
            <a:tbl>
              <a:tblPr/>
              <a:tblGrid>
                <a:gridCol w="2662660"/>
                <a:gridCol w="4215878"/>
                <a:gridCol w="4215878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 oracle U_f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 oracle O_f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Kübit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+ 1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Permütasyon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Köşegen (±1)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Süperpozisyonda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Yardımcıyla karışır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Göreli faza yazılır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Kullanım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Klasik f → devre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DJ, BV, Grover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03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Faz geri tepmesi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Bit oracle'ı faz oracle'a çeviren hile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kübit |−⟩ iken: sonuç işaret olarak geri teper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98448"/>
            <a:ext cx="320040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0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⊕ 0 = y  →  |x⟩|−⟩ değişmez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297680" y="118872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80560" y="1298448"/>
            <a:ext cx="33832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1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X|−⟩ = (|1⟩ − |0⟩)/√2 =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−|−⟩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229600" y="1188720"/>
            <a:ext cx="3413455" cy="1234440"/>
          </a:xfrm>
          <a:prstGeom prst="roundRect">
            <a:avLst>
              <a:gd name="adj" fmla="val 740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0" y="1188720"/>
            <a:ext cx="34134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U_f|x⟩|−⟩ = (−1)^f(x) |x⟩|−⟩</a:t>
            </a:r>
            <a:endParaRPr lang="en-US" sz="1900" dirty="0"/>
          </a:p>
        </p:txBody>
      </p:sp>
      <p:pic>
        <p:nvPicPr>
          <p:cNvPr id="12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874" y="2606040"/>
            <a:ext cx="11063948" cy="29260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8640" y="5577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kübit hiç değişmiyor; işaret </a:t>
            </a: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girdiye</a:t>
            </a: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yazılıyor (iki genlik takas oldu = işaret çevrildi).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3 · Faz geri tepmesi adım adım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q₀ = |1⟩, q₁ = |−⟩, oracle CNOT(q₀ → q₁). Öncesi ve sonrası 4 genlik?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Öncesi (|00⟩, |01⟩, |10⟩, |11⟩) = [0, +0.707, 0, −0.707]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CNOT: q₀ = 1 olan 01 ve 11 genlikleri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 değiştirir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Sonrası = [0, −0.707, 0, +0.707] = −(öncesi)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Takas + zıt işaretli genlikler = işaret değişimi.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Sonrası = −(öncesi); hedef hâlâ |−⟩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27432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= QuantumCircuit(2)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qc.x(0); qc.x(1); qc.h(1)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Statevector(qc)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qc.cx(0, 1)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Statevector(qc)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np.allclose(a.data, -b.data)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Süperpozisyonda: CNOT kontrol kübitini değiştirir!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251" y="1097280"/>
            <a:ext cx="10695193" cy="3291840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11094415" cy="914400"/>
        </p:xfrm>
        <a:graphic>
          <a:graphicData uri="http://schemas.openxmlformats.org/drawingml/2006/table">
            <a:tbl>
              <a:tblPr/>
              <a:tblGrid>
                <a:gridCol w="2662660"/>
                <a:gridCol w="1220386"/>
                <a:gridCol w="1220386"/>
                <a:gridCol w="1220386"/>
                <a:gridCol w="1220386"/>
                <a:gridCol w="3550213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Adım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|00⟩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|01⟩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|10⟩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|11⟩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Okuma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H(q₀), X+H(q₁)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|−⟩ ⊗ |+⟩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CNOT(q₀ → q₁)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|−⟩ ⊗ |−⟩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geri tepmesinin üç kuralı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849069" y="1325880"/>
            <a:ext cx="822960" cy="8229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849069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3423818" cy="1554480"/>
          </a:xfrm>
          <a:prstGeom prst="roundRect">
            <a:avLst>
              <a:gd name="adj" fmla="val 470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441448"/>
            <a:ext cx="305805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Hedefi |−⟩ yap</a:t>
            </a:r>
            <a:endParaRPr lang="en-US" sz="1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sonra H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5547208" y="1325880"/>
            <a:ext cx="822960" cy="82296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47208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4246778" y="2331720"/>
            <a:ext cx="3423818" cy="1554480"/>
          </a:xfrm>
          <a:prstGeom prst="roundRect">
            <a:avLst>
              <a:gd name="adj" fmla="val 470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29658" y="2441448"/>
            <a:ext cx="305805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oracle'ı uygula</a:t>
            </a:r>
            <a:endParaRPr lang="en-US" sz="1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U_f bir kez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9245346" y="1325880"/>
            <a:ext cx="822960" cy="8229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245346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3"/>
          <p:cNvSpPr/>
          <p:nvPr/>
        </p:nvSpPr>
        <p:spPr>
          <a:xfrm>
            <a:off x="7944917" y="2331720"/>
            <a:ext cx="3423818" cy="1554480"/>
          </a:xfrm>
          <a:prstGeom prst="roundRect">
            <a:avLst>
              <a:gd name="adj" fmla="val 470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27797" y="2441448"/>
            <a:ext cx="305805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Hedefi unut</a:t>
            </a:r>
            <a:endParaRPr lang="en-US" sz="1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Girdilerde (−1)^f(x) faz oracle'ı var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548640" y="4160520"/>
            <a:ext cx="11094415" cy="1691640"/>
          </a:xfrm>
          <a:prstGeom prst="roundRect">
            <a:avLst>
              <a:gd name="adj" fmla="val 43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4270248"/>
            <a:ext cx="10728655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Nerede kullanılıyor?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Deutsch, Deutsch-Jozsa, Bernstein-Vazirani (bu hafta) · Grover (9. hafta) · Faz kestirimi / Shor (10. hafta)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kübit oracle'dan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değişmeden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çıkar → sonunda ölçülmez.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04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Walsh-Hadamard dönüşümü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H⊗n: eşit süperpozisyon ve işaret deseni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H⊗n |0…0⟩ = eşit süperpozisyon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12069"/>
            <a:ext cx="7498080" cy="242218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0" y="1188720"/>
            <a:ext cx="3413455" cy="1097280"/>
          </a:xfrm>
          <a:prstGeom prst="roundRect">
            <a:avLst>
              <a:gd name="adj" fmla="val 8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0" y="1188720"/>
            <a:ext cx="34134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H⊗n|0…0⟩ = (1/√2ⁿ) Σₓ |x⟩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8229600" y="2468880"/>
            <a:ext cx="3413455" cy="1280160"/>
          </a:xfrm>
          <a:prstGeom prst="roundRect">
            <a:avLst>
              <a:gd name="adj" fmla="val 571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412480" y="2578608"/>
            <a:ext cx="3047695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2ⁿ girdi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anda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hazır.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3977640"/>
            <a:ext cx="11094415" cy="1874520"/>
          </a:xfrm>
          <a:prstGeom prst="roundRect">
            <a:avLst>
              <a:gd name="adj" fmla="val 3902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31520" y="4087368"/>
            <a:ext cx="10728655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Yaygın yanılgı: "kuantum bilgisayar tüm cevapları paralel dener"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Oracle'ı bu duruma uygulamak her x için f(x)'i işler, ama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 yalnızca bir tanesini rastgele verir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Hız, ikinci H⊗n katmanının istemediğimiz genlikleri birbirine götürmesinden (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girişim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gelir.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H⊗n|x⟩ işaret deseni: (−1)^(x·z)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633" y="1097280"/>
            <a:ext cx="6489454" cy="3200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480560"/>
            <a:ext cx="6949440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44805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H⊗n|x⟩ = (1/√2ⁿ) Σ_z (−1)^(x·z) |z⟩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548640" y="5486400"/>
            <a:ext cx="6949440" cy="5486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55778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dot2(x, z):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bin(x &amp; z).count("1") % 2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772400" y="1188720"/>
            <a:ext cx="3870655" cy="4846320"/>
          </a:xfrm>
          <a:prstGeom prst="roundRect">
            <a:avLst>
              <a:gd name="adj" fmla="val 189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955280" y="1298448"/>
            <a:ext cx="3504895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kullanışlı özellik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İlk satır hep + → son H⊗n'den sonra |0…0⟩ genliği = genliklerin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toplamı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(ortalaması)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 dışındaki her satır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dengeli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±1 dizisi (satırlar dik)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H⊗n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tersi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desen bir satıra eşitse H⊗n bizi o satırın etiketine götürür (BV!)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4 · H⊗2|01⟩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H⊗2|01⟩'in 4 genliğini (−1)^(x·z) ile bulun; tensör çarpımı olarak yazın.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x = 01 → x·z = z₀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00: +   01: −   10: +   11: −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H⊗2|01⟩ = (1/2)[+1, −1, +1, −1]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Kontrol: H|0⟩ ⊗ H|1⟩ = |+⟩ ⊗ |−⟩ = (1/2)[1, −1, 1, −1] ✓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(1/2)[+1, −1, +1, −1] = |+⟩|−⟩</a:t>
            </a:r>
            <a:endParaRPr lang="en-US" sz="17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325880"/>
          <a:ext cx="4144975" cy="914400"/>
        </p:xfrm>
        <a:graphic>
          <a:graphicData uri="http://schemas.openxmlformats.org/drawingml/2006/table">
            <a:tbl>
              <a:tblPr/>
              <a:tblGrid>
                <a:gridCol w="994794"/>
                <a:gridCol w="787545"/>
                <a:gridCol w="787545"/>
                <a:gridCol w="787545"/>
                <a:gridCol w="78754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\ 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05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Deutsch algoritması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1 bit, 4 fonksiyon, 1 sorgu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fonksiyon ve oracle devreleri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1109442"/>
                <a:gridCol w="1109442"/>
                <a:gridCol w="1109442"/>
                <a:gridCol w="1996995"/>
                <a:gridCol w="3550213"/>
                <a:gridCol w="2218883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f(0) ⊕ f(1)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f₀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Sabit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boş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f₁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Sabit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X(q₁)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f₂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Dengeli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CNOT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f₃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Dengeli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CNOT + X(q₁)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pic>
        <p:nvPicPr>
          <p:cNvPr id="7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666" y="3703320"/>
            <a:ext cx="10844364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 devresi ve adımlar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51348"/>
            <a:ext cx="5486400" cy="2069303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188720"/>
          <a:ext cx="5333695" cy="914400"/>
        </p:xfrm>
        <a:graphic>
          <a:graphicData uri="http://schemas.openxmlformats.org/drawingml/2006/table">
            <a:tbl>
              <a:tblPr/>
              <a:tblGrid>
                <a:gridCol w="1173413"/>
                <a:gridCol w="416028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Adım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Durum (q₁ ⊗ q₀)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X(q₁)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|1⟩ ⊗ |0⟩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H⊗H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|−⟩ ⊗ |+⟩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U_f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|−⟩ ⊗ [(−1)^f(0)|0⟩ + (−1)^f(1)|1⟩]/√2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H(q₀)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±|−⟩ ⊗ |f(0) ⊕ f(1)⟩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374904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31520" y="3858768"/>
            <a:ext cx="51206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kuralı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sabit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dengeli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doğru,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sorgu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6309360" y="3749040"/>
            <a:ext cx="5333695" cy="2103120"/>
          </a:xfrm>
          <a:prstGeom prst="roundRect">
            <a:avLst>
              <a:gd name="adj" fmla="val 347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492240" y="3858768"/>
            <a:ext cx="4967935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Neden?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f(0) = f(1) → girdi ±|+⟩ → H → |0⟩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f(0) ≠ f(1) → girdi ±|−⟩ → H → |1⟩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 haftadaki |+⟩/|−⟩ tablosu)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fonksiyon için adım adım genlikler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210" y="1051560"/>
            <a:ext cx="7756780" cy="5029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235440" y="1280160"/>
            <a:ext cx="2407615" cy="2103120"/>
          </a:xfrm>
          <a:prstGeom prst="roundRect">
            <a:avLst>
              <a:gd name="adj" fmla="val 3478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9418320" y="1389888"/>
            <a:ext cx="2041855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Okuma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Satır: |q₁q₀⟩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Sütun: adım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Mavi +, turuncu −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9235440" y="3566160"/>
            <a:ext cx="2407615" cy="2286000"/>
          </a:xfrm>
          <a:prstGeom prst="roundRect">
            <a:avLst>
              <a:gd name="adj" fmla="val 32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418320" y="3675888"/>
            <a:ext cx="2041855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sütun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Sabit: dolu satırlarda q₀ =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Dengeli: dolu satırlarda q₀ =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5 · Deutsch, f = NOT x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f₃(x) = NOT x için her adımdan sonraki 4 genlik ve ölçüm?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X(q₁): [0, 0, 1, 0]      H⊗H: [+.5, +.5, −.5, −.5]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U_f: f(0) = 1 → x = 0 bileşenlerinin işareti çevrilir.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U_f: [−.5, +.5, +.5, −.5]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H(q₀): [0, −0.707, 0, +0.707] → q₀ hep 1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Ölçüm 1 →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dengeli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 ⊕ 0 = 1)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q₀ = 1 olasılık 1 ile → dengeli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32918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range(4):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 = run_counts(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deutsch_circuit(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deutsch_oracle(k)), 200)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print(k, c)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{'0': 200}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{'0': 200}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{'1': 200}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{'1': 200}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2. saat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Deutsch-Jozsa ve çözümlü örnekler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n bite genelleme, dengeli oracle'lar, dürüst karşılaştırma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Deutsch-Jozsa devresi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33086"/>
            <a:ext cx="5669280" cy="2345909"/>
          </a:xfrm>
          <a:prstGeom prst="rect">
            <a:avLst/>
          </a:prstGeom>
        </p:spPr>
      </p:pic>
      <p:pic>
        <p:nvPicPr>
          <p:cNvPr id="7" name="Image 1" descr="gör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19800"/>
            <a:ext cx="5242255" cy="151528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0" y="3749040"/>
            <a:ext cx="5242255" cy="1005840"/>
          </a:xfrm>
          <a:prstGeom prst="roundRect">
            <a:avLst>
              <a:gd name="adj" fmla="val 727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6583680" y="3858768"/>
            <a:ext cx="48764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0…0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sabit;  diğer her şey → dengeli</a:t>
            </a:r>
            <a:endParaRPr lang="en-US" sz="1800" dirty="0"/>
          </a:p>
        </p:txBody>
      </p:sp>
      <p:sp>
        <p:nvSpPr>
          <p:cNvPr id="10" name="Shape 5"/>
          <p:cNvSpPr/>
          <p:nvPr/>
        </p:nvSpPr>
        <p:spPr>
          <a:xfrm>
            <a:off x="548640" y="4389120"/>
            <a:ext cx="5669280" cy="14630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31520" y="4498848"/>
            <a:ext cx="53035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q₀…q₂: girdi, q₃: hedef (|−⟩)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to_gate(label="U_f")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tek kutu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tek sorgu? |0…0⟩ genliği = işaretlerin ortalaması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1887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⟨0…0|ψ₃⟩ = (1/N) Σₓ (−1)^f(x)</a:t>
            </a:r>
            <a:endParaRPr lang="en-US" sz="2800" dirty="0"/>
          </a:p>
        </p:txBody>
      </p:sp>
      <p:pic>
        <p:nvPicPr>
          <p:cNvPr id="8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48015"/>
            <a:ext cx="11094415" cy="2910609"/>
          </a:xfrm>
          <a:prstGeom prst="rect">
            <a:avLst/>
          </a:prstGeom>
        </p:spPr>
      </p:pic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257800"/>
          <a:ext cx="11094415" cy="914400"/>
        </p:xfrm>
        <a:graphic>
          <a:graphicData uri="http://schemas.openxmlformats.org/drawingml/2006/table">
            <a:tbl>
              <a:tblPr/>
              <a:tblGrid>
                <a:gridCol w="2773604"/>
                <a:gridCol w="2773604"/>
                <a:gridCol w="2773604"/>
                <a:gridCol w="2773604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Ortalama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P(0…0)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Sabit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sabit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Dengeli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dengeli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6 · DJ, n = 2, dengeli f = x₀ ⊕ x₁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(0, 1, 1, 0) için girdi genlikleri her adımda? Ölçüm?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H⊗2: [+.5, +.5, +.5, +.5]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(faz): [+.5, −.5, −.5, +.5]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 desen Walsh-Hadamard tablosunun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11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satırı: + − − +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H⊗2 (kendi tersi): [0, 0, 0, 1] = |11⟩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|00⟩ genliği 0 →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dengeli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Ölçüm 11, olasılık 1 → dengeli</a:t>
            </a:r>
            <a:endParaRPr lang="en-US" sz="17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417320"/>
          <a:ext cx="4144975" cy="914400"/>
        </p:xfrm>
        <a:graphic>
          <a:graphicData uri="http://schemas.openxmlformats.org/drawingml/2006/table">
            <a:tbl>
              <a:tblPr/>
              <a:tblGrid>
                <a:gridCol w="1036244"/>
                <a:gridCol w="1036244"/>
                <a:gridCol w="1036244"/>
                <a:gridCol w="1036244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H⊗2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H⊗2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|00⟩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|01⟩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|10⟩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|11⟩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7 · DJ, n = 3: sabit f = 1 ve dengeli f = x₂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f = 1, (b) f(x) = x₂ için son durum?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(a) Oracle tüm işaretleri çevirir → ortalama −1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 durum −|000⟩ → P(000) = 1 → sabit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(b) İşaretler [+,+,+,+,−,−,−,−] = z = 100 satırı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 durum |100⟩ → ölçüm 100 → dengeli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(a) sabit, (b) dengeli (100)</a:t>
            </a:r>
            <a:endParaRPr lang="en-US" sz="17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143000"/>
          <a:ext cx="4144975" cy="914400"/>
        </p:xfrm>
        <a:graphic>
          <a:graphicData uri="http://schemas.openxmlformats.org/drawingml/2006/table">
            <a:tbl>
              <a:tblPr/>
              <a:tblGrid>
                <a:gridCol w="1243493"/>
                <a:gridCol w="1450741"/>
                <a:gridCol w="1450741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(a) işaret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(b) işaret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sonuç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−|000⟩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|100⟩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oracle, n = 3: ölçüm olasılıkları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64347"/>
            <a:ext cx="11094415" cy="257482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389120"/>
            <a:ext cx="5410048" cy="1463040"/>
          </a:xfrm>
          <a:prstGeom prst="roundRect">
            <a:avLst>
              <a:gd name="adj" fmla="val 5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4498848"/>
            <a:ext cx="504428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Kesin sonuç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Gürültüsüz makinede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shot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yeterli: olasılıklar 0 ya da 1.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233008" y="4389120"/>
            <a:ext cx="5410048" cy="14630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15888" y="4498848"/>
            <a:ext cx="504428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İpucu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s·x (parite) ise ölçüm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'yi verir → Bernstein-Vazirani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Sorgu sayısı: klasik deterministik vs kuantum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38141"/>
            <a:ext cx="6766560" cy="3673157"/>
          </a:xfrm>
          <a:prstGeom prst="rect">
            <a:avLst/>
          </a:prstGeom>
        </p:spPr>
      </p:pic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280160"/>
          <a:ext cx="4053535" cy="914400"/>
        </p:xfrm>
        <a:graphic>
          <a:graphicData uri="http://schemas.openxmlformats.org/drawingml/2006/table">
            <a:tbl>
              <a:tblPr/>
              <a:tblGrid>
                <a:gridCol w="810707"/>
                <a:gridCol w="2026768"/>
                <a:gridCol w="1216061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524 289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5.4 × 10⁸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7589520" y="4572000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 çizgi: olasılıksal klasik → birazdan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Dengeli oracle kurma yolları: oracle fabrikası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0301" y="1097280"/>
            <a:ext cx="9011093" cy="2286000"/>
          </a:xfrm>
          <a:prstGeom prst="rect">
            <a:avLst/>
          </a:prstGeom>
        </p:spPr>
      </p:pic>
      <p:pic>
        <p:nvPicPr>
          <p:cNvPr id="7" name="Image 1" descr="gör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38" y="3520440"/>
            <a:ext cx="7121923" cy="2377440"/>
          </a:xfrm>
          <a:prstGeom prst="rect">
            <a:avLst/>
          </a:prstGeom>
        </p:spPr>
      </p:pic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3566160"/>
          <a:ext cx="3779215" cy="914400"/>
        </p:xfrm>
        <a:graphic>
          <a:graphicData uri="http://schemas.openxmlformats.org/drawingml/2006/table">
            <a:tbl>
              <a:tblPr/>
              <a:tblGrid>
                <a:gridCol w="2078568"/>
                <a:gridCol w="1700647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Maliyet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 CNOT: xᵢ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CNOT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Parite s·x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|s| CNOT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XOR maskeli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+ 2|m| 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Doğruluk tablosu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MCX / 1'ler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Doğruluk tablosundan oracle (MCX)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658" y="1143000"/>
            <a:ext cx="3049564" cy="3017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480560" y="1188720"/>
            <a:ext cx="7162495" cy="292608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617720" y="1280160"/>
            <a:ext cx="688817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oracle_from_truth_table(tt):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int(np.log2(len(tt)))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 = QuantumCircuit(n + 1, name="U_f")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x, fx in enumerate(tt):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fx: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qc.mcx(list(range(n)), n, ctrl_state=x)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qc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truth_table_of(oracle_from_truth_table([0,1,1,0]), 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[0, 1, 1, 0]   &lt;- birim test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4343400"/>
            <a:ext cx="11094415" cy="1508760"/>
          </a:xfrm>
          <a:prstGeom prst="roundRect">
            <a:avLst>
              <a:gd name="adj" fmla="val 4848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4453128"/>
            <a:ext cx="10728655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Uyarı: test için uygun, avantaj için hile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Tablodan oracle kurmak için f'nin tüm 2ⁿ değerini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önceden bilmek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gerekir. MCX'ler transpile edilince çok sayıda CNOT'a dönüşür (7. hafta).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algoritmalarda oracle, fonksiyonun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formülünden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verimli kurulur.</a:t>
            </a:r>
            <a:endParaRPr 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8 · Söz bozulursa ne olur?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3, f yalnız x = 010 ve 110'da 1 (ne sabit ne dengeli). P(000)?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İşaretler: 6 tane +, 2 tane −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|000⟩ genliği = (6 − 2)/8 = 0.5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P(000) = 0.25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%25 "sabit", %75 "dengeli" →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kesinlik kaybolur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P(000) = 0.25</a:t>
            </a:r>
            <a:endParaRPr lang="en-US" sz="17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498080" y="1143000"/>
          <a:ext cx="4144975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Dürüst karşılaştırma: olasılıksal klasik algoritma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5669280" cy="1005840"/>
          </a:xfrm>
          <a:prstGeom prst="roundRect">
            <a:avLst>
              <a:gd name="adj" fmla="val 909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1887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P(hata) ≤ 2 · (1/2)^k = 2^(1−k)</a:t>
            </a:r>
            <a:endParaRPr lang="en-US" sz="2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2377440"/>
          <a:ext cx="56692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234440"/>
          <a:ext cx="5150815" cy="914400"/>
        </p:xfrm>
        <a:graphic>
          <a:graphicData uri="http://schemas.openxmlformats.org/drawingml/2006/table">
            <a:tbl>
              <a:tblPr/>
              <a:tblGrid>
                <a:gridCol w="2163342"/>
                <a:gridCol w="1545245"/>
                <a:gridCol w="1442228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Sorgu (n = 20)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Klasik deterministik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524 289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Klasik olasılıksal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%0.2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Deutsch-Jozsa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(gürültüsüz)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6492240" y="3474720"/>
            <a:ext cx="5150815" cy="2377440"/>
          </a:xfrm>
          <a:prstGeom prst="roundRect">
            <a:avLst>
              <a:gd name="adj" fmla="val 3077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675120" y="3584448"/>
            <a:ext cx="4785055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Olasılıksal klasiğe karşı DJ'nin avantajı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 bir çarpan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(10'a 1).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Üstel ayrım yalnızca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%100 kesinlik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istendiğinde.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Gürültülü donanımda klasik bile daha güvenilir olabilir.</a:t>
            </a:r>
            <a:endParaRPr lang="en-US" sz="1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9 · Olasılıksal klasik vs kuantum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20 için %99'dan yüksek güven: olasılıksal klasik kaç sorgu yapar?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2^(1−k) &lt; 0.01 → k &gt; 1 + log₂100 ≈ 7.64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8 → hata ≤ 2⁻⁷ ≈ 0.0078 (%99.2)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Deterministik: 524 289     DJ: 1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Fark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8'e 1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üstel değil!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 sorgu; DJ'nin kazancı küçük bir sabit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32918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classical_random_dj(f, k):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xs = rng.integers(0, 2**f.n, k)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vals = {f(int(x)) for x in xs}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("sabit" if len(vals)==1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else "dengeli")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n=10, k=10, 2000 deneme: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hata oranı ≈ 0.0020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teorik sınır = 0.0020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06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Bernstein-Vazirani ve Simon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Gizli bit maskesini tek sorguda bulmak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gizli bit maskesi 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18872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 s · x mod 2 = s₀x₀ ⊕ s₁x₁ ⊕ … ⊕ sₙ₋₁xₙ₋₁</a:t>
            </a:r>
            <a:endParaRPr lang="en-US" sz="2600" dirty="0"/>
          </a:p>
        </p:txBody>
      </p:sp>
      <p:pic>
        <p:nvPicPr>
          <p:cNvPr id="8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3338" y="2286000"/>
            <a:ext cx="9545019" cy="30175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53949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Görev: </a:t>
            </a: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8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'yi bul. Her sorgunun cevabı yalnızca </a:t>
            </a: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bit</a:t>
            </a:r>
            <a:r>
              <a:rPr lang="en-US" sz="18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(tek mi, çift mi).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10 · BV'nin klasik çözümü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101101 için birim vektör stratejisi: sorgular ve cevaplar? Kaç sorgu?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Yalnızca i. biti 1 olan eᵢ için f(eᵢ) = sᵢ.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f(000001) = 1   f(000010) = 0   f(000100) = 1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f(001000) = 1   f(010000) = 0   f(100000) = 1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s₅…s₀ = 101101 →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sorgu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(genel olarak n)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Olasılıksal da n'nin altına inemez: her cevap ≤ 1 bit.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 sorgu; kuantum BV 1 sorgu</a:t>
            </a:r>
            <a:endParaRPr lang="en-US" sz="17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325880"/>
          <a:ext cx="4144975" cy="914400"/>
        </p:xfrm>
        <a:graphic>
          <a:graphicData uri="http://schemas.openxmlformats.org/drawingml/2006/table">
            <a:tbl>
              <a:tblPr/>
              <a:tblGrid>
                <a:gridCol w="2279736"/>
                <a:gridCol w="1865239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Sorgu 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f(x)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s₀ =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s₁ =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000100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s₂ =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s₃ =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s₄ =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s₅ =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BV: DJ devresi, oracle = CNOT'lar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414" y="1097280"/>
            <a:ext cx="6675891" cy="3474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680960" y="1188720"/>
            <a:ext cx="3962095" cy="1005840"/>
          </a:xfrm>
          <a:prstGeom prst="roundRect">
            <a:avLst>
              <a:gd name="adj" fmla="val 909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680960" y="1188720"/>
            <a:ext cx="3962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(1/√N) Σₓ (−1)^(s·x)|x⟩ = H⊗n|s⟩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7680960" y="2377440"/>
            <a:ext cx="3962095" cy="2194560"/>
          </a:xfrm>
          <a:prstGeom prst="roundRect">
            <a:avLst>
              <a:gd name="adj" fmla="val 3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863840" y="2487168"/>
            <a:ext cx="3596335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H⊗n →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|s⟩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 olasılık 1 ile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sırası: s'nin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karakteri q₀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709160"/>
            <a:ext cx="11094415" cy="12344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85800" y="4800600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bv_oracle(s):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len(s); qc = QuantumCircuit(n + 1, name="U_f")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i, bit in enumerate(reversed(s)):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s[-1] &lt;-&gt; q0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bit == "1": qc.cx(i, 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qc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101101: tek sorgu, tek sonuç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143000"/>
          <a:ext cx="56692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188720"/>
          <a:ext cx="5150815" cy="914400"/>
        </p:xfrm>
        <a:graphic>
          <a:graphicData uri="http://schemas.openxmlformats.org/drawingml/2006/table">
            <a:tbl>
              <a:tblPr/>
              <a:tblGrid>
                <a:gridCol w="1442228"/>
                <a:gridCol w="1854293"/>
                <a:gridCol w="1854293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Deutsch-Jozsa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Bernstein-Vazirani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sabit / dengeli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f(x) = s·x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Aranan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bit (s)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Yorum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0…0 → sabit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ölçüm =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Klasik det.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2ⁿ⁻¹ + 1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Klasik olas.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sabit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Kuantum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548640" y="52120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6–8 bitlik s değerleri, hep tek sorgu.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11 · BV, s = 1011, adım adım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4, s = 1011: oracle, bazı x'ler için işaretler, ölçüm?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Oracle: CNOT(q₀→q₄), CNOT(q₁→q₄), CNOT(q₃→q₄)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0000: +     x = 0001: s₀ = 1 → −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0011: 1 ⊕ 1 = 0 → +     x = 1111: 1⊕1⊕0⊕1 = 1 → −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Desen = H⊗4|1011⟩'in deseni → son H⊗4 → |1011⟩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Ölçüm 1011 = 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21945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= dj_circuit(bv_oracle("1011"), 4)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run_counts(qc, 512)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{'1011': 512}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oracle_calls(qc)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algoritmasına kısa bakış: üstel ayrım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51119"/>
            <a:ext cx="7680960" cy="2452643"/>
          </a:xfrm>
          <a:prstGeom prst="rect">
            <a:avLst/>
          </a:prstGeom>
        </p:spPr>
      </p:pic>
      <p:pic>
        <p:nvPicPr>
          <p:cNvPr id="7" name="Image 1" descr="gör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95096"/>
            <a:ext cx="3230575" cy="1564688"/>
          </a:xfrm>
          <a:prstGeom prst="rect">
            <a:avLst/>
          </a:prstGeom>
        </p:spPr>
      </p:pic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4415" cy="914400"/>
        </p:xfrm>
        <a:graphic>
          <a:graphicData uri="http://schemas.openxmlformats.org/drawingml/2006/table">
            <a:tbl>
              <a:tblPr/>
              <a:tblGrid>
                <a:gridCol w="2662660"/>
                <a:gridCol w="1775106"/>
                <a:gridCol w="2440771"/>
                <a:gridCol w="1331330"/>
                <a:gridCol w="2884548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Klasik det.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Klasik olasılıksal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Kuantum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Ayrım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Deutsch-Jozsa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2ⁿ⁻¹ + 1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yalnız kesinlikte üstel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Bernstein-Vazirani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polinom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~2^(n/2)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~2^(n/2)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üstel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Grover (9. hafta)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~√N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karesel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3. saat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Lab: oracle fabrikası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DJ ve BV'yi Qiskit ile çalıştırmak, sorguları saymak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fabrikası: üç üretici + birim test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097280"/>
            <a:ext cx="7863840" cy="49377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188720"/>
            <a:ext cx="75895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random_balanced_oracle(n, seed=None):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np.random.default_rng(seed)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= int(r.integers(1, 2**n))                 </a:t>
            </a:r>
            <a:r>
              <a:rPr lang="en-US" sz="135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 ≠ 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= int(r.integers(0, 2**n))                 </a:t>
            </a:r>
            <a:r>
              <a:rPr lang="en-US" sz="135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XOR maskesi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int(r.integers(0, 2))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 = QuantumCircuit(n + 1, name="U_f")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mask = [i for i in range(n) if (m &gt;&gt; i) &amp; 1]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mask: qc.x(mask)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range(n):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 &gt;&gt; i) &amp; 1: qc.cx(i, n)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mask: qc.x(mask)                          </a:t>
            </a:r>
            <a:r>
              <a:rPr lang="en-US" sz="135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uncompute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c: qc.x(n)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qc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truth_table_of(oracle, n):                   </a:t>
            </a:r>
            <a:r>
              <a:rPr lang="en-US" sz="135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birim test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tt = []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x in range(2**n):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qc = QuantumCircuit(n + 1)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i in range(n):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(x &gt;&gt; i) &amp; 1: qc.x(i)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qc.compose(oracle, inplace=True)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tt.append(int(round(Statevector(qc).probabilities([n])[1])))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641080" y="1188720"/>
            <a:ext cx="3001975" cy="4754880"/>
          </a:xfrm>
          <a:prstGeom prst="roundRect">
            <a:avLst>
              <a:gd name="adj" fmla="val 243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823960" y="1298448"/>
            <a:ext cx="2636215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Fabrika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oracle_from_truth_table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bv_oracle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random_balanced_oracle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constant_oracle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truth_table_of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dengeli (n = 4): 16 değerden tam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tanesi 1 ✓</a:t>
            </a:r>
            <a:endParaRPr lang="en-US" sz="17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 ve BV çalıştırma + kuantum sorgu sayacı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11094415" cy="22860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34440"/>
            <a:ext cx="1082009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dj_circuit(oracle, n):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 = QuantumCircuit(n + 1, 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qc.x(n); qc.h(range(n + 1)); qc.barrier()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qc.append(oracle.to_gate(label="U_f"), range(n + 1)); qc.barrier()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qc.h(range(n)); qc.measure(range(n), range(n))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qc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oracle_calls(qc):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sum(1 for ins in qc.data if ins.operation.name == "U_f")</a:t>
            </a:r>
            <a:endParaRPr lang="en-US" sz="14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11094415" cy="914400"/>
        </p:xfrm>
        <a:graphic>
          <a:graphicData uri="http://schemas.openxmlformats.org/drawingml/2006/table">
            <a:tbl>
              <a:tblPr/>
              <a:tblGrid>
                <a:gridCol w="3550213"/>
                <a:gridCol w="3328325"/>
                <a:gridCol w="1996995"/>
                <a:gridCol w="2218883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(n = 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Sayımlar (256 shot)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çağrısı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sabit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{'000': 256}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sabit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sabit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{'000': 256}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sabit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dengeli (tablo 01101001)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{'111': 256}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dengeli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dengeli (rastgele, seed 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{'110': 256}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dengeli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BV s = 11100101 (n = 8)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{'11100101': 512}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bulundu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akışı ve sık yapılan hatalar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035040" cy="914400"/>
        </p:xfrm>
        <a:graphic>
          <a:graphicData uri="http://schemas.openxmlformats.org/drawingml/2006/table">
            <a:tbl>
              <a:tblPr/>
              <a:tblGrid>
                <a:gridCol w="965606"/>
                <a:gridCol w="3862426"/>
                <a:gridCol w="120700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Bölüm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Kurulum, sorgu sayaçlı klasik DJ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Bit/faz oracle, faz geri tepmesi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Walsh-Hadamard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Deutsch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fabrikası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 + olasılıksal klasik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G–H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BV, Simon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alıştırma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ödev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858000" y="1188720"/>
            <a:ext cx="4785055" cy="4663440"/>
          </a:xfrm>
          <a:prstGeom prst="roundRect">
            <a:avLst>
              <a:gd name="adj" fmla="val 1569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040880" y="1298448"/>
            <a:ext cx="4419295" cy="4443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Sık hatalar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Hedefi |−⟩ yapmamak (yalnız H) → DJ hep 0…0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enumerate(s)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BV sonucu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string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Uncompute unutmak → girdi bozulur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 kararında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"0"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yerine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"0" * n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kübiti de ölçmek</a:t>
            </a:r>
            <a:endParaRPr lang="en-US" sz="17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Haftanın özeti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kara kutu fonksiyon; maliyet =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sorgu sayısı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oracle |x⟩|y⟩ → |x⟩|y ⊕ f(x)⟩; hedef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|−⟩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iken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oracle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(−1)^f(x) (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geri tepmesi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H⊗n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eşit süperpozisyon; işaretler (−1)^(x·z); kendi tersi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 / DJ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tek sorgu; |0…0⟩ genliği = işaretlerin ortalaması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Dengeli oracle: CNOT paritesi, XOR maskesi (X–CNOT–X), doğruluk tablosu (MCX)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f(x) = s·x, oracle = CNOT'lar, ölçüm = s (klasik n sorgu)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Dürüst not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olasılıksal klasik DJ birkaç sorguda yüksek güven verir;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gerçek üstel ayrım</a:t>
            </a:r>
            <a:endParaRPr lang="en-US" sz="2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 ve gelecek hafta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5410048" cy="3840480"/>
          </a:xfrm>
          <a:prstGeom prst="roundRect">
            <a:avLst>
              <a:gd name="adj" fmla="val 190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89888"/>
            <a:ext cx="5044288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notu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13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10 yazılı soru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I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8 kodlama alıştırması (assert'li)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Teslim: notebook + yazılı cevaplar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233008" y="1280160"/>
            <a:ext cx="5410048" cy="3840480"/>
          </a:xfrm>
          <a:prstGeom prst="roundRect">
            <a:avLst>
              <a:gd name="adj" fmla="val 1905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5888" y="1389888"/>
            <a:ext cx="5044288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9: Grover arama algoritması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oracle = aranan elemanı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işaretle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Difüzyon: ortalama etrafında yansıtma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Genlik yükseltme döngüsü, ~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√N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sorgu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Etkileşimli HTML genlik animasyonu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3949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haftanın faz geri tepmesi ve |0…0⟩ = ortalama fikri, Grover'ın difüzyon adımının temelidir.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2026-09-23T15:32:22Z</dcterms:created>
  <dcterms:modified xsi:type="dcterms:W3CDTF">2026-09-23T15:32:22Z</dcterms:modified>
</cp:coreProperties>
</file>