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1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2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charts/chart3.xml" ContentType="application/vnd.openxmlformats-officedocument.drawingml.chart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5-kat çapraz doğrulama doğruluğu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Doğrusal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Moons</c:v>
                  </c:pt>
                  <c:pt idx="1">
                    <c:v>Circles</c:v>
                  </c:pt>
                  <c:pt idx="2">
                    <c:v>XOR</c:v>
                  </c:pt>
                  <c:pt idx="3">
                    <c:v>Iris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0.845</c:v>
                </c:pt>
                <c:pt idx="1">
                  <c:v>0.505</c:v>
                </c:pt>
                <c:pt idx="2">
                  <c:v>0.62</c:v>
                </c:pt>
                <c:pt idx="3">
                  <c:v>0.93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RBF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Moons</c:v>
                  </c:pt>
                  <c:pt idx="1">
                    <c:v>Circles</c:v>
                  </c:pt>
                  <c:pt idx="2">
                    <c:v>XOR</c:v>
                  </c:pt>
                  <c:pt idx="3">
                    <c:v>Iris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0.975</c:v>
                </c:pt>
                <c:pt idx="1">
                  <c:v>1</c:v>
                </c:pt>
                <c:pt idx="2">
                  <c:v>1</c:v>
                </c:pt>
                <c:pt idx="3">
                  <c:v>0.94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QSVM açı</c:v>
                </c:pt>
              </c:strCache>
            </c:strRef>
          </c:tx>
          <c:spPr>
            <a:solidFill>
              <a:srgbClr val="9DBBE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Moons</c:v>
                  </c:pt>
                  <c:pt idx="1">
                    <c:v>Circles</c:v>
                  </c:pt>
                  <c:pt idx="2">
                    <c:v>XOR</c:v>
                  </c:pt>
                  <c:pt idx="3">
                    <c:v>Iris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0.855</c:v>
                </c:pt>
                <c:pt idx="1">
                  <c:v>1</c:v>
                </c:pt>
                <c:pt idx="2">
                  <c:v>1</c:v>
                </c:pt>
                <c:pt idx="3">
                  <c:v>0.93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QSVM ZZ γ=1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Moons</c:v>
                  </c:pt>
                  <c:pt idx="1">
                    <c:v>Circles</c:v>
                  </c:pt>
                  <c:pt idx="2">
                    <c:v>XOR</c:v>
                  </c:pt>
                  <c:pt idx="3">
                    <c:v>Iris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0.8</c:v>
                </c:pt>
                <c:pt idx="1">
                  <c:v>0.875</c:v>
                </c:pt>
                <c:pt idx="2">
                  <c:v>0.88</c:v>
                </c:pt>
                <c:pt idx="3">
                  <c:v>0.73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QSVM ZZ ayarlı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Moons</c:v>
                  </c:pt>
                  <c:pt idx="1">
                    <c:v>Circles</c:v>
                  </c:pt>
                  <c:pt idx="2">
                    <c:v>XOR</c:v>
                  </c:pt>
                  <c:pt idx="3">
                    <c:v>Iris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0.96</c:v>
                </c:pt>
                <c:pt idx="1">
                  <c:v>0.98</c:v>
                </c:pt>
                <c:pt idx="2">
                  <c:v>0.99</c:v>
                </c:pt>
                <c:pt idx="3">
                  <c:v>0.94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.4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3A5F"/>
                </a:solidFill>
                <a:latin typeface="Arial"/>
              </a:rPr>
              <a:t>Yalnız ZZ: γ'ya göre CV doğruluğu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Moons</c:v>
                </c:pt>
              </c:strCache>
            </c:strRef>
          </c:tx>
          <c:spPr>
            <a:solidFill>
              <a:srgbClr val="2E6DB4"/>
            </a:solidFill>
            <a:ln w="25400" cap="flat">
              <a:solidFill>
                <a:srgbClr val="2E6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6DB4"/>
              </a:solidFill>
              <a:ln w="9525" cap="flat">
                <a:solidFill>
                  <a:srgbClr val="2E6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0.1</c:v>
                  </c:pt>
                  <c:pt idx="1">
                    <c:v>0.2</c:v>
                  </c:pt>
                  <c:pt idx="2">
                    <c:v>0.3</c:v>
                  </c:pt>
                  <c:pt idx="3">
                    <c:v>0.5</c:v>
                  </c:pt>
                  <c:pt idx="4">
                    <c:v>0.7</c:v>
                  </c:pt>
                  <c:pt idx="5">
                    <c:v>1</c:v>
                  </c:pt>
                  <c:pt idx="6">
                    <c:v>1.5</c:v>
                  </c:pt>
                  <c:pt idx="7">
                    <c:v>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0.75</c:v>
                </c:pt>
                <c:pt idx="1">
                  <c:v>0.795</c:v>
                </c:pt>
                <c:pt idx="2">
                  <c:v>0.875</c:v>
                </c:pt>
                <c:pt idx="3">
                  <c:v>0.96</c:v>
                </c:pt>
                <c:pt idx="4">
                  <c:v>0.77</c:v>
                </c:pt>
                <c:pt idx="5">
                  <c:v>0.8</c:v>
                </c:pt>
                <c:pt idx="6">
                  <c:v>0.64</c:v>
                </c:pt>
                <c:pt idx="7">
                  <c:v>0.53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Circles</c:v>
                </c:pt>
              </c:strCache>
            </c:strRef>
          </c:tx>
          <c:spPr>
            <a:solidFill>
              <a:srgbClr val="1F3A5F"/>
            </a:solidFill>
            <a:ln w="25400" cap="flat">
              <a:solidFill>
                <a:srgbClr val="1F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3A5F"/>
              </a:solidFill>
              <a:ln w="9525" cap="flat">
                <a:solidFill>
                  <a:srgbClr val="1F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0.1</c:v>
                  </c:pt>
                  <c:pt idx="1">
                    <c:v>0.2</c:v>
                  </c:pt>
                  <c:pt idx="2">
                    <c:v>0.3</c:v>
                  </c:pt>
                  <c:pt idx="3">
                    <c:v>0.5</c:v>
                  </c:pt>
                  <c:pt idx="4">
                    <c:v>0.7</c:v>
                  </c:pt>
                  <c:pt idx="5">
                    <c:v>1</c:v>
                  </c:pt>
                  <c:pt idx="6">
                    <c:v>1.5</c:v>
                  </c:pt>
                  <c:pt idx="7">
                    <c:v>2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0.78</c:v>
                </c:pt>
                <c:pt idx="1">
                  <c:v>0.835</c:v>
                </c:pt>
                <c:pt idx="2">
                  <c:v>0.86</c:v>
                </c:pt>
                <c:pt idx="3">
                  <c:v>0.98</c:v>
                </c:pt>
                <c:pt idx="4">
                  <c:v>0.855</c:v>
                </c:pt>
                <c:pt idx="5">
                  <c:v>0.875</c:v>
                </c:pt>
                <c:pt idx="6">
                  <c:v>0.675</c:v>
                </c:pt>
                <c:pt idx="7">
                  <c:v>0.78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XOR</c:v>
                </c:pt>
              </c:strCache>
            </c:strRef>
          </c:tx>
          <c:spPr>
            <a:solidFill>
              <a:srgbClr val="D9822B"/>
            </a:solidFill>
            <a:ln w="25400" cap="flat">
              <a:solidFill>
                <a:srgbClr val="D982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822B"/>
              </a:solidFill>
              <a:ln w="9525" cap="flat">
                <a:solidFill>
                  <a:srgbClr val="D982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0.1</c:v>
                  </c:pt>
                  <c:pt idx="1">
                    <c:v>0.2</c:v>
                  </c:pt>
                  <c:pt idx="2">
                    <c:v>0.3</c:v>
                  </c:pt>
                  <c:pt idx="3">
                    <c:v>0.5</c:v>
                  </c:pt>
                  <c:pt idx="4">
                    <c:v>0.7</c:v>
                  </c:pt>
                  <c:pt idx="5">
                    <c:v>1</c:v>
                  </c:pt>
                  <c:pt idx="6">
                    <c:v>1.5</c:v>
                  </c:pt>
                  <c:pt idx="7">
                    <c:v>2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0.99</c:v>
                </c:pt>
                <c:pt idx="1">
                  <c:v>0.995</c:v>
                </c:pt>
                <c:pt idx="2">
                  <c:v>0.99</c:v>
                </c:pt>
                <c:pt idx="3">
                  <c:v>0.995</c:v>
                </c:pt>
                <c:pt idx="4">
                  <c:v>0.995</c:v>
                </c:pt>
                <c:pt idx="5">
                  <c:v>0.88</c:v>
                </c:pt>
                <c:pt idx="6">
                  <c:v>0.7</c:v>
                </c:pt>
                <c:pt idx="7">
                  <c:v>0.655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Iris</c:v>
                </c:pt>
              </c:strCache>
            </c:strRef>
          </c:tx>
          <c:spPr>
            <a:solidFill>
              <a:srgbClr val="9CA3AF"/>
            </a:solidFill>
            <a:ln w="25400" cap="flat">
              <a:solidFill>
                <a:srgbClr val="9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0.1</c:v>
                  </c:pt>
                  <c:pt idx="1">
                    <c:v>0.2</c:v>
                  </c:pt>
                  <c:pt idx="2">
                    <c:v>0.3</c:v>
                  </c:pt>
                  <c:pt idx="3">
                    <c:v>0.5</c:v>
                  </c:pt>
                  <c:pt idx="4">
                    <c:v>0.7</c:v>
                  </c:pt>
                  <c:pt idx="5">
                    <c:v>1</c:v>
                  </c:pt>
                  <c:pt idx="6">
                    <c:v>1.5</c:v>
                  </c:pt>
                  <c:pt idx="7">
                    <c:v>2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0.94</c:v>
                </c:pt>
                <c:pt idx="1">
                  <c:v>0.93</c:v>
                </c:pt>
                <c:pt idx="2">
                  <c:v>0.88</c:v>
                </c:pt>
                <c:pt idx="3">
                  <c:v>0.72</c:v>
                </c:pt>
                <c:pt idx="4">
                  <c:v>0.78</c:v>
                </c:pt>
                <c:pt idx="5">
                  <c:v>0.73</c:v>
                </c:pt>
                <c:pt idx="6">
                  <c:v>0.81</c:v>
                </c:pt>
                <c:pt idx="7">
                  <c:v>0.62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Moons, 30 eğitim örneği: test doğruluğu vs shot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Shot tabanlı (ort.)</c:v>
                </c:pt>
              </c:strCache>
            </c:strRef>
          </c:tx>
          <c:spPr>
            <a:solidFill>
              <a:srgbClr val="2E6DB4"/>
            </a:solidFill>
            <a:ln w="31750" cap="flat">
              <a:solidFill>
                <a:srgbClr val="2E6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E6DB4"/>
              </a:solidFill>
              <a:ln w="9525" cap="flat">
                <a:solidFill>
                  <a:srgbClr val="2E6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8</c:v>
                  </c:pt>
                  <c:pt idx="1">
                    <c:v>16</c:v>
                  </c:pt>
                  <c:pt idx="2">
                    <c:v>32</c:v>
                  </c:pt>
                  <c:pt idx="3">
                    <c:v>64</c:v>
                  </c:pt>
                  <c:pt idx="4">
                    <c:v>128</c:v>
                  </c:pt>
                  <c:pt idx="5">
                    <c:v>256</c:v>
                  </c:pt>
                  <c:pt idx="6">
                    <c:v>1024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0.858</c:v>
                </c:pt>
                <c:pt idx="1">
                  <c:v>0.871</c:v>
                </c:pt>
                <c:pt idx="2">
                  <c:v>0.921</c:v>
                </c:pt>
                <c:pt idx="3">
                  <c:v>0.925</c:v>
                </c:pt>
                <c:pt idx="4">
                  <c:v>0.94</c:v>
                </c:pt>
                <c:pt idx="5">
                  <c:v>0.935</c:v>
                </c:pt>
                <c:pt idx="6">
                  <c:v>0.94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Kesin (Statevector)</c:v>
                </c:pt>
              </c:strCache>
            </c:strRef>
          </c:tx>
          <c:spPr>
            <a:solidFill>
              <a:srgbClr val="D9822B"/>
            </a:solidFill>
            <a:ln w="31750" cap="flat">
              <a:solidFill>
                <a:srgbClr val="D982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9822B"/>
              </a:solidFill>
              <a:ln w="9525" cap="flat">
                <a:solidFill>
                  <a:srgbClr val="D982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8</c:v>
                  </c:pt>
                  <c:pt idx="1">
                    <c:v>16</c:v>
                  </c:pt>
                  <c:pt idx="2">
                    <c:v>32</c:v>
                  </c:pt>
                  <c:pt idx="3">
                    <c:v>64</c:v>
                  </c:pt>
                  <c:pt idx="4">
                    <c:v>128</c:v>
                  </c:pt>
                  <c:pt idx="5">
                    <c:v>256</c:v>
                  </c:pt>
                  <c:pt idx="6">
                    <c:v>1024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0.933</c:v>
                </c:pt>
                <c:pt idx="1">
                  <c:v>0.933</c:v>
                </c:pt>
                <c:pt idx="2">
                  <c:v>0.933</c:v>
                </c:pt>
                <c:pt idx="3">
                  <c:v>0.933</c:v>
                </c:pt>
                <c:pt idx="4">
                  <c:v>0.933</c:v>
                </c:pt>
                <c:pt idx="5">
                  <c:v>0.933</c:v>
                </c:pt>
                <c:pt idx="6">
                  <c:v>0.933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eleman başına shot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haftada veri kodlamayı ve iki kodlanmış durumun benzerliğini önizlemiştik. Bu hafta o benzerliği SVM'e çekirdek olarak veriyoruz. Baştan söyleyin: sonunda QSVM'in bizim veri setlerimizde RBF'i geçmediğini ölçerek göreceğiz; amaç dürüst ölçmeyi öğrenmek.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saatin akışı. Birinci saatte kavramlar ve devreler, ikinci saatte elle hesaplar ve deney sonuçları, üçüncü saatte lab. İkinci saatteki bant genişliği ve yoğunlaşma konuları haftanın en önemli mesajlarını taşıyor.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Hedefleri kısaca okuyun. 5. ve 7. hedefleri vurgulayın: karşılaştırmayı doğru yapmak ve avantaj iddialarını eleştirmek.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Yazılımcı benzetmesi: SVM bir arayüz ister, k(x, x') -&gt; float. Biz bu arayüzün kuantum gerçekleştirmesini yazıyoruz. Kuantum bilgisayar yalnızca turuncu çizginin altındaki kısmı yapar: her çift için bir benzerlik sayısı. SVM eğitimi tamamen klasik.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Hızlı bir hatırlatma. Öğrencilerin çoğu SVM'i biliyor; asıl hedef precomputed çekirdek kullanımını oturtmak.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Marjin = 2/‖w‖. Sınırı yalnız destek vektörleri belirler; diğer noktaları silseniz model değişmez. Bu, tahmin maliyeti için önemli olacak: QSVM'de test için yalnız destek vektörleriyle çekirdek gerekir. C cezası: bu hafta C = 1 sabit.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Halkalar 2B'de ayrılmaz, x1²+x2² eklenince bir düzlem ayırır. SVM dual formu veriye yalnızca k(x, x') ile dokunur; bu yüzden φ'yi hesaplamaya gerek yok. Kuantum çekirdek de aynı hileyi kullanır: φ(x) 2^n boyutlu bir durumdur, biz yalnız örtüşmeyi ölçeriz.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çok yapılan hata: test matrisini test × test kurmak. Doğrusu test × EĞİTİM. Isı haritasında sınıfa göre sıralayınca iyi bir çekirdekte köşegen bloklar koyu olur.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Kuantum çekirdeğin tanımı 2. haftadaki genel olasılık kuralının aynısı. Öğrencilere bunu hatırlatın.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Özellik haritası = 12. haftadaki veri kodlama devresi. k bir olasılık: 0 ile 1 arasında, k(x,x)=1, simetrik ve Gram matrisi PSD. Yani SVM için geçerli bir çekirdek.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RY(θ)|0⟩ = [cos θ/2, sin θ/2]. İç çarpım cos((x−x')/2) çıkar; kübitler bağımsız olduğundan çarpılır. Bloch küresinde iki nokta arasındaki açı büyüdükçe benzerlik düşer. Bu çekirdek klasik olarak tek satır: kuantum avantajı sunamaz ama iyi bir temel çizgi.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Çekirdek yalnız farka bağlı, yakın noktalar benzer: RBF gibi. Fark: cos² periyodik, Δ=2π'de tekrar 1. Veri [0, π]'de olduğu için Δ ≤ π, sorun yok. Ama γ büyütülünce uzak noktalar yapay olarak benzer görünebilir (Örnek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Durum vektörü donanımda okunamaz. Hile: U(x) sonra U(x')†. x=x' ise U† her şeyi geri alır, hep 00 gelir. Farklılaştıkça diğer sonuçlar görünür. k = P(00…0). RY'nin tersi RY(−θ).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shot bir yazı-tura; N(00) binom dağılır. Standart hata √(k(1−k)/N). 1024 shot ile ±0.015 civarı. Aer'de seed sabit, lab'da aynı sayılar.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test U† istemez ama 2n+1 kübit ve CSWAP ister; k = 2P(0) − 1 olduğu için hata iki katına çıkar. Pratikte compute–uncompute tercih edilir. Simülasyonda ise Statevector: kesin ve hızlı.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QSVM tasarlamak = özellik haritası tasarlamak. Qiskit 2.x API notunu mutlaka verin.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Havlíček ve diğ. 2019. H, P(2x_i), ve her çift için CX–P–CX. Sandbox'ta doğruladık: ZZFeatureMap sınıfı 2.1'den beri deprecated, 3.0'da kalkacak. Fonksiyon düz QuantumCircuit döndürüyor.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 kapıları köşegen: her bit dizisine bir faz ekler. CX–P–CX, b0 XOR b1 bitine faz yazar (6. haftadaki tersinir mantık). reps=1'de durum eşit genlikli, sadece fazlar farklı; çekirdek faz farklarının ortalamasının büyüklük karesi. Bu formül lab'daki vektörleştirmenin temeli.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Tasarım bir sinir ağı mimarisi gibi: katmanlar ve tekrar. Veriyi iki eksende iki kez yüklemek 12. haftadaki data re-uploading fikri. Tabloda üç haritayı karşılaştırın.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RBF ve açı çekirdeği düzgün, yerel. ZZ γ=1'de çok tepeli bir yüzey: uzak noktalar benzer, yakın noktalar farklı görünebiliyor. Bu yüzden varsayılan ZZ kötü sonuç verecek. γ'yı küçültmek yüzeyi yumuşatır.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çift için devre simüle etmek yerine her örneğin durum vektörünü bir kez hesapla. ZZ: H katmanı sabit Hadamard matrisi, faz katmanı köşegen. Lab'da Qiskit ile birebir aynı olduğu test ediliyor. Bu küçük n için geçerli; n=30'da 16 GB/durum.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İkinci saat. Önce 6 elle hesap, sonra deney sonuçları.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Öğrencilere 2 dakika verin. Durum vektörleri yarım açıyla yazılıyor; en sık hata /2'yi unutmak.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Alıştırma 1 ve 4'teki referans değer.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Binom dağılımı hatırlatması. Shot sayısını 4 katına çıkarınca SE yarıya 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testin bedeli: 2n+1 kübit, CSWAP ve iki kat hata.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Uzun bir hesap; tahtada adım adım yapın. Qiskit sırasını hatırlatın: indeks 01 → b0 = 1. reps değişince çekirdek değişiyor.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Büyük γ her zaman daha ayırt edici değil. Grafikteki eğrilerde γ=2'nin tekrar yükseldiğini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 setleri dersin ortak setleri, tümü [0, π]'de. %70/%30 katmanlı bölme, seed 42; ayrıca 5-kat CV. γ ayarlı modelde γ yalnız eğitim kümesinde iç CV ile seçildi: test kümesine bakmak veri sızıntısı olur.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Sınıfa göre sıralı; turuncu çizgi sınıf sınırı. Circles ve XOR'da köşegen bloklar belirgin: çekirdek aynı sınıftakileri benzer buluyor. Moons ve iris daha karışık.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Izgara 70×70 = 4900 nokta; K(ızgara, eğitim) ile decision_function. Doğrusal circles/XOR'da başarısız. RBF, açı ve ayarlı ZZ sınırları çok benzer. Donanımda bu tek çizim ~686 bin devre olurdu.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Tablonun en önemli satırı ZZ γ=1: Qiskit'in varsayılanını olduğu gibi kullanan biri iris'te doğrusal SVM'in bile altında kalır. Ayarlı ZZ RBF ile başa baş ama geçmiyor.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Native grafik. Dört veri setinde RBF (lacivert) ve ayarlı ZZ (mavi) çok yakın. Turuncu varsayılan ZZ her yerde geride.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Küçük veri setlerinde tek bir yüzde farkına anlam yüklemeyin. Doğru ifade: benzer performans.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veri × harita × 8 γ: 480 SVM eğitimi, Colab'da ~10 s. ZZ'nin tepesi hep γ &lt; 1'de. Açı çekirdeği tersine küçük γ'da kötü. Iris 4 kübit: ZZ γ = 0.1 istiyor, yoğunlaşmaya ön işaret.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rejim. Teşhis için eğitim–test farkına ve destek vektörü sayısına bakın. Çok büyük γ'da SV sayısı N'ye yaklaşır.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Ezberlemenin en uç hâli. Moons γ = 2'de gördüğümüz ~0.5 CV doğruluğu tam da bu.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Eğitim Gram'ı simetrik, köşegen 1: N(N−1)/2 devre. Test için yalnız destek vektörleri. Her şey × S shot. N=1000'de yarım milyar shot; tek model, tek γ için.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Alıştırma 7 bu fonksiyonu yazdırıyor. Kuyruk ve transpile süresi hariç.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eleman Binom(S, k)/S. Hata 1/√S hızında azalır. 64 shot'ta ısı haritası belirgin şekilde gürültülü. Gürültülü matris PSD olmayabilir, küçük değerler 0'a yuvarlanır.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Lab'da 20+20 örnekle Aer'de gerçekten 590 devre çalıştırıyoruz (~8 s). Bu grafik 30 eğitim örneği, 8 tekrar. S=8'de düşük ve oynak, S≥128'de kesin çekirdek düzeyi.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Yüksek boyutta rastgele iki vektör neredeyse dik. Varyans üstel azalıyor (log eksen). İki sorun: K ≈ I (ezber) ve 0'a yakın değerleri ayırt etmek için üstel shot. Çözüm γ'yı n ile küçültmek: açı için 1/√n, ZZ için 1/n².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E[sin x] = 2/π hesabını tahtada gösterin. Sayısal deneyle uyuşması güzel bir doğrulama.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haftanın en önemli slaytı. RBF evrensel bir çekirdek; 2 boyutlu veride kuantum yapıya ihtiyaç yok. Liu, Arunachalam, Temme 2021: ayrık logaritmaya dayalı özel problemde kanıtlanmış ayrım. Huang ve diğ. 2021: klasik modeller veriyle çoğu avantajı kapatabiliyor.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haftadaki framework karşılaştırmasının devamı. qml.adjoint = Qiskit inverse. square_kernel_matrix simetri ve köşegeni kullanıyor. Lab'da bizim açı çekirdeğimizle birebir aynı matris çıkıyor.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Lab'a geçiş. Notebook ~1 dakikada baştan sona çalışıyor; öğrenciler deneyleri canlı değiştirebilir.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 ve C bölümlerini birlikte yapın; E ve F'de öğrenciler γ ve haritayı değiştirip sonucu yorumlasın. G'de Aer ile gerçek devre çalıştırma 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Tüm eşikler sabit seed ile deterministik. Alıştırma 6 dürüst sonucu assert ediyor: en iyi QSVM bile RBF'i geçmiyor. Alıştırma 8 yoğunlaşma düzeltmesini gösteriyor.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Özeti birlikte tekrar edin. Son maddeyi vurgulayın.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Gelecek hafta çekirdek yerine eğitilebilir devre: VQC ve hibrit sinir ağları. Yoğunlaşmanın eğitimdeki karşılığı barren plateau olacak; bu haftayla bağlantı kurun.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7D2E3"/>
                </a:solidFill>
              </a:rPr>
              <a:t>KUANTUM HESAPLAMA VE UYGULAMALARI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Hafta 13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603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Kuantum Makine Öğrenmesi II: Kuantum Çekirdekler ve QSVM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Çekirdek hilesi · kuantum özellik haritaları · compute–uncompute · bant genişliği · yoğunlaşma · klasik SVM ile dürüst karşılaştırma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planı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saat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ve çekirdek hilesi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çekirdek tanımı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compute–uncompute, swap test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haritaları, γ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246778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1098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saat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21098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örnekler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521098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çekirdek hesapları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sınırları, doğruluk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 genişliği taraması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Maliyet, yoğunlaşma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944917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19237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saat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219237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(Colab)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219237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Vektörleştirilmiş çekirdek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SVC(precomputed)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 ile shot tabanlı QSVM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alıştırma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 1–21: teori · 22–45: örnekler ve deneyler · 46–50: lab, özet, ödev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hedefleri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665665"/>
                <a:gridCol w="1042875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 haftanın sonunda öğrenci…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 matrisini kurup </a:t>
                      </a: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SVC(kernel="precomputed")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ile kullanabilir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k(x, x') = |⟨φ(x)|φ(x')⟩|² tanımını ve açı çekirdeği formülünü elle uygulayabilir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Çekirdeği Statevector, </a:t>
                      </a: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compute–uncompute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ve swap test ile hesaplayabilir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 2.x </a:t>
                      </a: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zz_feature_map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ve kendi haritasını kullanabilir; </a:t>
                      </a: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'nın etkisini yorumlayabilir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QSVM'i doğrusal/RBF SVM ile eğitim/test ve 5-kat CV üzerinden karşılaştırabilir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Devre × shot maliyetini, shot gürültüsünü ve </a:t>
                      </a: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yoğunlaşmayı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açıklayabilir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"Kuantum avantajı" iddialarını eleştirel olarak değerlendirebilir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kuantum çekirdek? SVM bir arayüz tanımlar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448" y="1097280"/>
            <a:ext cx="10972800" cy="292608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11094415" cy="914400"/>
        </p:xfrm>
        <a:graphic>
          <a:graphicData uri="http://schemas.openxmlformats.org/drawingml/2006/table">
            <a:tbl>
              <a:tblPr/>
              <a:tblGrid>
                <a:gridCol w="1996995"/>
                <a:gridCol w="4215878"/>
                <a:gridCol w="4881543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SVM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QSVM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Çekirdek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x·x', exp(−γ‖x − x'‖²)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|⟨φ(x)|φ(x')⟩|²  (devre + ölçüm)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 hesabı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milisaniyeler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N² devre × S shot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Optimizasyon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libsvm (konveks)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aynı: SVC(precomputed)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Klasik SVM ve çekirdek hilesi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Marjin, destek vektörleri, Gram matrisi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SVM: en geniş marjin, sınırı destek vektörleri belirler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54943"/>
            <a:ext cx="6583680" cy="423955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06640" y="1234440"/>
            <a:ext cx="4236415" cy="1417320"/>
          </a:xfrm>
          <a:prstGeom prst="roundRect">
            <a:avLst>
              <a:gd name="adj" fmla="val 516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589520" y="1344168"/>
            <a:ext cx="3870655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Marjin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 ile en yakın noktalar arası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genişlik =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‖w‖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406640" y="2788920"/>
            <a:ext cx="4236415" cy="1417320"/>
          </a:xfrm>
          <a:prstGeom prst="roundRect">
            <a:avLst>
              <a:gd name="adj" fmla="val 516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589520" y="2898648"/>
            <a:ext cx="3870655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Destek vektörleri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αᵢ &gt; 0 olan noktalar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 yalnız bunlara bağlı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7406640" y="4343400"/>
            <a:ext cx="4236415" cy="1417320"/>
          </a:xfrm>
          <a:prstGeom prst="roundRect">
            <a:avLst>
              <a:gd name="adj" fmla="val 516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589520" y="4453128"/>
            <a:ext cx="3870655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parametresi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C: sıkı, ezbere yatkın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1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sabit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Çekirdek hilesi: φ(x)'i hiç yazmadan yüksek boyut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3476" y="1097280"/>
            <a:ext cx="7024744" cy="32918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6766560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8640" y="45262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sign( Σ αᵢ yᵢ k(xᵢ, x) + b )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7589520" y="4526280"/>
            <a:ext cx="4053535" cy="1325880"/>
          </a:xfrm>
          <a:prstGeom prst="roundRect">
            <a:avLst>
              <a:gd name="adj" fmla="val 551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0" y="4636008"/>
            <a:ext cx="3687775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modele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k(x, x')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üzerinden girer → k'yı değiştirmek modeli değiştirir.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 matrisi ve SVC(kernel="precomputed")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2175"/>
            <a:ext cx="6309360" cy="283629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206240"/>
            <a:ext cx="6309360" cy="16459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429768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K_train = kernel(Xtr, Xtr)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(N_train, N_train)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K_test  = kernel(Xte, Xtr)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(N_test,  N_train)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SVC(kernel="precomputed").fit(K_train, ytr)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model.score(K_test, yte)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132320" y="1234440"/>
            <a:ext cx="4510735" cy="2194560"/>
          </a:xfrm>
          <a:prstGeom prst="roundRect">
            <a:avLst>
              <a:gd name="adj" fmla="val 3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0" y="1344168"/>
            <a:ext cx="4144975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Geçerli çekirdek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simetrik: K = Kᵀ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Pozitif yarı-tanımlı (özdeğer ≥ 0)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K[i, j] = k(xᵢ, xⱼ)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7132320" y="3611880"/>
            <a:ext cx="4510735" cy="2240280"/>
          </a:xfrm>
          <a:prstGeom prst="roundRect">
            <a:avLst>
              <a:gd name="adj" fmla="val 3265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0" y="3721608"/>
            <a:ext cx="4144975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Tuzak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matrisi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× eğitim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olmalı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sklearn: "X.shape[1] should be equal to…" hatası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Kuantum çekirdek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Tanım, açı kodlaması, üç hesaplama yolu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çekirdek: iki kodlanmış durumun örtüşmesi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11094415" cy="1097280"/>
          </a:xfrm>
          <a:prstGeom prst="roundRect">
            <a:avLst>
              <a:gd name="adj" fmla="val 8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|φ(x)⟩ = U(x)|0…0⟩          k(x, x') = |⟨φ(x)|φ(x')⟩|²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11094415" cy="914400"/>
        </p:xfrm>
        <a:graphic>
          <a:graphicData uri="http://schemas.openxmlformats.org/drawingml/2006/table">
            <a:tbl>
              <a:tblPr/>
              <a:tblGrid>
                <a:gridCol w="2440771"/>
                <a:gridCol w="4215878"/>
                <a:gridCol w="443776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Neden?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Yazılım sonucu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≤ k ≤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 olasılıktır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 benzerlik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k(x, x) =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Birim vektör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Köşegen hesaplanmaz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Simetrik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|⟨a|b⟩| = |⟨b|a⟩|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Yalnız üst üçgen: N(N−1)/2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 çarpım büyüklüğünün karesi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konveks kalır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faza duyarsız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|e^(iα)⟨a|b⟩| = |⟨a|b⟩|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 sorun değil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basit harita: açı kodlaması ve kapalı formül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04546"/>
            <a:ext cx="2194560" cy="216290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017520" y="1234440"/>
            <a:ext cx="8625535" cy="1005840"/>
          </a:xfrm>
          <a:prstGeom prst="roundRect">
            <a:avLst>
              <a:gd name="adj" fmla="val 909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017520" y="1234440"/>
            <a:ext cx="8625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k_açı(x, x') = Π cos²((xᵢ − x'ᵢ)/2)</a:t>
            </a:r>
            <a:endParaRPr lang="en-US" sz="2600" dirty="0"/>
          </a:p>
        </p:txBody>
      </p:sp>
      <p:sp>
        <p:nvSpPr>
          <p:cNvPr id="9" name="Text 5"/>
          <p:cNvSpPr txBox="1"/>
          <p:nvPr/>
        </p:nvSpPr>
        <p:spPr>
          <a:xfrm>
            <a:off x="3017520" y="2377440"/>
            <a:ext cx="8625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⟨φ(x)|φ(x')⟩ = cos(x/2)cos(x'/2) + sin(x/2)sin(x'/2) =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cos((x − x')/2)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Kübitler bağımsız (çarpım durumu) → çarpanlar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çarpılır</a:t>
            </a:r>
            <a:endParaRPr lang="en-US" sz="1700" dirty="0"/>
          </a:p>
        </p:txBody>
      </p:sp>
      <p:pic>
        <p:nvPicPr>
          <p:cNvPr id="10" name="Image 1" descr="gör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836" y="3566160"/>
            <a:ext cx="4806024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 çekirdeği RBF'e benzer ama periyodiktir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887" y="1097280"/>
            <a:ext cx="6363825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955280" y="1234440"/>
            <a:ext cx="3687775" cy="1737360"/>
          </a:xfrm>
          <a:prstGeom prst="roundRect">
            <a:avLst>
              <a:gd name="adj" fmla="val 42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138160" y="1344168"/>
            <a:ext cx="3322015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Benzerlik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küçük → k ≈ 1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cos²(Δ/2) ≈ exp(−Δ²/4)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955280" y="3154680"/>
            <a:ext cx="3687775" cy="1737360"/>
          </a:xfrm>
          <a:prstGeom prst="roundRect">
            <a:avLst>
              <a:gd name="adj" fmla="val 4211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138160" y="3264408"/>
            <a:ext cx="3322015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Periyodiklik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|γΔ| &gt; π olunca k tekrar artar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029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 genişliği γ: haritaya x yerine </a:t>
            </a: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γ·x</a:t>
            </a: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vermek. RBF'teki γ'nın kuantum karşılığı.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Donanımda çekirdek: compute–uncompute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k(x, x') = |⟨0…0| U(x')† U(x) |0…0⟩|² = P(00…0)</a:t>
            </a:r>
            <a:endParaRPr lang="en-US" sz="2400" dirty="0"/>
          </a:p>
        </p:txBody>
      </p:sp>
      <p:pic>
        <p:nvPicPr>
          <p:cNvPr id="8" name="Image 0" descr="Açı kodlaması: RY(x) → RY(−x'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27635"/>
            <a:ext cx="4206240" cy="18826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2793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Açı kodlaması: RY(x) → RY(−x')</a:t>
            </a:r>
            <a:endParaRPr lang="en-US" sz="1100" dirty="0"/>
          </a:p>
        </p:txBody>
      </p:sp>
      <p:pic>
        <p:nvPicPr>
          <p:cNvPr id="10" name="Image 1" descr="ZZ haritası (reps = 1): U(x) | U(y)† | ölçü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518654"/>
            <a:ext cx="6613855" cy="122633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029200" y="4005072"/>
            <a:ext cx="6613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ZZ haritası (reps = 1): U(x) | U(y)† | ölçüm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029200" y="4572000"/>
            <a:ext cx="6613855" cy="1280160"/>
          </a:xfrm>
          <a:prstGeom prst="roundRect">
            <a:avLst>
              <a:gd name="adj" fmla="val 571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212080" y="4681728"/>
            <a:ext cx="624809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U(x) →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uncompute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U(x')† → ölç.  x = x' ise her shot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00…0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Sayımlardan çekirdek tahmini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097" y="1097280"/>
            <a:ext cx="5408125" cy="3108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858000" y="1188720"/>
            <a:ext cx="4785055" cy="28346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995160" y="1280160"/>
            <a:ext cx="451073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cu_circuit(fmap, x, xp):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U, Ui = fmap(x), fmap(xp).inverse()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 = U.compose(Ui)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qc.measure_all()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= aer.run(transpile(qc, aer),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shots=1024)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= job.result().get_counts()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k_hat = counts.get("00", 0) / 1024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443484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44348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k̂ = 639/1024 = 0.624   (kesin 0.644)      SE = √(k(1 − k)/N) ≈ 0.015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hatası ∝ 1/√S: hatayı yarıya indirmek için </a:t>
            </a: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kat</a:t>
            </a: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shot.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test ve üç hesaplama yolu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072" y="1143000"/>
            <a:ext cx="3672495" cy="2560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846320" y="1234440"/>
            <a:ext cx="6796735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846320" y="1234440"/>
            <a:ext cx="6796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P(0) = (1 + k)/2   ⇒   k = 2·P(0) − 1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4846320" y="2331720"/>
            <a:ext cx="6796735" cy="1371600"/>
          </a:xfrm>
          <a:prstGeom prst="roundRect">
            <a:avLst>
              <a:gd name="adj" fmla="val 5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0" y="2441448"/>
            <a:ext cx="6430975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x = 0.5, x' = 1.5 → P(0) ≈ 0.894 →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≈ 0.788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(kesin 0.770)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2 katı → aynı doğruluk için ~4 kat shot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11094415" cy="914400"/>
        </p:xfrm>
        <a:graphic>
          <a:graphicData uri="http://schemas.openxmlformats.org/drawingml/2006/table">
            <a:tbl>
              <a:tblPr/>
              <a:tblGrid>
                <a:gridCol w="2662660"/>
                <a:gridCol w="1109442"/>
                <a:gridCol w="2440771"/>
                <a:gridCol w="4881543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Ölçülen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Artı / eksi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(a) Statevector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|⟨a|b⟩|² doğrudan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Kesin, hızlı · yalnız simülatör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(b) compute–uncompute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P(00…0)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Donanıma uygun · derinlik 2×, U† gerek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(c) swap test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 + 1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2P(0) − 1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U† gerekmez · CSWAP, 2× hata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Özellik haritaları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Açı, ZZ, kendi haritamız ve bant genişliği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 özellik haritası: Qiskit 2.x'te zz_feature_map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6" name="Image 0" descr="zz_feature_map(2, reps=1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045" y="1143000"/>
            <a:ext cx="5659750" cy="17830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29535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zz_feature_map(2, reps=1)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48640" y="3703320"/>
            <a:ext cx="6766560" cy="14630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379476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qiskit.circuit.library import zz_feature_map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 = zz_feature_map(2, reps=2)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QuantumCircuit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fm.parameters           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[x[0], x[1]]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 = Statevector(fm.assign_parameters(x))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589520" y="1234440"/>
            <a:ext cx="4053535" cy="2377440"/>
          </a:xfrm>
          <a:prstGeom prst="roundRect">
            <a:avLst>
              <a:gd name="adj" fmla="val 3077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72400" y="1344168"/>
            <a:ext cx="3687775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2.x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ZZFeatureMap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sınıfı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2.1'den beri deprecated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Önerilen: 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zz_feature_map(n, reps, entanglement, alpha)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fonksiyonu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589520" y="3794760"/>
            <a:ext cx="4053535" cy="2057400"/>
          </a:xfrm>
          <a:prstGeom prst="roundRect">
            <a:avLst>
              <a:gd name="adj" fmla="val 355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772400" y="3904488"/>
            <a:ext cx="3687775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Katmanlar (× reps)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→ P(2xᵢ)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– P(2(π − xᵢ)(π − xⱼ)) – CX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Çift terimi: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dolanıklık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 haritası = H katmanı + köşegen faz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Φ(b) = 2x₀b₀ + 2x₁b₁ + 2(π − x₀)(π − x₁)(b₀ ⊕ b₁)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31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|φ(x)⟩ = ½·[e^(iΦ(00)), e^(iΦ(01)), e^(iΦ(10)), e^(iΦ(11))]      (reps = 1)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48640" y="333756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337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k(x, x') = | ¼ Σ_b e^(i[Φ_x'(b) − Φ_x(b)]) |²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548640" y="4389120"/>
            <a:ext cx="5410048" cy="1463040"/>
          </a:xfrm>
          <a:prstGeom prst="roundRect">
            <a:avLst>
              <a:gd name="adj" fmla="val 5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4498848"/>
            <a:ext cx="50442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– P – CX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hedefe b₀ ⊕ b₁ yazar → P faz ekler → CX geri alır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33008" y="4389120"/>
            <a:ext cx="5410048" cy="1463040"/>
          </a:xfrm>
          <a:prstGeom prst="roundRect">
            <a:avLst>
              <a:gd name="adj" fmla="val 5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15888" y="4498848"/>
            <a:ext cx="50442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sırası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İndeks 01 → b₀ = 1, b₁ = 0 (q₀ en sağda)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özellik haritamız: RY → CZ zinciri → RZ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9940" y="1097280"/>
            <a:ext cx="6611815" cy="2286000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11094415" cy="914400"/>
        </p:xfrm>
        <a:graphic>
          <a:graphicData uri="http://schemas.openxmlformats.org/drawingml/2006/table">
            <a:tbl>
              <a:tblPr/>
              <a:tblGrid>
                <a:gridCol w="1553218"/>
                <a:gridCol w="4437766"/>
                <a:gridCol w="1996995"/>
                <a:gridCol w="3106436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Katmanlar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Dolanıklık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simülasyon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RY(γxᵢ)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kapalı formül O(n)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[H → P → CX–P–CX] × reps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çiftler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2ⁿ vektör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[RY → CZ zinciri → RZ] × reps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komşular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2ⁿ vektör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 genişliği γ: çekirdeğin "görüş mesafesi"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7511" y="1097280"/>
            <a:ext cx="9316673" cy="32918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5410048" cy="1325880"/>
          </a:xfrm>
          <a:prstGeom prst="roundRect">
            <a:avLst>
              <a:gd name="adj" fmla="val 551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636008"/>
            <a:ext cx="504428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→ 0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durumlar |0…0⟩'a yakın →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≈ 1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"her şey aynı"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233008" y="4526280"/>
            <a:ext cx="5410048" cy="1325880"/>
          </a:xfrm>
          <a:prstGeom prst="roundRect">
            <a:avLst>
              <a:gd name="adj" fmla="val 5517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15888" y="4636008"/>
            <a:ext cx="504428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çok büyük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Durumlar neredeyse dik →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≈ I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"her şey farklı", ezber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simülasyon: tüm Gram matrisi tek matris çarpımı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| S_A* · S_Bᵀ |²      (S: her satır bir örneğin 2ⁿ durum vektörü)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8640" y="2194560"/>
            <a:ext cx="7589520" cy="36576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286000"/>
            <a:ext cx="7315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zz_states(X, gamma=1.0, reps=2):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gamma * X; B, n = X.shape; b = bit_table(n)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phase = 2 * X @ b.T                          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Σ 2 x_i b_i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j in range(i + 1, n):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 = (np.pi - X[:, i]) * (np.pi - X[:, j])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phase += 2 * np.outer(w, b[:, i] ^ b[:, j])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Hn = hadamard(2**n) / np.sqrt(2**n)          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 ⊗ ... ⊗ 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np.zeros((B, 2**n), complex); S[:, 0] =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_ in range(reps):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 = (S @ Hn) * np.exp(1j * phase)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0" y="2194560"/>
            <a:ext cx="3230575" cy="1737360"/>
          </a:xfrm>
          <a:prstGeom prst="roundRect">
            <a:avLst>
              <a:gd name="adj" fmla="val 42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95360" y="2304288"/>
            <a:ext cx="2864815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140×140 Gram: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 s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4900 nokta ızgara: &lt; 1 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8412480" y="4114800"/>
            <a:ext cx="3230575" cy="1737360"/>
          </a:xfrm>
          <a:prstGeom prst="roundRect">
            <a:avLst>
              <a:gd name="adj" fmla="val 4211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95360" y="4224528"/>
            <a:ext cx="2864815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 küçük n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30: 2³⁰ genlik = 16 GB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2.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Çözümlü örnekler ve deneyler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Elle çekirdek, karar sınırları, doğruluk, bant genişliği, maliyet, yoğunlaşma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 · 1 kübitte çekirdek değeri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0.5 ve x' = 1.5 (RY açı kodlaması). Durumlar, iç çarpım ve k?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|φ(0.5)⟩ = [0.9689, 0.2474]     |φ(1.5)⟩ = [0.7317, 0.6816]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⟨φ|φ'⟩ = 0.7089 + 0.1686 = 0.8776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0.8776² = 0.770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Formül: cos²((0.5 − 1.5)/2) = cos²(0.5) = 0.770 ✓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 ≈ 0.770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1945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np.array([np.cos(.25), np.sin(.25)])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np.array([np.cos(.75), np.sin(.75)])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abs(np.vdot(a, b))**2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0.7702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np.cos(0.5)**2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0.7702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2 · 2 kübitte açı çekirdeği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(0.3, 1.0), x' = (1.1, 0.4). k? Hangi özellik benzerliği daha çok düşürüyor?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Δ = (−0.8, 0.6)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kübit 0: cos²(0.4) = 0.8484     kübit 1: cos²(0.3) = 0.9127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0.8484 × 0.9127 = 0.7743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|Δ₁| daha büyük → o çarpan daha küçük.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 ≈ 0.774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16459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xp = np.array([.3, 1.]), np.array([1.1, .4])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np.prod(np.cos((x - xp)/2)**2)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0.7743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3 · Sayımlardan çekirdek ve standart hata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 (reps = 1), 1024 shot: {00: 639, 01: 209, 10: 131, 11: 45}. k̂, SE? Kesin 0.644.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k̂ = 639 / 1024 = 0.624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= √(0.644 · 0.356 / 1024) ≈ 0.015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|k̂ − k| = 0.020 ≈ 1.3 SE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2 SE'nin altında → tutarlı.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k̂ ≈ 0.624 ± 0.015</a:t>
            </a:r>
            <a:endParaRPr lang="en-US" sz="17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506073"/>
            <a:ext cx="4144975" cy="238281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4 · Swap test ile çekirdek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test, 4000 shot, yardımcı kübit 3576 kez 0. k? compute–uncompute ne verirdi?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P(0) = 3576 / 4000 = 0.894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2 · 0.894 − 1 = 0.788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compute–uncompute doğrudan P(00) ≈ 0.788 verirdi.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 = 2P − 1 → hata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katı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~4 kat shot gerekir.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 ≈ 0.79 (kesin 0.770)</a:t>
            </a:r>
            <a:endParaRPr lang="en-US" sz="17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4320" y="1417320"/>
            <a:ext cx="3672495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5 · ZZ çekirdeği elle (reps = 1)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(1.0, 1.0), x' = (1.5, 1.0). ZZ çekirdeği?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Φ_x = [0, 11.1728, 11.1728, 4]     (2(π − 1)² = 9.1728)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Φ_x' = [0, 10.0312, 9.0312, 5]     (2(π − 1.5)(π − 1) = 7.0312)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= [0, −1.1416, −2.1416, 1.0]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¼ Σ e^(iΔ) = 0.3540 − 0.2273i    ⇒    k = 0.177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 ≈ 0.177 (reps = 2 ile 0.405)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7432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fm1 = zz_feature_map(2, reps=1)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Statevector(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fm1.assign_parameters([1.0, 1.0])).data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Statevector(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fm1.assign_parameters([1.5, 1.0])).data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abs(np.vdot(a, b))**2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0.1770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6 · Bant genişliğinin etkisi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0.5, x' = 2.8 için açı çekirdeği γ = 0.5, 1, 2 ile. Hangisi "en farklı" gösterir?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Δ = −2.3; k = cos²(γΔ/2)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 = 0.5: cos²(0.575) = 0.704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 = 1: cos²(1.15) = 0.167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 = 2: cos²(2.3) = 0.444  ← tekrar arttı (|γΔ| &gt; π)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γ = 1 en küçük değer; büyük γ periyodiklik tuzağına düşer</a:t>
            </a:r>
            <a:endParaRPr lang="en-US" sz="17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581820"/>
            <a:ext cx="4144975" cy="232276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 düzeni: 4 veri seti, 6 model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824" y="1097280"/>
            <a:ext cx="9220047" cy="2377440"/>
          </a:xfrm>
          <a:prstGeom prst="rect">
            <a:avLst/>
          </a:prstGeom>
        </p:spPr>
      </p:pic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7680960" cy="914400"/>
        </p:xfrm>
        <a:graphic>
          <a:graphicData uri="http://schemas.openxmlformats.org/drawingml/2006/table">
            <a:tbl>
              <a:tblPr/>
              <a:tblGrid>
                <a:gridCol w="3072384"/>
                <a:gridCol w="460857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Çekirdek / ayar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 SVM · RBF SVM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sklearn varsayılanları, C =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QSVM açı · QSVM özel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= 1, reps = 2 (özel)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QSVM ZZ (γ = 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 varsayılan ölçeği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QSVM ZZ (γ ayarlı)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iç 5-kat CV: moons 0.5, circles 0.5, xor 0.3, iris 0.1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503920" y="3611880"/>
            <a:ext cx="3139135" cy="2240280"/>
          </a:xfrm>
          <a:prstGeom prst="roundRect">
            <a:avLst>
              <a:gd name="adj" fmla="val 3265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686800" y="3721608"/>
            <a:ext cx="2773375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Adil karşılaştırma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γ'yı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kümesine bakmadan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seç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modeller de aynı özenle ayarlanmalı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Gram matrisleri (ZZ, ayarlı γ)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53863"/>
            <a:ext cx="11094415" cy="327011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61772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727448"/>
            <a:ext cx="1072865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çekirdek: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köşegen bloklar koyu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(aynı sınıf benzer),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köşegen dışı bloklar açık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(farklı sınıf farklı).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sınırları: RBF ≈ QSVM (açı, ayarlı ZZ)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685" y="1097280"/>
            <a:ext cx="6911350" cy="5120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72400" y="1234440"/>
            <a:ext cx="3870655" cy="1645920"/>
          </a:xfrm>
          <a:prstGeom prst="roundRect">
            <a:avLst>
              <a:gd name="adj" fmla="val 444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955280" y="1344168"/>
            <a:ext cx="3504895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Nasıl çizildi?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K_grid = qkernel(G, Xtr)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model.decision_function(K_grid)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772400" y="3063240"/>
            <a:ext cx="3870655" cy="1371600"/>
          </a:xfrm>
          <a:prstGeom prst="roundRect">
            <a:avLst>
              <a:gd name="adj" fmla="val 5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955280" y="3172968"/>
            <a:ext cx="3504895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 çekirdeği XOR'da çok iyi: eksenlere hizalı yapı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7772400" y="4617720"/>
            <a:ext cx="3870655" cy="1280160"/>
          </a:xfrm>
          <a:prstGeom prst="roundRect">
            <a:avLst>
              <a:gd name="adj" fmla="val 5714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955280" y="4727448"/>
            <a:ext cx="350489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 maliyeti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4900 × 140 ≈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686 000 devre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 tablosu: test / 5-kat CV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3106436"/>
                <a:gridCol w="1996995"/>
                <a:gridCol w="1996995"/>
                <a:gridCol w="1996995"/>
                <a:gridCol w="1996995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Moons test / CV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Circles test / CV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 test / CV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Iris test / CV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 SVM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 / 0.85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 / 0.51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 / 0.62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 / 0.93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RBF SVM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 / 0.97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/ 1.00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/ 1.00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 / 0.94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QSVM açı (γ=1)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 / 0.86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/ 1.00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/ 1.00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 / 0.93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QSVM ZZ (γ=1)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 / 0.80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 / 0.88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 / 0.88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 / 0.73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QSVM ZZ (γ ayarlı)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 / 0.96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 / 0.98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/ 0.99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 / 0.94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QSVM özel (γ=1)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 / 0.95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/ 1.00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 / 0.97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 / 0.92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12064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230368"/>
            <a:ext cx="1072865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Ayarlı ZZ ≈ RBF;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varsayılan γ = 1 ZZ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belirgin şekilde geride. Performans haritaya ve γ'ya son derece duyarlı.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5-kat CV doğrulukları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143000"/>
          <a:ext cx="11094415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7 · Fark anlamlı mı?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 5-kat CV: RBF 0.975, ayarlı ZZ 0.960. Toplam 200 test tahmini. Fark anlamlı mı?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Hatalar: RBF 5, ZZ 8 ⇒ fark 3 örnek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≈ √(0.97 · 0.03 / 200) ≈ 0.012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Fark 0.015 ≈ 1 SE → anlamlı değil.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"Benzer performans" demek doğru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 genişliği taraması (5-kat CV)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70926"/>
            <a:ext cx="11094415" cy="2670229"/>
          </a:xfrm>
          <a:prstGeom prst="rect">
            <a:avLst/>
          </a:prstGeom>
        </p:spPr>
      </p:pic>
      <p:graphicFrame>
        <p:nvGraphicFramePr>
          <p:cNvPr id="7" name="Chart 0" descr=""/>
          <p:cNvGraphicFramePr/>
          <p:nvPr/>
        </p:nvGraphicFramePr>
        <p:xfrm>
          <a:off x="548640" y="4160520"/>
          <a:ext cx="69494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3"/>
          <p:cNvSpPr/>
          <p:nvPr/>
        </p:nvSpPr>
        <p:spPr>
          <a:xfrm>
            <a:off x="7772400" y="4206240"/>
            <a:ext cx="3870655" cy="1691640"/>
          </a:xfrm>
          <a:prstGeom prst="roundRect">
            <a:avLst>
              <a:gd name="adj" fmla="val 432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955280" y="4315968"/>
            <a:ext cx="3504895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 en iyi γ: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0.1–0.5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2 moons: ~0.53 (yazı-tura)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γ'nın Gram matrisine etkisi ve teşhis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7875" y="1097280"/>
            <a:ext cx="8735944" cy="2926080"/>
          </a:xfrm>
          <a:prstGeom prst="rect">
            <a:avLst/>
          </a:prstGeom>
        </p:spPr>
      </p:pic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11094415" cy="914400"/>
        </p:xfrm>
        <a:graphic>
          <a:graphicData uri="http://schemas.openxmlformats.org/drawingml/2006/table">
            <a:tbl>
              <a:tblPr/>
              <a:tblGrid>
                <a:gridCol w="1996995"/>
                <a:gridCol w="2662660"/>
                <a:gridCol w="2440771"/>
                <a:gridCol w="3993989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rejimi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Belirti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küçük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hep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ayırt edemez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 ve test düşük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Uygun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 blokları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genelleştirir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 ≈ test, CV yüksek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büyük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birim matris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ezberler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 yüksek, test düşük, SV ≈ 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8 · Çok büyük γ'da SVM ne yapar?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I (birim matris) olsun. Test noktası tüm eğitim noktalarıyla k = 0 veriyorsa tahmin?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 = I: her nokta yalnız kendine benzer → eğitim doğruluğu 1 (ezber)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Test için tüm k(xᵢ, x) = 0: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sign( Σ αᵢ yᵢ · 0 + b ) = sign(b)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Tahmin x'ten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sabit bir sınıf.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 doğruluğu ≈ çoğunluk sınıfı oranı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Maliyet: N² devre × S shot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Eğitim: N(N − 1)/2      Test: M × N_SV      Toplam shot = devre × S</a:t>
            </a:r>
            <a:endParaRPr lang="en-US" sz="2200" dirty="0"/>
          </a:p>
        </p:txBody>
      </p:sp>
      <p:pic>
        <p:nvPicPr>
          <p:cNvPr id="8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95599"/>
            <a:ext cx="6035040" cy="3346961"/>
          </a:xfrm>
          <a:prstGeom prst="rect">
            <a:avLst/>
          </a:prstGeom>
        </p:spPr>
      </p:pic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2240280"/>
          <a:ext cx="4785055" cy="914400"/>
        </p:xfrm>
        <a:graphic>
          <a:graphicData uri="http://schemas.openxmlformats.org/drawingml/2006/table">
            <a:tbl>
              <a:tblPr/>
              <a:tblGrid>
                <a:gridCol w="765609"/>
                <a:gridCol w="1435517"/>
                <a:gridCol w="1339815"/>
                <a:gridCol w="1244114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 devresi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1000 shot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shot/s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 bin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~1.6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9 730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 milyon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~1.4 saat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499 500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~500 milyon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~2.9 gün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 milyon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× 10¹⁰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~290 gün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6858000" y="4937760"/>
            <a:ext cx="47850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(harita, γ) için. γ taraması × CV → ×40.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9 · Maliyet hesabı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Moons: N = 140, M = 60, S = 1000, N_SV = 58. Devre sayıları, toplam shot, 2000 shot/s ile süre?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Eğitim: 140·139/2 = 9 730 devre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Test: 60 × 58 = 3 480 devre (yalnız SV; hepsiyle 8 400)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Toplam: (9 730 + 3 480) × 1000 = 13.2 milyon shot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Süre ≈ 13 210 000 / 2000 ≈ 6 600 s ≈ 1.8 saat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13.2 milyon shot, ~1.8 saat (tek model)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9260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kernel_cost(N, M, S, n_sv=None):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 = N*(N - 1)//2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 = M*(n_sv if n_sv is not None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else 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train, test, (train+test)*S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kernel_cost(140, 60, 1000, n_sv=58)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(9730, 3480, 13210000)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gürültüsü Gram matrisini bozar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09252"/>
            <a:ext cx="11094415" cy="315933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663440"/>
            <a:ext cx="6949440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475488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shot_kernel(K, shots, seed=0):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rng = np.random.default_rng(seed)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Kn = rng.binomial(shots, K) / shots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eğitim matrisi: simetri + köşegen 1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772400" y="4663440"/>
            <a:ext cx="3870655" cy="1188720"/>
          </a:xfrm>
          <a:prstGeom prst="roundRect">
            <a:avLst>
              <a:gd name="adj" fmla="val 615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955280" y="4773168"/>
            <a:ext cx="350489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× 4  →  hata ÷ 2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tabanlı QSVM: az shot = kararsız doğruluk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143000"/>
          <a:ext cx="71323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234440"/>
          <a:ext cx="3687775" cy="914400"/>
        </p:xfrm>
        <a:graphic>
          <a:graphicData uri="http://schemas.openxmlformats.org/drawingml/2006/table">
            <a:tbl>
              <a:tblPr/>
              <a:tblGrid>
                <a:gridCol w="1290721"/>
                <a:gridCol w="2397054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Doğruluk (ort ± std)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 ± 0.04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 ± 0.02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 ± 0.02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 ± 0.03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 ± 0.02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 ± 0.01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 ± 0.01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7955280" y="4754880"/>
            <a:ext cx="3687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Kesin çekirdek: 0.93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Çekirdek yoğunlaşması: kübit arttıkça k → 0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0835" y="1097280"/>
            <a:ext cx="8370026" cy="2743200"/>
          </a:xfrm>
          <a:prstGeom prst="rect">
            <a:avLst/>
          </a:prstGeom>
        </p:spPr>
      </p:pic>
      <p:pic>
        <p:nvPicPr>
          <p:cNvPr id="7" name="Image 1" descr="gör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035758"/>
            <a:ext cx="7680960" cy="1712564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503920" y="3931920"/>
            <a:ext cx="3139135" cy="1920240"/>
          </a:xfrm>
          <a:prstGeom prst="roundRect">
            <a:avLst>
              <a:gd name="adj" fmla="val 3810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686800" y="4041648"/>
            <a:ext cx="2773375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γ'yı kübit sayısına göre ölçekle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Bedel: ifade gücü azalır</a:t>
            </a:r>
            <a:endParaRPr lang="en-US" sz="1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10 · Açı çekirdeğinde yoğunlaşma, elle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Özellikler U[0, π]'de bağımsız. Açı çekirdeğinin (γ = 1) beklenen değeri n kübitte? n = 2, 5, 12?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E[cos²(Δ/2)] = ½ + ½·E[cos(x − x')]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E[cos(x − x')] = E[cos x]² + E[sin x]² = 0 + (2/π)² = 0.405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kübit: 0.7026    ⇒    E[k] = 0.7026ⁿ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2: 0.494    n = 5: 0.171    n = 12: 0.0145   (ölçülen 0.503, 0.192, 0.013 ✓)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Üstel azalma; γ = 1/√n ile sabit kalır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 değerlendirme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3106436"/>
                <a:gridCol w="3772101"/>
                <a:gridCol w="421587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İddia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 hafta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Literatür (genel)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QSVM daha doğru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Hayır: ayarlı ZZ ≈ RBF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veride kanıt yok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uzay (2ⁿ) iyidir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Hayır: yoğunlaşma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n'de temel engel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Kuantum çekirdek hızlı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Hayır: N² devre × S shot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Yükleme ve ölçüm baskın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Hiç avantaj yok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 veriler için doğru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 yapılı problemlerde ayrım var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206240"/>
            <a:ext cx="11094415" cy="1645920"/>
          </a:xfrm>
          <a:prstGeom prst="roundRect">
            <a:avLst>
              <a:gd name="adj" fmla="val 4444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315968"/>
            <a:ext cx="10728655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listesi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modeller aynı özenle ayarlandı mı? · γ test kümesine bakmadan mı seçildi?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Statevector mı, shot/gürültü mü? · Harita klasik olarak verimli simüle edilebilir mi?</a:t>
            </a:r>
            <a:endParaRPr lang="en-US" sz="1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PennyLane ile aynı çekirdek (genel kültür)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30175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1082009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pennylane as qml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= qml.device("default.qubit", wires=2)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@qml.qnode(dev)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overlap(x1, x2):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qml.AngleEmbedding(x1, wires=range(2), rotation="Y")               # U(x)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qml.adjoint(qml.AngleEmbedding)(x2, wires=range(2), rotation="Y")  # U(x')†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qml.probs(wires=range(2))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 = lambda a, b: overlap(a, b)[0]                      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P(00)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qml.kernels.square_kernel_matrix(X, kernel, assume_normalized_kernel=True)</a:t>
            </a:r>
            <a:endParaRPr lang="en-US" sz="14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89120"/>
          <a:ext cx="11094415" cy="914400"/>
        </p:xfrm>
        <a:graphic>
          <a:graphicData uri="http://schemas.openxmlformats.org/drawingml/2006/table">
            <a:tbl>
              <a:tblPr/>
              <a:tblGrid>
                <a:gridCol w="2218883"/>
                <a:gridCol w="4437766"/>
                <a:gridCol w="443776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Adım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PennyLane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Ters devre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fm.inverse()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qml.adjoint(...)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P(00…0)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counts["00"]/shots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qml.probs(...)[0]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kendi döngümüz / vektörleştirme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qml.kernels.square_kernel_matrix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3.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Lab: QSVM uçtan uca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Hafta13_Lab.ipynb · Google Colab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akışı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553218"/>
                <a:gridCol w="7987979"/>
                <a:gridCol w="1553218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Bölüm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Kurulum, veri setleri (ortak fonksiyonlar)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SVM,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SVC(kernel="precomputed")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Statevector ile kuantum çekirdek, açı formülü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compute–uncompute (Aer, shot) ve swap test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zz_feature_map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özel harita, vektörleştirme + Qiskit testi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Isı haritaları, karar sınırları, karşılaştırma tablosu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· G · 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taraması · shot tabanlı QSVM + maliyet · yoğunlaşma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· J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PennyLane · 8 alıştırma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Ödev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Alıştırmalar (assert ile kendini kontrol)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4770599"/>
                <a:gridCol w="5547208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angle_kernel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kapalı formül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k((0.3,1),(1.1,0.4)) = 0.7743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gram_from_states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döngüsüz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simetrik, köşegen 1, PSD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kernel_from_counts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 ile ±0.03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cu_angle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devresi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|genlik₀|² = formül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qsvm_test_acc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circles, xor ≥ 0.95; moons γ = 2 &lt; 0.7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best_gamma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(5-kat CV)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moons γ = 0.5, CV ≥ 0.95, ≤ RBF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kernel_cost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(9730, 3480, 13 210 000)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offdiag_mean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yoğunlaşma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8: γ=1 &lt; 0.02, γ=1/n² &gt; 0.4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Haftanın özeti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3444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veriye yalnız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k(x, x')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dokunur → </a:t>
            </a:r>
            <a:r>
              <a:rPr lang="en-US" sz="19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SVC(kernel="precomputed")</a:t>
            </a:r>
            <a:endParaRPr lang="en-US" sz="19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çekirdek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|⟨φ(x)|φ(x')⟩|²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açı: Π cos²(Δᵢ/2)</a:t>
            </a:r>
            <a:endParaRPr lang="en-US" sz="19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Donanımda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compute–uncompute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 = P(00…0); swap test: k = 2P(0) − 1</a:t>
            </a:r>
            <a:endParaRPr lang="en-US" sz="19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2.x: </a:t>
            </a:r>
            <a:r>
              <a:rPr lang="en-US" sz="19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zz_feature_map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fonksiyonu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(sınıf deprecated)</a:t>
            </a:r>
            <a:endParaRPr lang="en-US" sz="19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kritik: küçük → K ≈ 1, büyük → K ≈ I (ezber)</a:t>
            </a:r>
            <a:endParaRPr lang="en-US" sz="19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N² devre × S shot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hata ∝ 1/√S</a:t>
            </a:r>
            <a:endParaRPr lang="en-US" sz="19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Yoğunlaşma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kübit arttıkça k → 0; γ'yı küçült</a:t>
            </a:r>
            <a:endParaRPr lang="en-US" sz="19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veri setlerinde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≥ QSVM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avantaj yalnız özel yapılı problemlerde</a:t>
            </a:r>
            <a:endParaRPr lang="en-US" sz="1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ve gelecek hafta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5410048" cy="4023360"/>
          </a:xfrm>
          <a:prstGeom prst="roundRect">
            <a:avLst>
              <a:gd name="adj" fmla="val 181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89888"/>
            <a:ext cx="504428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notu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11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 yazılı soru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J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8 kodlama alıştırması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Ek: iris için kendi haritanızı tasarlayıp γ taraması yapın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Teslim: notebook + yazılı cevaplar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33008" y="1280160"/>
            <a:ext cx="5410048" cy="4023360"/>
          </a:xfrm>
          <a:prstGeom prst="roundRect">
            <a:avLst>
              <a:gd name="adj" fmla="val 1818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5888" y="1389888"/>
            <a:ext cx="5044288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14: Varyasyonel sınıflandırıcılar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VQC: özellik haritası +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eğitilebilir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devre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 kuantum sinir ağı: PennyLane + PyTorch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Parameter-shift ile gradyan (11. hafta)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Barren plateau: yoğunlaşmanın eğitimdeki karşılığı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2026-09-23T15:39:30Z</dcterms:created>
  <dcterms:modified xsi:type="dcterms:W3CDTF">2026-09-23T15:39:30Z</dcterms:modified>
</cp:coreProperties>
</file>